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72.svg" ContentType="image/svg+xml"/>
  <Override PartName="/ppt/media/image74.svg" ContentType="image/svg+xml"/>
  <Override PartName="/ppt/media/image76.svg" ContentType="image/svg+xml"/>
  <Override PartName="/ppt/media/image7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4630400" cy="8229600"/>
  <p:notesSz cx="8229600" cy="14630400"/>
  <p:embeddedFontLst>
    <p:embeddedFont>
      <p:font typeface="Open Sans" panose="020B0606030504020204" pitchFamily="34" charset="0"/>
      <p:regular r:id="rId24"/>
      <p:bold r:id="rId25"/>
      <p:italic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3" d="100"/>
          <a:sy n="93" d="100"/>
        </p:scale>
        <p:origin x="52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font" Target="fonts/font1.fntdata"/><Relationship Id="rId25" Type="http://schemas.openxmlformats.org/officeDocument/2006/relationships/font" Target="fonts/font2.fntdata"/><Relationship Id="rId26" Type="http://schemas.openxmlformats.org/officeDocument/2006/relationships/font" Target="fonts/font3.fntdata"/><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90564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txBody>
          <a:bodyPr/>
          <a:lstStyle/>
          <a:p>
            <a:endParaRPr lang="en-AU"/>
          </a:p>
        </p:txBody>
      </p:sp>
      <p:sp>
        <p:nvSpPr>
          <p:cNvPr id="3" name="Shape 1"/>
          <p:cNvSpPr/>
          <p:nvPr/>
        </p:nvSpPr>
        <p:spPr>
          <a:xfrm>
            <a:off x="0" y="0"/>
            <a:ext cx="14630400" cy="8229600"/>
          </a:xfrm>
          <a:prstGeom prst="rect">
            <a:avLst/>
          </a:prstGeom>
          <a:solidFill>
            <a:srgbClr val="FFFCFA"/>
          </a:solidFill>
          <a:ln/>
        </p:spPr>
        <p:txBody>
          <a:bodyPr/>
          <a:lstStyle/>
          <a:p>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txBody>
          <a:bodyPr/>
          <a:lstStyle/>
          <a:p>
            <a:endParaRPr lang="en-AU"/>
          </a:p>
        </p:txBody>
      </p:sp>
      <p:sp>
        <p:nvSpPr>
          <p:cNvPr id="3" name="Shape 1"/>
          <p:cNvSpPr/>
          <p:nvPr/>
        </p:nvSpPr>
        <p:spPr>
          <a:xfrm>
            <a:off x="0" y="0"/>
            <a:ext cx="14630400" cy="8229600"/>
          </a:xfrm>
          <a:prstGeom prst="rect">
            <a:avLst/>
          </a:prstGeom>
          <a:solidFill>
            <a:srgbClr val="FFFCFA"/>
          </a:solidFill>
          <a:ln/>
        </p:spPr>
        <p:txBody>
          <a:bodyPr/>
          <a:lstStyle/>
          <a:p>
            <a:endParaRPr lang="en-A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9.png"/><Relationship Id="rId5"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3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42.png"/><Relationship Id="rId7" Type="http://schemas.openxmlformats.org/officeDocument/2006/relationships/image" Target="../media/image4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image" Target="../media/image48.png"/><Relationship Id="rId8" Type="http://schemas.openxmlformats.org/officeDocument/2006/relationships/image" Target="../media/image49.png"/><Relationship Id="rId9"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50.png"/><Relationship Id="rId5" Type="http://schemas.openxmlformats.org/officeDocument/2006/relationships/image" Target="../media/image51.png"/><Relationship Id="rId6" Type="http://schemas.openxmlformats.org/officeDocument/2006/relationships/image" Target="../media/image52.png"/><Relationship Id="rId7" Type="http://schemas.openxmlformats.org/officeDocument/2006/relationships/image" Target="../media/image53.png"/><Relationship Id="rId8" Type="http://schemas.openxmlformats.org/officeDocument/2006/relationships/image" Target="../media/image5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5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image" Target="../media/image62.png"/><Relationship Id="rId6" Type="http://schemas.openxmlformats.org/officeDocument/2006/relationships/image" Target="../media/image63.png"/><Relationship Id="rId7" Type="http://schemas.openxmlformats.org/officeDocument/2006/relationships/image" Target="../media/image64.png"/><Relationship Id="rId8" Type="http://schemas.openxmlformats.org/officeDocument/2006/relationships/image" Target="../media/image65.png"/><Relationship Id="rId9" Type="http://schemas.openxmlformats.org/officeDocument/2006/relationships/image" Target="../media/image6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 Id="rId3" Type="http://schemas.openxmlformats.org/officeDocument/2006/relationships/image" Target="../media/image67.png"/><Relationship Id="rId4" Type="http://schemas.openxmlformats.org/officeDocument/2006/relationships/image" Target="../media/image3.png"/><Relationship Id="rId5" Type="http://schemas.openxmlformats.org/officeDocument/2006/relationships/image" Target="../media/image68.png"/><Relationship Id="rId6" Type="http://schemas.openxmlformats.org/officeDocument/2006/relationships/image" Target="../media/image6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7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9.xml"/><Relationship Id="rId3" Type="http://schemas.openxmlformats.org/officeDocument/2006/relationships/image" Target="../media/image71.png"/><Relationship Id="rId4" Type="http://schemas.openxmlformats.org/officeDocument/2006/relationships/image" Target="../media/image72.svg"/><Relationship Id="rId5" Type="http://schemas.openxmlformats.org/officeDocument/2006/relationships/image" Target="../media/image73.png"/><Relationship Id="rId6" Type="http://schemas.openxmlformats.org/officeDocument/2006/relationships/image" Target="../media/image74.svg"/><Relationship Id="rId7" Type="http://schemas.openxmlformats.org/officeDocument/2006/relationships/image" Target="../media/image75.png"/><Relationship Id="rId8" Type="http://schemas.openxmlformats.org/officeDocument/2006/relationships/image" Target="../media/image76.svg"/><Relationship Id="rId9" Type="http://schemas.openxmlformats.org/officeDocument/2006/relationships/image" Target="../media/image77.png"/><Relationship Id="rId10" Type="http://schemas.openxmlformats.org/officeDocument/2006/relationships/image" Target="../media/image78.svg"/><Relationship Id="rId11" Type="http://schemas.openxmlformats.org/officeDocument/2006/relationships/image" Target="../media/image7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 Id="rId3" Type="http://schemas.openxmlformats.org/officeDocument/2006/relationships/image" Target="../media/image80.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928693"/>
            <a:ext cx="7556421" cy="1240155"/>
          </a:xfrm>
          <a:prstGeom prst="rect">
            <a:avLst/>
          </a:prstGeom>
          <a:noFill/>
          <a:ln/>
        </p:spPr>
        <p:txBody>
          <a:bodyPr wrap="square" lIns="0" tIns="0" rIns="0" bIns="0" rtlCol="0" anchor="t"/>
          <a:lstStyle/>
          <a:p>
            <a:pPr marL="0" indent="0" algn="l">
              <a:lnSpc>
                <a:spcPts val="4850"/>
              </a:lnSpc>
              <a:buNone/>
            </a:pPr>
            <a:r>
              <a:rPr lang="en-US" sz="3900" b="1" dirty="0">
                <a:solidFill>
                  <a:srgbClr val="443728"/>
                </a:solidFill>
                <a:latin typeface="Crimson Pro Bold" pitchFamily="34" charset="0"/>
                <a:ea typeface="Crimson Pro Bold" pitchFamily="34" charset="-122"/>
                <a:cs typeface="Crimson Pro Bold" pitchFamily="34" charset="-120"/>
              </a:rPr>
              <a:t>Organisational Behaviour: A Complete Guide</a:t>
            </a:r>
            <a:endParaRPr lang="en-US" sz="3900" dirty="0"/>
          </a:p>
        </p:txBody>
      </p:sp>
      <p:sp>
        <p:nvSpPr>
          <p:cNvPr id="4" name="Text 1"/>
          <p:cNvSpPr/>
          <p:nvPr/>
        </p:nvSpPr>
        <p:spPr>
          <a:xfrm>
            <a:off x="6280190" y="3466505"/>
            <a:ext cx="7556421" cy="2222778"/>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Open Sans" pitchFamily="34" charset="0"/>
                <a:ea typeface="Open Sans" pitchFamily="34" charset="-122"/>
                <a:cs typeface="Open Sans" pitchFamily="34" charset="-120"/>
              </a:rPr>
              <a:t>A comprehensive, illustrated reference for students and curious learners — exploring every major theory across the three levels of analysis: Individual, Group, and Organisational. Every theory in this guide is taught through two lenses: the life you are already living — with friends, family, and daily routines — and the organisational world you are preparing to enter. You don't need work experience to understand these ideas. You just need to look at what's already happening around you.</a:t>
            </a:r>
            <a:endParaRPr lang="en-US" sz="1550" dirty="0"/>
          </a:p>
        </p:txBody>
      </p:sp>
      <p:sp>
        <p:nvSpPr>
          <p:cNvPr id="5" name="Shape 2"/>
          <p:cNvSpPr/>
          <p:nvPr/>
        </p:nvSpPr>
        <p:spPr>
          <a:xfrm>
            <a:off x="6280190" y="5920145"/>
            <a:ext cx="1778198" cy="373142"/>
          </a:xfrm>
          <a:prstGeom prst="roundRect">
            <a:avLst>
              <a:gd name="adj" fmla="val 17872"/>
            </a:avLst>
          </a:prstGeom>
          <a:solidFill>
            <a:srgbClr val="EBE2E0"/>
          </a:solidFill>
          <a:ln/>
        </p:spPr>
        <p:txBody>
          <a:bodyPr/>
          <a:lstStyle/>
          <a:p>
            <a:endParaRPr lang="en-AU"/>
          </a:p>
        </p:txBody>
      </p:sp>
      <p:sp>
        <p:nvSpPr>
          <p:cNvPr id="6" name="Text 3"/>
          <p:cNvSpPr/>
          <p:nvPr/>
        </p:nvSpPr>
        <p:spPr>
          <a:xfrm>
            <a:off x="6399252" y="5979676"/>
            <a:ext cx="1540073" cy="254079"/>
          </a:xfrm>
          <a:prstGeom prst="rect">
            <a:avLst/>
          </a:prstGeom>
          <a:noFill/>
          <a:ln/>
        </p:spPr>
        <p:txBody>
          <a:bodyPr wrap="none" lIns="0" tIns="0" rIns="0" bIns="0" rtlCol="0" anchor="t"/>
          <a:lstStyle/>
          <a:p>
            <a:pPr marL="0" indent="0" algn="l">
              <a:lnSpc>
                <a:spcPts val="2000"/>
              </a:lnSpc>
              <a:buNone/>
            </a:pPr>
            <a:r>
              <a:rPr lang="en-US" sz="1250" dirty="0">
                <a:solidFill>
                  <a:srgbClr val="443728"/>
                </a:solidFill>
                <a:latin typeface="Open Sans" pitchFamily="34" charset="0"/>
                <a:ea typeface="Open Sans" pitchFamily="34" charset="-122"/>
                <a:cs typeface="Open Sans" pitchFamily="34" charset="-120"/>
              </a:rPr>
              <a:t>STUDENT RESOURCE</a:t>
            </a:r>
            <a:endParaRPr lang="en-US" sz="1250" dirty="0"/>
          </a:p>
        </p:txBody>
      </p:sp>
      <p:sp>
        <p:nvSpPr>
          <p:cNvPr id="7" name="Shape 4"/>
          <p:cNvSpPr/>
          <p:nvPr/>
        </p:nvSpPr>
        <p:spPr>
          <a:xfrm>
            <a:off x="8157567" y="5912525"/>
            <a:ext cx="2525078" cy="388382"/>
          </a:xfrm>
          <a:prstGeom prst="roundRect">
            <a:avLst>
              <a:gd name="adj" fmla="val 17171"/>
            </a:avLst>
          </a:prstGeom>
          <a:noFill/>
          <a:ln w="7620">
            <a:solidFill>
              <a:srgbClr val="835E54"/>
            </a:solidFill>
            <a:prstDash val="solid"/>
          </a:ln>
        </p:spPr>
        <p:txBody>
          <a:bodyPr/>
          <a:lstStyle/>
          <a:p>
            <a:endParaRPr lang="en-AU"/>
          </a:p>
        </p:txBody>
      </p:sp>
      <p:sp>
        <p:nvSpPr>
          <p:cNvPr id="8" name="Text 5"/>
          <p:cNvSpPr/>
          <p:nvPr/>
        </p:nvSpPr>
        <p:spPr>
          <a:xfrm>
            <a:off x="8284250" y="5979676"/>
            <a:ext cx="2271713" cy="254079"/>
          </a:xfrm>
          <a:prstGeom prst="rect">
            <a:avLst/>
          </a:prstGeom>
          <a:noFill/>
          <a:ln/>
        </p:spPr>
        <p:txBody>
          <a:bodyPr wrap="none" lIns="0" tIns="0" rIns="0" bIns="0" rtlCol="0" anchor="t"/>
          <a:lstStyle/>
          <a:p>
            <a:pPr marL="0" indent="0" algn="l">
              <a:lnSpc>
                <a:spcPts val="2000"/>
              </a:lnSpc>
              <a:buNone/>
            </a:pPr>
            <a:r>
              <a:rPr lang="en-US" sz="1250" dirty="0">
                <a:solidFill>
                  <a:srgbClr val="835E54"/>
                </a:solidFill>
                <a:latin typeface="Open Sans" pitchFamily="34" charset="0"/>
                <a:ea typeface="Open Sans" pitchFamily="34" charset="-122"/>
                <a:cs typeface="Open Sans" pitchFamily="34" charset="-120"/>
              </a:rPr>
              <a:t>ORGANISATIONAL BEHAVIOUR</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18912" y="914519"/>
            <a:ext cx="6092309" cy="514945"/>
          </a:xfrm>
          <a:prstGeom prst="rect">
            <a:avLst/>
          </a:prstGeom>
          <a:noFill/>
          <a:ln/>
        </p:spPr>
        <p:txBody>
          <a:bodyPr wrap="none" lIns="0" tIns="0" rIns="0" bIns="0" rtlCol="0" anchor="t"/>
          <a:lstStyle/>
          <a:p>
            <a:pPr marL="0" indent="0" algn="l">
              <a:lnSpc>
                <a:spcPts val="4050"/>
              </a:lnSpc>
              <a:buNone/>
            </a:pPr>
            <a:r>
              <a:rPr lang="en-US" sz="3200" b="1" dirty="0">
                <a:solidFill>
                  <a:srgbClr val="443728"/>
                </a:solidFill>
                <a:latin typeface="Crimson Pro Bold" pitchFamily="34" charset="0"/>
                <a:ea typeface="Crimson Pro Bold" pitchFamily="34" charset="-122"/>
                <a:cs typeface="Crimson Pro Bold" pitchFamily="34" charset="-120"/>
              </a:rPr>
              <a:t>What Is Organisational Behaviour?</a:t>
            </a:r>
            <a:endParaRPr lang="en-US" sz="3200" dirty="0"/>
          </a:p>
        </p:txBody>
      </p:sp>
      <p:sp>
        <p:nvSpPr>
          <p:cNvPr id="3" name="Shape 1"/>
          <p:cNvSpPr/>
          <p:nvPr/>
        </p:nvSpPr>
        <p:spPr>
          <a:xfrm>
            <a:off x="700207" y="1634609"/>
            <a:ext cx="7202329" cy="4048006"/>
          </a:xfrm>
          <a:prstGeom prst="roundRect">
            <a:avLst>
              <a:gd name="adj" fmla="val 2931"/>
            </a:avLst>
          </a:prstGeom>
          <a:solidFill>
            <a:srgbClr val="835E54"/>
          </a:solidFill>
          <a:ln/>
        </p:spPr>
        <p:txBody>
          <a:bodyPr/>
          <a:lstStyle/>
          <a:p>
            <a:endParaRPr lang="en-AU"/>
          </a:p>
        </p:txBody>
      </p:sp>
      <p:sp>
        <p:nvSpPr>
          <p:cNvPr id="4" name="Text 2"/>
          <p:cNvSpPr/>
          <p:nvPr/>
        </p:nvSpPr>
        <p:spPr>
          <a:xfrm>
            <a:off x="864870" y="1771293"/>
            <a:ext cx="3466267" cy="257413"/>
          </a:xfrm>
          <a:prstGeom prst="rect">
            <a:avLst/>
          </a:prstGeom>
          <a:noFill/>
          <a:ln/>
        </p:spPr>
        <p:txBody>
          <a:bodyPr wrap="none" lIns="0" tIns="0" rIns="0" bIns="0" rtlCol="0" anchor="t"/>
          <a:lstStyle/>
          <a:p>
            <a:pPr marL="0" indent="0" algn="l">
              <a:lnSpc>
                <a:spcPts val="2000"/>
              </a:lnSpc>
              <a:buNone/>
            </a:pPr>
            <a:r>
              <a:rPr lang="en-US" sz="1600" b="1" dirty="0">
                <a:solidFill>
                  <a:srgbClr val="FFFFFF"/>
                </a:solidFill>
                <a:latin typeface="Crimson Pro Bold" pitchFamily="34" charset="0"/>
                <a:ea typeface="Crimson Pro Bold" pitchFamily="34" charset="-122"/>
                <a:cs typeface="Crimson Pro Bold" pitchFamily="34" charset="-120"/>
              </a:rPr>
              <a:t>The Study of Human Behaviour at Work</a:t>
            </a:r>
            <a:endParaRPr lang="en-US" sz="1600" dirty="0"/>
          </a:p>
        </p:txBody>
      </p:sp>
      <p:sp>
        <p:nvSpPr>
          <p:cNvPr id="5" name="Text 3"/>
          <p:cNvSpPr/>
          <p:nvPr/>
        </p:nvSpPr>
        <p:spPr>
          <a:xfrm>
            <a:off x="864870" y="2165390"/>
            <a:ext cx="6873002" cy="1206103"/>
          </a:xfrm>
          <a:prstGeom prst="rect">
            <a:avLst/>
          </a:prstGeom>
          <a:noFill/>
          <a:ln/>
        </p:spPr>
        <p:txBody>
          <a:bodyPr wrap="square" lIns="0" tIns="0" rIns="0" bIns="0" rtlCol="0" anchor="t"/>
          <a:lstStyle/>
          <a:p>
            <a:pPr marL="0" indent="0" algn="l">
              <a:lnSpc>
                <a:spcPts val="1850"/>
              </a:lnSpc>
              <a:buNone/>
            </a:pPr>
            <a:r>
              <a:rPr lang="en-US" sz="1250" dirty="0">
                <a:solidFill>
                  <a:srgbClr val="FFFFFF"/>
                </a:solidFill>
                <a:latin typeface="Open Sans" pitchFamily="34" charset="0"/>
                <a:ea typeface="Open Sans" pitchFamily="34" charset="-122"/>
                <a:cs typeface="Open Sans" pitchFamily="34" charset="-120"/>
              </a:rPr>
              <a:t>Organisational Behaviour (OB) is the systematic study of how individuals, groups, and structures affect and are affected by behaviour within organisations. It draws on psychology, sociology, anthropology, and management science to explain why people act the way they do at work — and how managers can harness that understanding to build more effective, humane, and productive workplaces.</a:t>
            </a:r>
            <a:endParaRPr lang="en-US" sz="1250" dirty="0"/>
          </a:p>
        </p:txBody>
      </p:sp>
      <p:sp>
        <p:nvSpPr>
          <p:cNvPr id="6" name="Text 4"/>
          <p:cNvSpPr/>
          <p:nvPr/>
        </p:nvSpPr>
        <p:spPr>
          <a:xfrm>
            <a:off x="864870" y="3494484"/>
            <a:ext cx="6873002" cy="723662"/>
          </a:xfrm>
          <a:prstGeom prst="rect">
            <a:avLst/>
          </a:prstGeom>
          <a:noFill/>
          <a:ln/>
        </p:spPr>
        <p:txBody>
          <a:bodyPr wrap="square" lIns="0" tIns="0" rIns="0" bIns="0" rtlCol="0" anchor="t"/>
          <a:lstStyle/>
          <a:p>
            <a:pPr marL="0" indent="0" algn="l">
              <a:lnSpc>
                <a:spcPts val="1850"/>
              </a:lnSpc>
              <a:buNone/>
            </a:pPr>
            <a:r>
              <a:rPr lang="en-US" sz="1250" dirty="0">
                <a:solidFill>
                  <a:srgbClr val="FFFFFF"/>
                </a:solidFill>
                <a:latin typeface="Open Sans" pitchFamily="34" charset="0"/>
                <a:ea typeface="Open Sans" pitchFamily="34" charset="-122"/>
                <a:cs typeface="Open Sans" pitchFamily="34" charset="-120"/>
              </a:rPr>
              <a:t>OB is not just academic theory. It is a practical toolkit that helps leaders motivate teams, resolve conflict, design better organisations, and manage change — all by understanding the human element at the core of every enterprise.</a:t>
            </a:r>
            <a:endParaRPr lang="en-US" sz="1250" dirty="0"/>
          </a:p>
        </p:txBody>
      </p:sp>
      <p:sp>
        <p:nvSpPr>
          <p:cNvPr id="7" name="Text 5"/>
          <p:cNvSpPr/>
          <p:nvPr/>
        </p:nvSpPr>
        <p:spPr>
          <a:xfrm>
            <a:off x="8193405" y="1771293"/>
            <a:ext cx="2069663" cy="257413"/>
          </a:xfrm>
          <a:prstGeom prst="rect">
            <a:avLst/>
          </a:prstGeom>
          <a:noFill/>
          <a:ln/>
        </p:spPr>
        <p:txBody>
          <a:bodyPr wrap="none" lIns="0" tIns="0" rIns="0" bIns="0" rtlCol="0" anchor="t"/>
          <a:lstStyle/>
          <a:p>
            <a:pPr marL="0" indent="0" algn="l">
              <a:lnSpc>
                <a:spcPts val="2000"/>
              </a:lnSpc>
              <a:buNone/>
            </a:pPr>
            <a:r>
              <a:rPr lang="en-US" sz="1600" b="1" dirty="0">
                <a:solidFill>
                  <a:srgbClr val="443728"/>
                </a:solidFill>
                <a:latin typeface="Crimson Pro Bold" pitchFamily="34" charset="0"/>
                <a:ea typeface="Crimson Pro Bold" pitchFamily="34" charset="-122"/>
                <a:cs typeface="Crimson Pro Bold" pitchFamily="34" charset="-120"/>
              </a:rPr>
              <a:t>Three Levels of Analysis</a:t>
            </a:r>
            <a:endParaRPr lang="en-US" sz="1600" dirty="0"/>
          </a:p>
        </p:txBody>
      </p:sp>
      <p:sp>
        <p:nvSpPr>
          <p:cNvPr id="8" name="Shape 6"/>
          <p:cNvSpPr/>
          <p:nvPr/>
        </p:nvSpPr>
        <p:spPr>
          <a:xfrm>
            <a:off x="8193405" y="2182535"/>
            <a:ext cx="370642" cy="370642"/>
          </a:xfrm>
          <a:prstGeom prst="roundRect">
            <a:avLst>
              <a:gd name="adj" fmla="val 18670"/>
            </a:avLst>
          </a:prstGeom>
          <a:solidFill>
            <a:srgbClr val="EBE2E0"/>
          </a:solidFill>
          <a:ln w="7620">
            <a:solidFill>
              <a:srgbClr val="D1C8C6"/>
            </a:solidFill>
            <a:prstDash val="solid"/>
          </a:ln>
        </p:spPr>
        <p:txBody>
          <a:bodyPr/>
          <a:lstStyle/>
          <a:p>
            <a:endParaRPr lang="en-AU"/>
          </a:p>
        </p:txBody>
      </p:sp>
      <p:sp>
        <p:nvSpPr>
          <p:cNvPr id="9" name="Text 7"/>
          <p:cNvSpPr/>
          <p:nvPr/>
        </p:nvSpPr>
        <p:spPr>
          <a:xfrm>
            <a:off x="8255139" y="2213372"/>
            <a:ext cx="247055" cy="308848"/>
          </a:xfrm>
          <a:prstGeom prst="rect">
            <a:avLst/>
          </a:prstGeom>
          <a:noFill/>
          <a:ln/>
        </p:spPr>
        <p:txBody>
          <a:bodyPr wrap="none" lIns="0" tIns="0" rIns="0" bIns="0" rtlCol="0" anchor="t"/>
          <a:lstStyle/>
          <a:p>
            <a:pPr marL="0" indent="0" algn="ctr">
              <a:lnSpc>
                <a:spcPts val="1900"/>
              </a:lnSpc>
              <a:buNone/>
            </a:pPr>
            <a:r>
              <a:rPr lang="en-US" sz="1900" b="1" dirty="0">
                <a:solidFill>
                  <a:srgbClr val="443728"/>
                </a:solidFill>
                <a:latin typeface="Crimson Pro Bold" pitchFamily="34" charset="0"/>
                <a:ea typeface="Crimson Pro Bold" pitchFamily="34" charset="-122"/>
                <a:cs typeface="Crimson Pro Bold" pitchFamily="34" charset="-120"/>
              </a:rPr>
              <a:t>1</a:t>
            </a:r>
            <a:endParaRPr lang="en-US" sz="1900" dirty="0"/>
          </a:p>
        </p:txBody>
      </p:sp>
      <p:sp>
        <p:nvSpPr>
          <p:cNvPr id="10" name="Text 8"/>
          <p:cNvSpPr/>
          <p:nvPr/>
        </p:nvSpPr>
        <p:spPr>
          <a:xfrm>
            <a:off x="8700730" y="2239089"/>
            <a:ext cx="2059424" cy="257413"/>
          </a:xfrm>
          <a:prstGeom prst="rect">
            <a:avLst/>
          </a:prstGeom>
          <a:noFill/>
          <a:ln/>
        </p:spPr>
        <p:txBody>
          <a:bodyPr wrap="none" lIns="0" tIns="0" rIns="0" bIns="0" rtlCol="0" anchor="t"/>
          <a:lstStyle/>
          <a:p>
            <a:pPr marL="0" indent="0" algn="l">
              <a:lnSpc>
                <a:spcPts val="2000"/>
              </a:lnSpc>
              <a:buNone/>
            </a:pPr>
            <a:r>
              <a:rPr lang="en-US" sz="1600" b="1" dirty="0">
                <a:solidFill>
                  <a:srgbClr val="443728"/>
                </a:solidFill>
                <a:latin typeface="Crimson Pro Bold" pitchFamily="34" charset="0"/>
                <a:ea typeface="Crimson Pro Bold" pitchFamily="34" charset="-122"/>
                <a:cs typeface="Crimson Pro Bold" pitchFamily="34" charset="-120"/>
              </a:rPr>
              <a:t>Individual (Micro OB)</a:t>
            </a:r>
            <a:endParaRPr lang="en-US" sz="1600" dirty="0"/>
          </a:p>
        </p:txBody>
      </p:sp>
      <p:sp>
        <p:nvSpPr>
          <p:cNvPr id="11" name="Text 9"/>
          <p:cNvSpPr/>
          <p:nvPr/>
        </p:nvSpPr>
        <p:spPr>
          <a:xfrm>
            <a:off x="8700730" y="2633186"/>
            <a:ext cx="5118140" cy="482441"/>
          </a:xfrm>
          <a:prstGeom prst="rect">
            <a:avLst/>
          </a:prstGeom>
          <a:noFill/>
          <a:ln/>
        </p:spPr>
        <p:txBody>
          <a:bodyPr wrap="square" lIns="0" tIns="0" rIns="0" bIns="0" rtlCol="0" anchor="t"/>
          <a:lstStyle/>
          <a:p>
            <a:pPr marL="0" indent="0" algn="l">
              <a:lnSpc>
                <a:spcPts val="1850"/>
              </a:lnSpc>
              <a:buNone/>
            </a:pPr>
            <a:r>
              <a:rPr lang="en-US" sz="1250" dirty="0">
                <a:solidFill>
                  <a:srgbClr val="443728"/>
                </a:solidFill>
                <a:latin typeface="Open Sans" pitchFamily="34" charset="0"/>
                <a:ea typeface="Open Sans" pitchFamily="34" charset="-122"/>
                <a:cs typeface="Open Sans" pitchFamily="34" charset="-120"/>
              </a:rPr>
              <a:t>Personality, motivation, perception, learning, and attitudes — the building blocks of behaviour.</a:t>
            </a:r>
            <a:endParaRPr lang="en-US" sz="1250" dirty="0"/>
          </a:p>
        </p:txBody>
      </p:sp>
      <p:sp>
        <p:nvSpPr>
          <p:cNvPr id="12" name="Shape 10"/>
          <p:cNvSpPr/>
          <p:nvPr/>
        </p:nvSpPr>
        <p:spPr>
          <a:xfrm>
            <a:off x="8193405" y="3389114"/>
            <a:ext cx="370642" cy="370642"/>
          </a:xfrm>
          <a:prstGeom prst="roundRect">
            <a:avLst>
              <a:gd name="adj" fmla="val 18670"/>
            </a:avLst>
          </a:prstGeom>
          <a:solidFill>
            <a:srgbClr val="EBE2E0"/>
          </a:solidFill>
          <a:ln w="7620">
            <a:solidFill>
              <a:srgbClr val="D1C8C6"/>
            </a:solidFill>
            <a:prstDash val="solid"/>
          </a:ln>
        </p:spPr>
        <p:txBody>
          <a:bodyPr/>
          <a:lstStyle/>
          <a:p>
            <a:endParaRPr lang="en-AU"/>
          </a:p>
        </p:txBody>
      </p:sp>
      <p:sp>
        <p:nvSpPr>
          <p:cNvPr id="13" name="Text 11"/>
          <p:cNvSpPr/>
          <p:nvPr/>
        </p:nvSpPr>
        <p:spPr>
          <a:xfrm>
            <a:off x="8255139" y="3419951"/>
            <a:ext cx="247055" cy="308848"/>
          </a:xfrm>
          <a:prstGeom prst="rect">
            <a:avLst/>
          </a:prstGeom>
          <a:noFill/>
          <a:ln/>
        </p:spPr>
        <p:txBody>
          <a:bodyPr wrap="none" lIns="0" tIns="0" rIns="0" bIns="0" rtlCol="0" anchor="t"/>
          <a:lstStyle/>
          <a:p>
            <a:pPr marL="0" indent="0" algn="ctr">
              <a:lnSpc>
                <a:spcPts val="1900"/>
              </a:lnSpc>
              <a:buNone/>
            </a:pPr>
            <a:r>
              <a:rPr lang="en-US" sz="1900" b="1" dirty="0">
                <a:solidFill>
                  <a:srgbClr val="443728"/>
                </a:solidFill>
                <a:latin typeface="Crimson Pro Bold" pitchFamily="34" charset="0"/>
                <a:ea typeface="Crimson Pro Bold" pitchFamily="34" charset="-122"/>
                <a:cs typeface="Crimson Pro Bold" pitchFamily="34" charset="-120"/>
              </a:rPr>
              <a:t>2</a:t>
            </a:r>
            <a:endParaRPr lang="en-US" sz="1900" dirty="0"/>
          </a:p>
        </p:txBody>
      </p:sp>
      <p:sp>
        <p:nvSpPr>
          <p:cNvPr id="14" name="Text 12"/>
          <p:cNvSpPr/>
          <p:nvPr/>
        </p:nvSpPr>
        <p:spPr>
          <a:xfrm>
            <a:off x="8700730" y="3445669"/>
            <a:ext cx="2059424" cy="257413"/>
          </a:xfrm>
          <a:prstGeom prst="rect">
            <a:avLst/>
          </a:prstGeom>
          <a:noFill/>
          <a:ln/>
        </p:spPr>
        <p:txBody>
          <a:bodyPr wrap="none" lIns="0" tIns="0" rIns="0" bIns="0" rtlCol="0" anchor="t"/>
          <a:lstStyle/>
          <a:p>
            <a:pPr marL="0" indent="0" algn="l">
              <a:lnSpc>
                <a:spcPts val="2000"/>
              </a:lnSpc>
              <a:buNone/>
            </a:pPr>
            <a:r>
              <a:rPr lang="en-US" sz="1600" b="1" dirty="0">
                <a:solidFill>
                  <a:srgbClr val="443728"/>
                </a:solidFill>
                <a:latin typeface="Crimson Pro Bold" pitchFamily="34" charset="0"/>
                <a:ea typeface="Crimson Pro Bold" pitchFamily="34" charset="-122"/>
                <a:cs typeface="Crimson Pro Bold" pitchFamily="34" charset="-120"/>
              </a:rPr>
              <a:t>Group (Meso OB)</a:t>
            </a:r>
            <a:endParaRPr lang="en-US" sz="1600" dirty="0"/>
          </a:p>
        </p:txBody>
      </p:sp>
      <p:sp>
        <p:nvSpPr>
          <p:cNvPr id="15" name="Text 13"/>
          <p:cNvSpPr/>
          <p:nvPr/>
        </p:nvSpPr>
        <p:spPr>
          <a:xfrm>
            <a:off x="8700730" y="3839766"/>
            <a:ext cx="5118140" cy="482441"/>
          </a:xfrm>
          <a:prstGeom prst="rect">
            <a:avLst/>
          </a:prstGeom>
          <a:noFill/>
          <a:ln/>
        </p:spPr>
        <p:txBody>
          <a:bodyPr wrap="square" lIns="0" tIns="0" rIns="0" bIns="0" rtlCol="0" anchor="t"/>
          <a:lstStyle/>
          <a:p>
            <a:pPr marL="0" indent="0" algn="l">
              <a:lnSpc>
                <a:spcPts val="1850"/>
              </a:lnSpc>
              <a:buNone/>
            </a:pPr>
            <a:r>
              <a:rPr lang="en-US" sz="1250" dirty="0">
                <a:solidFill>
                  <a:srgbClr val="443728"/>
                </a:solidFill>
                <a:latin typeface="Open Sans" pitchFamily="34" charset="0"/>
                <a:ea typeface="Open Sans" pitchFamily="34" charset="-122"/>
                <a:cs typeface="Open Sans" pitchFamily="34" charset="-120"/>
              </a:rPr>
              <a:t>Leadership, teamwork, communication, conflict, and power dynamics between people.</a:t>
            </a:r>
            <a:endParaRPr lang="en-US" sz="1250" dirty="0"/>
          </a:p>
        </p:txBody>
      </p:sp>
      <p:sp>
        <p:nvSpPr>
          <p:cNvPr id="16" name="Shape 14"/>
          <p:cNvSpPr/>
          <p:nvPr/>
        </p:nvSpPr>
        <p:spPr>
          <a:xfrm>
            <a:off x="8193405" y="4595693"/>
            <a:ext cx="370642" cy="370642"/>
          </a:xfrm>
          <a:prstGeom prst="roundRect">
            <a:avLst>
              <a:gd name="adj" fmla="val 18670"/>
            </a:avLst>
          </a:prstGeom>
          <a:solidFill>
            <a:srgbClr val="EBE2E0"/>
          </a:solidFill>
          <a:ln w="7620">
            <a:solidFill>
              <a:srgbClr val="D1C8C6"/>
            </a:solidFill>
            <a:prstDash val="solid"/>
          </a:ln>
        </p:spPr>
        <p:txBody>
          <a:bodyPr/>
          <a:lstStyle/>
          <a:p>
            <a:endParaRPr lang="en-AU"/>
          </a:p>
        </p:txBody>
      </p:sp>
      <p:sp>
        <p:nvSpPr>
          <p:cNvPr id="17" name="Text 15"/>
          <p:cNvSpPr/>
          <p:nvPr/>
        </p:nvSpPr>
        <p:spPr>
          <a:xfrm>
            <a:off x="8255139" y="4626531"/>
            <a:ext cx="247055" cy="308848"/>
          </a:xfrm>
          <a:prstGeom prst="rect">
            <a:avLst/>
          </a:prstGeom>
          <a:noFill/>
          <a:ln/>
        </p:spPr>
        <p:txBody>
          <a:bodyPr wrap="none" lIns="0" tIns="0" rIns="0" bIns="0" rtlCol="0" anchor="t"/>
          <a:lstStyle/>
          <a:p>
            <a:pPr marL="0" indent="0" algn="ctr">
              <a:lnSpc>
                <a:spcPts val="1900"/>
              </a:lnSpc>
              <a:buNone/>
            </a:pPr>
            <a:r>
              <a:rPr lang="en-US" sz="1900" b="1" dirty="0">
                <a:solidFill>
                  <a:srgbClr val="443728"/>
                </a:solidFill>
                <a:latin typeface="Crimson Pro Bold" pitchFamily="34" charset="0"/>
                <a:ea typeface="Crimson Pro Bold" pitchFamily="34" charset="-122"/>
                <a:cs typeface="Crimson Pro Bold" pitchFamily="34" charset="-120"/>
              </a:rPr>
              <a:t>3</a:t>
            </a:r>
            <a:endParaRPr lang="en-US" sz="1900" dirty="0"/>
          </a:p>
        </p:txBody>
      </p:sp>
      <p:sp>
        <p:nvSpPr>
          <p:cNvPr id="18" name="Text 16"/>
          <p:cNvSpPr/>
          <p:nvPr/>
        </p:nvSpPr>
        <p:spPr>
          <a:xfrm>
            <a:off x="8700730" y="4652248"/>
            <a:ext cx="2357199" cy="257413"/>
          </a:xfrm>
          <a:prstGeom prst="rect">
            <a:avLst/>
          </a:prstGeom>
          <a:noFill/>
          <a:ln/>
        </p:spPr>
        <p:txBody>
          <a:bodyPr wrap="none" lIns="0" tIns="0" rIns="0" bIns="0" rtlCol="0" anchor="t"/>
          <a:lstStyle/>
          <a:p>
            <a:pPr marL="0" indent="0" algn="l">
              <a:lnSpc>
                <a:spcPts val="2000"/>
              </a:lnSpc>
              <a:buNone/>
            </a:pPr>
            <a:r>
              <a:rPr lang="en-US" sz="1600" b="1" dirty="0">
                <a:solidFill>
                  <a:srgbClr val="443728"/>
                </a:solidFill>
                <a:latin typeface="Crimson Pro Bold" pitchFamily="34" charset="0"/>
                <a:ea typeface="Crimson Pro Bold" pitchFamily="34" charset="-122"/>
                <a:cs typeface="Crimson Pro Bold" pitchFamily="34" charset="-120"/>
              </a:rPr>
              <a:t>Organisational (Macro OB)</a:t>
            </a:r>
            <a:endParaRPr lang="en-US" sz="1600" dirty="0"/>
          </a:p>
        </p:txBody>
      </p:sp>
      <p:sp>
        <p:nvSpPr>
          <p:cNvPr id="19" name="Text 17"/>
          <p:cNvSpPr/>
          <p:nvPr/>
        </p:nvSpPr>
        <p:spPr>
          <a:xfrm>
            <a:off x="8700730" y="5046345"/>
            <a:ext cx="5118140" cy="482441"/>
          </a:xfrm>
          <a:prstGeom prst="rect">
            <a:avLst/>
          </a:prstGeom>
          <a:noFill/>
          <a:ln/>
        </p:spPr>
        <p:txBody>
          <a:bodyPr wrap="square" lIns="0" tIns="0" rIns="0" bIns="0" rtlCol="0" anchor="t"/>
          <a:lstStyle/>
          <a:p>
            <a:pPr marL="0" indent="0" algn="l">
              <a:lnSpc>
                <a:spcPts val="1850"/>
              </a:lnSpc>
              <a:buNone/>
            </a:pPr>
            <a:r>
              <a:rPr lang="en-US" sz="1250" dirty="0">
                <a:solidFill>
                  <a:srgbClr val="443728"/>
                </a:solidFill>
                <a:latin typeface="Open Sans" pitchFamily="34" charset="0"/>
                <a:ea typeface="Open Sans" pitchFamily="34" charset="-122"/>
                <a:cs typeface="Open Sans" pitchFamily="34" charset="-120"/>
              </a:rPr>
              <a:t>Structure, culture, change management, and systems that shape the entire organisation.</a:t>
            </a:r>
            <a:endParaRPr lang="en-US" sz="1250" dirty="0"/>
          </a:p>
        </p:txBody>
      </p:sp>
      <p:sp>
        <p:nvSpPr>
          <p:cNvPr id="20" name="Shape 18"/>
          <p:cNvSpPr/>
          <p:nvPr/>
        </p:nvSpPr>
        <p:spPr>
          <a:xfrm>
            <a:off x="818912" y="5836444"/>
            <a:ext cx="12992457" cy="1478518"/>
          </a:xfrm>
          <a:prstGeom prst="roundRect">
            <a:avLst>
              <a:gd name="adj" fmla="val 4680"/>
            </a:avLst>
          </a:prstGeom>
          <a:solidFill>
            <a:srgbClr val="E1D4D0"/>
          </a:solidFill>
          <a:ln/>
        </p:spPr>
        <p:txBody>
          <a:bodyPr/>
          <a:lstStyle/>
          <a:p>
            <a:endParaRPr lang="en-AU"/>
          </a:p>
        </p:txBody>
      </p:sp>
      <p:pic>
        <p:nvPicPr>
          <p:cNvPr id="21" name="Image 0" descr="preencoded.png"/>
          <p:cNvPicPr>
            <a:picLocks noChangeAspect="1"/>
          </p:cNvPicPr>
          <p:nvPr/>
        </p:nvPicPr>
        <p:blipFill>
          <a:blip r:embed="rId3"/>
          <a:stretch>
            <a:fillRect/>
          </a:stretch>
        </p:blipFill>
        <p:spPr>
          <a:xfrm>
            <a:off x="983575" y="6080879"/>
            <a:ext cx="205859" cy="164663"/>
          </a:xfrm>
          <a:prstGeom prst="rect">
            <a:avLst/>
          </a:prstGeom>
        </p:spPr>
      </p:pic>
      <p:sp>
        <p:nvSpPr>
          <p:cNvPr id="22" name="Text 19"/>
          <p:cNvSpPr/>
          <p:nvPr/>
        </p:nvSpPr>
        <p:spPr>
          <a:xfrm>
            <a:off x="1354098" y="6014204"/>
            <a:ext cx="12292608" cy="248841"/>
          </a:xfrm>
          <a:prstGeom prst="rect">
            <a:avLst/>
          </a:prstGeom>
          <a:noFill/>
          <a:ln/>
        </p:spPr>
        <p:txBody>
          <a:bodyPr wrap="none" lIns="0" tIns="0" rIns="0" bIns="0" rtlCol="0" anchor="t"/>
          <a:lstStyle/>
          <a:p>
            <a:pPr marL="0" indent="0" algn="l">
              <a:lnSpc>
                <a:spcPts val="1850"/>
              </a:lnSpc>
              <a:buNone/>
            </a:pPr>
            <a:r>
              <a:rPr lang="en-US" sz="1250" dirty="0">
                <a:solidFill>
                  <a:srgbClr val="000000"/>
                </a:solidFill>
                <a:latin typeface="Open Sans" pitchFamily="34" charset="0"/>
                <a:ea typeface="Open Sans" pitchFamily="34" charset="-122"/>
                <a:cs typeface="Open Sans" pitchFamily="34" charset="-120"/>
              </a:rPr>
              <a:t>💡 </a:t>
            </a:r>
            <a:r>
              <a:rPr lang="en-US" sz="1250" b="1" dirty="0">
                <a:solidFill>
                  <a:srgbClr val="000000"/>
                </a:solidFill>
                <a:latin typeface="Open Sans" pitchFamily="34" charset="0"/>
                <a:ea typeface="Open Sans" pitchFamily="34" charset="-122"/>
                <a:cs typeface="Open Sans" pitchFamily="34" charset="-120"/>
              </a:rPr>
              <a:t>A Note on How to Read This Guide</a:t>
            </a:r>
            <a:endParaRPr lang="en-US" sz="1250" dirty="0"/>
          </a:p>
        </p:txBody>
      </p:sp>
      <p:sp>
        <p:nvSpPr>
          <p:cNvPr id="23" name="Text 20"/>
          <p:cNvSpPr/>
          <p:nvPr/>
        </p:nvSpPr>
        <p:spPr>
          <a:xfrm>
            <a:off x="1354098" y="6386036"/>
            <a:ext cx="12292608" cy="723662"/>
          </a:xfrm>
          <a:prstGeom prst="rect">
            <a:avLst/>
          </a:prstGeom>
          <a:noFill/>
          <a:ln/>
        </p:spPr>
        <p:txBody>
          <a:bodyPr wrap="square" lIns="0" tIns="0" rIns="0" bIns="0" rtlCol="0" anchor="t"/>
          <a:lstStyle/>
          <a:p>
            <a:pPr marL="0" indent="0" algn="l">
              <a:lnSpc>
                <a:spcPts val="1850"/>
              </a:lnSpc>
              <a:buNone/>
            </a:pPr>
            <a:r>
              <a:rPr lang="en-US" sz="1250" dirty="0">
                <a:solidFill>
                  <a:srgbClr val="000000"/>
                </a:solidFill>
                <a:latin typeface="Open Sans" pitchFamily="34" charset="0"/>
                <a:ea typeface="Open Sans" pitchFamily="34" charset="-122"/>
                <a:cs typeface="Open Sans" pitchFamily="34" charset="-120"/>
              </a:rPr>
              <a:t>You don't need to have worked in an organisation to understand Organisational Behaviour. Every theory in this guide plays out first in the places you already know — your family home, your friend group, your school, your sports team, your WhatsApp group. The videos and examples in this guide are designed to meet you there first, so that when you do enter the workplace, you'll recognise what's happening because you've already lived a version of it.</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3402449" y="272891"/>
            <a:ext cx="2598301"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Foundational OB Models</a:t>
            </a:r>
            <a:endParaRPr lang="en-US" sz="1950" dirty="0"/>
          </a:p>
        </p:txBody>
      </p:sp>
      <p:sp>
        <p:nvSpPr>
          <p:cNvPr id="3" name="Text 1"/>
          <p:cNvSpPr/>
          <p:nvPr/>
        </p:nvSpPr>
        <p:spPr>
          <a:xfrm>
            <a:off x="3402449" y="682228"/>
            <a:ext cx="7825502" cy="237887"/>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Before exploring the three levels, it is essential to understand the philosophical frameworks that underpin how organisations choose to manage human behaviour. These models represent an evolution in managerial thinking — from raw authority to a genuine recognition of human worth.</a:t>
            </a:r>
            <a:endParaRPr lang="en-US" sz="750" dirty="0"/>
          </a:p>
        </p:txBody>
      </p:sp>
      <p:sp>
        <p:nvSpPr>
          <p:cNvPr id="4" name="Shape 2"/>
          <p:cNvSpPr/>
          <p:nvPr/>
        </p:nvSpPr>
        <p:spPr>
          <a:xfrm>
            <a:off x="3402449" y="975836"/>
            <a:ext cx="7825502" cy="644247"/>
          </a:xfrm>
          <a:prstGeom prst="roundRect">
            <a:avLst>
              <a:gd name="adj" fmla="val 6470"/>
            </a:avLst>
          </a:prstGeom>
          <a:solidFill>
            <a:srgbClr val="E1D4D0"/>
          </a:solidFill>
          <a:ln/>
        </p:spPr>
        <p:txBody>
          <a:bodyPr/>
          <a:lstStyle/>
          <a:p>
            <a:endParaRPr lang="en-AU"/>
          </a:p>
        </p:txBody>
      </p:sp>
      <p:pic>
        <p:nvPicPr>
          <p:cNvPr id="5" name="Image 0" descr="preencoded.png"/>
          <p:cNvPicPr>
            <a:picLocks noChangeAspect="1"/>
          </p:cNvPicPr>
          <p:nvPr/>
        </p:nvPicPr>
        <p:blipFill>
          <a:blip r:embed="rId3"/>
          <a:stretch>
            <a:fillRect/>
          </a:stretch>
        </p:blipFill>
        <p:spPr>
          <a:xfrm>
            <a:off x="3501628" y="1104424"/>
            <a:ext cx="123944" cy="99179"/>
          </a:xfrm>
          <a:prstGeom prst="rect">
            <a:avLst/>
          </a:prstGeom>
        </p:spPr>
      </p:pic>
      <p:sp>
        <p:nvSpPr>
          <p:cNvPr id="6" name="Text 3"/>
          <p:cNvSpPr/>
          <p:nvPr/>
        </p:nvSpPr>
        <p:spPr>
          <a:xfrm>
            <a:off x="3724751" y="1050131"/>
            <a:ext cx="7404021" cy="475774"/>
          </a:xfrm>
          <a:prstGeom prst="rect">
            <a:avLst/>
          </a:prstGeom>
          <a:noFill/>
          <a:ln/>
        </p:spPr>
        <p:txBody>
          <a:bodyPr wrap="square" lIns="0" tIns="0" rIns="0" bIns="0" rtlCol="0" anchor="t"/>
          <a:lstStyle/>
          <a:p>
            <a:pPr marL="0" indent="0" algn="l">
              <a:lnSpc>
                <a:spcPts val="900"/>
              </a:lnSpc>
              <a:buNone/>
            </a:pPr>
            <a:r>
              <a:rPr lang="en-US" sz="750" dirty="0">
                <a:solidFill>
                  <a:srgbClr val="000000"/>
                </a:solidFill>
                <a:latin typeface="Open Sans" pitchFamily="34" charset="0"/>
                <a:ea typeface="Open Sans" pitchFamily="34" charset="-122"/>
                <a:cs typeface="Open Sans" pitchFamily="34" charset="-120"/>
              </a:rPr>
              <a:t>📹 </a:t>
            </a:r>
            <a:r>
              <a:rPr lang="en-US" sz="750" b="1" dirty="0">
                <a:solidFill>
                  <a:srgbClr val="000000"/>
                </a:solidFill>
                <a:latin typeface="Open Sans" pitchFamily="34" charset="0"/>
                <a:ea typeface="Open Sans" pitchFamily="34" charset="-122"/>
                <a:cs typeface="Open Sans" pitchFamily="34" charset="-120"/>
              </a:rPr>
              <a:t>Video Placeholder</a:t>
            </a:r>
            <a:r>
              <a:rPr lang="en-US" sz="750" dirty="0">
                <a:solidFill>
                  <a:srgbClr val="000000"/>
                </a:solidFill>
                <a:latin typeface="Open Sans" pitchFamily="34" charset="0"/>
                <a:ea typeface="Open Sans" pitchFamily="34" charset="-122"/>
                <a:cs typeface="Open Sans" pitchFamily="34" charset="-120"/>
              </a:rPr>
              <a:t> — "Think about how decisions get made in your family. Does one parent just say 'because I said so' — or do you all sit down and talk it through? Does your household run on rules and routines, or on trust and teamwork? This video maps those exact family and friendship dynamics onto the four OB management models — Autocratic, Custodial, Supportive, and Collegial — so you can see which model you've been living inside before you ever set foot in an office."</a:t>
            </a:r>
            <a:endParaRPr lang="en-US" sz="750" dirty="0"/>
          </a:p>
        </p:txBody>
      </p:sp>
      <p:pic>
        <p:nvPicPr>
          <p:cNvPr id="7" name="Image 1" descr="preencoded.png"/>
          <p:cNvPicPr>
            <a:picLocks noChangeAspect="1"/>
          </p:cNvPicPr>
          <p:nvPr/>
        </p:nvPicPr>
        <p:blipFill>
          <a:blip r:embed="rId4"/>
          <a:stretch>
            <a:fillRect/>
          </a:stretch>
        </p:blipFill>
        <p:spPr>
          <a:xfrm>
            <a:off x="3402449" y="1675805"/>
            <a:ext cx="1107638" cy="684490"/>
          </a:xfrm>
          <a:prstGeom prst="rect">
            <a:avLst/>
          </a:prstGeom>
        </p:spPr>
      </p:pic>
      <p:sp>
        <p:nvSpPr>
          <p:cNvPr id="8" name="Text 4"/>
          <p:cNvSpPr/>
          <p:nvPr/>
        </p:nvSpPr>
        <p:spPr>
          <a:xfrm>
            <a:off x="3402449" y="2422208"/>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Autocratic</a:t>
            </a:r>
            <a:endParaRPr lang="en-US" sz="950" dirty="0"/>
          </a:p>
        </p:txBody>
      </p:sp>
      <p:sp>
        <p:nvSpPr>
          <p:cNvPr id="9" name="Text 5"/>
          <p:cNvSpPr/>
          <p:nvPr/>
        </p:nvSpPr>
        <p:spPr>
          <a:xfrm>
            <a:off x="3402449" y="2606993"/>
            <a:ext cx="1909882" cy="713661"/>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Based on power and authority. Managers command; employees comply. Dependency on the boss is high, and employee needs for subsistence are barely met. Effective in crises but damaging to morale over time.</a:t>
            </a:r>
            <a:endParaRPr lang="en-US" sz="750" dirty="0"/>
          </a:p>
        </p:txBody>
      </p:sp>
      <p:pic>
        <p:nvPicPr>
          <p:cNvPr id="10" name="Image 2" descr="preencoded.png"/>
          <p:cNvPicPr>
            <a:picLocks noChangeAspect="1"/>
          </p:cNvPicPr>
          <p:nvPr/>
        </p:nvPicPr>
        <p:blipFill>
          <a:blip r:embed="rId5"/>
          <a:stretch>
            <a:fillRect/>
          </a:stretch>
        </p:blipFill>
        <p:spPr>
          <a:xfrm>
            <a:off x="5374243" y="1675805"/>
            <a:ext cx="1107758" cy="684609"/>
          </a:xfrm>
          <a:prstGeom prst="rect">
            <a:avLst/>
          </a:prstGeom>
        </p:spPr>
      </p:pic>
      <p:sp>
        <p:nvSpPr>
          <p:cNvPr id="11" name="Text 6"/>
          <p:cNvSpPr/>
          <p:nvPr/>
        </p:nvSpPr>
        <p:spPr>
          <a:xfrm>
            <a:off x="5374243" y="2422327"/>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Custodial</a:t>
            </a:r>
            <a:endParaRPr lang="en-US" sz="950" dirty="0"/>
          </a:p>
        </p:txBody>
      </p:sp>
      <p:sp>
        <p:nvSpPr>
          <p:cNvPr id="12" name="Text 7"/>
          <p:cNvSpPr/>
          <p:nvPr/>
        </p:nvSpPr>
        <p:spPr>
          <a:xfrm>
            <a:off x="5374243" y="2607112"/>
            <a:ext cx="1910001" cy="713661"/>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Focuses on economic security — salaries, benefits, and welfare programmes. Employees become dependent on the organisation rather than the individual manager. Loyalty increases but not necessarily performance.</a:t>
            </a:r>
            <a:endParaRPr lang="en-US" sz="750" dirty="0"/>
          </a:p>
        </p:txBody>
      </p:sp>
      <p:pic>
        <p:nvPicPr>
          <p:cNvPr id="13" name="Image 3" descr="preencoded.png"/>
          <p:cNvPicPr>
            <a:picLocks noChangeAspect="1"/>
          </p:cNvPicPr>
          <p:nvPr/>
        </p:nvPicPr>
        <p:blipFill>
          <a:blip r:embed="rId6"/>
          <a:stretch>
            <a:fillRect/>
          </a:stretch>
        </p:blipFill>
        <p:spPr>
          <a:xfrm>
            <a:off x="7346156" y="1675805"/>
            <a:ext cx="1107638" cy="684490"/>
          </a:xfrm>
          <a:prstGeom prst="rect">
            <a:avLst/>
          </a:prstGeom>
        </p:spPr>
      </p:pic>
      <p:sp>
        <p:nvSpPr>
          <p:cNvPr id="14" name="Text 8"/>
          <p:cNvSpPr/>
          <p:nvPr/>
        </p:nvSpPr>
        <p:spPr>
          <a:xfrm>
            <a:off x="7346156" y="2422208"/>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Supportive</a:t>
            </a:r>
            <a:endParaRPr lang="en-US" sz="950" dirty="0"/>
          </a:p>
        </p:txBody>
      </p:sp>
      <p:sp>
        <p:nvSpPr>
          <p:cNvPr id="15" name="Text 9"/>
          <p:cNvSpPr/>
          <p:nvPr/>
        </p:nvSpPr>
        <p:spPr>
          <a:xfrm>
            <a:off x="7346156" y="2606993"/>
            <a:ext cx="1909882" cy="713661"/>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Emphasises managerial support and employee participation. Managers help employees achieve their goals. Employees feel a sense of participation and task involvement, driving motivation beyond basic compliance.</a:t>
            </a:r>
            <a:endParaRPr lang="en-US" sz="750" dirty="0"/>
          </a:p>
        </p:txBody>
      </p:sp>
      <p:pic>
        <p:nvPicPr>
          <p:cNvPr id="16" name="Image 4" descr="preencoded.png"/>
          <p:cNvPicPr>
            <a:picLocks noChangeAspect="1"/>
          </p:cNvPicPr>
          <p:nvPr/>
        </p:nvPicPr>
        <p:blipFill>
          <a:blip r:embed="rId7"/>
          <a:stretch>
            <a:fillRect/>
          </a:stretch>
        </p:blipFill>
        <p:spPr>
          <a:xfrm>
            <a:off x="9317950" y="1675805"/>
            <a:ext cx="1107758" cy="684609"/>
          </a:xfrm>
          <a:prstGeom prst="rect">
            <a:avLst/>
          </a:prstGeom>
        </p:spPr>
      </p:pic>
      <p:sp>
        <p:nvSpPr>
          <p:cNvPr id="17" name="Text 10"/>
          <p:cNvSpPr/>
          <p:nvPr/>
        </p:nvSpPr>
        <p:spPr>
          <a:xfrm>
            <a:off x="9317950" y="2422327"/>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Collegial</a:t>
            </a:r>
            <a:endParaRPr lang="en-US" sz="950" dirty="0"/>
          </a:p>
        </p:txBody>
      </p:sp>
      <p:sp>
        <p:nvSpPr>
          <p:cNvPr id="18" name="Text 11"/>
          <p:cNvSpPr/>
          <p:nvPr/>
        </p:nvSpPr>
        <p:spPr>
          <a:xfrm>
            <a:off x="9317950" y="2607112"/>
            <a:ext cx="1910001" cy="713661"/>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Teamwork and shared responsibility define this model. Managers act as partners rather than bosses. Employees develop self-discipline and feel responsible for their work, fostering a culture of mutual trust.</a:t>
            </a:r>
            <a:endParaRPr lang="en-US" sz="750" dirty="0"/>
          </a:p>
        </p:txBody>
      </p:sp>
      <p:sp>
        <p:nvSpPr>
          <p:cNvPr id="19" name="Shape 12"/>
          <p:cNvSpPr/>
          <p:nvPr/>
        </p:nvSpPr>
        <p:spPr>
          <a:xfrm>
            <a:off x="3402449" y="3432215"/>
            <a:ext cx="1871067" cy="1250752"/>
          </a:xfrm>
          <a:prstGeom prst="roundRect">
            <a:avLst>
              <a:gd name="adj" fmla="val 3332"/>
            </a:avLst>
          </a:prstGeom>
          <a:solidFill>
            <a:srgbClr val="EBE2E0"/>
          </a:solidFill>
          <a:ln w="7620">
            <a:solidFill>
              <a:srgbClr val="D1C8C6"/>
            </a:solidFill>
            <a:prstDash val="solid"/>
          </a:ln>
        </p:spPr>
        <p:txBody>
          <a:bodyPr/>
          <a:lstStyle/>
          <a:p>
            <a:endParaRPr lang="en-AU"/>
          </a:p>
        </p:txBody>
      </p:sp>
      <p:sp>
        <p:nvSpPr>
          <p:cNvPr id="20" name="Text 13"/>
          <p:cNvSpPr/>
          <p:nvPr/>
        </p:nvSpPr>
        <p:spPr>
          <a:xfrm>
            <a:off x="3509248" y="3539014"/>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Human Value Model</a:t>
            </a:r>
            <a:endParaRPr lang="en-US" sz="950" dirty="0"/>
          </a:p>
        </p:txBody>
      </p:sp>
      <p:sp>
        <p:nvSpPr>
          <p:cNvPr id="21" name="Text 14"/>
          <p:cNvSpPr/>
          <p:nvPr/>
        </p:nvSpPr>
        <p:spPr>
          <a:xfrm>
            <a:off x="3509248" y="3743563"/>
            <a:ext cx="1657469" cy="832604"/>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Prioritises the intrinsic worth and potential of every employee. Organisations invest in growth, dignity, and meaningful work. Employees are seen as ends in themselves, not merely means to organisational goals.</a:t>
            </a:r>
            <a:endParaRPr lang="en-US" sz="750" dirty="0"/>
          </a:p>
        </p:txBody>
      </p:sp>
      <p:sp>
        <p:nvSpPr>
          <p:cNvPr id="22" name="Shape 15"/>
          <p:cNvSpPr/>
          <p:nvPr/>
        </p:nvSpPr>
        <p:spPr>
          <a:xfrm>
            <a:off x="5323046" y="3432215"/>
            <a:ext cx="1871186" cy="1250752"/>
          </a:xfrm>
          <a:prstGeom prst="roundRect">
            <a:avLst>
              <a:gd name="adj" fmla="val 3332"/>
            </a:avLst>
          </a:prstGeom>
          <a:solidFill>
            <a:srgbClr val="EBE2E0"/>
          </a:solidFill>
          <a:ln w="7620">
            <a:solidFill>
              <a:srgbClr val="D1C8C6"/>
            </a:solidFill>
            <a:prstDash val="solid"/>
          </a:ln>
        </p:spPr>
        <p:txBody>
          <a:bodyPr/>
          <a:lstStyle/>
          <a:p>
            <a:endParaRPr lang="en-AU"/>
          </a:p>
        </p:txBody>
      </p:sp>
      <p:sp>
        <p:nvSpPr>
          <p:cNvPr id="23" name="Text 16"/>
          <p:cNvSpPr/>
          <p:nvPr/>
        </p:nvSpPr>
        <p:spPr>
          <a:xfrm>
            <a:off x="5429845" y="3539014"/>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Contingency Model</a:t>
            </a:r>
            <a:endParaRPr lang="en-US" sz="950" dirty="0"/>
          </a:p>
        </p:txBody>
      </p:sp>
      <p:sp>
        <p:nvSpPr>
          <p:cNvPr id="24" name="Text 17"/>
          <p:cNvSpPr/>
          <p:nvPr/>
        </p:nvSpPr>
        <p:spPr>
          <a:xfrm>
            <a:off x="5429845" y="3743563"/>
            <a:ext cx="1657588" cy="832604"/>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Asserts there is no single best management style. The ideal approach depends on the situation — the task, the team, the environment. Leaders must be adaptive and contextually intelligent.</a:t>
            </a:r>
            <a:endParaRPr lang="en-US" sz="750" dirty="0"/>
          </a:p>
        </p:txBody>
      </p:sp>
      <p:sp>
        <p:nvSpPr>
          <p:cNvPr id="25" name="Shape 18"/>
          <p:cNvSpPr/>
          <p:nvPr/>
        </p:nvSpPr>
        <p:spPr>
          <a:xfrm>
            <a:off x="7443788" y="3432215"/>
            <a:ext cx="3791783" cy="4512707"/>
          </a:xfrm>
          <a:prstGeom prst="roundRect">
            <a:avLst>
              <a:gd name="adj" fmla="val 1099"/>
            </a:avLst>
          </a:prstGeom>
          <a:solidFill>
            <a:srgbClr val="E1D4D0"/>
          </a:solidFill>
          <a:ln/>
        </p:spPr>
        <p:txBody>
          <a:bodyPr/>
          <a:lstStyle/>
          <a:p>
            <a:endParaRPr lang="en-AU"/>
          </a:p>
        </p:txBody>
      </p:sp>
      <p:pic>
        <p:nvPicPr>
          <p:cNvPr id="26" name="Image 5" descr="preencoded.png"/>
          <p:cNvPicPr>
            <a:picLocks noChangeAspect="1"/>
          </p:cNvPicPr>
          <p:nvPr/>
        </p:nvPicPr>
        <p:blipFill>
          <a:blip r:embed="rId3"/>
          <a:stretch>
            <a:fillRect/>
          </a:stretch>
        </p:blipFill>
        <p:spPr>
          <a:xfrm>
            <a:off x="7542967" y="3560802"/>
            <a:ext cx="123944" cy="99179"/>
          </a:xfrm>
          <a:prstGeom prst="rect">
            <a:avLst/>
          </a:prstGeom>
        </p:spPr>
      </p:pic>
      <p:pic>
        <p:nvPicPr>
          <p:cNvPr id="27" name="Image 6" descr="preencoded.png"/>
          <p:cNvPicPr>
            <a:picLocks noChangeAspect="1"/>
          </p:cNvPicPr>
          <p:nvPr/>
        </p:nvPicPr>
        <p:blipFill>
          <a:blip r:embed="rId8"/>
          <a:stretch>
            <a:fillRect/>
          </a:stretch>
        </p:blipFill>
        <p:spPr>
          <a:xfrm>
            <a:off x="7766090" y="3506510"/>
            <a:ext cx="3370302" cy="3370302"/>
          </a:xfrm>
          <a:prstGeom prst="rect">
            <a:avLst/>
          </a:prstGeom>
        </p:spPr>
      </p:pic>
      <p:sp>
        <p:nvSpPr>
          <p:cNvPr id="28" name="Text 19"/>
          <p:cNvSpPr/>
          <p:nvPr/>
        </p:nvSpPr>
        <p:spPr>
          <a:xfrm>
            <a:off x="7766090" y="6932533"/>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000000"/>
                </a:solidFill>
                <a:latin typeface="Crimson Pro Bold" pitchFamily="34" charset="0"/>
                <a:ea typeface="Crimson Pro Bold" pitchFamily="34" charset="-122"/>
                <a:cs typeface="Crimson Pro Bold" pitchFamily="34" charset="-120"/>
              </a:rPr>
              <a:t>Theory Z</a:t>
            </a:r>
            <a:endParaRPr lang="en-US" sz="950" dirty="0"/>
          </a:p>
        </p:txBody>
      </p:sp>
      <p:sp>
        <p:nvSpPr>
          <p:cNvPr id="29" name="Text 20"/>
          <p:cNvSpPr/>
          <p:nvPr/>
        </p:nvSpPr>
        <p:spPr>
          <a:xfrm>
            <a:off x="7766090" y="7137083"/>
            <a:ext cx="3370302" cy="713661"/>
          </a:xfrm>
          <a:prstGeom prst="rect">
            <a:avLst/>
          </a:prstGeom>
          <a:noFill/>
          <a:ln/>
        </p:spPr>
        <p:txBody>
          <a:bodyPr wrap="square" lIns="0" tIns="0" rIns="0" bIns="0" rtlCol="0" anchor="t"/>
          <a:lstStyle/>
          <a:p>
            <a:pPr marL="0" indent="0" algn="l">
              <a:lnSpc>
                <a:spcPts val="900"/>
              </a:lnSpc>
              <a:buNone/>
            </a:pPr>
            <a:r>
              <a:rPr lang="en-US" sz="750" dirty="0">
                <a:solidFill>
                  <a:srgbClr val="000000"/>
                </a:solidFill>
                <a:latin typeface="Open Sans" pitchFamily="34" charset="0"/>
                <a:ea typeface="Open Sans" pitchFamily="34" charset="-122"/>
                <a:cs typeface="Open Sans" pitchFamily="34" charset="-120"/>
              </a:rPr>
              <a:t>Developed by William Ouchi, Theory Z integrates the best of Japanese and American management practices. It champions long-term employment, consensual and collective decision-making, slow evaluation and promotion, holistic concern for employees (including their families), and a blend of formal structure with informal controls. It bridges culture and management philosophy in a powerful way.</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1747599" y="1069062"/>
            <a:ext cx="1368504" cy="239197"/>
          </a:xfrm>
          <a:prstGeom prst="roundRect">
            <a:avLst>
              <a:gd name="adj" fmla="val 19835"/>
            </a:avLst>
          </a:prstGeom>
          <a:solidFill>
            <a:srgbClr val="EBE2E0"/>
          </a:solidFill>
          <a:ln/>
        </p:spPr>
        <p:txBody>
          <a:bodyPr/>
          <a:lstStyle/>
          <a:p>
            <a:endParaRPr lang="en-AU"/>
          </a:p>
        </p:txBody>
      </p:sp>
      <p:sp>
        <p:nvSpPr>
          <p:cNvPr id="3" name="Text 1"/>
          <p:cNvSpPr/>
          <p:nvPr/>
        </p:nvSpPr>
        <p:spPr>
          <a:xfrm>
            <a:off x="1832253" y="1111329"/>
            <a:ext cx="1199198" cy="154662"/>
          </a:xfrm>
          <a:prstGeom prst="rect">
            <a:avLst/>
          </a:prstGeom>
          <a:noFill/>
          <a:ln/>
        </p:spPr>
        <p:txBody>
          <a:bodyPr wrap="none" lIns="0" tIns="0" rIns="0" bIns="0" rtlCol="0" anchor="t"/>
          <a:lstStyle/>
          <a:p>
            <a:pPr marL="0" indent="0" algn="l">
              <a:lnSpc>
                <a:spcPts val="1200"/>
              </a:lnSpc>
              <a:buNone/>
            </a:pPr>
            <a:r>
              <a:rPr lang="en-US" sz="850" dirty="0">
                <a:solidFill>
                  <a:srgbClr val="443728"/>
                </a:solidFill>
                <a:latin typeface="Open Sans" pitchFamily="34" charset="0"/>
                <a:ea typeface="Open Sans" pitchFamily="34" charset="-122"/>
                <a:cs typeface="Open Sans" pitchFamily="34" charset="-120"/>
              </a:rPr>
              <a:t>LEVEL 1 — INDIVIDUAL</a:t>
            </a:r>
            <a:endParaRPr lang="en-US" sz="850" dirty="0"/>
          </a:p>
        </p:txBody>
      </p:sp>
      <p:sp>
        <p:nvSpPr>
          <p:cNvPr id="4" name="Text 2"/>
          <p:cNvSpPr/>
          <p:nvPr/>
        </p:nvSpPr>
        <p:spPr>
          <a:xfrm>
            <a:off x="1747599" y="1348383"/>
            <a:ext cx="4438174" cy="441246"/>
          </a:xfrm>
          <a:prstGeom prst="rect">
            <a:avLst/>
          </a:prstGeom>
          <a:noFill/>
          <a:ln/>
        </p:spPr>
        <p:txBody>
          <a:bodyPr wrap="none" lIns="0" tIns="0" rIns="0" bIns="0" rtlCol="0" anchor="t"/>
          <a:lstStyle/>
          <a:p>
            <a:pPr marL="0" indent="0" algn="l">
              <a:lnSpc>
                <a:spcPts val="3450"/>
              </a:lnSpc>
              <a:buNone/>
            </a:pPr>
            <a:r>
              <a:rPr lang="en-US" sz="2750" b="1" dirty="0">
                <a:solidFill>
                  <a:srgbClr val="443728"/>
                </a:solidFill>
                <a:latin typeface="Crimson Pro Bold" pitchFamily="34" charset="0"/>
                <a:ea typeface="Crimson Pro Bold" pitchFamily="34" charset="-122"/>
                <a:cs typeface="Crimson Pro Bold" pitchFamily="34" charset="-120"/>
              </a:rPr>
              <a:t>Motivation: Content Theories</a:t>
            </a:r>
            <a:endParaRPr lang="en-US" sz="2750" dirty="0"/>
          </a:p>
        </p:txBody>
      </p:sp>
      <p:sp>
        <p:nvSpPr>
          <p:cNvPr id="5" name="Text 3"/>
          <p:cNvSpPr/>
          <p:nvPr/>
        </p:nvSpPr>
        <p:spPr>
          <a:xfrm>
            <a:off x="1747599" y="1940243"/>
            <a:ext cx="11135082" cy="386477"/>
          </a:xfrm>
          <a:prstGeom prst="rect">
            <a:avLst/>
          </a:prstGeom>
          <a:noFill/>
          <a:ln/>
        </p:spPr>
        <p:txBody>
          <a:bodyPr wrap="square" lIns="0" tIns="0" rIns="0" bIns="0" rtlCol="0" anchor="t"/>
          <a:lstStyle/>
          <a:p>
            <a:pPr marL="0" indent="0" algn="l">
              <a:lnSpc>
                <a:spcPts val="1500"/>
              </a:lnSpc>
              <a:buNone/>
            </a:pPr>
            <a:r>
              <a:rPr lang="en-US" sz="1100" dirty="0">
                <a:solidFill>
                  <a:srgbClr val="443728"/>
                </a:solidFill>
                <a:latin typeface="Open Sans" pitchFamily="34" charset="0"/>
                <a:ea typeface="Open Sans" pitchFamily="34" charset="-122"/>
                <a:cs typeface="Open Sans" pitchFamily="34" charset="-120"/>
              </a:rPr>
              <a:t>Content theories of motivation ask </a:t>
            </a:r>
            <a:r>
              <a:rPr lang="en-US" sz="1100" b="1" dirty="0">
                <a:solidFill>
                  <a:srgbClr val="443728"/>
                </a:solidFill>
                <a:latin typeface="Open Sans" pitchFamily="34" charset="0"/>
                <a:ea typeface="Open Sans" pitchFamily="34" charset="-122"/>
                <a:cs typeface="Open Sans" pitchFamily="34" charset="-120"/>
              </a:rPr>
              <a:t>"What motivates people?"</a:t>
            </a:r>
            <a:r>
              <a:rPr lang="en-US" sz="1100" dirty="0">
                <a:solidFill>
                  <a:srgbClr val="443728"/>
                </a:solidFill>
                <a:latin typeface="Open Sans" pitchFamily="34" charset="0"/>
                <a:ea typeface="Open Sans" pitchFamily="34" charset="-122"/>
                <a:cs typeface="Open Sans" pitchFamily="34" charset="-120"/>
              </a:rPr>
              <a:t> — they identify the internal needs and drives that energise human behaviour at work. Understanding these theories helps managers design roles and rewards that genuinely fulfil employee needs.</a:t>
            </a:r>
            <a:endParaRPr lang="en-US" sz="1100" dirty="0"/>
          </a:p>
        </p:txBody>
      </p:sp>
      <p:sp>
        <p:nvSpPr>
          <p:cNvPr id="6" name="Shape 4"/>
          <p:cNvSpPr/>
          <p:nvPr/>
        </p:nvSpPr>
        <p:spPr>
          <a:xfrm>
            <a:off x="1747599" y="2439710"/>
            <a:ext cx="11135082" cy="1084659"/>
          </a:xfrm>
          <a:prstGeom prst="roundRect">
            <a:avLst>
              <a:gd name="adj" fmla="val 5468"/>
            </a:avLst>
          </a:prstGeom>
          <a:solidFill>
            <a:srgbClr val="E1D4D0"/>
          </a:solidFill>
          <a:ln/>
        </p:spPr>
        <p:txBody>
          <a:bodyPr/>
          <a:lstStyle/>
          <a:p>
            <a:endParaRPr lang="en-AU"/>
          </a:p>
        </p:txBody>
      </p:sp>
      <p:pic>
        <p:nvPicPr>
          <p:cNvPr id="7" name="Image 0" descr="preencoded.png"/>
          <p:cNvPicPr>
            <a:picLocks noChangeAspect="1"/>
          </p:cNvPicPr>
          <p:nvPr/>
        </p:nvPicPr>
        <p:blipFill>
          <a:blip r:embed="rId3"/>
          <a:stretch>
            <a:fillRect/>
          </a:stretch>
        </p:blipFill>
        <p:spPr>
          <a:xfrm>
            <a:off x="1888688" y="2644973"/>
            <a:ext cx="176451" cy="141089"/>
          </a:xfrm>
          <a:prstGeom prst="rect">
            <a:avLst/>
          </a:prstGeom>
        </p:spPr>
      </p:pic>
      <p:sp>
        <p:nvSpPr>
          <p:cNvPr id="8" name="Text 5"/>
          <p:cNvSpPr/>
          <p:nvPr/>
        </p:nvSpPr>
        <p:spPr>
          <a:xfrm>
            <a:off x="2206228" y="2575322"/>
            <a:ext cx="10535364" cy="788194"/>
          </a:xfrm>
          <a:prstGeom prst="rect">
            <a:avLst/>
          </a:prstGeom>
          <a:noFill/>
          <a:ln/>
        </p:spPr>
        <p:txBody>
          <a:bodyPr wrap="square" lIns="0" tIns="0" rIns="0" bIns="0" rtlCol="0" anchor="t"/>
          <a:lstStyle/>
          <a:p>
            <a:pPr marL="0" indent="0" algn="l">
              <a:lnSpc>
                <a:spcPts val="1500"/>
              </a:lnSpc>
              <a:buNone/>
            </a:pPr>
            <a:r>
              <a:rPr lang="en-US" sz="1100" dirty="0">
                <a:solidFill>
                  <a:srgbClr val="000000"/>
                </a:solidFill>
                <a:latin typeface="Open Sans" pitchFamily="34" charset="0"/>
                <a:ea typeface="Open Sans" pitchFamily="34" charset="-122"/>
                <a:cs typeface="Open Sans" pitchFamily="34" charset="-120"/>
              </a:rPr>
              <a:t>📹 </a:t>
            </a:r>
            <a:r>
              <a:rPr lang="en-US" sz="1100" b="1" dirty="0">
                <a:solidFill>
                  <a:srgbClr val="000000"/>
                </a:solidFill>
                <a:latin typeface="Open Sans" pitchFamily="34" charset="0"/>
                <a:ea typeface="Open Sans" pitchFamily="34" charset="-122"/>
                <a:cs typeface="Open Sans" pitchFamily="34" charset="-120"/>
              </a:rPr>
              <a:t>Video Placeholder</a:t>
            </a:r>
            <a:r>
              <a:rPr lang="en-US" sz="1100" dirty="0">
                <a:solidFill>
                  <a:srgbClr val="000000"/>
                </a:solidFill>
                <a:latin typeface="Open Sans" pitchFamily="34" charset="0"/>
                <a:ea typeface="Open Sans" pitchFamily="34" charset="-122"/>
                <a:cs typeface="Open Sans" pitchFamily="34" charset="-120"/>
              </a:rPr>
              <a:t> — "Why do you push through a late-night study session for something you actually care about, but can't drag yourself to start an assignment you don't? Why does a 'well done' from someone you respect feel better than a cash reward? Why do you need to belong to a group before you can focus on achieving anything? This video walks through Maslow, Herzberg, McClelland and Alderfer using the real motivation patterns from your daily life — revision, friendships, family approval, personal goals — before showing you exactly how the same forces operate in every workplace you'll ever enter."</a:t>
            </a:r>
            <a:endParaRPr lang="en-US" sz="1100" dirty="0"/>
          </a:p>
        </p:txBody>
      </p:sp>
      <p:pic>
        <p:nvPicPr>
          <p:cNvPr id="9" name="Image 1" descr="preencoded.png"/>
          <p:cNvPicPr>
            <a:picLocks noChangeAspect="1"/>
          </p:cNvPicPr>
          <p:nvPr/>
        </p:nvPicPr>
        <p:blipFill>
          <a:blip r:embed="rId4"/>
          <a:stretch>
            <a:fillRect/>
          </a:stretch>
        </p:blipFill>
        <p:spPr>
          <a:xfrm>
            <a:off x="1747599" y="3637359"/>
            <a:ext cx="1559957" cy="964049"/>
          </a:xfrm>
          <a:prstGeom prst="rect">
            <a:avLst/>
          </a:prstGeom>
        </p:spPr>
      </p:pic>
      <p:sp>
        <p:nvSpPr>
          <p:cNvPr id="10" name="Text 6"/>
          <p:cNvSpPr/>
          <p:nvPr/>
        </p:nvSpPr>
        <p:spPr>
          <a:xfrm>
            <a:off x="1747599" y="4726900"/>
            <a:ext cx="2153126" cy="220504"/>
          </a:xfrm>
          <a:prstGeom prst="rect">
            <a:avLst/>
          </a:prstGeom>
          <a:noFill/>
          <a:ln/>
        </p:spPr>
        <p:txBody>
          <a:bodyPr wrap="none" lIns="0" tIns="0" rIns="0" bIns="0" rtlCol="0" anchor="t"/>
          <a:lstStyle/>
          <a:p>
            <a:pPr marL="0" indent="0" algn="l">
              <a:lnSpc>
                <a:spcPts val="1700"/>
              </a:lnSpc>
              <a:buNone/>
            </a:pPr>
            <a:r>
              <a:rPr lang="en-US" sz="1350" b="1" dirty="0">
                <a:solidFill>
                  <a:srgbClr val="443728"/>
                </a:solidFill>
                <a:latin typeface="Crimson Pro Bold" pitchFamily="34" charset="0"/>
                <a:ea typeface="Crimson Pro Bold" pitchFamily="34" charset="-122"/>
                <a:cs typeface="Crimson Pro Bold" pitchFamily="34" charset="-120"/>
              </a:rPr>
              <a:t>Maslow's Hierarchy of Needs</a:t>
            </a:r>
            <a:endParaRPr lang="en-US" sz="1350" dirty="0"/>
          </a:p>
        </p:txBody>
      </p:sp>
      <p:sp>
        <p:nvSpPr>
          <p:cNvPr id="11" name="Text 7"/>
          <p:cNvSpPr/>
          <p:nvPr/>
        </p:nvSpPr>
        <p:spPr>
          <a:xfrm>
            <a:off x="1747599" y="5007650"/>
            <a:ext cx="2689622" cy="1739146"/>
          </a:xfrm>
          <a:prstGeom prst="rect">
            <a:avLst/>
          </a:prstGeom>
          <a:noFill/>
          <a:ln/>
        </p:spPr>
        <p:txBody>
          <a:bodyPr wrap="square" lIns="0" tIns="0" rIns="0" bIns="0" rtlCol="0" anchor="t"/>
          <a:lstStyle/>
          <a:p>
            <a:pPr marL="0" indent="0" algn="l">
              <a:lnSpc>
                <a:spcPts val="1500"/>
              </a:lnSpc>
              <a:buNone/>
            </a:pPr>
            <a:r>
              <a:rPr lang="en-US" sz="1100" dirty="0">
                <a:solidFill>
                  <a:srgbClr val="443728"/>
                </a:solidFill>
                <a:latin typeface="Open Sans" pitchFamily="34" charset="0"/>
                <a:ea typeface="Open Sans" pitchFamily="34" charset="-122"/>
                <a:cs typeface="Open Sans" pitchFamily="34" charset="-120"/>
              </a:rPr>
              <a:t>Abraham Maslow proposed that human needs form a five-level pyramid: </a:t>
            </a:r>
            <a:r>
              <a:rPr lang="en-US" sz="1100" b="1" dirty="0">
                <a:solidFill>
                  <a:srgbClr val="443728"/>
                </a:solidFill>
                <a:latin typeface="Open Sans" pitchFamily="34" charset="0"/>
                <a:ea typeface="Open Sans" pitchFamily="34" charset="-122"/>
                <a:cs typeface="Open Sans" pitchFamily="34" charset="-120"/>
              </a:rPr>
              <a:t>Physiological → Safety → Social → Esteem → Self-Actualisation</a:t>
            </a:r>
            <a:r>
              <a:rPr lang="en-US" sz="1100" dirty="0">
                <a:solidFill>
                  <a:srgbClr val="443728"/>
                </a:solidFill>
                <a:latin typeface="Open Sans" pitchFamily="34" charset="0"/>
                <a:ea typeface="Open Sans" pitchFamily="34" charset="-122"/>
                <a:cs typeface="Open Sans" pitchFamily="34" charset="-120"/>
              </a:rPr>
              <a:t>. People are motivated to satisfy lower-level needs first before ascending to higher-level ones. In the workplace, this means pay and job security matter before recognition and personal growth.</a:t>
            </a:r>
            <a:endParaRPr lang="en-US" sz="1100" dirty="0"/>
          </a:p>
        </p:txBody>
      </p:sp>
      <p:pic>
        <p:nvPicPr>
          <p:cNvPr id="12" name="Image 2" descr="preencoded.png"/>
          <p:cNvPicPr>
            <a:picLocks noChangeAspect="1"/>
          </p:cNvPicPr>
          <p:nvPr/>
        </p:nvPicPr>
        <p:blipFill>
          <a:blip r:embed="rId5"/>
          <a:stretch>
            <a:fillRect/>
          </a:stretch>
        </p:blipFill>
        <p:spPr>
          <a:xfrm>
            <a:off x="4562713" y="3637359"/>
            <a:ext cx="1559957" cy="964049"/>
          </a:xfrm>
          <a:prstGeom prst="rect">
            <a:avLst/>
          </a:prstGeom>
        </p:spPr>
      </p:pic>
      <p:sp>
        <p:nvSpPr>
          <p:cNvPr id="13" name="Text 8"/>
          <p:cNvSpPr/>
          <p:nvPr/>
        </p:nvSpPr>
        <p:spPr>
          <a:xfrm>
            <a:off x="4562713" y="4726900"/>
            <a:ext cx="2296478" cy="220504"/>
          </a:xfrm>
          <a:prstGeom prst="rect">
            <a:avLst/>
          </a:prstGeom>
          <a:noFill/>
          <a:ln/>
        </p:spPr>
        <p:txBody>
          <a:bodyPr wrap="none" lIns="0" tIns="0" rIns="0" bIns="0" rtlCol="0" anchor="t"/>
          <a:lstStyle/>
          <a:p>
            <a:pPr marL="0" indent="0" algn="l">
              <a:lnSpc>
                <a:spcPts val="1700"/>
              </a:lnSpc>
              <a:buNone/>
            </a:pPr>
            <a:r>
              <a:rPr lang="en-US" sz="1350" b="1" dirty="0">
                <a:solidFill>
                  <a:srgbClr val="443728"/>
                </a:solidFill>
                <a:latin typeface="Crimson Pro Bold" pitchFamily="34" charset="0"/>
                <a:ea typeface="Crimson Pro Bold" pitchFamily="34" charset="-122"/>
                <a:cs typeface="Crimson Pro Bold" pitchFamily="34" charset="-120"/>
              </a:rPr>
              <a:t>Herzberg's Two-Factor Theory</a:t>
            </a:r>
            <a:endParaRPr lang="en-US" sz="1350" dirty="0"/>
          </a:p>
        </p:txBody>
      </p:sp>
      <p:sp>
        <p:nvSpPr>
          <p:cNvPr id="14" name="Text 9"/>
          <p:cNvSpPr/>
          <p:nvPr/>
        </p:nvSpPr>
        <p:spPr>
          <a:xfrm>
            <a:off x="4562713" y="5007650"/>
            <a:ext cx="2689622" cy="1932384"/>
          </a:xfrm>
          <a:prstGeom prst="rect">
            <a:avLst/>
          </a:prstGeom>
          <a:noFill/>
          <a:ln/>
        </p:spPr>
        <p:txBody>
          <a:bodyPr wrap="square" lIns="0" tIns="0" rIns="0" bIns="0" rtlCol="0" anchor="t"/>
          <a:lstStyle/>
          <a:p>
            <a:pPr marL="0" indent="0" algn="l">
              <a:lnSpc>
                <a:spcPts val="1500"/>
              </a:lnSpc>
              <a:buNone/>
            </a:pPr>
            <a:r>
              <a:rPr lang="en-US" sz="1100" dirty="0">
                <a:solidFill>
                  <a:srgbClr val="443728"/>
                </a:solidFill>
                <a:latin typeface="Open Sans" pitchFamily="34" charset="0"/>
                <a:ea typeface="Open Sans" pitchFamily="34" charset="-122"/>
                <a:cs typeface="Open Sans" pitchFamily="34" charset="-120"/>
              </a:rPr>
              <a:t>Frederick Herzberg distinguished between </a:t>
            </a:r>
            <a:r>
              <a:rPr lang="en-US" sz="1100" b="1" dirty="0">
                <a:solidFill>
                  <a:srgbClr val="443728"/>
                </a:solidFill>
                <a:latin typeface="Open Sans" pitchFamily="34" charset="0"/>
                <a:ea typeface="Open Sans" pitchFamily="34" charset="-122"/>
                <a:cs typeface="Open Sans" pitchFamily="34" charset="-120"/>
              </a:rPr>
              <a:t>Hygiene Factors</a:t>
            </a:r>
            <a:r>
              <a:rPr lang="en-US" sz="1100" dirty="0">
                <a:solidFill>
                  <a:srgbClr val="443728"/>
                </a:solidFill>
                <a:latin typeface="Open Sans" pitchFamily="34" charset="0"/>
                <a:ea typeface="Open Sans" pitchFamily="34" charset="-122"/>
                <a:cs typeface="Open Sans" pitchFamily="34" charset="-120"/>
              </a:rPr>
              <a:t> (salary, working conditions, company policy — whose absence causes dissatisfaction) and </a:t>
            </a:r>
            <a:r>
              <a:rPr lang="en-US" sz="1100" b="1" dirty="0">
                <a:solidFill>
                  <a:srgbClr val="443728"/>
                </a:solidFill>
                <a:latin typeface="Open Sans" pitchFamily="34" charset="0"/>
                <a:ea typeface="Open Sans" pitchFamily="34" charset="-122"/>
                <a:cs typeface="Open Sans" pitchFamily="34" charset="-120"/>
              </a:rPr>
              <a:t>Motivators</a:t>
            </a:r>
            <a:r>
              <a:rPr lang="en-US" sz="1100" dirty="0">
                <a:solidFill>
                  <a:srgbClr val="443728"/>
                </a:solidFill>
                <a:latin typeface="Open Sans" pitchFamily="34" charset="0"/>
                <a:ea typeface="Open Sans" pitchFamily="34" charset="-122"/>
                <a:cs typeface="Open Sans" pitchFamily="34" charset="-120"/>
              </a:rPr>
              <a:t> (achievement, recognition, growth — whose presence creates true satisfaction). Crucially, removing dissatisfiers does not automatically motivate — you must actively provide motivators.</a:t>
            </a:r>
            <a:endParaRPr lang="en-US" sz="1100" dirty="0"/>
          </a:p>
        </p:txBody>
      </p:sp>
      <p:pic>
        <p:nvPicPr>
          <p:cNvPr id="15" name="Image 3" descr="preencoded.png"/>
          <p:cNvPicPr>
            <a:picLocks noChangeAspect="1"/>
          </p:cNvPicPr>
          <p:nvPr/>
        </p:nvPicPr>
        <p:blipFill>
          <a:blip r:embed="rId6"/>
          <a:stretch>
            <a:fillRect/>
          </a:stretch>
        </p:blipFill>
        <p:spPr>
          <a:xfrm>
            <a:off x="7377827" y="3637359"/>
            <a:ext cx="1559957" cy="964049"/>
          </a:xfrm>
          <a:prstGeom prst="rect">
            <a:avLst/>
          </a:prstGeom>
        </p:spPr>
      </p:pic>
      <p:sp>
        <p:nvSpPr>
          <p:cNvPr id="16" name="Text 10"/>
          <p:cNvSpPr/>
          <p:nvPr/>
        </p:nvSpPr>
        <p:spPr>
          <a:xfrm>
            <a:off x="7377827" y="4726900"/>
            <a:ext cx="2689622" cy="441008"/>
          </a:xfrm>
          <a:prstGeom prst="rect">
            <a:avLst/>
          </a:prstGeom>
          <a:noFill/>
          <a:ln/>
        </p:spPr>
        <p:txBody>
          <a:bodyPr wrap="square" lIns="0" tIns="0" rIns="0" bIns="0" rtlCol="0" anchor="t"/>
          <a:lstStyle/>
          <a:p>
            <a:pPr marL="0" indent="0" algn="l">
              <a:lnSpc>
                <a:spcPts val="1700"/>
              </a:lnSpc>
              <a:buNone/>
            </a:pPr>
            <a:r>
              <a:rPr lang="en-US" sz="1350" b="1" dirty="0">
                <a:solidFill>
                  <a:srgbClr val="443728"/>
                </a:solidFill>
                <a:latin typeface="Crimson Pro Bold" pitchFamily="34" charset="0"/>
                <a:ea typeface="Crimson Pro Bold" pitchFamily="34" charset="-122"/>
                <a:cs typeface="Crimson Pro Bold" pitchFamily="34" charset="-120"/>
              </a:rPr>
              <a:t>McClelland's Achievement Motivation</a:t>
            </a:r>
            <a:endParaRPr lang="en-US" sz="1350" dirty="0"/>
          </a:p>
        </p:txBody>
      </p:sp>
      <p:sp>
        <p:nvSpPr>
          <p:cNvPr id="17" name="Text 11"/>
          <p:cNvSpPr/>
          <p:nvPr/>
        </p:nvSpPr>
        <p:spPr>
          <a:xfrm>
            <a:off x="7377827" y="5228153"/>
            <a:ext cx="2689622" cy="1932384"/>
          </a:xfrm>
          <a:prstGeom prst="rect">
            <a:avLst/>
          </a:prstGeom>
          <a:noFill/>
          <a:ln/>
        </p:spPr>
        <p:txBody>
          <a:bodyPr wrap="square" lIns="0" tIns="0" rIns="0" bIns="0" rtlCol="0" anchor="t"/>
          <a:lstStyle/>
          <a:p>
            <a:pPr marL="0" indent="0" algn="l">
              <a:lnSpc>
                <a:spcPts val="1500"/>
              </a:lnSpc>
              <a:buNone/>
            </a:pPr>
            <a:r>
              <a:rPr lang="en-US" sz="1100" dirty="0">
                <a:solidFill>
                  <a:srgbClr val="443728"/>
                </a:solidFill>
                <a:latin typeface="Open Sans" pitchFamily="34" charset="0"/>
                <a:ea typeface="Open Sans" pitchFamily="34" charset="-122"/>
                <a:cs typeface="Open Sans" pitchFamily="34" charset="-120"/>
              </a:rPr>
              <a:t>David McClelland identified three dominant needs: </a:t>
            </a:r>
            <a:r>
              <a:rPr lang="en-US" sz="1100" b="1" dirty="0">
                <a:solidFill>
                  <a:srgbClr val="443728"/>
                </a:solidFill>
                <a:latin typeface="Open Sans" pitchFamily="34" charset="0"/>
                <a:ea typeface="Open Sans" pitchFamily="34" charset="-122"/>
                <a:cs typeface="Open Sans" pitchFamily="34" charset="-120"/>
              </a:rPr>
              <a:t>Need for Achievement (nAch)</a:t>
            </a:r>
            <a:r>
              <a:rPr lang="en-US" sz="1100" dirty="0">
                <a:solidFill>
                  <a:srgbClr val="443728"/>
                </a:solidFill>
                <a:latin typeface="Open Sans" pitchFamily="34" charset="0"/>
                <a:ea typeface="Open Sans" pitchFamily="34" charset="-122"/>
                <a:cs typeface="Open Sans" pitchFamily="34" charset="-120"/>
              </a:rPr>
              <a:t> — the drive to excel and accomplish; </a:t>
            </a:r>
            <a:r>
              <a:rPr lang="en-US" sz="1100" b="1" dirty="0">
                <a:solidFill>
                  <a:srgbClr val="443728"/>
                </a:solidFill>
                <a:latin typeface="Open Sans" pitchFamily="34" charset="0"/>
                <a:ea typeface="Open Sans" pitchFamily="34" charset="-122"/>
                <a:cs typeface="Open Sans" pitchFamily="34" charset="-120"/>
              </a:rPr>
              <a:t>Need for Affiliation (nAff)</a:t>
            </a:r>
            <a:r>
              <a:rPr lang="en-US" sz="1100" dirty="0">
                <a:solidFill>
                  <a:srgbClr val="443728"/>
                </a:solidFill>
                <a:latin typeface="Open Sans" pitchFamily="34" charset="0"/>
                <a:ea typeface="Open Sans" pitchFamily="34" charset="-122"/>
                <a:cs typeface="Open Sans" pitchFamily="34" charset="-120"/>
              </a:rPr>
              <a:t> — the desire for close relationships; and </a:t>
            </a:r>
            <a:r>
              <a:rPr lang="en-US" sz="1100" b="1" dirty="0">
                <a:solidFill>
                  <a:srgbClr val="443728"/>
                </a:solidFill>
                <a:latin typeface="Open Sans" pitchFamily="34" charset="0"/>
                <a:ea typeface="Open Sans" pitchFamily="34" charset="-122"/>
                <a:cs typeface="Open Sans" pitchFamily="34" charset="-120"/>
              </a:rPr>
              <a:t>Need for Power (nPow)</a:t>
            </a:r>
            <a:r>
              <a:rPr lang="en-US" sz="1100" dirty="0">
                <a:solidFill>
                  <a:srgbClr val="443728"/>
                </a:solidFill>
                <a:latin typeface="Open Sans" pitchFamily="34" charset="0"/>
                <a:ea typeface="Open Sans" pitchFamily="34" charset="-122"/>
                <a:cs typeface="Open Sans" pitchFamily="34" charset="-120"/>
              </a:rPr>
              <a:t> — the need to influence others. High achievers prefer moderate risk, clear feedback, and personal responsibility.</a:t>
            </a:r>
            <a:endParaRPr lang="en-US" sz="1100" dirty="0"/>
          </a:p>
        </p:txBody>
      </p:sp>
      <p:pic>
        <p:nvPicPr>
          <p:cNvPr id="18" name="Image 4" descr="preencoded.png"/>
          <p:cNvPicPr>
            <a:picLocks noChangeAspect="1"/>
          </p:cNvPicPr>
          <p:nvPr/>
        </p:nvPicPr>
        <p:blipFill>
          <a:blip r:embed="rId7"/>
          <a:stretch>
            <a:fillRect/>
          </a:stretch>
        </p:blipFill>
        <p:spPr>
          <a:xfrm>
            <a:off x="10192941" y="3637359"/>
            <a:ext cx="1559957" cy="964049"/>
          </a:xfrm>
          <a:prstGeom prst="rect">
            <a:avLst/>
          </a:prstGeom>
        </p:spPr>
      </p:pic>
      <p:sp>
        <p:nvSpPr>
          <p:cNvPr id="19" name="Text 12"/>
          <p:cNvSpPr/>
          <p:nvPr/>
        </p:nvSpPr>
        <p:spPr>
          <a:xfrm>
            <a:off x="10192941" y="4726900"/>
            <a:ext cx="1764983" cy="220504"/>
          </a:xfrm>
          <a:prstGeom prst="rect">
            <a:avLst/>
          </a:prstGeom>
          <a:noFill/>
          <a:ln/>
        </p:spPr>
        <p:txBody>
          <a:bodyPr wrap="none" lIns="0" tIns="0" rIns="0" bIns="0" rtlCol="0" anchor="t"/>
          <a:lstStyle/>
          <a:p>
            <a:pPr marL="0" indent="0" algn="l">
              <a:lnSpc>
                <a:spcPts val="1700"/>
              </a:lnSpc>
              <a:buNone/>
            </a:pPr>
            <a:r>
              <a:rPr lang="en-US" sz="1350" b="1" dirty="0">
                <a:solidFill>
                  <a:srgbClr val="443728"/>
                </a:solidFill>
                <a:latin typeface="Crimson Pro Bold" pitchFamily="34" charset="0"/>
                <a:ea typeface="Crimson Pro Bold" pitchFamily="34" charset="-122"/>
                <a:cs typeface="Crimson Pro Bold" pitchFamily="34" charset="-120"/>
              </a:rPr>
              <a:t>Alderfer's ERG Theory</a:t>
            </a:r>
            <a:endParaRPr lang="en-US" sz="1350" dirty="0"/>
          </a:p>
        </p:txBody>
      </p:sp>
      <p:sp>
        <p:nvSpPr>
          <p:cNvPr id="20" name="Text 13"/>
          <p:cNvSpPr/>
          <p:nvPr/>
        </p:nvSpPr>
        <p:spPr>
          <a:xfrm>
            <a:off x="10192941" y="5007650"/>
            <a:ext cx="2689741" cy="1932384"/>
          </a:xfrm>
          <a:prstGeom prst="rect">
            <a:avLst/>
          </a:prstGeom>
          <a:noFill/>
          <a:ln/>
        </p:spPr>
        <p:txBody>
          <a:bodyPr wrap="square" lIns="0" tIns="0" rIns="0" bIns="0" rtlCol="0" anchor="t"/>
          <a:lstStyle/>
          <a:p>
            <a:pPr marL="0" indent="0" algn="l">
              <a:lnSpc>
                <a:spcPts val="1500"/>
              </a:lnSpc>
              <a:buNone/>
            </a:pPr>
            <a:r>
              <a:rPr lang="en-US" sz="1100" dirty="0">
                <a:solidFill>
                  <a:srgbClr val="443728"/>
                </a:solidFill>
                <a:latin typeface="Open Sans" pitchFamily="34" charset="0"/>
                <a:ea typeface="Open Sans" pitchFamily="34" charset="-122"/>
                <a:cs typeface="Open Sans" pitchFamily="34" charset="-120"/>
              </a:rPr>
              <a:t>Clayton Alderfer condensed Maslow's five levels into three: </a:t>
            </a:r>
            <a:r>
              <a:rPr lang="en-US" sz="1100" b="1" dirty="0">
                <a:solidFill>
                  <a:srgbClr val="443728"/>
                </a:solidFill>
                <a:latin typeface="Open Sans" pitchFamily="34" charset="0"/>
                <a:ea typeface="Open Sans" pitchFamily="34" charset="-122"/>
                <a:cs typeface="Open Sans" pitchFamily="34" charset="-120"/>
              </a:rPr>
              <a:t>Existence</a:t>
            </a:r>
            <a:r>
              <a:rPr lang="en-US" sz="1100" dirty="0">
                <a:solidFill>
                  <a:srgbClr val="443728"/>
                </a:solidFill>
                <a:latin typeface="Open Sans" pitchFamily="34" charset="0"/>
                <a:ea typeface="Open Sans" pitchFamily="34" charset="-122"/>
                <a:cs typeface="Open Sans" pitchFamily="34" charset="-120"/>
              </a:rPr>
              <a:t> (physiological and safety), </a:t>
            </a:r>
            <a:r>
              <a:rPr lang="en-US" sz="1100" b="1" dirty="0">
                <a:solidFill>
                  <a:srgbClr val="443728"/>
                </a:solidFill>
                <a:latin typeface="Open Sans" pitchFamily="34" charset="0"/>
                <a:ea typeface="Open Sans" pitchFamily="34" charset="-122"/>
                <a:cs typeface="Open Sans" pitchFamily="34" charset="-120"/>
              </a:rPr>
              <a:t>Relatedness</a:t>
            </a:r>
            <a:r>
              <a:rPr lang="en-US" sz="1100" dirty="0">
                <a:solidFill>
                  <a:srgbClr val="443728"/>
                </a:solidFill>
                <a:latin typeface="Open Sans" pitchFamily="34" charset="0"/>
                <a:ea typeface="Open Sans" pitchFamily="34" charset="-122"/>
                <a:cs typeface="Open Sans" pitchFamily="34" charset="-120"/>
              </a:rPr>
              <a:t> (social and esteem from others), and </a:t>
            </a:r>
            <a:r>
              <a:rPr lang="en-US" sz="1100" b="1" dirty="0">
                <a:solidFill>
                  <a:srgbClr val="443728"/>
                </a:solidFill>
                <a:latin typeface="Open Sans" pitchFamily="34" charset="0"/>
                <a:ea typeface="Open Sans" pitchFamily="34" charset="-122"/>
                <a:cs typeface="Open Sans" pitchFamily="34" charset="-120"/>
              </a:rPr>
              <a:t>Growth</a:t>
            </a:r>
            <a:r>
              <a:rPr lang="en-US" sz="1100" dirty="0">
                <a:solidFill>
                  <a:srgbClr val="443728"/>
                </a:solidFill>
                <a:latin typeface="Open Sans" pitchFamily="34" charset="0"/>
                <a:ea typeface="Open Sans" pitchFamily="34" charset="-122"/>
                <a:cs typeface="Open Sans" pitchFamily="34" charset="-120"/>
              </a:rPr>
              <a:t> (self-esteem and self-actualisation). Unlike Maslow, Alderfer acknowledged that multiple needs can operate simultaneously, and frustration at a higher level can cause </a:t>
            </a:r>
            <a:r>
              <a:rPr lang="en-US" sz="1100" i="1" dirty="0">
                <a:solidFill>
                  <a:srgbClr val="443728"/>
                </a:solidFill>
                <a:latin typeface="Open Sans" pitchFamily="34" charset="0"/>
                <a:ea typeface="Open Sans" pitchFamily="34" charset="-122"/>
                <a:cs typeface="Open Sans" pitchFamily="34" charset="-120"/>
              </a:rPr>
              <a:t>regression</a:t>
            </a:r>
            <a:r>
              <a:rPr lang="en-US" sz="1100" dirty="0">
                <a:solidFill>
                  <a:srgbClr val="443728"/>
                </a:solidFill>
                <a:latin typeface="Open Sans" pitchFamily="34" charset="0"/>
                <a:ea typeface="Open Sans" pitchFamily="34" charset="-122"/>
                <a:cs typeface="Open Sans" pitchFamily="34" charset="-120"/>
              </a:rPr>
              <a:t> to a lower one.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3322915" y="916543"/>
            <a:ext cx="981670" cy="158472"/>
          </a:xfrm>
          <a:prstGeom prst="roundRect">
            <a:avLst>
              <a:gd name="adj" fmla="val 21468"/>
            </a:avLst>
          </a:prstGeom>
          <a:solidFill>
            <a:srgbClr val="EBE2E0"/>
          </a:solidFill>
          <a:ln/>
        </p:spPr>
        <p:txBody>
          <a:bodyPr/>
          <a:lstStyle/>
          <a:p>
            <a:endParaRPr lang="en-AU"/>
          </a:p>
        </p:txBody>
      </p:sp>
      <p:sp>
        <p:nvSpPr>
          <p:cNvPr id="3" name="Text 1"/>
          <p:cNvSpPr/>
          <p:nvPr/>
        </p:nvSpPr>
        <p:spPr>
          <a:xfrm>
            <a:off x="3383637" y="946904"/>
            <a:ext cx="860227" cy="97750"/>
          </a:xfrm>
          <a:prstGeom prst="rect">
            <a:avLst/>
          </a:prstGeom>
          <a:noFill/>
          <a:ln/>
        </p:spPr>
        <p:txBody>
          <a:bodyPr wrap="none" lIns="0" tIns="0" rIns="0" bIns="0" rtlCol="0" anchor="t"/>
          <a:lstStyle/>
          <a:p>
            <a:pPr marL="0" indent="0" algn="l">
              <a:lnSpc>
                <a:spcPts val="750"/>
              </a:lnSpc>
              <a:buNone/>
            </a:pPr>
            <a:r>
              <a:rPr lang="en-US" sz="600" dirty="0">
                <a:solidFill>
                  <a:srgbClr val="443728"/>
                </a:solidFill>
                <a:latin typeface="Open Sans" pitchFamily="34" charset="0"/>
                <a:ea typeface="Open Sans" pitchFamily="34" charset="-122"/>
                <a:cs typeface="Open Sans" pitchFamily="34" charset="-120"/>
              </a:rPr>
              <a:t>LEVEL 1 — INDIVIDUAL</a:t>
            </a:r>
            <a:endParaRPr lang="en-US" sz="600" dirty="0"/>
          </a:p>
        </p:txBody>
      </p:sp>
      <p:sp>
        <p:nvSpPr>
          <p:cNvPr id="4" name="Text 2"/>
          <p:cNvSpPr/>
          <p:nvPr/>
        </p:nvSpPr>
        <p:spPr>
          <a:xfrm>
            <a:off x="3322915" y="1095613"/>
            <a:ext cx="3112770" cy="316349"/>
          </a:xfrm>
          <a:prstGeom prst="rect">
            <a:avLst/>
          </a:prstGeom>
          <a:noFill/>
          <a:ln/>
        </p:spPr>
        <p:txBody>
          <a:bodyPr wrap="none" lIns="0" tIns="0" rIns="0" bIns="0" rtlCol="0" anchor="t"/>
          <a:lstStyle/>
          <a:p>
            <a:pPr marL="0" indent="0" algn="l">
              <a:lnSpc>
                <a:spcPts val="2450"/>
              </a:lnSpc>
              <a:buNone/>
            </a:pPr>
            <a:r>
              <a:rPr lang="en-US" sz="1950" b="1" dirty="0">
                <a:solidFill>
                  <a:srgbClr val="443728"/>
                </a:solidFill>
                <a:latin typeface="Crimson Pro Bold" pitchFamily="34" charset="0"/>
                <a:ea typeface="Crimson Pro Bold" pitchFamily="34" charset="-122"/>
                <a:cs typeface="Crimson Pro Bold" pitchFamily="34" charset="-120"/>
              </a:rPr>
              <a:t>Motivation: Process Theories</a:t>
            </a:r>
            <a:endParaRPr lang="en-US" sz="1950" dirty="0"/>
          </a:p>
        </p:txBody>
      </p:sp>
      <p:sp>
        <p:nvSpPr>
          <p:cNvPr id="5" name="Text 3"/>
          <p:cNvSpPr/>
          <p:nvPr/>
        </p:nvSpPr>
        <p:spPr>
          <a:xfrm>
            <a:off x="3322915" y="1489353"/>
            <a:ext cx="7984450" cy="244316"/>
          </a:xfrm>
          <a:prstGeom prst="rect">
            <a:avLst/>
          </a:prstGeom>
          <a:noFill/>
          <a:ln/>
        </p:spPr>
        <p:txBody>
          <a:bodyPr wrap="square" lIns="0" tIns="0" rIns="0" bIns="0" rtlCol="0" anchor="t"/>
          <a:lstStyle/>
          <a:p>
            <a:pPr marL="0" indent="0" algn="l">
              <a:lnSpc>
                <a:spcPts val="950"/>
              </a:lnSpc>
              <a:buNone/>
            </a:pPr>
            <a:r>
              <a:rPr lang="en-US" sz="750" dirty="0">
                <a:solidFill>
                  <a:srgbClr val="443728"/>
                </a:solidFill>
                <a:latin typeface="Open Sans" pitchFamily="34" charset="0"/>
                <a:ea typeface="Open Sans" pitchFamily="34" charset="-122"/>
                <a:cs typeface="Open Sans" pitchFamily="34" charset="-120"/>
              </a:rPr>
              <a:t>Process theories ask </a:t>
            </a:r>
            <a:r>
              <a:rPr lang="en-US" sz="750" b="1" dirty="0">
                <a:solidFill>
                  <a:srgbClr val="443728"/>
                </a:solidFill>
                <a:latin typeface="Open Sans" pitchFamily="34" charset="0"/>
                <a:ea typeface="Open Sans" pitchFamily="34" charset="-122"/>
                <a:cs typeface="Open Sans" pitchFamily="34" charset="-120"/>
              </a:rPr>
              <a:t>"How does motivation work?"</a:t>
            </a:r>
            <a:r>
              <a:rPr lang="en-US" sz="750" dirty="0">
                <a:solidFill>
                  <a:srgbClr val="443728"/>
                </a:solidFill>
                <a:latin typeface="Open Sans" pitchFamily="34" charset="0"/>
                <a:ea typeface="Open Sans" pitchFamily="34" charset="-122"/>
                <a:cs typeface="Open Sans" pitchFamily="34" charset="-120"/>
              </a:rPr>
              <a:t> — they examine the cognitive processes and mechanisms through which people become motivated, make decisions, and regulate their behaviour over time.</a:t>
            </a:r>
            <a:endParaRPr lang="en-US" sz="750" dirty="0"/>
          </a:p>
        </p:txBody>
      </p:sp>
      <p:sp>
        <p:nvSpPr>
          <p:cNvPr id="6" name="Shape 4"/>
          <p:cNvSpPr/>
          <p:nvPr/>
        </p:nvSpPr>
        <p:spPr>
          <a:xfrm>
            <a:off x="3322915" y="1791772"/>
            <a:ext cx="7984450" cy="792242"/>
          </a:xfrm>
          <a:prstGeom prst="roundRect">
            <a:avLst>
              <a:gd name="adj" fmla="val 5368"/>
            </a:avLst>
          </a:prstGeom>
          <a:solidFill>
            <a:srgbClr val="E1D4D0"/>
          </a:solidFill>
          <a:ln/>
        </p:spPr>
        <p:txBody>
          <a:bodyPr/>
          <a:lstStyle/>
          <a:p>
            <a:endParaRPr lang="en-AU"/>
          </a:p>
        </p:txBody>
      </p:sp>
      <p:pic>
        <p:nvPicPr>
          <p:cNvPr id="7" name="Image 0" descr="preencoded.png"/>
          <p:cNvPicPr>
            <a:picLocks noChangeAspect="1"/>
          </p:cNvPicPr>
          <p:nvPr/>
        </p:nvPicPr>
        <p:blipFill>
          <a:blip r:embed="rId3"/>
          <a:stretch>
            <a:fillRect/>
          </a:stretch>
        </p:blipFill>
        <p:spPr>
          <a:xfrm>
            <a:off x="3424118" y="1928693"/>
            <a:ext cx="126563" cy="101203"/>
          </a:xfrm>
          <a:prstGeom prst="rect">
            <a:avLst/>
          </a:prstGeom>
        </p:spPr>
      </p:pic>
      <p:sp>
        <p:nvSpPr>
          <p:cNvPr id="8" name="Text 5"/>
          <p:cNvSpPr/>
          <p:nvPr/>
        </p:nvSpPr>
        <p:spPr>
          <a:xfrm>
            <a:off x="3651885" y="1868567"/>
            <a:ext cx="7554278" cy="618411"/>
          </a:xfrm>
          <a:prstGeom prst="rect">
            <a:avLst/>
          </a:prstGeom>
          <a:noFill/>
          <a:ln/>
        </p:spPr>
        <p:txBody>
          <a:bodyPr wrap="square" lIns="0" tIns="0" rIns="0" bIns="0" rtlCol="0" anchor="t"/>
          <a:lstStyle/>
          <a:p>
            <a:pPr marL="0" indent="0" algn="l">
              <a:lnSpc>
                <a:spcPts val="950"/>
              </a:lnSpc>
              <a:buNone/>
            </a:pPr>
            <a:r>
              <a:rPr lang="en-US" sz="750" dirty="0">
                <a:solidFill>
                  <a:srgbClr val="000000"/>
                </a:solidFill>
                <a:latin typeface="Open Sans" pitchFamily="34" charset="0"/>
                <a:ea typeface="Open Sans" pitchFamily="34" charset="-122"/>
                <a:cs typeface="Open Sans" pitchFamily="34" charset="-120"/>
              </a:rPr>
              <a:t>📹 </a:t>
            </a:r>
            <a:r>
              <a:rPr lang="en-US" sz="750" b="1" dirty="0">
                <a:solidFill>
                  <a:srgbClr val="000000"/>
                </a:solidFill>
                <a:latin typeface="Open Sans" pitchFamily="34" charset="0"/>
                <a:ea typeface="Open Sans" pitchFamily="34" charset="-122"/>
                <a:cs typeface="Open Sans" pitchFamily="34" charset="-120"/>
              </a:rPr>
              <a:t>Video Placeholder</a:t>
            </a:r>
            <a:r>
              <a:rPr lang="en-US" sz="750" dirty="0">
                <a:solidFill>
                  <a:srgbClr val="000000"/>
                </a:solidFill>
                <a:latin typeface="Open Sans" pitchFamily="34" charset="0"/>
                <a:ea typeface="Open Sans" pitchFamily="34" charset="-122"/>
                <a:cs typeface="Open Sans" pitchFamily="34" charset="-120"/>
              </a:rPr>
              <a:t> — "Why do you stop trying at something the moment the reward feels pointless — even if you were working hard before? Why does it sting so much when a sibling or friend gets praised for the same effort you put in and got nothing for? Why do you actually follow through on goals you set yourself but ignore ones that were handed to you? This video uses those exact moments — from family comparisons to personal goal-setting to the feeling of being treated unfairly — to bring Vroom, Adams, Locke and Skinner to life. By the end, you'll see these processes running in the background of your everyday decisions, long before they ever show up in a performance review."</a:t>
            </a:r>
            <a:endParaRPr lang="en-US" sz="750" dirty="0"/>
          </a:p>
        </p:txBody>
      </p:sp>
      <p:pic>
        <p:nvPicPr>
          <p:cNvPr id="9" name="Image 1" descr="preencoded.png"/>
          <p:cNvPicPr>
            <a:picLocks noChangeAspect="1"/>
          </p:cNvPicPr>
          <p:nvPr/>
        </p:nvPicPr>
        <p:blipFill>
          <a:blip r:embed="rId4"/>
          <a:stretch>
            <a:fillRect/>
          </a:stretch>
        </p:blipFill>
        <p:spPr>
          <a:xfrm>
            <a:off x="3322915" y="2642116"/>
            <a:ext cx="2296716" cy="1419463"/>
          </a:xfrm>
          <a:prstGeom prst="rect">
            <a:avLst/>
          </a:prstGeom>
        </p:spPr>
      </p:pic>
      <p:sp>
        <p:nvSpPr>
          <p:cNvPr id="10" name="Text 6"/>
          <p:cNvSpPr/>
          <p:nvPr/>
        </p:nvSpPr>
        <p:spPr>
          <a:xfrm>
            <a:off x="3322915" y="4126111"/>
            <a:ext cx="1495782" cy="158115"/>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Vroom's Expectancy Theory</a:t>
            </a:r>
            <a:endParaRPr lang="en-US" sz="950" dirty="0"/>
          </a:p>
        </p:txBody>
      </p:sp>
      <p:sp>
        <p:nvSpPr>
          <p:cNvPr id="11" name="Text 7"/>
          <p:cNvSpPr/>
          <p:nvPr/>
        </p:nvSpPr>
        <p:spPr>
          <a:xfrm>
            <a:off x="3322915" y="4315182"/>
            <a:ext cx="3959900" cy="610791"/>
          </a:xfrm>
          <a:prstGeom prst="rect">
            <a:avLst/>
          </a:prstGeom>
          <a:noFill/>
          <a:ln/>
        </p:spPr>
        <p:txBody>
          <a:bodyPr wrap="square" lIns="0" tIns="0" rIns="0" bIns="0" rtlCol="0" anchor="t"/>
          <a:lstStyle/>
          <a:p>
            <a:pPr marL="0" indent="0" algn="l">
              <a:lnSpc>
                <a:spcPts val="950"/>
              </a:lnSpc>
              <a:buNone/>
            </a:pPr>
            <a:r>
              <a:rPr lang="en-US" sz="750" dirty="0">
                <a:solidFill>
                  <a:srgbClr val="443728"/>
                </a:solidFill>
                <a:latin typeface="Open Sans" pitchFamily="34" charset="0"/>
                <a:ea typeface="Open Sans" pitchFamily="34" charset="-122"/>
                <a:cs typeface="Open Sans" pitchFamily="34" charset="-120"/>
              </a:rPr>
              <a:t>Victor Vroom argued that motivation is a product of three beliefs: </a:t>
            </a:r>
            <a:r>
              <a:rPr lang="en-US" sz="750" b="1" dirty="0">
                <a:solidFill>
                  <a:srgbClr val="443728"/>
                </a:solidFill>
                <a:latin typeface="Open Sans" pitchFamily="34" charset="0"/>
                <a:ea typeface="Open Sans" pitchFamily="34" charset="-122"/>
                <a:cs typeface="Open Sans" pitchFamily="34" charset="-120"/>
              </a:rPr>
              <a:t>Expectancy</a:t>
            </a:r>
            <a:r>
              <a:rPr lang="en-US" sz="750" dirty="0">
                <a:solidFill>
                  <a:srgbClr val="443728"/>
                </a:solidFill>
                <a:latin typeface="Open Sans" pitchFamily="34" charset="0"/>
                <a:ea typeface="Open Sans" pitchFamily="34" charset="-122"/>
                <a:cs typeface="Open Sans" pitchFamily="34" charset="-120"/>
              </a:rPr>
              <a:t> (if I try hard, will I perform well?), </a:t>
            </a:r>
            <a:r>
              <a:rPr lang="en-US" sz="750" b="1" dirty="0">
                <a:solidFill>
                  <a:srgbClr val="443728"/>
                </a:solidFill>
                <a:latin typeface="Open Sans" pitchFamily="34" charset="0"/>
                <a:ea typeface="Open Sans" pitchFamily="34" charset="-122"/>
                <a:cs typeface="Open Sans" pitchFamily="34" charset="-120"/>
              </a:rPr>
              <a:t>Instrumentality</a:t>
            </a:r>
            <a:r>
              <a:rPr lang="en-US" sz="750" dirty="0">
                <a:solidFill>
                  <a:srgbClr val="443728"/>
                </a:solidFill>
                <a:latin typeface="Open Sans" pitchFamily="34" charset="0"/>
                <a:ea typeface="Open Sans" pitchFamily="34" charset="-122"/>
                <a:cs typeface="Open Sans" pitchFamily="34" charset="-120"/>
              </a:rPr>
              <a:t> (if I perform well, will I be rewarded?), and </a:t>
            </a:r>
            <a:r>
              <a:rPr lang="en-US" sz="750" b="1" dirty="0">
                <a:solidFill>
                  <a:srgbClr val="443728"/>
                </a:solidFill>
                <a:latin typeface="Open Sans" pitchFamily="34" charset="0"/>
                <a:ea typeface="Open Sans" pitchFamily="34" charset="-122"/>
                <a:cs typeface="Open Sans" pitchFamily="34" charset="-120"/>
              </a:rPr>
              <a:t>Valence</a:t>
            </a:r>
            <a:r>
              <a:rPr lang="en-US" sz="750" dirty="0">
                <a:solidFill>
                  <a:srgbClr val="443728"/>
                </a:solidFill>
                <a:latin typeface="Open Sans" pitchFamily="34" charset="0"/>
                <a:ea typeface="Open Sans" pitchFamily="34" charset="-122"/>
                <a:cs typeface="Open Sans" pitchFamily="34" charset="-120"/>
              </a:rPr>
              <a:t> (do I actually value that reward?). Motivation = E × I × V. If any one element equals zero, motivation collapses entirely — making this theory a powerful diagnostic for disengaged employees.</a:t>
            </a:r>
            <a:endParaRPr lang="en-US" sz="750" dirty="0"/>
          </a:p>
        </p:txBody>
      </p:sp>
      <p:pic>
        <p:nvPicPr>
          <p:cNvPr id="12" name="Image 2" descr="preencoded.png"/>
          <p:cNvPicPr>
            <a:picLocks noChangeAspect="1"/>
          </p:cNvPicPr>
          <p:nvPr/>
        </p:nvPicPr>
        <p:blipFill>
          <a:blip r:embed="rId5"/>
          <a:stretch>
            <a:fillRect/>
          </a:stretch>
        </p:blipFill>
        <p:spPr>
          <a:xfrm>
            <a:off x="7347347" y="2642116"/>
            <a:ext cx="2296716" cy="1419463"/>
          </a:xfrm>
          <a:prstGeom prst="rect">
            <a:avLst/>
          </a:prstGeom>
        </p:spPr>
      </p:pic>
      <p:sp>
        <p:nvSpPr>
          <p:cNvPr id="13" name="Text 8"/>
          <p:cNvSpPr/>
          <p:nvPr/>
        </p:nvSpPr>
        <p:spPr>
          <a:xfrm>
            <a:off x="7347347" y="4126111"/>
            <a:ext cx="1265634" cy="158115"/>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Adams' Equity Theory</a:t>
            </a:r>
            <a:endParaRPr lang="en-US" sz="950" dirty="0"/>
          </a:p>
        </p:txBody>
      </p:sp>
      <p:sp>
        <p:nvSpPr>
          <p:cNvPr id="14" name="Text 9"/>
          <p:cNvSpPr/>
          <p:nvPr/>
        </p:nvSpPr>
        <p:spPr>
          <a:xfrm>
            <a:off x="7347347" y="4315182"/>
            <a:ext cx="3960019" cy="610791"/>
          </a:xfrm>
          <a:prstGeom prst="rect">
            <a:avLst/>
          </a:prstGeom>
          <a:noFill/>
          <a:ln/>
        </p:spPr>
        <p:txBody>
          <a:bodyPr wrap="square" lIns="0" tIns="0" rIns="0" bIns="0" rtlCol="0" anchor="t"/>
          <a:lstStyle/>
          <a:p>
            <a:pPr marL="0" indent="0" algn="l">
              <a:lnSpc>
                <a:spcPts val="950"/>
              </a:lnSpc>
              <a:buNone/>
            </a:pPr>
            <a:r>
              <a:rPr lang="en-US" sz="750" dirty="0">
                <a:solidFill>
                  <a:srgbClr val="443728"/>
                </a:solidFill>
                <a:latin typeface="Open Sans" pitchFamily="34" charset="0"/>
                <a:ea typeface="Open Sans" pitchFamily="34" charset="-122"/>
                <a:cs typeface="Open Sans" pitchFamily="34" charset="-120"/>
              </a:rPr>
              <a:t>J. Stacy Adams proposed that people assess fairness by comparing their input-to-outcome ratio against a reference person's ratio. When perceived inequity exists — either under-rewarded or over-rewarded — people take action to restore balance: reducing effort, seeking more pay, rationalising the difference, or leaving the organisation. Fairness, not just reward size, drives motivation.</a:t>
            </a:r>
            <a:endParaRPr lang="en-US" sz="750" dirty="0"/>
          </a:p>
        </p:txBody>
      </p:sp>
      <p:pic>
        <p:nvPicPr>
          <p:cNvPr id="15" name="Image 3" descr="preencoded.png"/>
          <p:cNvPicPr>
            <a:picLocks noChangeAspect="1"/>
          </p:cNvPicPr>
          <p:nvPr/>
        </p:nvPicPr>
        <p:blipFill>
          <a:blip r:embed="rId6"/>
          <a:stretch>
            <a:fillRect/>
          </a:stretch>
        </p:blipFill>
        <p:spPr>
          <a:xfrm>
            <a:off x="3322915" y="5029200"/>
            <a:ext cx="2296716" cy="1419463"/>
          </a:xfrm>
          <a:prstGeom prst="rect">
            <a:avLst/>
          </a:prstGeom>
        </p:spPr>
      </p:pic>
      <p:sp>
        <p:nvSpPr>
          <p:cNvPr id="16" name="Text 10"/>
          <p:cNvSpPr/>
          <p:nvPr/>
        </p:nvSpPr>
        <p:spPr>
          <a:xfrm>
            <a:off x="3322915" y="6513195"/>
            <a:ext cx="1517571" cy="158115"/>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Locke's Goal-Setting Theory</a:t>
            </a:r>
            <a:endParaRPr lang="en-US" sz="950" dirty="0"/>
          </a:p>
        </p:txBody>
      </p:sp>
      <p:sp>
        <p:nvSpPr>
          <p:cNvPr id="17" name="Text 11"/>
          <p:cNvSpPr/>
          <p:nvPr/>
        </p:nvSpPr>
        <p:spPr>
          <a:xfrm>
            <a:off x="3322915" y="6702266"/>
            <a:ext cx="3959900" cy="610791"/>
          </a:xfrm>
          <a:prstGeom prst="rect">
            <a:avLst/>
          </a:prstGeom>
          <a:noFill/>
          <a:ln/>
        </p:spPr>
        <p:txBody>
          <a:bodyPr wrap="square" lIns="0" tIns="0" rIns="0" bIns="0" rtlCol="0" anchor="t"/>
          <a:lstStyle/>
          <a:p>
            <a:pPr marL="0" indent="0" algn="l">
              <a:lnSpc>
                <a:spcPts val="950"/>
              </a:lnSpc>
              <a:buNone/>
            </a:pPr>
            <a:r>
              <a:rPr lang="en-US" sz="750" dirty="0">
                <a:solidFill>
                  <a:srgbClr val="443728"/>
                </a:solidFill>
                <a:latin typeface="Open Sans" pitchFamily="34" charset="0"/>
                <a:ea typeface="Open Sans" pitchFamily="34" charset="-122"/>
                <a:cs typeface="Open Sans" pitchFamily="34" charset="-120"/>
              </a:rPr>
              <a:t>Edwin Locke demonstrated that specific, challenging goals lead to higher performance than vague or easy ones. Effective goals are </a:t>
            </a:r>
            <a:r>
              <a:rPr lang="en-US" sz="750" b="1" dirty="0">
                <a:solidFill>
                  <a:srgbClr val="443728"/>
                </a:solidFill>
                <a:latin typeface="Open Sans" pitchFamily="34" charset="0"/>
                <a:ea typeface="Open Sans" pitchFamily="34" charset="-122"/>
                <a:cs typeface="Open Sans" pitchFamily="34" charset="-120"/>
              </a:rPr>
              <a:t>S.M.A.R.T</a:t>
            </a:r>
            <a:r>
              <a:rPr lang="en-US" sz="750" dirty="0">
                <a:solidFill>
                  <a:srgbClr val="443728"/>
                </a:solidFill>
                <a:latin typeface="Open Sans" pitchFamily="34" charset="0"/>
                <a:ea typeface="Open Sans" pitchFamily="34" charset="-122"/>
                <a:cs typeface="Open Sans" pitchFamily="34" charset="-120"/>
              </a:rPr>
              <a:t> — Specific, Measurable, Achievable, Relevant, and Time-bound. Commitment to the goal, feedback on progress, and task complexity all moderate its effectiveness. This theory underpins most modern performance management systems.</a:t>
            </a:r>
            <a:endParaRPr lang="en-US" sz="750" dirty="0"/>
          </a:p>
        </p:txBody>
      </p:sp>
      <p:pic>
        <p:nvPicPr>
          <p:cNvPr id="18" name="Image 4" descr="preencoded.png"/>
          <p:cNvPicPr>
            <a:picLocks noChangeAspect="1"/>
          </p:cNvPicPr>
          <p:nvPr/>
        </p:nvPicPr>
        <p:blipFill>
          <a:blip r:embed="rId7"/>
          <a:stretch>
            <a:fillRect/>
          </a:stretch>
        </p:blipFill>
        <p:spPr>
          <a:xfrm>
            <a:off x="7347347" y="5029200"/>
            <a:ext cx="2296716" cy="1419463"/>
          </a:xfrm>
          <a:prstGeom prst="rect">
            <a:avLst/>
          </a:prstGeom>
        </p:spPr>
      </p:pic>
      <p:sp>
        <p:nvSpPr>
          <p:cNvPr id="19" name="Text 12"/>
          <p:cNvSpPr/>
          <p:nvPr/>
        </p:nvSpPr>
        <p:spPr>
          <a:xfrm>
            <a:off x="7347347" y="6513195"/>
            <a:ext cx="1739265" cy="158115"/>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Skinner's Reinforcement Theory</a:t>
            </a:r>
            <a:endParaRPr lang="en-US" sz="950" dirty="0"/>
          </a:p>
        </p:txBody>
      </p:sp>
      <p:sp>
        <p:nvSpPr>
          <p:cNvPr id="20" name="Text 13"/>
          <p:cNvSpPr/>
          <p:nvPr/>
        </p:nvSpPr>
        <p:spPr>
          <a:xfrm>
            <a:off x="7347347" y="6702266"/>
            <a:ext cx="3960019" cy="610791"/>
          </a:xfrm>
          <a:prstGeom prst="rect">
            <a:avLst/>
          </a:prstGeom>
          <a:noFill/>
          <a:ln/>
        </p:spPr>
        <p:txBody>
          <a:bodyPr wrap="square" lIns="0" tIns="0" rIns="0" bIns="0" rtlCol="0" anchor="t"/>
          <a:lstStyle/>
          <a:p>
            <a:pPr marL="0" indent="0" algn="l">
              <a:lnSpc>
                <a:spcPts val="950"/>
              </a:lnSpc>
              <a:buNone/>
            </a:pPr>
            <a:r>
              <a:rPr lang="en-US" sz="750" dirty="0">
                <a:solidFill>
                  <a:srgbClr val="443728"/>
                </a:solidFill>
                <a:latin typeface="Open Sans" pitchFamily="34" charset="0"/>
                <a:ea typeface="Open Sans" pitchFamily="34" charset="-122"/>
                <a:cs typeface="Open Sans" pitchFamily="34" charset="-120"/>
              </a:rPr>
              <a:t>B.F. Skinner held that behaviour is a function of its consequences. </a:t>
            </a:r>
            <a:r>
              <a:rPr lang="en-US" sz="750" b="1" dirty="0">
                <a:solidFill>
                  <a:srgbClr val="443728"/>
                </a:solidFill>
                <a:latin typeface="Open Sans" pitchFamily="34" charset="0"/>
                <a:ea typeface="Open Sans" pitchFamily="34" charset="-122"/>
                <a:cs typeface="Open Sans" pitchFamily="34" charset="-120"/>
              </a:rPr>
              <a:t>Positive reinforcement</a:t>
            </a:r>
            <a:r>
              <a:rPr lang="en-US" sz="750" dirty="0">
                <a:solidFill>
                  <a:srgbClr val="443728"/>
                </a:solidFill>
                <a:latin typeface="Open Sans" pitchFamily="34" charset="0"/>
                <a:ea typeface="Open Sans" pitchFamily="34" charset="-122"/>
                <a:cs typeface="Open Sans" pitchFamily="34" charset="-120"/>
              </a:rPr>
              <a:t> (adding a reward) and </a:t>
            </a:r>
            <a:r>
              <a:rPr lang="en-US" sz="750" b="1" dirty="0">
                <a:solidFill>
                  <a:srgbClr val="443728"/>
                </a:solidFill>
                <a:latin typeface="Open Sans" pitchFamily="34" charset="0"/>
                <a:ea typeface="Open Sans" pitchFamily="34" charset="-122"/>
                <a:cs typeface="Open Sans" pitchFamily="34" charset="-120"/>
              </a:rPr>
              <a:t>negative reinforcement</a:t>
            </a:r>
            <a:r>
              <a:rPr lang="en-US" sz="750" dirty="0">
                <a:solidFill>
                  <a:srgbClr val="443728"/>
                </a:solidFill>
                <a:latin typeface="Open Sans" pitchFamily="34" charset="0"/>
                <a:ea typeface="Open Sans" pitchFamily="34" charset="-122"/>
                <a:cs typeface="Open Sans" pitchFamily="34" charset="-120"/>
              </a:rPr>
              <a:t> (removing an aversive stimulus) increase behaviour. </a:t>
            </a:r>
            <a:r>
              <a:rPr lang="en-US" sz="750" b="1" dirty="0">
                <a:solidFill>
                  <a:srgbClr val="443728"/>
                </a:solidFill>
                <a:latin typeface="Open Sans" pitchFamily="34" charset="0"/>
                <a:ea typeface="Open Sans" pitchFamily="34" charset="-122"/>
                <a:cs typeface="Open Sans" pitchFamily="34" charset="-120"/>
              </a:rPr>
              <a:t>Punishment</a:t>
            </a:r>
            <a:r>
              <a:rPr lang="en-US" sz="750" dirty="0">
                <a:solidFill>
                  <a:srgbClr val="443728"/>
                </a:solidFill>
                <a:latin typeface="Open Sans" pitchFamily="34" charset="0"/>
                <a:ea typeface="Open Sans" pitchFamily="34" charset="-122"/>
                <a:cs typeface="Open Sans" pitchFamily="34" charset="-120"/>
              </a:rPr>
              <a:t> suppresses it. </a:t>
            </a:r>
            <a:r>
              <a:rPr lang="en-US" sz="750" b="1" dirty="0">
                <a:solidFill>
                  <a:srgbClr val="443728"/>
                </a:solidFill>
                <a:latin typeface="Open Sans" pitchFamily="34" charset="0"/>
                <a:ea typeface="Open Sans" pitchFamily="34" charset="-122"/>
                <a:cs typeface="Open Sans" pitchFamily="34" charset="-120"/>
              </a:rPr>
              <a:t>Extinction</a:t>
            </a:r>
            <a:r>
              <a:rPr lang="en-US" sz="750" dirty="0">
                <a:solidFill>
                  <a:srgbClr val="443728"/>
                </a:solidFill>
                <a:latin typeface="Open Sans" pitchFamily="34" charset="0"/>
                <a:ea typeface="Open Sans" pitchFamily="34" charset="-122"/>
                <a:cs typeface="Open Sans" pitchFamily="34" charset="-120"/>
              </a:rPr>
              <a:t> (withholding reinforcement) gradually eliminates it. Managers apply this through praise, bonuses, disciplinary procedures, and consistent feedback structures.</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3402449" y="355759"/>
            <a:ext cx="961549" cy="154781"/>
          </a:xfrm>
          <a:prstGeom prst="roundRect">
            <a:avLst>
              <a:gd name="adj" fmla="val 21542"/>
            </a:avLst>
          </a:prstGeom>
          <a:solidFill>
            <a:srgbClr val="EBE2E0"/>
          </a:solidFill>
          <a:ln/>
        </p:spPr>
        <p:txBody>
          <a:bodyPr/>
          <a:lstStyle/>
          <a:p>
            <a:endParaRPr lang="en-AU"/>
          </a:p>
        </p:txBody>
      </p:sp>
      <p:sp>
        <p:nvSpPr>
          <p:cNvPr id="3" name="Text 1"/>
          <p:cNvSpPr/>
          <p:nvPr/>
        </p:nvSpPr>
        <p:spPr>
          <a:xfrm>
            <a:off x="3461980" y="385524"/>
            <a:ext cx="842486" cy="95250"/>
          </a:xfrm>
          <a:prstGeom prst="rect">
            <a:avLst/>
          </a:prstGeom>
          <a:noFill/>
          <a:ln/>
        </p:spPr>
        <p:txBody>
          <a:bodyPr wrap="none" lIns="0" tIns="0" rIns="0" bIns="0" rtlCol="0" anchor="t"/>
          <a:lstStyle/>
          <a:p>
            <a:pPr marL="0" indent="0" algn="l">
              <a:lnSpc>
                <a:spcPts val="750"/>
              </a:lnSpc>
              <a:buNone/>
            </a:pPr>
            <a:r>
              <a:rPr lang="en-US" sz="600" dirty="0">
                <a:solidFill>
                  <a:srgbClr val="443728"/>
                </a:solidFill>
                <a:latin typeface="Open Sans" pitchFamily="34" charset="0"/>
                <a:ea typeface="Open Sans" pitchFamily="34" charset="-122"/>
                <a:cs typeface="Open Sans" pitchFamily="34" charset="-120"/>
              </a:rPr>
              <a:t>LEVEL 1 — INDIVIDUAL</a:t>
            </a:r>
            <a:endParaRPr lang="en-US" sz="600" dirty="0"/>
          </a:p>
        </p:txBody>
      </p:sp>
      <p:sp>
        <p:nvSpPr>
          <p:cNvPr id="4" name="Text 2"/>
          <p:cNvSpPr/>
          <p:nvPr/>
        </p:nvSpPr>
        <p:spPr>
          <a:xfrm>
            <a:off x="3402449" y="530304"/>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Personality Theories</a:t>
            </a:r>
            <a:endParaRPr lang="en-US" sz="1950" dirty="0"/>
          </a:p>
        </p:txBody>
      </p:sp>
      <p:sp>
        <p:nvSpPr>
          <p:cNvPr id="5" name="Text 3"/>
          <p:cNvSpPr/>
          <p:nvPr/>
        </p:nvSpPr>
        <p:spPr>
          <a:xfrm>
            <a:off x="3402449" y="914876"/>
            <a:ext cx="7825502" cy="237887"/>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Personality refers to a relatively stable set of characteristics, traits, and tendencies that shape how an individual thinks, feels, and behaves. In OB, understanding personality helps predict job performance, inform hiring decisions, and improve team composition.</a:t>
            </a:r>
            <a:endParaRPr lang="en-US" sz="750" dirty="0"/>
          </a:p>
        </p:txBody>
      </p:sp>
      <p:sp>
        <p:nvSpPr>
          <p:cNvPr id="6" name="Shape 4"/>
          <p:cNvSpPr/>
          <p:nvPr/>
        </p:nvSpPr>
        <p:spPr>
          <a:xfrm>
            <a:off x="3402449" y="1208484"/>
            <a:ext cx="7825502" cy="644247"/>
          </a:xfrm>
          <a:prstGeom prst="roundRect">
            <a:avLst>
              <a:gd name="adj" fmla="val 6470"/>
            </a:avLst>
          </a:prstGeom>
          <a:solidFill>
            <a:srgbClr val="E1D4D0"/>
          </a:solidFill>
          <a:ln/>
        </p:spPr>
        <p:txBody>
          <a:bodyPr/>
          <a:lstStyle/>
          <a:p>
            <a:endParaRPr lang="en-AU"/>
          </a:p>
        </p:txBody>
      </p:sp>
      <p:pic>
        <p:nvPicPr>
          <p:cNvPr id="7" name="Image 0" descr="preencoded.png"/>
          <p:cNvPicPr>
            <a:picLocks noChangeAspect="1"/>
          </p:cNvPicPr>
          <p:nvPr/>
        </p:nvPicPr>
        <p:blipFill>
          <a:blip r:embed="rId3"/>
          <a:stretch>
            <a:fillRect/>
          </a:stretch>
        </p:blipFill>
        <p:spPr>
          <a:xfrm>
            <a:off x="3501628" y="1337072"/>
            <a:ext cx="123944" cy="99179"/>
          </a:xfrm>
          <a:prstGeom prst="rect">
            <a:avLst/>
          </a:prstGeom>
        </p:spPr>
      </p:pic>
      <p:sp>
        <p:nvSpPr>
          <p:cNvPr id="8" name="Text 5"/>
          <p:cNvSpPr/>
          <p:nvPr/>
        </p:nvSpPr>
        <p:spPr>
          <a:xfrm>
            <a:off x="3724751" y="1282779"/>
            <a:ext cx="7404021" cy="475774"/>
          </a:xfrm>
          <a:prstGeom prst="rect">
            <a:avLst/>
          </a:prstGeom>
          <a:noFill/>
          <a:ln/>
        </p:spPr>
        <p:txBody>
          <a:bodyPr wrap="square" lIns="0" tIns="0" rIns="0" bIns="0" rtlCol="0" anchor="t"/>
          <a:lstStyle/>
          <a:p>
            <a:pPr marL="0" indent="0" algn="l">
              <a:lnSpc>
                <a:spcPts val="900"/>
              </a:lnSpc>
              <a:buNone/>
            </a:pPr>
            <a:r>
              <a:rPr lang="en-US" sz="750" dirty="0">
                <a:solidFill>
                  <a:srgbClr val="000000"/>
                </a:solidFill>
                <a:latin typeface="Open Sans" pitchFamily="34" charset="0"/>
                <a:ea typeface="Open Sans" pitchFamily="34" charset="-122"/>
                <a:cs typeface="Open Sans" pitchFamily="34" charset="-120"/>
              </a:rPr>
              <a:t>📹 </a:t>
            </a:r>
            <a:r>
              <a:rPr lang="en-US" sz="750" b="1" dirty="0">
                <a:solidFill>
                  <a:srgbClr val="000000"/>
                </a:solidFill>
                <a:latin typeface="Open Sans" pitchFamily="34" charset="0"/>
                <a:ea typeface="Open Sans" pitchFamily="34" charset="-122"/>
                <a:cs typeface="Open Sans" pitchFamily="34" charset="-120"/>
              </a:rPr>
              <a:t>Video Placeholder</a:t>
            </a:r>
            <a:r>
              <a:rPr lang="en-US" sz="750" dirty="0">
                <a:solidFill>
                  <a:srgbClr val="000000"/>
                </a:solidFill>
                <a:latin typeface="Open Sans" pitchFamily="34" charset="0"/>
                <a:ea typeface="Open Sans" pitchFamily="34" charset="-122"/>
                <a:cs typeface="Open Sans" pitchFamily="34" charset="-120"/>
              </a:rPr>
              <a:t> — "Are you the one in your friend group who always finishes what they start — or the one who generates all the ideas but loses interest halfway through? Do you recharge by being around people or by being alone? Do you tend to trust easily or stay guarded? You already have a personality — you've been living it your whole life. This video uses your real patterns with friends, family, and school to explain the Big Five, MBTI and Holland's types — so that when you eventually take a personality assessment at work, you'll understand what it's actually measuring and why it matters for how you work with others."</a:t>
            </a:r>
            <a:endParaRPr lang="en-US" sz="750" dirty="0"/>
          </a:p>
        </p:txBody>
      </p:sp>
      <p:pic>
        <p:nvPicPr>
          <p:cNvPr id="9" name="Image 1" descr="preencoded.png"/>
          <p:cNvPicPr>
            <a:picLocks noChangeAspect="1"/>
          </p:cNvPicPr>
          <p:nvPr/>
        </p:nvPicPr>
        <p:blipFill>
          <a:blip r:embed="rId4"/>
          <a:stretch>
            <a:fillRect/>
          </a:stretch>
        </p:blipFill>
        <p:spPr>
          <a:xfrm>
            <a:off x="3402449" y="1964174"/>
            <a:ext cx="3791783" cy="3791783"/>
          </a:xfrm>
          <a:prstGeom prst="rect">
            <a:avLst/>
          </a:prstGeom>
        </p:spPr>
      </p:pic>
      <p:sp>
        <p:nvSpPr>
          <p:cNvPr id="10" name="Text 6"/>
          <p:cNvSpPr/>
          <p:nvPr/>
        </p:nvSpPr>
        <p:spPr>
          <a:xfrm>
            <a:off x="3402449" y="5811679"/>
            <a:ext cx="1501735"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The Big Five Model (OCEAN)</a:t>
            </a:r>
            <a:endParaRPr lang="en-US" sz="950" dirty="0"/>
          </a:p>
        </p:txBody>
      </p:sp>
      <p:sp>
        <p:nvSpPr>
          <p:cNvPr id="11" name="Text 7"/>
          <p:cNvSpPr/>
          <p:nvPr/>
        </p:nvSpPr>
        <p:spPr>
          <a:xfrm>
            <a:off x="3402449" y="6016228"/>
            <a:ext cx="3791783" cy="713661"/>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The most empirically supported personality framework identifies five dimensions: </a:t>
            </a:r>
            <a:r>
              <a:rPr lang="en-US" sz="750" b="1" dirty="0">
                <a:solidFill>
                  <a:srgbClr val="443728"/>
                </a:solidFill>
                <a:latin typeface="Open Sans" pitchFamily="34" charset="0"/>
                <a:ea typeface="Open Sans" pitchFamily="34" charset="-122"/>
                <a:cs typeface="Open Sans" pitchFamily="34" charset="-120"/>
              </a:rPr>
              <a:t>Openness</a:t>
            </a:r>
            <a:r>
              <a:rPr lang="en-US" sz="750" dirty="0">
                <a:solidFill>
                  <a:srgbClr val="443728"/>
                </a:solidFill>
                <a:latin typeface="Open Sans" pitchFamily="34" charset="0"/>
                <a:ea typeface="Open Sans" pitchFamily="34" charset="-122"/>
                <a:cs typeface="Open Sans" pitchFamily="34" charset="-120"/>
              </a:rPr>
              <a:t> (creativity, curiosity, openness to experience), </a:t>
            </a:r>
            <a:r>
              <a:rPr lang="en-US" sz="750" b="1" dirty="0">
                <a:solidFill>
                  <a:srgbClr val="443728"/>
                </a:solidFill>
                <a:latin typeface="Open Sans" pitchFamily="34" charset="0"/>
                <a:ea typeface="Open Sans" pitchFamily="34" charset="-122"/>
                <a:cs typeface="Open Sans" pitchFamily="34" charset="-120"/>
              </a:rPr>
              <a:t>Conscientiousness</a:t>
            </a:r>
            <a:r>
              <a:rPr lang="en-US" sz="750" dirty="0">
                <a:solidFill>
                  <a:srgbClr val="443728"/>
                </a:solidFill>
                <a:latin typeface="Open Sans" pitchFamily="34" charset="0"/>
                <a:ea typeface="Open Sans" pitchFamily="34" charset="-122"/>
                <a:cs typeface="Open Sans" pitchFamily="34" charset="-120"/>
              </a:rPr>
              <a:t> (reliability, organisation, self-discipline), </a:t>
            </a:r>
            <a:r>
              <a:rPr lang="en-US" sz="750" b="1" dirty="0">
                <a:solidFill>
                  <a:srgbClr val="443728"/>
                </a:solidFill>
                <a:latin typeface="Open Sans" pitchFamily="34" charset="0"/>
                <a:ea typeface="Open Sans" pitchFamily="34" charset="-122"/>
                <a:cs typeface="Open Sans" pitchFamily="34" charset="-120"/>
              </a:rPr>
              <a:t>Extraversion</a:t>
            </a:r>
            <a:r>
              <a:rPr lang="en-US" sz="750" dirty="0">
                <a:solidFill>
                  <a:srgbClr val="443728"/>
                </a:solidFill>
                <a:latin typeface="Open Sans" pitchFamily="34" charset="0"/>
                <a:ea typeface="Open Sans" pitchFamily="34" charset="-122"/>
                <a:cs typeface="Open Sans" pitchFamily="34" charset="-120"/>
              </a:rPr>
              <a:t> (sociability, assertiveness, positive emotionality), </a:t>
            </a:r>
            <a:r>
              <a:rPr lang="en-US" sz="750" b="1" dirty="0">
                <a:solidFill>
                  <a:srgbClr val="443728"/>
                </a:solidFill>
                <a:latin typeface="Open Sans" pitchFamily="34" charset="0"/>
                <a:ea typeface="Open Sans" pitchFamily="34" charset="-122"/>
                <a:cs typeface="Open Sans" pitchFamily="34" charset="-120"/>
              </a:rPr>
              <a:t>Agreeableness</a:t>
            </a:r>
            <a:r>
              <a:rPr lang="en-US" sz="750" dirty="0">
                <a:solidFill>
                  <a:srgbClr val="443728"/>
                </a:solidFill>
                <a:latin typeface="Open Sans" pitchFamily="34" charset="0"/>
                <a:ea typeface="Open Sans" pitchFamily="34" charset="-122"/>
                <a:cs typeface="Open Sans" pitchFamily="34" charset="-120"/>
              </a:rPr>
              <a:t> (cooperation, trust, empathy), and </a:t>
            </a:r>
            <a:r>
              <a:rPr lang="en-US" sz="750" b="1" dirty="0">
                <a:solidFill>
                  <a:srgbClr val="443728"/>
                </a:solidFill>
                <a:latin typeface="Open Sans" pitchFamily="34" charset="0"/>
                <a:ea typeface="Open Sans" pitchFamily="34" charset="-122"/>
                <a:cs typeface="Open Sans" pitchFamily="34" charset="-120"/>
              </a:rPr>
              <a:t>Neuroticism</a:t>
            </a:r>
            <a:r>
              <a:rPr lang="en-US" sz="750" dirty="0">
                <a:solidFill>
                  <a:srgbClr val="443728"/>
                </a:solidFill>
                <a:latin typeface="Open Sans" pitchFamily="34" charset="0"/>
                <a:ea typeface="Open Sans" pitchFamily="34" charset="-122"/>
                <a:cs typeface="Open Sans" pitchFamily="34" charset="-120"/>
              </a:rPr>
              <a:t> (emotional instability, anxiety, moodiness). High conscientiousness consistently predicts job performance across roles and industries.</a:t>
            </a:r>
            <a:endParaRPr lang="en-US" sz="750" dirty="0"/>
          </a:p>
        </p:txBody>
      </p:sp>
      <p:pic>
        <p:nvPicPr>
          <p:cNvPr id="12" name="Image 2" descr="preencoded.png"/>
          <p:cNvPicPr>
            <a:picLocks noChangeAspect="1"/>
          </p:cNvPicPr>
          <p:nvPr/>
        </p:nvPicPr>
        <p:blipFill>
          <a:blip r:embed="rId5"/>
          <a:stretch>
            <a:fillRect/>
          </a:stretch>
        </p:blipFill>
        <p:spPr>
          <a:xfrm>
            <a:off x="7443788" y="1964174"/>
            <a:ext cx="3791783" cy="3791783"/>
          </a:xfrm>
          <a:prstGeom prst="rect">
            <a:avLst/>
          </a:prstGeom>
        </p:spPr>
      </p:pic>
      <p:sp>
        <p:nvSpPr>
          <p:cNvPr id="13" name="Text 8"/>
          <p:cNvSpPr/>
          <p:nvPr/>
        </p:nvSpPr>
        <p:spPr>
          <a:xfrm>
            <a:off x="7443788" y="5811679"/>
            <a:ext cx="1916430"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Myers-Briggs Type Indicator (MBTI)</a:t>
            </a:r>
            <a:endParaRPr lang="en-US" sz="950" dirty="0"/>
          </a:p>
        </p:txBody>
      </p:sp>
      <p:sp>
        <p:nvSpPr>
          <p:cNvPr id="14" name="Text 9"/>
          <p:cNvSpPr/>
          <p:nvPr/>
        </p:nvSpPr>
        <p:spPr>
          <a:xfrm>
            <a:off x="7443788" y="6016228"/>
            <a:ext cx="3791783" cy="713661"/>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Based on Carl Jung's typology, the MBTI classifies individuals across four dichotomies: </a:t>
            </a:r>
            <a:r>
              <a:rPr lang="en-US" sz="750" b="1" dirty="0">
                <a:solidFill>
                  <a:srgbClr val="443728"/>
                </a:solidFill>
                <a:latin typeface="Open Sans" pitchFamily="34" charset="0"/>
                <a:ea typeface="Open Sans" pitchFamily="34" charset="-122"/>
                <a:cs typeface="Open Sans" pitchFamily="34" charset="-120"/>
              </a:rPr>
              <a:t>Extraversion/Introversion</a:t>
            </a:r>
            <a:r>
              <a:rPr lang="en-US" sz="750" dirty="0">
                <a:solidFill>
                  <a:srgbClr val="443728"/>
                </a:solidFill>
                <a:latin typeface="Open Sans" pitchFamily="34" charset="0"/>
                <a:ea typeface="Open Sans" pitchFamily="34" charset="-122"/>
                <a:cs typeface="Open Sans" pitchFamily="34" charset="-120"/>
              </a:rPr>
              <a:t>, </a:t>
            </a:r>
            <a:r>
              <a:rPr lang="en-US" sz="750" b="1" dirty="0">
                <a:solidFill>
                  <a:srgbClr val="443728"/>
                </a:solidFill>
                <a:latin typeface="Open Sans" pitchFamily="34" charset="0"/>
                <a:ea typeface="Open Sans" pitchFamily="34" charset="-122"/>
                <a:cs typeface="Open Sans" pitchFamily="34" charset="-120"/>
              </a:rPr>
              <a:t>Sensing/Intuition</a:t>
            </a:r>
            <a:r>
              <a:rPr lang="en-US" sz="750" dirty="0">
                <a:solidFill>
                  <a:srgbClr val="443728"/>
                </a:solidFill>
                <a:latin typeface="Open Sans" pitchFamily="34" charset="0"/>
                <a:ea typeface="Open Sans" pitchFamily="34" charset="-122"/>
                <a:cs typeface="Open Sans" pitchFamily="34" charset="-120"/>
              </a:rPr>
              <a:t>, </a:t>
            </a:r>
            <a:r>
              <a:rPr lang="en-US" sz="750" b="1" dirty="0">
                <a:solidFill>
                  <a:srgbClr val="443728"/>
                </a:solidFill>
                <a:latin typeface="Open Sans" pitchFamily="34" charset="0"/>
                <a:ea typeface="Open Sans" pitchFamily="34" charset="-122"/>
                <a:cs typeface="Open Sans" pitchFamily="34" charset="-120"/>
              </a:rPr>
              <a:t>Thinking/Feeling</a:t>
            </a:r>
            <a:r>
              <a:rPr lang="en-US" sz="750" dirty="0">
                <a:solidFill>
                  <a:srgbClr val="443728"/>
                </a:solidFill>
                <a:latin typeface="Open Sans" pitchFamily="34" charset="0"/>
                <a:ea typeface="Open Sans" pitchFamily="34" charset="-122"/>
                <a:cs typeface="Open Sans" pitchFamily="34" charset="-120"/>
              </a:rPr>
              <a:t>, and </a:t>
            </a:r>
            <a:r>
              <a:rPr lang="en-US" sz="750" b="1" dirty="0">
                <a:solidFill>
                  <a:srgbClr val="443728"/>
                </a:solidFill>
                <a:latin typeface="Open Sans" pitchFamily="34" charset="0"/>
                <a:ea typeface="Open Sans" pitchFamily="34" charset="-122"/>
                <a:cs typeface="Open Sans" pitchFamily="34" charset="-120"/>
              </a:rPr>
              <a:t>Judging/Perceiving</a:t>
            </a:r>
            <a:r>
              <a:rPr lang="en-US" sz="750" dirty="0">
                <a:solidFill>
                  <a:srgbClr val="443728"/>
                </a:solidFill>
                <a:latin typeface="Open Sans" pitchFamily="34" charset="0"/>
                <a:ea typeface="Open Sans" pitchFamily="34" charset="-122"/>
                <a:cs typeface="Open Sans" pitchFamily="34" charset="-120"/>
              </a:rPr>
              <a:t>. This produces 16 personality types (e.g., INTJ, ENFP). Widely used in team-building and coaching, though its scientific reliability is debated — it is best used as a self-reflection tool rather than a definitive predictor.</a:t>
            </a:r>
            <a:endParaRPr lang="en-US" sz="750" dirty="0"/>
          </a:p>
        </p:txBody>
      </p:sp>
      <p:sp>
        <p:nvSpPr>
          <p:cNvPr id="15" name="Shape 10"/>
          <p:cNvSpPr/>
          <p:nvPr/>
        </p:nvSpPr>
        <p:spPr>
          <a:xfrm>
            <a:off x="7443788" y="6835184"/>
            <a:ext cx="3791783" cy="20003"/>
          </a:xfrm>
          <a:prstGeom prst="rect">
            <a:avLst/>
          </a:prstGeom>
          <a:solidFill>
            <a:srgbClr val="443728">
              <a:alpha val="50000"/>
            </a:srgbClr>
          </a:solidFill>
          <a:ln/>
        </p:spPr>
        <p:txBody>
          <a:bodyPr/>
          <a:lstStyle/>
          <a:p>
            <a:endParaRPr lang="en-AU"/>
          </a:p>
        </p:txBody>
      </p:sp>
      <p:sp>
        <p:nvSpPr>
          <p:cNvPr id="16" name="Text 11"/>
          <p:cNvSpPr/>
          <p:nvPr/>
        </p:nvSpPr>
        <p:spPr>
          <a:xfrm>
            <a:off x="7443788" y="6910864"/>
            <a:ext cx="2168485"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Holland's Typology of Personality–Job Fit</a:t>
            </a:r>
            <a:endParaRPr lang="en-US" sz="950" dirty="0"/>
          </a:p>
        </p:txBody>
      </p:sp>
      <p:sp>
        <p:nvSpPr>
          <p:cNvPr id="17" name="Text 12"/>
          <p:cNvSpPr/>
          <p:nvPr/>
        </p:nvSpPr>
        <p:spPr>
          <a:xfrm>
            <a:off x="7443788" y="7115413"/>
            <a:ext cx="3791783" cy="713661"/>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John Holland proposed six personality types — </a:t>
            </a:r>
            <a:r>
              <a:rPr lang="en-US" sz="750" b="1" dirty="0">
                <a:solidFill>
                  <a:srgbClr val="443728"/>
                </a:solidFill>
                <a:latin typeface="Open Sans" pitchFamily="34" charset="0"/>
                <a:ea typeface="Open Sans" pitchFamily="34" charset="-122"/>
                <a:cs typeface="Open Sans" pitchFamily="34" charset="-120"/>
              </a:rPr>
              <a:t>Realistic, Investigative, Artistic, Social, Enterprising,</a:t>
            </a:r>
            <a:r>
              <a:rPr lang="en-US" sz="750" dirty="0">
                <a:solidFill>
                  <a:srgbClr val="443728"/>
                </a:solidFill>
                <a:latin typeface="Open Sans" pitchFamily="34" charset="0"/>
                <a:ea typeface="Open Sans" pitchFamily="34" charset="-122"/>
                <a:cs typeface="Open Sans" pitchFamily="34" charset="-120"/>
              </a:rPr>
              <a:t> and </a:t>
            </a:r>
            <a:r>
              <a:rPr lang="en-US" sz="750" b="1" dirty="0">
                <a:solidFill>
                  <a:srgbClr val="443728"/>
                </a:solidFill>
                <a:latin typeface="Open Sans" pitchFamily="34" charset="0"/>
                <a:ea typeface="Open Sans" pitchFamily="34" charset="-122"/>
                <a:cs typeface="Open Sans" pitchFamily="34" charset="-120"/>
              </a:rPr>
              <a:t>Conventional</a:t>
            </a:r>
            <a:r>
              <a:rPr lang="en-US" sz="750" dirty="0">
                <a:solidFill>
                  <a:srgbClr val="443728"/>
                </a:solidFill>
                <a:latin typeface="Open Sans" pitchFamily="34" charset="0"/>
                <a:ea typeface="Open Sans" pitchFamily="34" charset="-122"/>
                <a:cs typeface="Open Sans" pitchFamily="34" charset="-120"/>
              </a:rPr>
              <a:t> (RIASEC) — each corresponding to ideal job environments. Person–environment congruence (the match between personality and job type) predicts greater job satisfaction, commitment, and lower turnover. Holland's hexagonal model shows how similar or dissimilar types are to each other.</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3248025" y="293608"/>
            <a:ext cx="998934" cy="161925"/>
          </a:xfrm>
          <a:prstGeom prst="roundRect">
            <a:avLst>
              <a:gd name="adj" fmla="val 21405"/>
            </a:avLst>
          </a:prstGeom>
          <a:solidFill>
            <a:srgbClr val="EBE2E0"/>
          </a:solidFill>
          <a:ln/>
        </p:spPr>
        <p:txBody>
          <a:bodyPr/>
          <a:lstStyle/>
          <a:p>
            <a:endParaRPr lang="en-AU"/>
          </a:p>
        </p:txBody>
      </p:sp>
      <p:sp>
        <p:nvSpPr>
          <p:cNvPr id="3" name="Text 1"/>
          <p:cNvSpPr/>
          <p:nvPr/>
        </p:nvSpPr>
        <p:spPr>
          <a:xfrm>
            <a:off x="3309818" y="324445"/>
            <a:ext cx="875348" cy="100251"/>
          </a:xfrm>
          <a:prstGeom prst="rect">
            <a:avLst/>
          </a:prstGeom>
          <a:noFill/>
          <a:ln/>
        </p:spPr>
        <p:txBody>
          <a:bodyPr wrap="none" lIns="0" tIns="0" rIns="0" bIns="0" rtlCol="0" anchor="t"/>
          <a:lstStyle/>
          <a:p>
            <a:pPr marL="0" indent="0" algn="l">
              <a:lnSpc>
                <a:spcPts val="750"/>
              </a:lnSpc>
              <a:buNone/>
            </a:pPr>
            <a:r>
              <a:rPr lang="en-US" sz="600" dirty="0">
                <a:solidFill>
                  <a:srgbClr val="443728"/>
                </a:solidFill>
                <a:latin typeface="Open Sans" pitchFamily="34" charset="0"/>
                <a:ea typeface="Open Sans" pitchFamily="34" charset="-122"/>
                <a:cs typeface="Open Sans" pitchFamily="34" charset="-120"/>
              </a:rPr>
              <a:t>LEVEL 1 — INDIVIDUAL</a:t>
            </a:r>
            <a:endParaRPr lang="en-US" sz="600" dirty="0"/>
          </a:p>
        </p:txBody>
      </p:sp>
      <p:sp>
        <p:nvSpPr>
          <p:cNvPr id="4" name="Text 2"/>
          <p:cNvSpPr/>
          <p:nvPr/>
        </p:nvSpPr>
        <p:spPr>
          <a:xfrm>
            <a:off x="3248025" y="476964"/>
            <a:ext cx="2725222" cy="322302"/>
          </a:xfrm>
          <a:prstGeom prst="rect">
            <a:avLst/>
          </a:prstGeom>
          <a:noFill/>
          <a:ln/>
        </p:spPr>
        <p:txBody>
          <a:bodyPr wrap="none" lIns="0" tIns="0" rIns="0" bIns="0" rtlCol="0" anchor="t"/>
          <a:lstStyle/>
          <a:p>
            <a:pPr marL="0" indent="0" algn="l">
              <a:lnSpc>
                <a:spcPts val="2500"/>
              </a:lnSpc>
              <a:buNone/>
            </a:pPr>
            <a:r>
              <a:rPr lang="en-US" sz="2000" b="1" dirty="0">
                <a:solidFill>
                  <a:srgbClr val="443728"/>
                </a:solidFill>
                <a:latin typeface="Crimson Pro Bold" pitchFamily="34" charset="0"/>
                <a:ea typeface="Crimson Pro Bold" pitchFamily="34" charset="-122"/>
                <a:cs typeface="Crimson Pro Bold" pitchFamily="34" charset="-120"/>
              </a:rPr>
              <a:t>Perception &amp; Attribution</a:t>
            </a:r>
            <a:endParaRPr lang="en-US" sz="2000" dirty="0"/>
          </a:p>
        </p:txBody>
      </p:sp>
      <p:pic>
        <p:nvPicPr>
          <p:cNvPr id="5" name="Image 0" descr="preencoded.png"/>
          <p:cNvPicPr>
            <a:picLocks noChangeAspect="1"/>
          </p:cNvPicPr>
          <p:nvPr/>
        </p:nvPicPr>
        <p:blipFill>
          <a:blip r:embed="rId3"/>
          <a:stretch>
            <a:fillRect/>
          </a:stretch>
        </p:blipFill>
        <p:spPr>
          <a:xfrm>
            <a:off x="3248025" y="939879"/>
            <a:ext cx="3941445" cy="3941445"/>
          </a:xfrm>
          <a:prstGeom prst="rect">
            <a:avLst/>
          </a:prstGeom>
        </p:spPr>
      </p:pic>
      <p:sp>
        <p:nvSpPr>
          <p:cNvPr id="6" name="Text 3"/>
          <p:cNvSpPr/>
          <p:nvPr/>
        </p:nvSpPr>
        <p:spPr>
          <a:xfrm>
            <a:off x="7448550" y="927854"/>
            <a:ext cx="3941445" cy="501015"/>
          </a:xfrm>
          <a:prstGeom prst="rect">
            <a:avLst/>
          </a:prstGeom>
          <a:noFill/>
          <a:ln/>
        </p:spPr>
        <p:txBody>
          <a:bodyPr wrap="square" lIns="0" tIns="0" rIns="0" bIns="0" rtlCol="0" anchor="t"/>
          <a:lstStyle/>
          <a:p>
            <a:pPr marL="0" indent="0" algn="l">
              <a:lnSpc>
                <a:spcPts val="950"/>
              </a:lnSpc>
              <a:buNone/>
            </a:pPr>
            <a:r>
              <a:rPr lang="en-US" sz="800" dirty="0">
                <a:solidFill>
                  <a:srgbClr val="443728"/>
                </a:solidFill>
                <a:latin typeface="Open Sans" pitchFamily="34" charset="0"/>
                <a:ea typeface="Open Sans" pitchFamily="34" charset="-122"/>
                <a:cs typeface="Open Sans" pitchFamily="34" charset="-120"/>
              </a:rPr>
              <a:t>Perception is the process by which individuals select, organise, and interpret sensory information to give meaning to their environment. Because people's perceptions differ, the same event can produce entirely different behavioural responses — making perception a critical concept in OB.</a:t>
            </a:r>
            <a:endParaRPr lang="en-US" sz="800" dirty="0"/>
          </a:p>
        </p:txBody>
      </p:sp>
      <p:sp>
        <p:nvSpPr>
          <p:cNvPr id="7" name="Shape 4"/>
          <p:cNvSpPr/>
          <p:nvPr/>
        </p:nvSpPr>
        <p:spPr>
          <a:xfrm>
            <a:off x="7448550" y="1489115"/>
            <a:ext cx="3941445" cy="1556861"/>
          </a:xfrm>
          <a:prstGeom prst="roundRect">
            <a:avLst>
              <a:gd name="adj" fmla="val 2783"/>
            </a:avLst>
          </a:prstGeom>
          <a:solidFill>
            <a:srgbClr val="E1D4D0"/>
          </a:solidFill>
          <a:ln/>
        </p:spPr>
        <p:txBody>
          <a:bodyPr/>
          <a:lstStyle/>
          <a:p>
            <a:endParaRPr lang="en-AU"/>
          </a:p>
        </p:txBody>
      </p:sp>
      <p:pic>
        <p:nvPicPr>
          <p:cNvPr id="8" name="Image 1" descr="preencoded.png"/>
          <p:cNvPicPr>
            <a:picLocks noChangeAspect="1"/>
          </p:cNvPicPr>
          <p:nvPr/>
        </p:nvPicPr>
        <p:blipFill>
          <a:blip r:embed="rId4"/>
          <a:stretch>
            <a:fillRect/>
          </a:stretch>
        </p:blipFill>
        <p:spPr>
          <a:xfrm>
            <a:off x="7551658" y="1626751"/>
            <a:ext cx="128826" cy="103108"/>
          </a:xfrm>
          <a:prstGeom prst="rect">
            <a:avLst/>
          </a:prstGeom>
        </p:spPr>
      </p:pic>
      <p:sp>
        <p:nvSpPr>
          <p:cNvPr id="9" name="Text 5"/>
          <p:cNvSpPr/>
          <p:nvPr/>
        </p:nvSpPr>
        <p:spPr>
          <a:xfrm>
            <a:off x="7783592" y="1568410"/>
            <a:ext cx="3503295" cy="1377791"/>
          </a:xfrm>
          <a:prstGeom prst="rect">
            <a:avLst/>
          </a:prstGeom>
          <a:noFill/>
          <a:ln/>
        </p:spPr>
        <p:txBody>
          <a:bodyPr wrap="square" lIns="0" tIns="0" rIns="0" bIns="0" rtlCol="0" anchor="t"/>
          <a:lstStyle/>
          <a:p>
            <a:pPr marL="0" indent="0" algn="l">
              <a:lnSpc>
                <a:spcPts val="950"/>
              </a:lnSpc>
              <a:buNone/>
            </a:pPr>
            <a:r>
              <a:rPr lang="en-US" sz="800" dirty="0">
                <a:solidFill>
                  <a:srgbClr val="000000"/>
                </a:solidFill>
                <a:latin typeface="Open Sans" pitchFamily="34" charset="0"/>
                <a:ea typeface="Open Sans" pitchFamily="34" charset="-122"/>
                <a:cs typeface="Open Sans" pitchFamily="34" charset="-120"/>
              </a:rPr>
              <a:t>📹 </a:t>
            </a:r>
            <a:r>
              <a:rPr lang="en-US" sz="800" b="1" dirty="0">
                <a:solidFill>
                  <a:srgbClr val="000000"/>
                </a:solidFill>
                <a:latin typeface="Open Sans" pitchFamily="34" charset="0"/>
                <a:ea typeface="Open Sans" pitchFamily="34" charset="-122"/>
                <a:cs typeface="Open Sans" pitchFamily="34" charset="-120"/>
              </a:rPr>
              <a:t>Video Placeholder</a:t>
            </a:r>
            <a:r>
              <a:rPr lang="en-US" sz="800" dirty="0">
                <a:solidFill>
                  <a:srgbClr val="000000"/>
                </a:solidFill>
                <a:latin typeface="Open Sans" pitchFamily="34" charset="0"/>
                <a:ea typeface="Open Sans" pitchFamily="34" charset="-122"/>
                <a:cs typeface="Open Sans" pitchFamily="34" charset="-120"/>
              </a:rPr>
              <a:t> — "Have you ever immediately assumed someone was being rude — then found out they were just having a terrible day? Have you ever judged a new person in your class within seconds of meeting them, based on almost nothing? Have you ever blamed a bad grade on the exam being unfair, but assumed someone else failed because they didn't study? That's Attribution Theory, the Halo Effect, and Self-Serving Bias — playing out in your daily life right now. This video unpacks perception and attribution through the snap judgements you make about friends, family, and strangers every single day — so you can spot these biases in yourself before they damage your relationships at work and beyond."</a:t>
            </a:r>
            <a:endParaRPr lang="en-US" sz="800" dirty="0"/>
          </a:p>
        </p:txBody>
      </p:sp>
      <p:pic>
        <p:nvPicPr>
          <p:cNvPr id="10" name="Image 2" descr="preencoded.png"/>
          <p:cNvPicPr>
            <a:picLocks noChangeAspect="1"/>
          </p:cNvPicPr>
          <p:nvPr/>
        </p:nvPicPr>
        <p:blipFill>
          <a:blip r:embed="rId5"/>
          <a:stretch>
            <a:fillRect/>
          </a:stretch>
        </p:blipFill>
        <p:spPr>
          <a:xfrm>
            <a:off x="3248025" y="5001816"/>
            <a:ext cx="1546622" cy="1546622"/>
          </a:xfrm>
          <a:prstGeom prst="rect">
            <a:avLst/>
          </a:prstGeom>
        </p:spPr>
      </p:pic>
      <p:sp>
        <p:nvSpPr>
          <p:cNvPr id="11" name="Text 6"/>
          <p:cNvSpPr/>
          <p:nvPr/>
        </p:nvSpPr>
        <p:spPr>
          <a:xfrm>
            <a:off x="3248025" y="6615351"/>
            <a:ext cx="1530906" cy="161092"/>
          </a:xfrm>
          <a:prstGeom prst="rect">
            <a:avLst/>
          </a:prstGeom>
          <a:noFill/>
          <a:ln/>
        </p:spPr>
        <p:txBody>
          <a:bodyPr wrap="none" lIns="0" tIns="0" rIns="0" bIns="0" rtlCol="0" anchor="t"/>
          <a:lstStyle/>
          <a:p>
            <a:pPr marL="0" indent="0" algn="l">
              <a:lnSpc>
                <a:spcPts val="1250"/>
              </a:lnSpc>
              <a:buNone/>
            </a:pPr>
            <a:r>
              <a:rPr lang="en-US" sz="1000" b="1" dirty="0">
                <a:solidFill>
                  <a:srgbClr val="443728"/>
                </a:solidFill>
                <a:latin typeface="Crimson Pro Bold" pitchFamily="34" charset="0"/>
                <a:ea typeface="Crimson Pro Bold" pitchFamily="34" charset="-122"/>
                <a:cs typeface="Crimson Pro Bold" pitchFamily="34" charset="-120"/>
              </a:rPr>
              <a:t>Attribution Theory (Heider)</a:t>
            </a:r>
            <a:endParaRPr lang="en-US" sz="1000" dirty="0"/>
          </a:p>
        </p:txBody>
      </p:sp>
      <p:sp>
        <p:nvSpPr>
          <p:cNvPr id="12" name="Text 7"/>
          <p:cNvSpPr/>
          <p:nvPr/>
        </p:nvSpPr>
        <p:spPr>
          <a:xfrm>
            <a:off x="3248025" y="6808589"/>
            <a:ext cx="2666762" cy="1127284"/>
          </a:xfrm>
          <a:prstGeom prst="rect">
            <a:avLst/>
          </a:prstGeom>
          <a:noFill/>
          <a:ln/>
        </p:spPr>
        <p:txBody>
          <a:bodyPr wrap="square" lIns="0" tIns="0" rIns="0" bIns="0" rtlCol="0" anchor="t"/>
          <a:lstStyle/>
          <a:p>
            <a:pPr marL="0" indent="0" algn="l">
              <a:lnSpc>
                <a:spcPts val="950"/>
              </a:lnSpc>
              <a:buNone/>
            </a:pPr>
            <a:r>
              <a:rPr lang="en-US" sz="800" dirty="0">
                <a:solidFill>
                  <a:srgbClr val="443728"/>
                </a:solidFill>
                <a:latin typeface="Open Sans" pitchFamily="34" charset="0"/>
                <a:ea typeface="Open Sans" pitchFamily="34" charset="-122"/>
                <a:cs typeface="Open Sans" pitchFamily="34" charset="-120"/>
              </a:rPr>
              <a:t>Fritz Heider's theory explains how people interpret the causes of behaviour — either </a:t>
            </a:r>
            <a:r>
              <a:rPr lang="en-US" sz="800" b="1" dirty="0">
                <a:solidFill>
                  <a:srgbClr val="443728"/>
                </a:solidFill>
                <a:latin typeface="Open Sans" pitchFamily="34" charset="0"/>
                <a:ea typeface="Open Sans" pitchFamily="34" charset="-122"/>
                <a:cs typeface="Open Sans" pitchFamily="34" charset="-120"/>
              </a:rPr>
              <a:t>internally</a:t>
            </a:r>
            <a:r>
              <a:rPr lang="en-US" sz="800" dirty="0">
                <a:solidFill>
                  <a:srgbClr val="443728"/>
                </a:solidFill>
                <a:latin typeface="Open Sans" pitchFamily="34" charset="0"/>
                <a:ea typeface="Open Sans" pitchFamily="34" charset="-122"/>
                <a:cs typeface="Open Sans" pitchFamily="34" charset="-120"/>
              </a:rPr>
              <a:t> (dispositional: the person's ability, personality, or effort) or </a:t>
            </a:r>
            <a:r>
              <a:rPr lang="en-US" sz="800" b="1" dirty="0">
                <a:solidFill>
                  <a:srgbClr val="443728"/>
                </a:solidFill>
                <a:latin typeface="Open Sans" pitchFamily="34" charset="0"/>
                <a:ea typeface="Open Sans" pitchFamily="34" charset="-122"/>
                <a:cs typeface="Open Sans" pitchFamily="34" charset="-120"/>
              </a:rPr>
              <a:t>externally</a:t>
            </a:r>
            <a:r>
              <a:rPr lang="en-US" sz="800" dirty="0">
                <a:solidFill>
                  <a:srgbClr val="443728"/>
                </a:solidFill>
                <a:latin typeface="Open Sans" pitchFamily="34" charset="0"/>
                <a:ea typeface="Open Sans" pitchFamily="34" charset="-122"/>
                <a:cs typeface="Open Sans" pitchFamily="34" charset="-120"/>
              </a:rPr>
              <a:t> (situational: luck, task difficulty, or environment). Misattribution leads to biases such as the </a:t>
            </a:r>
            <a:r>
              <a:rPr lang="en-US" sz="800" b="1" dirty="0">
                <a:solidFill>
                  <a:srgbClr val="443728"/>
                </a:solidFill>
                <a:latin typeface="Open Sans" pitchFamily="34" charset="0"/>
                <a:ea typeface="Open Sans" pitchFamily="34" charset="-122"/>
                <a:cs typeface="Open Sans" pitchFamily="34" charset="-120"/>
              </a:rPr>
              <a:t>Fundamental Attribution Error</a:t>
            </a:r>
            <a:r>
              <a:rPr lang="en-US" sz="800" dirty="0">
                <a:solidFill>
                  <a:srgbClr val="443728"/>
                </a:solidFill>
                <a:latin typeface="Open Sans" pitchFamily="34" charset="0"/>
                <a:ea typeface="Open Sans" pitchFamily="34" charset="-122"/>
                <a:cs typeface="Open Sans" pitchFamily="34" charset="-120"/>
              </a:rPr>
              <a:t> (over-attributing others' failures to character) and </a:t>
            </a:r>
            <a:r>
              <a:rPr lang="en-US" sz="800" b="1" dirty="0">
                <a:solidFill>
                  <a:srgbClr val="443728"/>
                </a:solidFill>
                <a:latin typeface="Open Sans" pitchFamily="34" charset="0"/>
                <a:ea typeface="Open Sans" pitchFamily="34" charset="-122"/>
                <a:cs typeface="Open Sans" pitchFamily="34" charset="-120"/>
              </a:rPr>
              <a:t>Self-Serving Bias</a:t>
            </a:r>
            <a:r>
              <a:rPr lang="en-US" sz="800" dirty="0">
                <a:solidFill>
                  <a:srgbClr val="443728"/>
                </a:solidFill>
                <a:latin typeface="Open Sans" pitchFamily="34" charset="0"/>
                <a:ea typeface="Open Sans" pitchFamily="34" charset="-122"/>
                <a:cs typeface="Open Sans" pitchFamily="34" charset="-120"/>
              </a:rPr>
              <a:t> (claiming credit for success, blaming circumstances for failure).</a:t>
            </a:r>
            <a:endParaRPr lang="en-US" sz="800" dirty="0"/>
          </a:p>
        </p:txBody>
      </p:sp>
      <p:pic>
        <p:nvPicPr>
          <p:cNvPr id="13" name="Image 3" descr="preencoded.png"/>
          <p:cNvPicPr>
            <a:picLocks noChangeAspect="1"/>
          </p:cNvPicPr>
          <p:nvPr/>
        </p:nvPicPr>
        <p:blipFill>
          <a:blip r:embed="rId6"/>
          <a:stretch>
            <a:fillRect/>
          </a:stretch>
        </p:blipFill>
        <p:spPr>
          <a:xfrm>
            <a:off x="5981700" y="5001816"/>
            <a:ext cx="1546741" cy="1546741"/>
          </a:xfrm>
          <a:prstGeom prst="rect">
            <a:avLst/>
          </a:prstGeom>
        </p:spPr>
      </p:pic>
      <p:sp>
        <p:nvSpPr>
          <p:cNvPr id="14" name="Text 8"/>
          <p:cNvSpPr/>
          <p:nvPr/>
        </p:nvSpPr>
        <p:spPr>
          <a:xfrm>
            <a:off x="5981700" y="6615470"/>
            <a:ext cx="1465778" cy="161092"/>
          </a:xfrm>
          <a:prstGeom prst="rect">
            <a:avLst/>
          </a:prstGeom>
          <a:noFill/>
          <a:ln/>
        </p:spPr>
        <p:txBody>
          <a:bodyPr wrap="none" lIns="0" tIns="0" rIns="0" bIns="0" rtlCol="0" anchor="t"/>
          <a:lstStyle/>
          <a:p>
            <a:pPr marL="0" indent="0" algn="l">
              <a:lnSpc>
                <a:spcPts val="1250"/>
              </a:lnSpc>
              <a:buNone/>
            </a:pPr>
            <a:r>
              <a:rPr lang="en-US" sz="1000" b="1" dirty="0">
                <a:solidFill>
                  <a:srgbClr val="443728"/>
                </a:solidFill>
                <a:latin typeface="Crimson Pro Bold" pitchFamily="34" charset="0"/>
                <a:ea typeface="Crimson Pro Bold" pitchFamily="34" charset="-122"/>
                <a:cs typeface="Crimson Pro Bold" pitchFamily="34" charset="-120"/>
              </a:rPr>
              <a:t>Kelley's Covariation Model</a:t>
            </a:r>
            <a:endParaRPr lang="en-US" sz="1000" dirty="0"/>
          </a:p>
        </p:txBody>
      </p:sp>
      <p:sp>
        <p:nvSpPr>
          <p:cNvPr id="15" name="Text 9"/>
          <p:cNvSpPr/>
          <p:nvPr/>
        </p:nvSpPr>
        <p:spPr>
          <a:xfrm>
            <a:off x="5981700" y="6808708"/>
            <a:ext cx="2666881" cy="1002030"/>
          </a:xfrm>
          <a:prstGeom prst="rect">
            <a:avLst/>
          </a:prstGeom>
          <a:noFill/>
          <a:ln/>
        </p:spPr>
        <p:txBody>
          <a:bodyPr wrap="square" lIns="0" tIns="0" rIns="0" bIns="0" rtlCol="0" anchor="t"/>
          <a:lstStyle/>
          <a:p>
            <a:pPr marL="0" indent="0" algn="l">
              <a:lnSpc>
                <a:spcPts val="950"/>
              </a:lnSpc>
              <a:buNone/>
            </a:pPr>
            <a:r>
              <a:rPr lang="en-US" sz="800" dirty="0">
                <a:solidFill>
                  <a:srgbClr val="443728"/>
                </a:solidFill>
                <a:latin typeface="Open Sans" pitchFamily="34" charset="0"/>
                <a:ea typeface="Open Sans" pitchFamily="34" charset="-122"/>
                <a:cs typeface="Open Sans" pitchFamily="34" charset="-120"/>
              </a:rPr>
              <a:t>Harold Kelley refined attribution theory by identifying three criteria people use when attributing cause: </a:t>
            </a:r>
            <a:r>
              <a:rPr lang="en-US" sz="800" b="1" dirty="0">
                <a:solidFill>
                  <a:srgbClr val="443728"/>
                </a:solidFill>
                <a:latin typeface="Open Sans" pitchFamily="34" charset="0"/>
                <a:ea typeface="Open Sans" pitchFamily="34" charset="-122"/>
                <a:cs typeface="Open Sans" pitchFamily="34" charset="-120"/>
              </a:rPr>
              <a:t>Consensus</a:t>
            </a:r>
            <a:r>
              <a:rPr lang="en-US" sz="800" dirty="0">
                <a:solidFill>
                  <a:srgbClr val="443728"/>
                </a:solidFill>
                <a:latin typeface="Open Sans" pitchFamily="34" charset="0"/>
                <a:ea typeface="Open Sans" pitchFamily="34" charset="-122"/>
                <a:cs typeface="Open Sans" pitchFamily="34" charset="-120"/>
              </a:rPr>
              <a:t> (do others behave the same way?), </a:t>
            </a:r>
            <a:r>
              <a:rPr lang="en-US" sz="800" b="1" dirty="0">
                <a:solidFill>
                  <a:srgbClr val="443728"/>
                </a:solidFill>
                <a:latin typeface="Open Sans" pitchFamily="34" charset="0"/>
                <a:ea typeface="Open Sans" pitchFamily="34" charset="-122"/>
                <a:cs typeface="Open Sans" pitchFamily="34" charset="-120"/>
              </a:rPr>
              <a:t>Distinctiveness</a:t>
            </a:r>
            <a:r>
              <a:rPr lang="en-US" sz="800" dirty="0">
                <a:solidFill>
                  <a:srgbClr val="443728"/>
                </a:solidFill>
                <a:latin typeface="Open Sans" pitchFamily="34" charset="0"/>
                <a:ea typeface="Open Sans" pitchFamily="34" charset="-122"/>
                <a:cs typeface="Open Sans" pitchFamily="34" charset="-120"/>
              </a:rPr>
              <a:t> (does this person behave differently in other situations?), and </a:t>
            </a:r>
            <a:r>
              <a:rPr lang="en-US" sz="800" b="1" dirty="0">
                <a:solidFill>
                  <a:srgbClr val="443728"/>
                </a:solidFill>
                <a:latin typeface="Open Sans" pitchFamily="34" charset="0"/>
                <a:ea typeface="Open Sans" pitchFamily="34" charset="-122"/>
                <a:cs typeface="Open Sans" pitchFamily="34" charset="-120"/>
              </a:rPr>
              <a:t>Consistency</a:t>
            </a:r>
            <a:r>
              <a:rPr lang="en-US" sz="800" dirty="0">
                <a:solidFill>
                  <a:srgbClr val="443728"/>
                </a:solidFill>
                <a:latin typeface="Open Sans" pitchFamily="34" charset="0"/>
                <a:ea typeface="Open Sans" pitchFamily="34" charset="-122"/>
                <a:cs typeface="Open Sans" pitchFamily="34" charset="-120"/>
              </a:rPr>
              <a:t> (does this happen every time?). High consensus + high distinctiveness + high consistency → external attribution. Low on all three → internal attribution.</a:t>
            </a:r>
            <a:endParaRPr lang="en-US" sz="800" dirty="0"/>
          </a:p>
        </p:txBody>
      </p:sp>
      <p:pic>
        <p:nvPicPr>
          <p:cNvPr id="16" name="Image 4" descr="preencoded.png"/>
          <p:cNvPicPr>
            <a:picLocks noChangeAspect="1"/>
          </p:cNvPicPr>
          <p:nvPr/>
        </p:nvPicPr>
        <p:blipFill>
          <a:blip r:embed="rId7"/>
          <a:stretch>
            <a:fillRect/>
          </a:stretch>
        </p:blipFill>
        <p:spPr>
          <a:xfrm>
            <a:off x="8715494" y="5001816"/>
            <a:ext cx="1546741" cy="1546741"/>
          </a:xfrm>
          <a:prstGeom prst="rect">
            <a:avLst/>
          </a:prstGeom>
        </p:spPr>
      </p:pic>
      <p:sp>
        <p:nvSpPr>
          <p:cNvPr id="17" name="Text 10"/>
          <p:cNvSpPr/>
          <p:nvPr/>
        </p:nvSpPr>
        <p:spPr>
          <a:xfrm>
            <a:off x="8715494" y="6615470"/>
            <a:ext cx="1359218" cy="161092"/>
          </a:xfrm>
          <a:prstGeom prst="rect">
            <a:avLst/>
          </a:prstGeom>
          <a:noFill/>
          <a:ln/>
        </p:spPr>
        <p:txBody>
          <a:bodyPr wrap="none" lIns="0" tIns="0" rIns="0" bIns="0" rtlCol="0" anchor="t"/>
          <a:lstStyle/>
          <a:p>
            <a:pPr marL="0" indent="0" algn="l">
              <a:lnSpc>
                <a:spcPts val="1250"/>
              </a:lnSpc>
              <a:buNone/>
            </a:pPr>
            <a:r>
              <a:rPr lang="en-US" sz="1000" b="1" dirty="0">
                <a:solidFill>
                  <a:srgbClr val="443728"/>
                </a:solidFill>
                <a:latin typeface="Crimson Pro Bold" pitchFamily="34" charset="0"/>
                <a:ea typeface="Crimson Pro Bold" pitchFamily="34" charset="-122"/>
                <a:cs typeface="Crimson Pro Bold" pitchFamily="34" charset="-120"/>
              </a:rPr>
              <a:t>Social Perception Theory</a:t>
            </a:r>
            <a:endParaRPr lang="en-US" sz="1000" dirty="0"/>
          </a:p>
        </p:txBody>
      </p:sp>
      <p:sp>
        <p:nvSpPr>
          <p:cNvPr id="18" name="Text 11"/>
          <p:cNvSpPr/>
          <p:nvPr/>
        </p:nvSpPr>
        <p:spPr>
          <a:xfrm>
            <a:off x="8715494" y="6808708"/>
            <a:ext cx="2666881" cy="1002030"/>
          </a:xfrm>
          <a:prstGeom prst="rect">
            <a:avLst/>
          </a:prstGeom>
          <a:noFill/>
          <a:ln/>
        </p:spPr>
        <p:txBody>
          <a:bodyPr wrap="square" lIns="0" tIns="0" rIns="0" bIns="0" rtlCol="0" anchor="t"/>
          <a:lstStyle/>
          <a:p>
            <a:pPr marL="0" indent="0" algn="l">
              <a:lnSpc>
                <a:spcPts val="950"/>
              </a:lnSpc>
              <a:buNone/>
            </a:pPr>
            <a:r>
              <a:rPr lang="en-US" sz="800" dirty="0">
                <a:solidFill>
                  <a:srgbClr val="443728"/>
                </a:solidFill>
                <a:latin typeface="Open Sans" pitchFamily="34" charset="0"/>
                <a:ea typeface="Open Sans" pitchFamily="34" charset="-122"/>
                <a:cs typeface="Open Sans" pitchFamily="34" charset="-120"/>
              </a:rPr>
              <a:t>Social perception examines how we form impressions of other people. Key distortions include: </a:t>
            </a:r>
            <a:r>
              <a:rPr lang="en-US" sz="800" b="1" dirty="0">
                <a:solidFill>
                  <a:srgbClr val="443728"/>
                </a:solidFill>
                <a:latin typeface="Open Sans" pitchFamily="34" charset="0"/>
                <a:ea typeface="Open Sans" pitchFamily="34" charset="-122"/>
                <a:cs typeface="Open Sans" pitchFamily="34" charset="-120"/>
              </a:rPr>
              <a:t>Stereotyping</a:t>
            </a:r>
            <a:r>
              <a:rPr lang="en-US" sz="800" dirty="0">
                <a:solidFill>
                  <a:srgbClr val="443728"/>
                </a:solidFill>
                <a:latin typeface="Open Sans" pitchFamily="34" charset="0"/>
                <a:ea typeface="Open Sans" pitchFamily="34" charset="-122"/>
                <a:cs typeface="Open Sans" pitchFamily="34" charset="-120"/>
              </a:rPr>
              <a:t> (judging by group membership), </a:t>
            </a:r>
            <a:r>
              <a:rPr lang="en-US" sz="800" b="1" dirty="0">
                <a:solidFill>
                  <a:srgbClr val="443728"/>
                </a:solidFill>
                <a:latin typeface="Open Sans" pitchFamily="34" charset="0"/>
                <a:ea typeface="Open Sans" pitchFamily="34" charset="-122"/>
                <a:cs typeface="Open Sans" pitchFamily="34" charset="-120"/>
              </a:rPr>
              <a:t>Halo Effect</a:t>
            </a:r>
            <a:r>
              <a:rPr lang="en-US" sz="800" dirty="0">
                <a:solidFill>
                  <a:srgbClr val="443728"/>
                </a:solidFill>
                <a:latin typeface="Open Sans" pitchFamily="34" charset="0"/>
                <a:ea typeface="Open Sans" pitchFamily="34" charset="-122"/>
                <a:cs typeface="Open Sans" pitchFamily="34" charset="-120"/>
              </a:rPr>
              <a:t> (one positive trait colours the whole impression), </a:t>
            </a:r>
            <a:r>
              <a:rPr lang="en-US" sz="800" b="1" dirty="0">
                <a:solidFill>
                  <a:srgbClr val="443728"/>
                </a:solidFill>
                <a:latin typeface="Open Sans" pitchFamily="34" charset="0"/>
                <a:ea typeface="Open Sans" pitchFamily="34" charset="-122"/>
                <a:cs typeface="Open Sans" pitchFamily="34" charset="-120"/>
              </a:rPr>
              <a:t>Selective Perception</a:t>
            </a:r>
            <a:r>
              <a:rPr lang="en-US" sz="800" dirty="0">
                <a:solidFill>
                  <a:srgbClr val="443728"/>
                </a:solidFill>
                <a:latin typeface="Open Sans" pitchFamily="34" charset="0"/>
                <a:ea typeface="Open Sans" pitchFamily="34" charset="-122"/>
                <a:cs typeface="Open Sans" pitchFamily="34" charset="-120"/>
              </a:rPr>
              <a:t> (filtering information to confirm existing beliefs), and </a:t>
            </a:r>
            <a:r>
              <a:rPr lang="en-US" sz="800" b="1" dirty="0">
                <a:solidFill>
                  <a:srgbClr val="443728"/>
                </a:solidFill>
                <a:latin typeface="Open Sans" pitchFamily="34" charset="0"/>
                <a:ea typeface="Open Sans" pitchFamily="34" charset="-122"/>
                <a:cs typeface="Open Sans" pitchFamily="34" charset="-120"/>
              </a:rPr>
              <a:t>Projection</a:t>
            </a:r>
            <a:r>
              <a:rPr lang="en-US" sz="800" dirty="0">
                <a:solidFill>
                  <a:srgbClr val="443728"/>
                </a:solidFill>
                <a:latin typeface="Open Sans" pitchFamily="34" charset="0"/>
                <a:ea typeface="Open Sans" pitchFamily="34" charset="-122"/>
                <a:cs typeface="Open Sans" pitchFamily="34" charset="-120"/>
              </a:rPr>
              <a:t> (attributing one's own traits to others). These biases profoundly affect hiring, appraisals, and workplace relationships.</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2668905" y="1502331"/>
            <a:ext cx="1141809" cy="190619"/>
          </a:xfrm>
          <a:prstGeom prst="roundRect">
            <a:avLst>
              <a:gd name="adj" fmla="val 20772"/>
            </a:avLst>
          </a:prstGeom>
          <a:solidFill>
            <a:srgbClr val="EBE2E0"/>
          </a:solidFill>
          <a:ln/>
        </p:spPr>
        <p:txBody>
          <a:bodyPr/>
          <a:lstStyle/>
          <a:p>
            <a:endParaRPr lang="en-AU"/>
          </a:p>
        </p:txBody>
      </p:sp>
      <p:sp>
        <p:nvSpPr>
          <p:cNvPr id="3" name="Text 1"/>
          <p:cNvSpPr/>
          <p:nvPr/>
        </p:nvSpPr>
        <p:spPr>
          <a:xfrm>
            <a:off x="2739509" y="1537573"/>
            <a:ext cx="1000601" cy="120134"/>
          </a:xfrm>
          <a:prstGeom prst="rect">
            <a:avLst/>
          </a:prstGeom>
          <a:noFill/>
          <a:ln/>
        </p:spPr>
        <p:txBody>
          <a:bodyPr wrap="none" lIns="0" tIns="0" rIns="0" bIns="0" rtlCol="0" anchor="t"/>
          <a:lstStyle/>
          <a:p>
            <a:pPr marL="0" indent="0" algn="l">
              <a:lnSpc>
                <a:spcPts val="900"/>
              </a:lnSpc>
              <a:buNone/>
            </a:pPr>
            <a:r>
              <a:rPr lang="en-US" sz="700" dirty="0">
                <a:solidFill>
                  <a:srgbClr val="443728"/>
                </a:solidFill>
                <a:latin typeface="Open Sans" pitchFamily="34" charset="0"/>
                <a:ea typeface="Open Sans" pitchFamily="34" charset="-122"/>
                <a:cs typeface="Open Sans" pitchFamily="34" charset="-120"/>
              </a:rPr>
              <a:t>LEVEL 1 — INDIVIDUAL</a:t>
            </a:r>
            <a:endParaRPr lang="en-US" sz="700" dirty="0"/>
          </a:p>
        </p:txBody>
      </p:sp>
      <p:sp>
        <p:nvSpPr>
          <p:cNvPr id="4" name="Text 2"/>
          <p:cNvSpPr/>
          <p:nvPr/>
        </p:nvSpPr>
        <p:spPr>
          <a:xfrm>
            <a:off x="2668905" y="1720929"/>
            <a:ext cx="3779639" cy="368141"/>
          </a:xfrm>
          <a:prstGeom prst="rect">
            <a:avLst/>
          </a:prstGeom>
          <a:noFill/>
          <a:ln/>
        </p:spPr>
        <p:txBody>
          <a:bodyPr wrap="none" lIns="0" tIns="0" rIns="0" bIns="0" rtlCol="0" anchor="t"/>
          <a:lstStyle/>
          <a:p>
            <a:pPr marL="0" indent="0" algn="l">
              <a:lnSpc>
                <a:spcPts val="2850"/>
              </a:lnSpc>
              <a:buNone/>
            </a:pPr>
            <a:r>
              <a:rPr lang="en-US" sz="2300" b="1" dirty="0">
                <a:solidFill>
                  <a:srgbClr val="443728"/>
                </a:solidFill>
                <a:latin typeface="Crimson Pro Bold" pitchFamily="34" charset="0"/>
                <a:ea typeface="Crimson Pro Bold" pitchFamily="34" charset="-122"/>
                <a:cs typeface="Crimson Pro Bold" pitchFamily="34" charset="-120"/>
              </a:rPr>
              <a:t>Learning Theories &amp; Attitudes</a:t>
            </a:r>
            <a:endParaRPr lang="en-US" sz="2300" dirty="0"/>
          </a:p>
        </p:txBody>
      </p:sp>
      <p:sp>
        <p:nvSpPr>
          <p:cNvPr id="5" name="Text 3"/>
          <p:cNvSpPr/>
          <p:nvPr/>
        </p:nvSpPr>
        <p:spPr>
          <a:xfrm>
            <a:off x="2668905" y="2193965"/>
            <a:ext cx="9292471" cy="300514"/>
          </a:xfrm>
          <a:prstGeom prst="rect">
            <a:avLst/>
          </a:prstGeom>
          <a:noFill/>
          <a:ln/>
        </p:spPr>
        <p:txBody>
          <a:bodyPr wrap="square" lIns="0" tIns="0" rIns="0" bIns="0" rtlCol="0" anchor="t"/>
          <a:lstStyle/>
          <a:p>
            <a:pPr marL="0" indent="0" algn="l">
              <a:lnSpc>
                <a:spcPts val="1150"/>
              </a:lnSpc>
              <a:buNone/>
            </a:pPr>
            <a:r>
              <a:rPr lang="en-US" sz="900" dirty="0">
                <a:solidFill>
                  <a:srgbClr val="443728"/>
                </a:solidFill>
                <a:latin typeface="Open Sans" pitchFamily="34" charset="0"/>
                <a:ea typeface="Open Sans" pitchFamily="34" charset="-122"/>
                <a:cs typeface="Open Sans" pitchFamily="34" charset="-120"/>
              </a:rPr>
              <a:t>Learning refers to any relatively permanent change in behaviour that occurs as a result of experience. Understanding how people learn enables managers to design effective training, onboarding, and behaviour-change programmes.</a:t>
            </a:r>
            <a:endParaRPr lang="en-US" sz="900" dirty="0"/>
          </a:p>
        </p:txBody>
      </p:sp>
      <p:sp>
        <p:nvSpPr>
          <p:cNvPr id="6" name="Shape 4"/>
          <p:cNvSpPr/>
          <p:nvPr/>
        </p:nvSpPr>
        <p:spPr>
          <a:xfrm>
            <a:off x="2668905" y="2573179"/>
            <a:ext cx="9292471" cy="979884"/>
          </a:xfrm>
          <a:prstGeom prst="roundRect">
            <a:avLst>
              <a:gd name="adj" fmla="val 5051"/>
            </a:avLst>
          </a:prstGeom>
          <a:solidFill>
            <a:srgbClr val="E1D4D0"/>
          </a:solidFill>
          <a:ln/>
        </p:spPr>
        <p:txBody>
          <a:bodyPr/>
          <a:lstStyle/>
          <a:p>
            <a:endParaRPr lang="en-AU"/>
          </a:p>
        </p:txBody>
      </p:sp>
      <p:pic>
        <p:nvPicPr>
          <p:cNvPr id="7" name="Image 0" descr="preencoded.png"/>
          <p:cNvPicPr>
            <a:picLocks noChangeAspect="1"/>
          </p:cNvPicPr>
          <p:nvPr/>
        </p:nvPicPr>
        <p:blipFill>
          <a:blip r:embed="rId3"/>
          <a:stretch>
            <a:fillRect/>
          </a:stretch>
        </p:blipFill>
        <p:spPr>
          <a:xfrm>
            <a:off x="2786658" y="2731532"/>
            <a:ext cx="147280" cy="117753"/>
          </a:xfrm>
          <a:prstGeom prst="rect">
            <a:avLst/>
          </a:prstGeom>
        </p:spPr>
      </p:pic>
      <p:sp>
        <p:nvSpPr>
          <p:cNvPr id="8" name="Text 5"/>
          <p:cNvSpPr/>
          <p:nvPr/>
        </p:nvSpPr>
        <p:spPr>
          <a:xfrm>
            <a:off x="3051691" y="2672477"/>
            <a:ext cx="8791932" cy="758904"/>
          </a:xfrm>
          <a:prstGeom prst="rect">
            <a:avLst/>
          </a:prstGeom>
          <a:noFill/>
          <a:ln/>
        </p:spPr>
        <p:txBody>
          <a:bodyPr wrap="square" lIns="0" tIns="0" rIns="0" bIns="0" rtlCol="0" anchor="t"/>
          <a:lstStyle/>
          <a:p>
            <a:pPr marL="0" indent="0" algn="l">
              <a:lnSpc>
                <a:spcPts val="1150"/>
              </a:lnSpc>
              <a:buNone/>
            </a:pPr>
            <a:r>
              <a:rPr lang="en-US" sz="900" dirty="0">
                <a:solidFill>
                  <a:srgbClr val="000000"/>
                </a:solidFill>
                <a:latin typeface="Open Sans" pitchFamily="34" charset="0"/>
                <a:ea typeface="Open Sans" pitchFamily="34" charset="-122"/>
                <a:cs typeface="Open Sans" pitchFamily="34" charset="-120"/>
              </a:rPr>
              <a:t>📹 </a:t>
            </a:r>
            <a:r>
              <a:rPr lang="en-US" sz="900" b="1" dirty="0">
                <a:solidFill>
                  <a:srgbClr val="000000"/>
                </a:solidFill>
                <a:latin typeface="Open Sans" pitchFamily="34" charset="0"/>
                <a:ea typeface="Open Sans" pitchFamily="34" charset="-122"/>
                <a:cs typeface="Open Sans" pitchFamily="34" charset="-120"/>
              </a:rPr>
              <a:t>Video Placeholder</a:t>
            </a:r>
            <a:r>
              <a:rPr lang="en-US" sz="900" dirty="0">
                <a:solidFill>
                  <a:srgbClr val="000000"/>
                </a:solidFill>
                <a:latin typeface="Open Sans" pitchFamily="34" charset="0"/>
                <a:ea typeface="Open Sans" pitchFamily="34" charset="-122"/>
                <a:cs typeface="Open Sans" pitchFamily="34" charset="-120"/>
              </a:rPr>
              <a:t> — "Why do you feel anxious before a family event that's always gone badly — even when this time might be different? Why did you pick up your parents' habits without ever being taught them? Why do you feel uncomfortable when you act against your own values — even when no one else knows? Pavlov, Skinner, Bandura and Festinger are all running in the background of your daily life: in the routines you've absorbed from home, the role models you've unconsciously copied, and the inner tension you feel when your actions don't match your beliefs. This video makes those invisible learning processes visible — so you understand not just how organisations train people, but how you yourself were shaped long before you ever entered one."</a:t>
            </a:r>
            <a:endParaRPr lang="en-US" sz="900" dirty="0"/>
          </a:p>
        </p:txBody>
      </p:sp>
      <p:pic>
        <p:nvPicPr>
          <p:cNvPr id="9" name="Image 1" descr="preencoded.png"/>
          <p:cNvPicPr>
            <a:picLocks noChangeAspect="1"/>
          </p:cNvPicPr>
          <p:nvPr/>
        </p:nvPicPr>
        <p:blipFill>
          <a:blip r:embed="rId4"/>
          <a:stretch>
            <a:fillRect/>
          </a:stretch>
        </p:blipFill>
        <p:spPr>
          <a:xfrm>
            <a:off x="2668905" y="3631763"/>
            <a:ext cx="668536" cy="668536"/>
          </a:xfrm>
          <a:prstGeom prst="rect">
            <a:avLst/>
          </a:prstGeom>
        </p:spPr>
      </p:pic>
      <p:sp>
        <p:nvSpPr>
          <p:cNvPr id="10" name="Text 6"/>
          <p:cNvSpPr/>
          <p:nvPr/>
        </p:nvSpPr>
        <p:spPr>
          <a:xfrm>
            <a:off x="3424833" y="3631763"/>
            <a:ext cx="1959293" cy="184071"/>
          </a:xfrm>
          <a:prstGeom prst="rect">
            <a:avLst/>
          </a:prstGeom>
          <a:noFill/>
          <a:ln/>
        </p:spPr>
        <p:txBody>
          <a:bodyPr wrap="none" lIns="0" tIns="0" rIns="0" bIns="0" rtlCol="0" anchor="t"/>
          <a:lstStyle/>
          <a:p>
            <a:pPr marL="0" indent="0" algn="l">
              <a:lnSpc>
                <a:spcPts val="1400"/>
              </a:lnSpc>
              <a:buNone/>
            </a:pPr>
            <a:r>
              <a:rPr lang="en-US" sz="1150" b="1" dirty="0">
                <a:solidFill>
                  <a:srgbClr val="443728"/>
                </a:solidFill>
                <a:latin typeface="Crimson Pro Bold" pitchFamily="34" charset="0"/>
                <a:ea typeface="Crimson Pro Bold" pitchFamily="34" charset="-122"/>
                <a:cs typeface="Crimson Pro Bold" pitchFamily="34" charset="-120"/>
              </a:rPr>
              <a:t>Classical Conditioning (Pavlov)</a:t>
            </a:r>
            <a:endParaRPr lang="en-US" sz="1150" dirty="0"/>
          </a:p>
        </p:txBody>
      </p:sp>
      <p:sp>
        <p:nvSpPr>
          <p:cNvPr id="11" name="Text 7"/>
          <p:cNvSpPr/>
          <p:nvPr/>
        </p:nvSpPr>
        <p:spPr>
          <a:xfrm>
            <a:off x="3424833" y="3857744"/>
            <a:ext cx="2283262" cy="1502569"/>
          </a:xfrm>
          <a:prstGeom prst="rect">
            <a:avLst/>
          </a:prstGeom>
          <a:noFill/>
          <a:ln/>
        </p:spPr>
        <p:txBody>
          <a:bodyPr wrap="square" lIns="0" tIns="0" rIns="0" bIns="0" rtlCol="0" anchor="t"/>
          <a:lstStyle/>
          <a:p>
            <a:pPr marL="0" indent="0" algn="l">
              <a:lnSpc>
                <a:spcPts val="1150"/>
              </a:lnSpc>
              <a:buNone/>
            </a:pPr>
            <a:r>
              <a:rPr lang="en-US" sz="900" dirty="0">
                <a:solidFill>
                  <a:srgbClr val="443728"/>
                </a:solidFill>
                <a:latin typeface="Open Sans" pitchFamily="34" charset="0"/>
                <a:ea typeface="Open Sans" pitchFamily="34" charset="-122"/>
                <a:cs typeface="Open Sans" pitchFamily="34" charset="-120"/>
              </a:rPr>
              <a:t>Ivan Pavlov demonstrated that a neutral stimulus (a bell) could elicit a response (salivation) when repeatedly paired with an unconditioned stimulus (food). In OB, this explains how employees may develop emotional associations — anxiety before a performance review, enthusiasm at a familiar team ritual — through repeated pairing of stimuli with organisational events.</a:t>
            </a:r>
            <a:endParaRPr lang="en-US" sz="900" dirty="0"/>
          </a:p>
        </p:txBody>
      </p:sp>
      <p:pic>
        <p:nvPicPr>
          <p:cNvPr id="12" name="Image 2" descr="preencoded.png"/>
          <p:cNvPicPr>
            <a:picLocks noChangeAspect="1"/>
          </p:cNvPicPr>
          <p:nvPr/>
        </p:nvPicPr>
        <p:blipFill>
          <a:blip r:embed="rId5"/>
          <a:stretch>
            <a:fillRect/>
          </a:stretch>
        </p:blipFill>
        <p:spPr>
          <a:xfrm>
            <a:off x="5795486" y="3631763"/>
            <a:ext cx="668536" cy="668536"/>
          </a:xfrm>
          <a:prstGeom prst="rect">
            <a:avLst/>
          </a:prstGeom>
        </p:spPr>
      </p:pic>
      <p:sp>
        <p:nvSpPr>
          <p:cNvPr id="13" name="Text 8"/>
          <p:cNvSpPr/>
          <p:nvPr/>
        </p:nvSpPr>
        <p:spPr>
          <a:xfrm>
            <a:off x="6551414" y="3631763"/>
            <a:ext cx="2007751" cy="184071"/>
          </a:xfrm>
          <a:prstGeom prst="rect">
            <a:avLst/>
          </a:prstGeom>
          <a:noFill/>
          <a:ln/>
        </p:spPr>
        <p:txBody>
          <a:bodyPr wrap="none" lIns="0" tIns="0" rIns="0" bIns="0" rtlCol="0" anchor="t"/>
          <a:lstStyle/>
          <a:p>
            <a:pPr marL="0" indent="0" algn="l">
              <a:lnSpc>
                <a:spcPts val="1400"/>
              </a:lnSpc>
              <a:buNone/>
            </a:pPr>
            <a:r>
              <a:rPr lang="en-US" sz="1150" b="1" dirty="0">
                <a:solidFill>
                  <a:srgbClr val="443728"/>
                </a:solidFill>
                <a:latin typeface="Crimson Pro Bold" pitchFamily="34" charset="0"/>
                <a:ea typeface="Crimson Pro Bold" pitchFamily="34" charset="-122"/>
                <a:cs typeface="Crimson Pro Bold" pitchFamily="34" charset="-120"/>
              </a:rPr>
              <a:t>Operant Conditioning (Skinner)</a:t>
            </a:r>
            <a:endParaRPr lang="en-US" sz="1150" dirty="0"/>
          </a:p>
        </p:txBody>
      </p:sp>
      <p:sp>
        <p:nvSpPr>
          <p:cNvPr id="14" name="Text 9"/>
          <p:cNvSpPr/>
          <p:nvPr/>
        </p:nvSpPr>
        <p:spPr>
          <a:xfrm>
            <a:off x="6551414" y="3857744"/>
            <a:ext cx="2283262" cy="1652826"/>
          </a:xfrm>
          <a:prstGeom prst="rect">
            <a:avLst/>
          </a:prstGeom>
          <a:noFill/>
          <a:ln/>
        </p:spPr>
        <p:txBody>
          <a:bodyPr wrap="square" lIns="0" tIns="0" rIns="0" bIns="0" rtlCol="0" anchor="t"/>
          <a:lstStyle/>
          <a:p>
            <a:pPr marL="0" indent="0" algn="l">
              <a:lnSpc>
                <a:spcPts val="1150"/>
              </a:lnSpc>
              <a:buNone/>
            </a:pPr>
            <a:r>
              <a:rPr lang="en-US" sz="900" dirty="0">
                <a:solidFill>
                  <a:srgbClr val="443728"/>
                </a:solidFill>
                <a:latin typeface="Open Sans" pitchFamily="34" charset="0"/>
                <a:ea typeface="Open Sans" pitchFamily="34" charset="-122"/>
                <a:cs typeface="Open Sans" pitchFamily="34" charset="-120"/>
              </a:rPr>
              <a:t>B.F. Skinner showed that voluntary behaviours are shaped by their consequences. Behaviour followed by a positive outcome is strengthened; behaviour followed by a negative outcome is weakened. Organisations use schedules of reinforcement — continuous or intermittent — to shape employee performance, punctuality, safety behaviours, and customer service standards.</a:t>
            </a:r>
            <a:endParaRPr lang="en-US" sz="900" dirty="0"/>
          </a:p>
        </p:txBody>
      </p:sp>
      <p:pic>
        <p:nvPicPr>
          <p:cNvPr id="15" name="Image 3" descr="preencoded.png"/>
          <p:cNvPicPr>
            <a:picLocks noChangeAspect="1"/>
          </p:cNvPicPr>
          <p:nvPr/>
        </p:nvPicPr>
        <p:blipFill>
          <a:blip r:embed="rId6"/>
          <a:stretch>
            <a:fillRect/>
          </a:stretch>
        </p:blipFill>
        <p:spPr>
          <a:xfrm>
            <a:off x="8922068" y="3631763"/>
            <a:ext cx="668536" cy="668536"/>
          </a:xfrm>
          <a:prstGeom prst="rect">
            <a:avLst/>
          </a:prstGeom>
        </p:spPr>
      </p:pic>
      <p:sp>
        <p:nvSpPr>
          <p:cNvPr id="16" name="Text 10"/>
          <p:cNvSpPr/>
          <p:nvPr/>
        </p:nvSpPr>
        <p:spPr>
          <a:xfrm>
            <a:off x="9677995" y="3631763"/>
            <a:ext cx="2119908" cy="184071"/>
          </a:xfrm>
          <a:prstGeom prst="rect">
            <a:avLst/>
          </a:prstGeom>
          <a:noFill/>
          <a:ln/>
        </p:spPr>
        <p:txBody>
          <a:bodyPr wrap="none" lIns="0" tIns="0" rIns="0" bIns="0" rtlCol="0" anchor="t"/>
          <a:lstStyle/>
          <a:p>
            <a:pPr marL="0" indent="0" algn="l">
              <a:lnSpc>
                <a:spcPts val="1400"/>
              </a:lnSpc>
              <a:buNone/>
            </a:pPr>
            <a:r>
              <a:rPr lang="en-US" sz="1150" b="1" dirty="0">
                <a:solidFill>
                  <a:srgbClr val="443728"/>
                </a:solidFill>
                <a:latin typeface="Crimson Pro Bold" pitchFamily="34" charset="0"/>
                <a:ea typeface="Crimson Pro Bold" pitchFamily="34" charset="-122"/>
                <a:cs typeface="Crimson Pro Bold" pitchFamily="34" charset="-120"/>
              </a:rPr>
              <a:t>Social Learning Theory (Bandura)</a:t>
            </a:r>
            <a:endParaRPr lang="en-US" sz="1150" dirty="0"/>
          </a:p>
        </p:txBody>
      </p:sp>
      <p:sp>
        <p:nvSpPr>
          <p:cNvPr id="17" name="Text 11"/>
          <p:cNvSpPr/>
          <p:nvPr/>
        </p:nvSpPr>
        <p:spPr>
          <a:xfrm>
            <a:off x="9677995" y="3857744"/>
            <a:ext cx="2283262" cy="1502569"/>
          </a:xfrm>
          <a:prstGeom prst="rect">
            <a:avLst/>
          </a:prstGeom>
          <a:noFill/>
          <a:ln/>
        </p:spPr>
        <p:txBody>
          <a:bodyPr wrap="square" lIns="0" tIns="0" rIns="0" bIns="0" rtlCol="0" anchor="t"/>
          <a:lstStyle/>
          <a:p>
            <a:pPr marL="0" indent="0" algn="l">
              <a:lnSpc>
                <a:spcPts val="1150"/>
              </a:lnSpc>
              <a:buNone/>
            </a:pPr>
            <a:r>
              <a:rPr lang="en-US" sz="900" dirty="0">
                <a:solidFill>
                  <a:srgbClr val="443728"/>
                </a:solidFill>
                <a:latin typeface="Open Sans" pitchFamily="34" charset="0"/>
                <a:ea typeface="Open Sans" pitchFamily="34" charset="-122"/>
                <a:cs typeface="Open Sans" pitchFamily="34" charset="-120"/>
              </a:rPr>
              <a:t>Albert Bandura argued that people learn by </a:t>
            </a:r>
            <a:r>
              <a:rPr lang="en-US" sz="900" b="1" dirty="0">
                <a:solidFill>
                  <a:srgbClr val="443728"/>
                </a:solidFill>
                <a:latin typeface="Open Sans" pitchFamily="34" charset="0"/>
                <a:ea typeface="Open Sans" pitchFamily="34" charset="-122"/>
                <a:cs typeface="Open Sans" pitchFamily="34" charset="-120"/>
              </a:rPr>
              <a:t>observing</a:t>
            </a:r>
            <a:r>
              <a:rPr lang="en-US" sz="900" dirty="0">
                <a:solidFill>
                  <a:srgbClr val="443728"/>
                </a:solidFill>
                <a:latin typeface="Open Sans" pitchFamily="34" charset="0"/>
                <a:ea typeface="Open Sans" pitchFamily="34" charset="-122"/>
                <a:cs typeface="Open Sans" pitchFamily="34" charset="-120"/>
              </a:rPr>
              <a:t> others, not just through direct experience. Four processes mediate this: </a:t>
            </a:r>
            <a:r>
              <a:rPr lang="en-US" sz="900" b="1" dirty="0">
                <a:solidFill>
                  <a:srgbClr val="443728"/>
                </a:solidFill>
                <a:latin typeface="Open Sans" pitchFamily="34" charset="0"/>
                <a:ea typeface="Open Sans" pitchFamily="34" charset="-122"/>
                <a:cs typeface="Open Sans" pitchFamily="34" charset="-120"/>
              </a:rPr>
              <a:t>Attention</a:t>
            </a:r>
            <a:r>
              <a:rPr lang="en-US" sz="900" dirty="0">
                <a:solidFill>
                  <a:srgbClr val="443728"/>
                </a:solidFill>
                <a:latin typeface="Open Sans" pitchFamily="34" charset="0"/>
                <a:ea typeface="Open Sans" pitchFamily="34" charset="-122"/>
                <a:cs typeface="Open Sans" pitchFamily="34" charset="-120"/>
              </a:rPr>
              <a:t> (noticing the behaviour), </a:t>
            </a:r>
            <a:r>
              <a:rPr lang="en-US" sz="900" b="1" dirty="0">
                <a:solidFill>
                  <a:srgbClr val="443728"/>
                </a:solidFill>
                <a:latin typeface="Open Sans" pitchFamily="34" charset="0"/>
                <a:ea typeface="Open Sans" pitchFamily="34" charset="-122"/>
                <a:cs typeface="Open Sans" pitchFamily="34" charset="-120"/>
              </a:rPr>
              <a:t>Retention</a:t>
            </a:r>
            <a:r>
              <a:rPr lang="en-US" sz="900" dirty="0">
                <a:solidFill>
                  <a:srgbClr val="443728"/>
                </a:solidFill>
                <a:latin typeface="Open Sans" pitchFamily="34" charset="0"/>
                <a:ea typeface="Open Sans" pitchFamily="34" charset="-122"/>
                <a:cs typeface="Open Sans" pitchFamily="34" charset="-120"/>
              </a:rPr>
              <a:t> (remembering it), </a:t>
            </a:r>
            <a:r>
              <a:rPr lang="en-US" sz="900" b="1" dirty="0">
                <a:solidFill>
                  <a:srgbClr val="443728"/>
                </a:solidFill>
                <a:latin typeface="Open Sans" pitchFamily="34" charset="0"/>
                <a:ea typeface="Open Sans" pitchFamily="34" charset="-122"/>
                <a:cs typeface="Open Sans" pitchFamily="34" charset="-120"/>
              </a:rPr>
              <a:t>Reproduction</a:t>
            </a:r>
            <a:r>
              <a:rPr lang="en-US" sz="900" dirty="0">
                <a:solidFill>
                  <a:srgbClr val="443728"/>
                </a:solidFill>
                <a:latin typeface="Open Sans" pitchFamily="34" charset="0"/>
                <a:ea typeface="Open Sans" pitchFamily="34" charset="-122"/>
                <a:cs typeface="Open Sans" pitchFamily="34" charset="-120"/>
              </a:rPr>
              <a:t> (being able to replicate it), and </a:t>
            </a:r>
            <a:r>
              <a:rPr lang="en-US" sz="900" b="1" dirty="0">
                <a:solidFill>
                  <a:srgbClr val="443728"/>
                </a:solidFill>
                <a:latin typeface="Open Sans" pitchFamily="34" charset="0"/>
                <a:ea typeface="Open Sans" pitchFamily="34" charset="-122"/>
                <a:cs typeface="Open Sans" pitchFamily="34" charset="-120"/>
              </a:rPr>
              <a:t>Motivation</a:t>
            </a:r>
            <a:r>
              <a:rPr lang="en-US" sz="900" dirty="0">
                <a:solidFill>
                  <a:srgbClr val="443728"/>
                </a:solidFill>
                <a:latin typeface="Open Sans" pitchFamily="34" charset="0"/>
                <a:ea typeface="Open Sans" pitchFamily="34" charset="-122"/>
                <a:cs typeface="Open Sans" pitchFamily="34" charset="-120"/>
              </a:rPr>
              <a:t> (wanting to do so). Mentorship programmes, role modelling by leaders, and peer learning all rely on this theory.</a:t>
            </a:r>
            <a:endParaRPr lang="en-US" sz="900" dirty="0"/>
          </a:p>
        </p:txBody>
      </p:sp>
      <p:sp>
        <p:nvSpPr>
          <p:cNvPr id="18" name="Text 12"/>
          <p:cNvSpPr/>
          <p:nvPr/>
        </p:nvSpPr>
        <p:spPr>
          <a:xfrm>
            <a:off x="2668905" y="5659160"/>
            <a:ext cx="2542342" cy="184071"/>
          </a:xfrm>
          <a:prstGeom prst="rect">
            <a:avLst/>
          </a:prstGeom>
          <a:noFill/>
          <a:ln/>
        </p:spPr>
        <p:txBody>
          <a:bodyPr wrap="none" lIns="0" tIns="0" rIns="0" bIns="0" rtlCol="0" anchor="t"/>
          <a:lstStyle/>
          <a:p>
            <a:pPr marL="0" indent="0" algn="l">
              <a:lnSpc>
                <a:spcPts val="1400"/>
              </a:lnSpc>
              <a:buNone/>
            </a:pPr>
            <a:r>
              <a:rPr lang="en-US" sz="1150" b="1" dirty="0">
                <a:solidFill>
                  <a:srgbClr val="443728"/>
                </a:solidFill>
                <a:latin typeface="Crimson Pro Bold" pitchFamily="34" charset="0"/>
                <a:ea typeface="Crimson Pro Bold" pitchFamily="34" charset="-122"/>
                <a:cs typeface="Crimson Pro Bold" pitchFamily="34" charset="-120"/>
              </a:rPr>
              <a:t>Cognitive Dissonance Theory (Festinger)</a:t>
            </a:r>
            <a:endParaRPr lang="en-US" sz="1150" dirty="0"/>
          </a:p>
        </p:txBody>
      </p:sp>
      <p:sp>
        <p:nvSpPr>
          <p:cNvPr id="19" name="Text 13"/>
          <p:cNvSpPr/>
          <p:nvPr/>
        </p:nvSpPr>
        <p:spPr>
          <a:xfrm>
            <a:off x="2668905" y="5913120"/>
            <a:ext cx="4502468" cy="751284"/>
          </a:xfrm>
          <a:prstGeom prst="rect">
            <a:avLst/>
          </a:prstGeom>
          <a:noFill/>
          <a:ln/>
        </p:spPr>
        <p:txBody>
          <a:bodyPr wrap="square" lIns="0" tIns="0" rIns="0" bIns="0" rtlCol="0" anchor="t"/>
          <a:lstStyle/>
          <a:p>
            <a:pPr marL="0" indent="0" algn="l">
              <a:lnSpc>
                <a:spcPts val="1150"/>
              </a:lnSpc>
              <a:buNone/>
            </a:pPr>
            <a:r>
              <a:rPr lang="en-US" sz="900" dirty="0">
                <a:solidFill>
                  <a:srgbClr val="443728"/>
                </a:solidFill>
                <a:latin typeface="Open Sans" pitchFamily="34" charset="0"/>
                <a:ea typeface="Open Sans" pitchFamily="34" charset="-122"/>
                <a:cs typeface="Open Sans" pitchFamily="34" charset="-120"/>
              </a:rPr>
              <a:t>Leon Festinger proposed that people experience psychological discomfort — </a:t>
            </a:r>
            <a:r>
              <a:rPr lang="en-US" sz="900" b="1" dirty="0">
                <a:solidFill>
                  <a:srgbClr val="443728"/>
                </a:solidFill>
                <a:latin typeface="Open Sans" pitchFamily="34" charset="0"/>
                <a:ea typeface="Open Sans" pitchFamily="34" charset="-122"/>
                <a:cs typeface="Open Sans" pitchFamily="34" charset="-120"/>
              </a:rPr>
              <a:t>dissonance</a:t>
            </a:r>
            <a:r>
              <a:rPr lang="en-US" sz="900" dirty="0">
                <a:solidFill>
                  <a:srgbClr val="443728"/>
                </a:solidFill>
                <a:latin typeface="Open Sans" pitchFamily="34" charset="0"/>
                <a:ea typeface="Open Sans" pitchFamily="34" charset="-122"/>
                <a:cs typeface="Open Sans" pitchFamily="34" charset="-120"/>
              </a:rPr>
              <a:t> — when their attitudes and behaviours conflict. To reduce this discomfort, they change their attitude, change their behaviour, or rationalise the inconsistency. In OB, this explains resistance to change, post-purchase regret, and employees' internal justifications for unethical acts.</a:t>
            </a:r>
            <a:endParaRPr lang="en-US" sz="900" dirty="0"/>
          </a:p>
        </p:txBody>
      </p:sp>
      <p:sp>
        <p:nvSpPr>
          <p:cNvPr id="20" name="Text 14"/>
          <p:cNvSpPr/>
          <p:nvPr/>
        </p:nvSpPr>
        <p:spPr>
          <a:xfrm>
            <a:off x="7466409" y="5659160"/>
            <a:ext cx="1472922" cy="184071"/>
          </a:xfrm>
          <a:prstGeom prst="rect">
            <a:avLst/>
          </a:prstGeom>
          <a:noFill/>
          <a:ln/>
        </p:spPr>
        <p:txBody>
          <a:bodyPr wrap="none" lIns="0" tIns="0" rIns="0" bIns="0" rtlCol="0" anchor="t"/>
          <a:lstStyle/>
          <a:p>
            <a:pPr marL="0" indent="0" algn="l">
              <a:lnSpc>
                <a:spcPts val="1400"/>
              </a:lnSpc>
              <a:buNone/>
            </a:pPr>
            <a:r>
              <a:rPr lang="en-US" sz="1150" b="1" dirty="0">
                <a:solidFill>
                  <a:srgbClr val="443728"/>
                </a:solidFill>
                <a:latin typeface="Crimson Pro Bold" pitchFamily="34" charset="0"/>
                <a:ea typeface="Crimson Pro Bold" pitchFamily="34" charset="-122"/>
                <a:cs typeface="Crimson Pro Bold" pitchFamily="34" charset="-120"/>
              </a:rPr>
              <a:t>Rokeach Value Survey</a:t>
            </a:r>
            <a:endParaRPr lang="en-US" sz="1150" dirty="0"/>
          </a:p>
        </p:txBody>
      </p:sp>
      <p:sp>
        <p:nvSpPr>
          <p:cNvPr id="21" name="Text 15"/>
          <p:cNvSpPr/>
          <p:nvPr/>
        </p:nvSpPr>
        <p:spPr>
          <a:xfrm>
            <a:off x="7466409" y="5913120"/>
            <a:ext cx="4502468" cy="751284"/>
          </a:xfrm>
          <a:prstGeom prst="rect">
            <a:avLst/>
          </a:prstGeom>
          <a:noFill/>
          <a:ln/>
        </p:spPr>
        <p:txBody>
          <a:bodyPr wrap="square" lIns="0" tIns="0" rIns="0" bIns="0" rtlCol="0" anchor="t"/>
          <a:lstStyle/>
          <a:p>
            <a:pPr marL="0" indent="0" algn="l">
              <a:lnSpc>
                <a:spcPts val="1150"/>
              </a:lnSpc>
              <a:buNone/>
            </a:pPr>
            <a:r>
              <a:rPr lang="en-US" sz="900" dirty="0">
                <a:solidFill>
                  <a:srgbClr val="443728"/>
                </a:solidFill>
                <a:latin typeface="Open Sans" pitchFamily="34" charset="0"/>
                <a:ea typeface="Open Sans" pitchFamily="34" charset="-122"/>
                <a:cs typeface="Open Sans" pitchFamily="34" charset="-120"/>
              </a:rPr>
              <a:t>Milton Rokeach distinguished between </a:t>
            </a:r>
            <a:r>
              <a:rPr lang="en-US" sz="900" b="1" dirty="0">
                <a:solidFill>
                  <a:srgbClr val="443728"/>
                </a:solidFill>
                <a:latin typeface="Open Sans" pitchFamily="34" charset="0"/>
                <a:ea typeface="Open Sans" pitchFamily="34" charset="-122"/>
                <a:cs typeface="Open Sans" pitchFamily="34" charset="-120"/>
              </a:rPr>
              <a:t>Terminal Values</a:t>
            </a:r>
            <a:r>
              <a:rPr lang="en-US" sz="900" dirty="0">
                <a:solidFill>
                  <a:srgbClr val="443728"/>
                </a:solidFill>
                <a:latin typeface="Open Sans" pitchFamily="34" charset="0"/>
                <a:ea typeface="Open Sans" pitchFamily="34" charset="-122"/>
                <a:cs typeface="Open Sans" pitchFamily="34" charset="-120"/>
              </a:rPr>
              <a:t> (desirable end-states: happiness, freedom, equality) and </a:t>
            </a:r>
            <a:r>
              <a:rPr lang="en-US" sz="900" b="1" dirty="0">
                <a:solidFill>
                  <a:srgbClr val="443728"/>
                </a:solidFill>
                <a:latin typeface="Open Sans" pitchFamily="34" charset="0"/>
                <a:ea typeface="Open Sans" pitchFamily="34" charset="-122"/>
                <a:cs typeface="Open Sans" pitchFamily="34" charset="-120"/>
              </a:rPr>
              <a:t>Instrumental Values</a:t>
            </a:r>
            <a:r>
              <a:rPr lang="en-US" sz="900" dirty="0">
                <a:solidFill>
                  <a:srgbClr val="443728"/>
                </a:solidFill>
                <a:latin typeface="Open Sans" pitchFamily="34" charset="0"/>
                <a:ea typeface="Open Sans" pitchFamily="34" charset="-122"/>
                <a:cs typeface="Open Sans" pitchFamily="34" charset="-120"/>
              </a:rPr>
              <a:t> (desirable modes of behaviour: honesty, ambition, courage). Understanding employee values helps organisations align culture, reward systems, and leadership approaches with what people truly care about at the deepest level.</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3402449" y="272891"/>
            <a:ext cx="961549" cy="154781"/>
          </a:xfrm>
          <a:prstGeom prst="roundRect">
            <a:avLst>
              <a:gd name="adj" fmla="val 21542"/>
            </a:avLst>
          </a:prstGeom>
          <a:solidFill>
            <a:srgbClr val="EBE2E0"/>
          </a:solidFill>
          <a:ln/>
        </p:spPr>
        <p:txBody>
          <a:bodyPr/>
          <a:lstStyle/>
          <a:p>
            <a:endParaRPr lang="en-AU"/>
          </a:p>
        </p:txBody>
      </p:sp>
      <p:sp>
        <p:nvSpPr>
          <p:cNvPr id="3" name="Text 1"/>
          <p:cNvSpPr/>
          <p:nvPr/>
        </p:nvSpPr>
        <p:spPr>
          <a:xfrm>
            <a:off x="3461980" y="302657"/>
            <a:ext cx="842486" cy="95250"/>
          </a:xfrm>
          <a:prstGeom prst="rect">
            <a:avLst/>
          </a:prstGeom>
          <a:noFill/>
          <a:ln/>
        </p:spPr>
        <p:txBody>
          <a:bodyPr wrap="none" lIns="0" tIns="0" rIns="0" bIns="0" rtlCol="0" anchor="t"/>
          <a:lstStyle/>
          <a:p>
            <a:pPr marL="0" indent="0" algn="l">
              <a:lnSpc>
                <a:spcPts val="750"/>
              </a:lnSpc>
              <a:buNone/>
            </a:pPr>
            <a:r>
              <a:rPr lang="en-US" sz="600" dirty="0">
                <a:solidFill>
                  <a:srgbClr val="443728"/>
                </a:solidFill>
                <a:latin typeface="Open Sans" pitchFamily="34" charset="0"/>
                <a:ea typeface="Open Sans" pitchFamily="34" charset="-122"/>
                <a:cs typeface="Open Sans" pitchFamily="34" charset="-120"/>
              </a:rPr>
              <a:t>LEVEL 1 — INDIVIDUAL</a:t>
            </a:r>
            <a:endParaRPr lang="en-US" sz="600" dirty="0"/>
          </a:p>
        </p:txBody>
      </p:sp>
      <p:sp>
        <p:nvSpPr>
          <p:cNvPr id="4" name="Text 2"/>
          <p:cNvSpPr/>
          <p:nvPr/>
        </p:nvSpPr>
        <p:spPr>
          <a:xfrm>
            <a:off x="3402449" y="447437"/>
            <a:ext cx="3671292"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Ethics in Organisational Behaviour</a:t>
            </a:r>
            <a:endParaRPr lang="en-US" sz="1950" dirty="0"/>
          </a:p>
        </p:txBody>
      </p:sp>
      <p:sp>
        <p:nvSpPr>
          <p:cNvPr id="5" name="Text 3"/>
          <p:cNvSpPr/>
          <p:nvPr/>
        </p:nvSpPr>
        <p:spPr>
          <a:xfrm>
            <a:off x="3402449" y="832009"/>
            <a:ext cx="7825502" cy="237887"/>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Ethics in OB examines the moral principles and values that guide individual and organisational decision-making. Understanding ethical frameworks helps us recognise why people do the right — or wrong — thing at work, and how organisations can build cultures where integrity is the default, not the exception.</a:t>
            </a:r>
            <a:endParaRPr lang="en-US" sz="750" dirty="0"/>
          </a:p>
        </p:txBody>
      </p:sp>
      <p:sp>
        <p:nvSpPr>
          <p:cNvPr id="6" name="Shape 4"/>
          <p:cNvSpPr/>
          <p:nvPr/>
        </p:nvSpPr>
        <p:spPr>
          <a:xfrm>
            <a:off x="3402449" y="1125617"/>
            <a:ext cx="7825502" cy="882134"/>
          </a:xfrm>
          <a:prstGeom prst="roundRect">
            <a:avLst>
              <a:gd name="adj" fmla="val 4725"/>
            </a:avLst>
          </a:prstGeom>
          <a:solidFill>
            <a:srgbClr val="E1D4D0"/>
          </a:solidFill>
          <a:ln/>
        </p:spPr>
        <p:txBody>
          <a:bodyPr/>
          <a:lstStyle/>
          <a:p>
            <a:endParaRPr lang="en-AU"/>
          </a:p>
        </p:txBody>
      </p:sp>
      <p:pic>
        <p:nvPicPr>
          <p:cNvPr id="7" name="Image 0" descr="preencoded.png"/>
          <p:cNvPicPr>
            <a:picLocks noChangeAspect="1"/>
          </p:cNvPicPr>
          <p:nvPr/>
        </p:nvPicPr>
        <p:blipFill>
          <a:blip r:embed="rId3"/>
          <a:stretch>
            <a:fillRect/>
          </a:stretch>
        </p:blipFill>
        <p:spPr>
          <a:xfrm>
            <a:off x="3501628" y="1254204"/>
            <a:ext cx="123944" cy="99179"/>
          </a:xfrm>
          <a:prstGeom prst="rect">
            <a:avLst/>
          </a:prstGeom>
        </p:spPr>
      </p:pic>
      <p:sp>
        <p:nvSpPr>
          <p:cNvPr id="8" name="Text 5"/>
          <p:cNvSpPr/>
          <p:nvPr/>
        </p:nvSpPr>
        <p:spPr>
          <a:xfrm>
            <a:off x="3724751" y="1199912"/>
            <a:ext cx="7404021" cy="713661"/>
          </a:xfrm>
          <a:prstGeom prst="rect">
            <a:avLst/>
          </a:prstGeom>
          <a:noFill/>
          <a:ln/>
        </p:spPr>
        <p:txBody>
          <a:bodyPr wrap="square" lIns="0" tIns="0" rIns="0" bIns="0" rtlCol="0" anchor="t"/>
          <a:lstStyle/>
          <a:p>
            <a:pPr marL="0" indent="0" algn="l">
              <a:lnSpc>
                <a:spcPts val="900"/>
              </a:lnSpc>
              <a:buNone/>
            </a:pPr>
            <a:r>
              <a:rPr lang="en-US" sz="750" dirty="0">
                <a:solidFill>
                  <a:srgbClr val="000000"/>
                </a:solidFill>
                <a:latin typeface="Open Sans" pitchFamily="34" charset="0"/>
                <a:ea typeface="Open Sans" pitchFamily="34" charset="-122"/>
                <a:cs typeface="Open Sans" pitchFamily="34" charset="-120"/>
              </a:rPr>
              <a:t>📹 </a:t>
            </a:r>
            <a:r>
              <a:rPr lang="en-US" sz="750" b="1" dirty="0">
                <a:solidFill>
                  <a:srgbClr val="000000"/>
                </a:solidFill>
                <a:latin typeface="Open Sans" pitchFamily="34" charset="0"/>
                <a:ea typeface="Open Sans" pitchFamily="34" charset="-122"/>
                <a:cs typeface="Open Sans" pitchFamily="34" charset="-120"/>
              </a:rPr>
              <a:t>Video Placeholder</a:t>
            </a:r>
            <a:r>
              <a:rPr lang="en-US" sz="750" dirty="0">
                <a:solidFill>
                  <a:srgbClr val="000000"/>
                </a:solidFill>
                <a:latin typeface="Open Sans" pitchFamily="34" charset="0"/>
                <a:ea typeface="Open Sans" pitchFamily="34" charset="-122"/>
                <a:cs typeface="Open Sans" pitchFamily="34" charset="-120"/>
              </a:rPr>
              <a:t> — "Have you ever stayed quiet when you saw something unfair happen to a friend — because everyone else stayed quiet too? Have you ever done something you knew was wrong and told yourself 'it's not a big deal' or 'everyone does it'? Have you ever felt genuinely torn between what was right and what was easy? Ethics isn't something that only happens in boardrooms and corporate scandals. It happens in your group chat, your family dinner, your school corridor, every single day. This video uses those real moral moments from your personal life to explain Kohlberg's stages, Kant's Categorical Imperative, and Bandura's moral disengagement — so you understand not just what ethical theory says, but why good people — people just like you — sometimes fail to act on it."</a:t>
            </a:r>
            <a:endParaRPr lang="en-US" sz="750" dirty="0"/>
          </a:p>
        </p:txBody>
      </p:sp>
      <p:pic>
        <p:nvPicPr>
          <p:cNvPr id="9" name="Image 1" descr="preencoded.png"/>
          <p:cNvPicPr>
            <a:picLocks noChangeAspect="1"/>
          </p:cNvPicPr>
          <p:nvPr/>
        </p:nvPicPr>
        <p:blipFill>
          <a:blip r:embed="rId4"/>
          <a:stretch>
            <a:fillRect/>
          </a:stretch>
        </p:blipFill>
        <p:spPr>
          <a:xfrm>
            <a:off x="3402449" y="2063472"/>
            <a:ext cx="1909882" cy="1909882"/>
          </a:xfrm>
          <a:prstGeom prst="rect">
            <a:avLst/>
          </a:prstGeom>
        </p:spPr>
      </p:pic>
      <p:sp>
        <p:nvSpPr>
          <p:cNvPr id="10" name="Text 6"/>
          <p:cNvSpPr/>
          <p:nvPr/>
        </p:nvSpPr>
        <p:spPr>
          <a:xfrm>
            <a:off x="3402449" y="4022884"/>
            <a:ext cx="1909882" cy="310039"/>
          </a:xfrm>
          <a:prstGeom prst="rect">
            <a:avLst/>
          </a:prstGeom>
          <a:noFill/>
          <a:ln/>
        </p:spPr>
        <p:txBody>
          <a:bodyPr wrap="squar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Kohlberg's Stages of Moral Development</a:t>
            </a:r>
            <a:endParaRPr lang="en-US" sz="950" dirty="0"/>
          </a:p>
        </p:txBody>
      </p:sp>
      <p:sp>
        <p:nvSpPr>
          <p:cNvPr id="11" name="Text 7"/>
          <p:cNvSpPr/>
          <p:nvPr/>
        </p:nvSpPr>
        <p:spPr>
          <a:xfrm>
            <a:off x="3402449" y="4362688"/>
            <a:ext cx="1909882" cy="2022038"/>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Lawrence Kohlberg proposed that moral reasoning develops through three levels and six stages. </a:t>
            </a:r>
            <a:r>
              <a:rPr lang="en-US" sz="750" b="1" dirty="0">
                <a:solidFill>
                  <a:srgbClr val="443728"/>
                </a:solidFill>
                <a:latin typeface="Open Sans" pitchFamily="34" charset="0"/>
                <a:ea typeface="Open Sans" pitchFamily="34" charset="-122"/>
                <a:cs typeface="Open Sans" pitchFamily="34" charset="-120"/>
              </a:rPr>
              <a:t>Pre-conventional</a:t>
            </a:r>
            <a:r>
              <a:rPr lang="en-US" sz="750" dirty="0">
                <a:solidFill>
                  <a:srgbClr val="443728"/>
                </a:solidFill>
                <a:latin typeface="Open Sans" pitchFamily="34" charset="0"/>
                <a:ea typeface="Open Sans" pitchFamily="34" charset="-122"/>
                <a:cs typeface="Open Sans" pitchFamily="34" charset="-120"/>
              </a:rPr>
              <a:t> (Stages 1–2): morality is driven by self-interest — avoiding punishment and seeking reward. </a:t>
            </a:r>
            <a:r>
              <a:rPr lang="en-US" sz="750" b="1" dirty="0">
                <a:solidFill>
                  <a:srgbClr val="443728"/>
                </a:solidFill>
                <a:latin typeface="Open Sans" pitchFamily="34" charset="0"/>
                <a:ea typeface="Open Sans" pitchFamily="34" charset="-122"/>
                <a:cs typeface="Open Sans" pitchFamily="34" charset="-120"/>
              </a:rPr>
              <a:t>Conventional</a:t>
            </a:r>
            <a:r>
              <a:rPr lang="en-US" sz="750" dirty="0">
                <a:solidFill>
                  <a:srgbClr val="443728"/>
                </a:solidFill>
                <a:latin typeface="Open Sans" pitchFamily="34" charset="0"/>
                <a:ea typeface="Open Sans" pitchFamily="34" charset="-122"/>
                <a:cs typeface="Open Sans" pitchFamily="34" charset="-120"/>
              </a:rPr>
              <a:t> (Stages 3–4): morality is defined by social norms, rules, and the expectations of others. </a:t>
            </a:r>
            <a:r>
              <a:rPr lang="en-US" sz="750" b="1" dirty="0">
                <a:solidFill>
                  <a:srgbClr val="443728"/>
                </a:solidFill>
                <a:latin typeface="Open Sans" pitchFamily="34" charset="0"/>
                <a:ea typeface="Open Sans" pitchFamily="34" charset="-122"/>
                <a:cs typeface="Open Sans" pitchFamily="34" charset="-120"/>
              </a:rPr>
              <a:t>Post-conventional</a:t>
            </a:r>
            <a:r>
              <a:rPr lang="en-US" sz="750" dirty="0">
                <a:solidFill>
                  <a:srgbClr val="443728"/>
                </a:solidFill>
                <a:latin typeface="Open Sans" pitchFamily="34" charset="0"/>
                <a:ea typeface="Open Sans" pitchFamily="34" charset="-122"/>
                <a:cs typeface="Open Sans" pitchFamily="34" charset="-120"/>
              </a:rPr>
              <a:t> (Stages 5–6): morality is guided by universal principles and personal conscience, even when they conflict with law or authority. In OB, most adults operate at the conventional level — which explains why organisational culture and peer norms are such powerful drivers of ethical (and unethical) behaviour.</a:t>
            </a:r>
            <a:endParaRPr lang="en-US" sz="750" dirty="0"/>
          </a:p>
        </p:txBody>
      </p:sp>
      <p:pic>
        <p:nvPicPr>
          <p:cNvPr id="12" name="Image 2" descr="preencoded.png"/>
          <p:cNvPicPr>
            <a:picLocks noChangeAspect="1"/>
          </p:cNvPicPr>
          <p:nvPr/>
        </p:nvPicPr>
        <p:blipFill>
          <a:blip r:embed="rId5"/>
          <a:stretch>
            <a:fillRect/>
          </a:stretch>
        </p:blipFill>
        <p:spPr>
          <a:xfrm>
            <a:off x="5374243" y="2063472"/>
            <a:ext cx="1910001" cy="1910001"/>
          </a:xfrm>
          <a:prstGeom prst="rect">
            <a:avLst/>
          </a:prstGeom>
        </p:spPr>
      </p:pic>
      <p:sp>
        <p:nvSpPr>
          <p:cNvPr id="13" name="Text 8"/>
          <p:cNvSpPr/>
          <p:nvPr/>
        </p:nvSpPr>
        <p:spPr>
          <a:xfrm>
            <a:off x="5374243" y="4023003"/>
            <a:ext cx="1707594"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Utilitarianism (Bentham &amp; Mill)</a:t>
            </a:r>
            <a:endParaRPr lang="en-US" sz="950" dirty="0"/>
          </a:p>
        </p:txBody>
      </p:sp>
      <p:sp>
        <p:nvSpPr>
          <p:cNvPr id="14" name="Text 9"/>
          <p:cNvSpPr/>
          <p:nvPr/>
        </p:nvSpPr>
        <p:spPr>
          <a:xfrm>
            <a:off x="5374243" y="4207788"/>
            <a:ext cx="1910001" cy="1546265"/>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Utilitarian ethics holds that the morally right action is the one that produces the </a:t>
            </a:r>
            <a:r>
              <a:rPr lang="en-US" sz="750" b="1" dirty="0">
                <a:solidFill>
                  <a:srgbClr val="443728"/>
                </a:solidFill>
                <a:latin typeface="Open Sans" pitchFamily="34" charset="0"/>
                <a:ea typeface="Open Sans" pitchFamily="34" charset="-122"/>
                <a:cs typeface="Open Sans" pitchFamily="34" charset="-120"/>
              </a:rPr>
              <a:t>greatest good for the greatest number</a:t>
            </a:r>
            <a:r>
              <a:rPr lang="en-US" sz="750" dirty="0">
                <a:solidFill>
                  <a:srgbClr val="443728"/>
                </a:solidFill>
                <a:latin typeface="Open Sans" pitchFamily="34" charset="0"/>
                <a:ea typeface="Open Sans" pitchFamily="34" charset="-122"/>
                <a:cs typeface="Open Sans" pitchFamily="34" charset="-120"/>
              </a:rPr>
              <a:t>. In organisational decisions — redundancies, resource allocation, policy design — managers often implicitly apply utilitarian reasoning. Its strength is its focus on outcomes and collective welfare. Its weakness: it can justify harm to minorities if the aggregate benefit is large enough. Managers must be alert to whose interests are being counted — and whose are being ignored.</a:t>
            </a:r>
            <a:endParaRPr lang="en-US" sz="750" dirty="0"/>
          </a:p>
        </p:txBody>
      </p:sp>
      <p:pic>
        <p:nvPicPr>
          <p:cNvPr id="15" name="Image 3" descr="preencoded.png"/>
          <p:cNvPicPr>
            <a:picLocks noChangeAspect="1"/>
          </p:cNvPicPr>
          <p:nvPr/>
        </p:nvPicPr>
        <p:blipFill>
          <a:blip r:embed="rId6"/>
          <a:stretch>
            <a:fillRect/>
          </a:stretch>
        </p:blipFill>
        <p:spPr>
          <a:xfrm>
            <a:off x="7346156" y="2063472"/>
            <a:ext cx="1909882" cy="1909882"/>
          </a:xfrm>
          <a:prstGeom prst="rect">
            <a:avLst/>
          </a:prstGeom>
        </p:spPr>
      </p:pic>
      <p:sp>
        <p:nvSpPr>
          <p:cNvPr id="16" name="Text 10"/>
          <p:cNvSpPr/>
          <p:nvPr/>
        </p:nvSpPr>
        <p:spPr>
          <a:xfrm>
            <a:off x="7346156" y="4022884"/>
            <a:ext cx="1461016"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Deontological Ethics (Kant)</a:t>
            </a:r>
            <a:endParaRPr lang="en-US" sz="950" dirty="0"/>
          </a:p>
        </p:txBody>
      </p:sp>
      <p:sp>
        <p:nvSpPr>
          <p:cNvPr id="17" name="Text 11"/>
          <p:cNvSpPr/>
          <p:nvPr/>
        </p:nvSpPr>
        <p:spPr>
          <a:xfrm>
            <a:off x="7346156" y="4207669"/>
            <a:ext cx="1909882" cy="1903095"/>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Immanuel Kant's deontological ethics holds that certain actions are intrinsically right or wrong, regardless of their consequences. His </a:t>
            </a:r>
            <a:r>
              <a:rPr lang="en-US" sz="750" b="1" dirty="0">
                <a:solidFill>
                  <a:srgbClr val="443728"/>
                </a:solidFill>
                <a:latin typeface="Open Sans" pitchFamily="34" charset="0"/>
                <a:ea typeface="Open Sans" pitchFamily="34" charset="-122"/>
                <a:cs typeface="Open Sans" pitchFamily="34" charset="-120"/>
              </a:rPr>
              <a:t>Categorical Imperative</a:t>
            </a:r>
            <a:r>
              <a:rPr lang="en-US" sz="750" dirty="0">
                <a:solidFill>
                  <a:srgbClr val="443728"/>
                </a:solidFill>
                <a:latin typeface="Open Sans" pitchFamily="34" charset="0"/>
                <a:ea typeface="Open Sans" pitchFamily="34" charset="-122"/>
                <a:cs typeface="Open Sans" pitchFamily="34" charset="-120"/>
              </a:rPr>
              <a:t> offers two key tests: (1) </a:t>
            </a:r>
            <a:r>
              <a:rPr lang="en-US" sz="750" i="1" dirty="0">
                <a:solidFill>
                  <a:srgbClr val="443728"/>
                </a:solidFill>
                <a:latin typeface="Open Sans" pitchFamily="34" charset="0"/>
                <a:ea typeface="Open Sans" pitchFamily="34" charset="-122"/>
                <a:cs typeface="Open Sans" pitchFamily="34" charset="-120"/>
              </a:rPr>
              <a:t>Act only according to principles you could will to become universal laws</a:t>
            </a:r>
            <a:r>
              <a:rPr lang="en-US" sz="750" dirty="0">
                <a:solidFill>
                  <a:srgbClr val="443728"/>
                </a:solidFill>
                <a:latin typeface="Open Sans" pitchFamily="34" charset="0"/>
                <a:ea typeface="Open Sans" pitchFamily="34" charset="-122"/>
                <a:cs typeface="Open Sans" pitchFamily="34" charset="-120"/>
              </a:rPr>
              <a:t> — would it be acceptable if everyone did this? (2) </a:t>
            </a:r>
            <a:r>
              <a:rPr lang="en-US" sz="750" i="1" dirty="0">
                <a:solidFill>
                  <a:srgbClr val="443728"/>
                </a:solidFill>
                <a:latin typeface="Open Sans" pitchFamily="34" charset="0"/>
                <a:ea typeface="Open Sans" pitchFamily="34" charset="-122"/>
                <a:cs typeface="Open Sans" pitchFamily="34" charset="-120"/>
              </a:rPr>
              <a:t>Treat people as ends in themselves, never merely as means</a:t>
            </a:r>
            <a:r>
              <a:rPr lang="en-US" sz="750" dirty="0">
                <a:solidFill>
                  <a:srgbClr val="443728"/>
                </a:solidFill>
                <a:latin typeface="Open Sans" pitchFamily="34" charset="0"/>
                <a:ea typeface="Open Sans" pitchFamily="34" charset="-122"/>
                <a:cs typeface="Open Sans" pitchFamily="34" charset="-120"/>
              </a:rPr>
              <a:t> — are you using people instrumentally? In OB, deontological thinking underpins codes of conduct, whistleblowing protections, and the principle that employees have rights that cannot be traded away for organisational gain.</a:t>
            </a:r>
            <a:endParaRPr lang="en-US" sz="750" dirty="0"/>
          </a:p>
        </p:txBody>
      </p:sp>
      <p:pic>
        <p:nvPicPr>
          <p:cNvPr id="18" name="Image 4" descr="preencoded.png"/>
          <p:cNvPicPr>
            <a:picLocks noChangeAspect="1"/>
          </p:cNvPicPr>
          <p:nvPr/>
        </p:nvPicPr>
        <p:blipFill>
          <a:blip r:embed="rId7"/>
          <a:stretch>
            <a:fillRect/>
          </a:stretch>
        </p:blipFill>
        <p:spPr>
          <a:xfrm>
            <a:off x="9317950" y="2063472"/>
            <a:ext cx="1910001" cy="1910001"/>
          </a:xfrm>
          <a:prstGeom prst="rect">
            <a:avLst/>
          </a:prstGeom>
        </p:spPr>
      </p:pic>
      <p:sp>
        <p:nvSpPr>
          <p:cNvPr id="19" name="Text 12"/>
          <p:cNvSpPr/>
          <p:nvPr/>
        </p:nvSpPr>
        <p:spPr>
          <a:xfrm>
            <a:off x="9317950" y="4023003"/>
            <a:ext cx="1618655"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Stakeholder Theory (Freeman)</a:t>
            </a:r>
            <a:endParaRPr lang="en-US" sz="950" dirty="0"/>
          </a:p>
        </p:txBody>
      </p:sp>
      <p:sp>
        <p:nvSpPr>
          <p:cNvPr id="20" name="Text 13"/>
          <p:cNvSpPr/>
          <p:nvPr/>
        </p:nvSpPr>
        <p:spPr>
          <a:xfrm>
            <a:off x="9317950" y="4207788"/>
            <a:ext cx="1910001" cy="1903095"/>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R. Edward Freeman's Stakeholder Theory argues that organisations have ethical obligations not just to shareholders, but to </a:t>
            </a:r>
            <a:r>
              <a:rPr lang="en-US" sz="750" b="1" dirty="0">
                <a:solidFill>
                  <a:srgbClr val="443728"/>
                </a:solidFill>
                <a:latin typeface="Open Sans" pitchFamily="34" charset="0"/>
                <a:ea typeface="Open Sans" pitchFamily="34" charset="-122"/>
                <a:cs typeface="Open Sans" pitchFamily="34" charset="-120"/>
              </a:rPr>
              <a:t>all parties affected by their decisions</a:t>
            </a:r>
            <a:r>
              <a:rPr lang="en-US" sz="750" dirty="0">
                <a:solidFill>
                  <a:srgbClr val="443728"/>
                </a:solidFill>
                <a:latin typeface="Open Sans" pitchFamily="34" charset="0"/>
                <a:ea typeface="Open Sans" pitchFamily="34" charset="-122"/>
                <a:cs typeface="Open Sans" pitchFamily="34" charset="-120"/>
              </a:rPr>
              <a:t> — employees, customers, suppliers, communities, and the environment. Ethical management requires identifying stakeholders, understanding their interests, and balancing competing claims fairly. This theory directly challenges the shareholder-primacy model and has become the foundation of Corporate Social Responsibility (CSR), ESG frameworks, and modern business ethics curricula.</a:t>
            </a:r>
            <a:endParaRPr lang="en-US" sz="750" dirty="0"/>
          </a:p>
        </p:txBody>
      </p:sp>
      <p:sp>
        <p:nvSpPr>
          <p:cNvPr id="21" name="Text 14"/>
          <p:cNvSpPr/>
          <p:nvPr/>
        </p:nvSpPr>
        <p:spPr>
          <a:xfrm>
            <a:off x="3402449" y="6489978"/>
            <a:ext cx="1989415"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Ethical Decision-Making Frameworks</a:t>
            </a:r>
            <a:endParaRPr lang="en-US" sz="950" dirty="0"/>
          </a:p>
        </p:txBody>
      </p:sp>
      <p:sp>
        <p:nvSpPr>
          <p:cNvPr id="22" name="Shape 15"/>
          <p:cNvSpPr/>
          <p:nvPr/>
        </p:nvSpPr>
        <p:spPr>
          <a:xfrm>
            <a:off x="3402449" y="6700718"/>
            <a:ext cx="3791783" cy="1046202"/>
          </a:xfrm>
          <a:prstGeom prst="roundRect">
            <a:avLst>
              <a:gd name="adj" fmla="val 3984"/>
            </a:avLst>
          </a:prstGeom>
          <a:solidFill>
            <a:srgbClr val="EBE2E0"/>
          </a:solidFill>
          <a:ln w="7620">
            <a:solidFill>
              <a:srgbClr val="D1C8C6"/>
            </a:solidFill>
            <a:prstDash val="solid"/>
          </a:ln>
        </p:spPr>
        <p:txBody>
          <a:bodyPr/>
          <a:lstStyle/>
          <a:p>
            <a:endParaRPr lang="en-AU"/>
          </a:p>
        </p:txBody>
      </p:sp>
      <p:sp>
        <p:nvSpPr>
          <p:cNvPr id="23" name="Text 16"/>
          <p:cNvSpPr/>
          <p:nvPr/>
        </p:nvSpPr>
        <p:spPr>
          <a:xfrm>
            <a:off x="3509248" y="6807517"/>
            <a:ext cx="3578185" cy="832604"/>
          </a:xfrm>
          <a:prstGeom prst="rect">
            <a:avLst/>
          </a:prstGeom>
          <a:noFill/>
          <a:ln/>
        </p:spPr>
        <p:txBody>
          <a:bodyPr wrap="square" lIns="0" tIns="0" rIns="0" bIns="0" rtlCol="0" anchor="t"/>
          <a:lstStyle/>
          <a:p>
            <a:pPr marL="0" indent="0" algn="l">
              <a:lnSpc>
                <a:spcPts val="900"/>
              </a:lnSpc>
              <a:buNone/>
            </a:pPr>
            <a:r>
              <a:rPr lang="en-US" sz="750" b="1" dirty="0">
                <a:solidFill>
                  <a:srgbClr val="443728"/>
                </a:solidFill>
                <a:latin typeface="Open Sans" pitchFamily="34" charset="0"/>
                <a:ea typeface="Open Sans" pitchFamily="34" charset="-122"/>
                <a:cs typeface="Open Sans" pitchFamily="34" charset="-120"/>
              </a:rPr>
              <a:t>Rest's Four-Component Model</a:t>
            </a:r>
            <a:r>
              <a:rPr lang="en-US" sz="750" dirty="0">
                <a:solidFill>
                  <a:srgbClr val="443728"/>
                </a:solidFill>
                <a:latin typeface="Open Sans" pitchFamily="34" charset="0"/>
                <a:ea typeface="Open Sans" pitchFamily="34" charset="-122"/>
                <a:cs typeface="Open Sans" pitchFamily="34" charset="-120"/>
              </a:rPr>
              <a:t>: James Rest proposed that ethical action requires four components: (1) </a:t>
            </a:r>
            <a:r>
              <a:rPr lang="en-US" sz="750" b="1" dirty="0">
                <a:solidFill>
                  <a:srgbClr val="443728"/>
                </a:solidFill>
                <a:latin typeface="Open Sans" pitchFamily="34" charset="0"/>
                <a:ea typeface="Open Sans" pitchFamily="34" charset="-122"/>
                <a:cs typeface="Open Sans" pitchFamily="34" charset="-120"/>
              </a:rPr>
              <a:t>Moral Sensitivity</a:t>
            </a:r>
            <a:r>
              <a:rPr lang="en-US" sz="750" dirty="0">
                <a:solidFill>
                  <a:srgbClr val="443728"/>
                </a:solidFill>
                <a:latin typeface="Open Sans" pitchFamily="34" charset="0"/>
                <a:ea typeface="Open Sans" pitchFamily="34" charset="-122"/>
                <a:cs typeface="Open Sans" pitchFamily="34" charset="-120"/>
              </a:rPr>
              <a:t> — recognising that a situation has ethical dimensions; (2) </a:t>
            </a:r>
            <a:r>
              <a:rPr lang="en-US" sz="750" b="1" dirty="0">
                <a:solidFill>
                  <a:srgbClr val="443728"/>
                </a:solidFill>
                <a:latin typeface="Open Sans" pitchFamily="34" charset="0"/>
                <a:ea typeface="Open Sans" pitchFamily="34" charset="-122"/>
                <a:cs typeface="Open Sans" pitchFamily="34" charset="-120"/>
              </a:rPr>
              <a:t>Moral Judgement</a:t>
            </a:r>
            <a:r>
              <a:rPr lang="en-US" sz="750" dirty="0">
                <a:solidFill>
                  <a:srgbClr val="443728"/>
                </a:solidFill>
                <a:latin typeface="Open Sans" pitchFamily="34" charset="0"/>
                <a:ea typeface="Open Sans" pitchFamily="34" charset="-122"/>
                <a:cs typeface="Open Sans" pitchFamily="34" charset="-120"/>
              </a:rPr>
              <a:t> — determining what is right; (3) </a:t>
            </a:r>
            <a:r>
              <a:rPr lang="en-US" sz="750" b="1" dirty="0">
                <a:solidFill>
                  <a:srgbClr val="443728"/>
                </a:solidFill>
                <a:latin typeface="Open Sans" pitchFamily="34" charset="0"/>
                <a:ea typeface="Open Sans" pitchFamily="34" charset="-122"/>
                <a:cs typeface="Open Sans" pitchFamily="34" charset="-120"/>
              </a:rPr>
              <a:t>Moral Motivation</a:t>
            </a:r>
            <a:r>
              <a:rPr lang="en-US" sz="750" dirty="0">
                <a:solidFill>
                  <a:srgbClr val="443728"/>
                </a:solidFill>
                <a:latin typeface="Open Sans" pitchFamily="34" charset="0"/>
                <a:ea typeface="Open Sans" pitchFamily="34" charset="-122"/>
                <a:cs typeface="Open Sans" pitchFamily="34" charset="-120"/>
              </a:rPr>
              <a:t> — prioritising ethical values over personal interests; (4) </a:t>
            </a:r>
            <a:r>
              <a:rPr lang="en-US" sz="750" b="1" dirty="0">
                <a:solidFill>
                  <a:srgbClr val="443728"/>
                </a:solidFill>
                <a:latin typeface="Open Sans" pitchFamily="34" charset="0"/>
                <a:ea typeface="Open Sans" pitchFamily="34" charset="-122"/>
                <a:cs typeface="Open Sans" pitchFamily="34" charset="-120"/>
              </a:rPr>
              <a:t>Moral Character</a:t>
            </a:r>
            <a:r>
              <a:rPr lang="en-US" sz="750" dirty="0">
                <a:solidFill>
                  <a:srgbClr val="443728"/>
                </a:solidFill>
                <a:latin typeface="Open Sans" pitchFamily="34" charset="0"/>
                <a:ea typeface="Open Sans" pitchFamily="34" charset="-122"/>
                <a:cs typeface="Open Sans" pitchFamily="34" charset="-120"/>
              </a:rPr>
              <a:t> — having the willpower to follow through. Failure at any stage explains why people who "know better" still act unethically.</a:t>
            </a:r>
            <a:endParaRPr lang="en-US" sz="750" dirty="0"/>
          </a:p>
        </p:txBody>
      </p:sp>
      <p:sp>
        <p:nvSpPr>
          <p:cNvPr id="24" name="Shape 17"/>
          <p:cNvSpPr/>
          <p:nvPr/>
        </p:nvSpPr>
        <p:spPr>
          <a:xfrm>
            <a:off x="3402449" y="7796451"/>
            <a:ext cx="3791783" cy="1046202"/>
          </a:xfrm>
          <a:prstGeom prst="roundRect">
            <a:avLst>
              <a:gd name="adj" fmla="val 3984"/>
            </a:avLst>
          </a:prstGeom>
          <a:solidFill>
            <a:srgbClr val="EBE2E0"/>
          </a:solidFill>
          <a:ln w="7620">
            <a:solidFill>
              <a:srgbClr val="D1C8C6"/>
            </a:solidFill>
            <a:prstDash val="solid"/>
          </a:ln>
        </p:spPr>
        <p:txBody>
          <a:bodyPr/>
          <a:lstStyle/>
          <a:p>
            <a:endParaRPr lang="en-AU"/>
          </a:p>
        </p:txBody>
      </p:sp>
      <p:sp>
        <p:nvSpPr>
          <p:cNvPr id="25" name="Text 18"/>
          <p:cNvSpPr/>
          <p:nvPr/>
        </p:nvSpPr>
        <p:spPr>
          <a:xfrm>
            <a:off x="3509248" y="7903250"/>
            <a:ext cx="3578185" cy="832604"/>
          </a:xfrm>
          <a:prstGeom prst="rect">
            <a:avLst/>
          </a:prstGeom>
          <a:noFill/>
          <a:ln/>
        </p:spPr>
        <p:txBody>
          <a:bodyPr wrap="square" lIns="0" tIns="0" rIns="0" bIns="0" rtlCol="0" anchor="t"/>
          <a:lstStyle/>
          <a:p>
            <a:pPr marL="0" indent="0" algn="l">
              <a:lnSpc>
                <a:spcPts val="900"/>
              </a:lnSpc>
              <a:buNone/>
            </a:pPr>
            <a:r>
              <a:rPr lang="en-US" sz="750" b="1" dirty="0">
                <a:solidFill>
                  <a:srgbClr val="443728"/>
                </a:solidFill>
                <a:latin typeface="Open Sans" pitchFamily="34" charset="0"/>
                <a:ea typeface="Open Sans" pitchFamily="34" charset="-122"/>
                <a:cs typeface="Open Sans" pitchFamily="34" charset="-120"/>
              </a:rPr>
              <a:t>Ethical Climate Theory (Victor &amp; Cullen)</a:t>
            </a:r>
            <a:r>
              <a:rPr lang="en-US" sz="750" dirty="0">
                <a:solidFill>
                  <a:srgbClr val="443728"/>
                </a:solidFill>
                <a:latin typeface="Open Sans" pitchFamily="34" charset="0"/>
                <a:ea typeface="Open Sans" pitchFamily="34" charset="-122"/>
                <a:cs typeface="Open Sans" pitchFamily="34" charset="-120"/>
              </a:rPr>
              <a:t>: The ethical climate of an organisation — the shared perceptions of what is ethically correct and how ethical issues should be handled — powerfully shapes individual behaviour. Climates can be egoistic (self-interest), benevolent (concern for others), or principled (rules and codes). Leaders set the climate through their own behaviour, the systems they design, and the behaviours they reward or ignore.</a:t>
            </a:r>
            <a:endParaRPr lang="en-US" sz="750" dirty="0"/>
          </a:p>
        </p:txBody>
      </p:sp>
      <p:sp>
        <p:nvSpPr>
          <p:cNvPr id="26" name="Text 19"/>
          <p:cNvSpPr/>
          <p:nvPr/>
        </p:nvSpPr>
        <p:spPr>
          <a:xfrm>
            <a:off x="7443788" y="6489978"/>
            <a:ext cx="1711285"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Why Good People Do Bad Things</a:t>
            </a:r>
            <a:endParaRPr lang="en-US" sz="950" dirty="0"/>
          </a:p>
        </p:txBody>
      </p:sp>
      <p:sp>
        <p:nvSpPr>
          <p:cNvPr id="27" name="Shape 20"/>
          <p:cNvSpPr/>
          <p:nvPr/>
        </p:nvSpPr>
        <p:spPr>
          <a:xfrm>
            <a:off x="7443788" y="6700718"/>
            <a:ext cx="3791783" cy="1476851"/>
          </a:xfrm>
          <a:prstGeom prst="roundRect">
            <a:avLst>
              <a:gd name="adj" fmla="val 2822"/>
            </a:avLst>
          </a:prstGeom>
          <a:solidFill>
            <a:srgbClr val="E1D4D0"/>
          </a:solidFill>
          <a:ln/>
        </p:spPr>
        <p:txBody>
          <a:bodyPr/>
          <a:lstStyle/>
          <a:p>
            <a:endParaRPr lang="en-AU"/>
          </a:p>
        </p:txBody>
      </p:sp>
      <p:pic>
        <p:nvPicPr>
          <p:cNvPr id="28" name="Image 5" descr="preencoded.png"/>
          <p:cNvPicPr>
            <a:picLocks noChangeAspect="1"/>
          </p:cNvPicPr>
          <p:nvPr/>
        </p:nvPicPr>
        <p:blipFill>
          <a:blip r:embed="rId3"/>
          <a:stretch>
            <a:fillRect/>
          </a:stretch>
        </p:blipFill>
        <p:spPr>
          <a:xfrm>
            <a:off x="7542967" y="6829306"/>
            <a:ext cx="123944" cy="99179"/>
          </a:xfrm>
          <a:prstGeom prst="rect">
            <a:avLst/>
          </a:prstGeom>
        </p:spPr>
      </p:pic>
      <p:sp>
        <p:nvSpPr>
          <p:cNvPr id="29" name="Text 21"/>
          <p:cNvSpPr/>
          <p:nvPr/>
        </p:nvSpPr>
        <p:spPr>
          <a:xfrm>
            <a:off x="7766090" y="6775013"/>
            <a:ext cx="3370302" cy="1308378"/>
          </a:xfrm>
          <a:prstGeom prst="rect">
            <a:avLst/>
          </a:prstGeom>
          <a:noFill/>
          <a:ln/>
        </p:spPr>
        <p:txBody>
          <a:bodyPr wrap="square" lIns="0" tIns="0" rIns="0" bIns="0" rtlCol="0" anchor="t"/>
          <a:lstStyle/>
          <a:p>
            <a:pPr marL="0" indent="0" algn="l">
              <a:lnSpc>
                <a:spcPts val="900"/>
              </a:lnSpc>
              <a:buNone/>
            </a:pPr>
            <a:r>
              <a:rPr lang="en-US" sz="750" dirty="0">
                <a:solidFill>
                  <a:srgbClr val="000000"/>
                </a:solidFill>
                <a:latin typeface="Open Sans" pitchFamily="34" charset="0"/>
                <a:ea typeface="Open Sans" pitchFamily="34" charset="-122"/>
                <a:cs typeface="Open Sans" pitchFamily="34" charset="-120"/>
              </a:rPr>
              <a:t>🧠 </a:t>
            </a:r>
            <a:r>
              <a:rPr lang="en-US" sz="750" b="1" dirty="0">
                <a:solidFill>
                  <a:srgbClr val="000000"/>
                </a:solidFill>
                <a:latin typeface="Open Sans" pitchFamily="34" charset="0"/>
                <a:ea typeface="Open Sans" pitchFamily="34" charset="-122"/>
                <a:cs typeface="Open Sans" pitchFamily="34" charset="-120"/>
              </a:rPr>
              <a:t>Ethical Fading &amp; Moral Disengagement</a:t>
            </a:r>
            <a:r>
              <a:rPr lang="en-US" sz="750" dirty="0">
                <a:solidFill>
                  <a:srgbClr val="000000"/>
                </a:solidFill>
                <a:latin typeface="Open Sans" pitchFamily="34" charset="0"/>
                <a:ea typeface="Open Sans" pitchFamily="34" charset="-122"/>
                <a:cs typeface="Open Sans" pitchFamily="34" charset="-120"/>
              </a:rPr>
              <a:t> Albert Bandura's concept of </a:t>
            </a:r>
            <a:r>
              <a:rPr lang="en-US" sz="750" b="1" dirty="0">
                <a:solidFill>
                  <a:srgbClr val="000000"/>
                </a:solidFill>
                <a:latin typeface="Open Sans" pitchFamily="34" charset="0"/>
                <a:ea typeface="Open Sans" pitchFamily="34" charset="-122"/>
                <a:cs typeface="Open Sans" pitchFamily="34" charset="-120"/>
              </a:rPr>
              <a:t>moral disengagement</a:t>
            </a:r>
            <a:r>
              <a:rPr lang="en-US" sz="750" dirty="0">
                <a:solidFill>
                  <a:srgbClr val="000000"/>
                </a:solidFill>
                <a:latin typeface="Open Sans" pitchFamily="34" charset="0"/>
                <a:ea typeface="Open Sans" pitchFamily="34" charset="-122"/>
                <a:cs typeface="Open Sans" pitchFamily="34" charset="-120"/>
              </a:rPr>
              <a:t> explains how people disengage their ethical standards through mechanisms like: </a:t>
            </a:r>
            <a:r>
              <a:rPr lang="en-US" sz="750" b="1" dirty="0">
                <a:solidFill>
                  <a:srgbClr val="000000"/>
                </a:solidFill>
                <a:latin typeface="Open Sans" pitchFamily="34" charset="0"/>
                <a:ea typeface="Open Sans" pitchFamily="34" charset="-122"/>
                <a:cs typeface="Open Sans" pitchFamily="34" charset="-120"/>
              </a:rPr>
              <a:t>moral justification</a:t>
            </a:r>
            <a:r>
              <a:rPr lang="en-US" sz="750" dirty="0">
                <a:solidFill>
                  <a:srgbClr val="000000"/>
                </a:solidFill>
                <a:latin typeface="Open Sans" pitchFamily="34" charset="0"/>
                <a:ea typeface="Open Sans" pitchFamily="34" charset="-122"/>
                <a:cs typeface="Open Sans" pitchFamily="34" charset="-120"/>
              </a:rPr>
              <a:t> ("it's for a greater good"), </a:t>
            </a:r>
            <a:r>
              <a:rPr lang="en-US" sz="750" b="1" dirty="0">
                <a:solidFill>
                  <a:srgbClr val="000000"/>
                </a:solidFill>
                <a:latin typeface="Open Sans" pitchFamily="34" charset="0"/>
                <a:ea typeface="Open Sans" pitchFamily="34" charset="-122"/>
                <a:cs typeface="Open Sans" pitchFamily="34" charset="-120"/>
              </a:rPr>
              <a:t>euphemistic labelling</a:t>
            </a:r>
            <a:r>
              <a:rPr lang="en-US" sz="750" dirty="0">
                <a:solidFill>
                  <a:srgbClr val="000000"/>
                </a:solidFill>
                <a:latin typeface="Open Sans" pitchFamily="34" charset="0"/>
                <a:ea typeface="Open Sans" pitchFamily="34" charset="-122"/>
                <a:cs typeface="Open Sans" pitchFamily="34" charset="-120"/>
              </a:rPr>
              <a:t> ("restructuring" instead of "firing"), </a:t>
            </a:r>
            <a:r>
              <a:rPr lang="en-US" sz="750" b="1" dirty="0">
                <a:solidFill>
                  <a:srgbClr val="000000"/>
                </a:solidFill>
                <a:latin typeface="Open Sans" pitchFamily="34" charset="0"/>
                <a:ea typeface="Open Sans" pitchFamily="34" charset="-122"/>
                <a:cs typeface="Open Sans" pitchFamily="34" charset="-120"/>
              </a:rPr>
              <a:t>displacement of responsibility</a:t>
            </a:r>
            <a:r>
              <a:rPr lang="en-US" sz="750" dirty="0">
                <a:solidFill>
                  <a:srgbClr val="000000"/>
                </a:solidFill>
                <a:latin typeface="Open Sans" pitchFamily="34" charset="0"/>
                <a:ea typeface="Open Sans" pitchFamily="34" charset="-122"/>
                <a:cs typeface="Open Sans" pitchFamily="34" charset="-120"/>
              </a:rPr>
              <a:t> ("I was just following orders"), and </a:t>
            </a:r>
            <a:r>
              <a:rPr lang="en-US" sz="750" b="1" dirty="0">
                <a:solidFill>
                  <a:srgbClr val="000000"/>
                </a:solidFill>
                <a:latin typeface="Open Sans" pitchFamily="34" charset="0"/>
                <a:ea typeface="Open Sans" pitchFamily="34" charset="-122"/>
                <a:cs typeface="Open Sans" pitchFamily="34" charset="-120"/>
              </a:rPr>
              <a:t>dehumanisation</a:t>
            </a:r>
            <a:r>
              <a:rPr lang="en-US" sz="750" dirty="0">
                <a:solidFill>
                  <a:srgbClr val="000000"/>
                </a:solidFill>
                <a:latin typeface="Open Sans" pitchFamily="34" charset="0"/>
                <a:ea typeface="Open Sans" pitchFamily="34" charset="-122"/>
                <a:cs typeface="Open Sans" pitchFamily="34" charset="-120"/>
              </a:rPr>
              <a:t> (treating others as less than human). </a:t>
            </a:r>
            <a:r>
              <a:rPr lang="en-US" sz="750" b="1" dirty="0">
                <a:solidFill>
                  <a:srgbClr val="000000"/>
                </a:solidFill>
                <a:latin typeface="Open Sans" pitchFamily="34" charset="0"/>
                <a:ea typeface="Open Sans" pitchFamily="34" charset="-122"/>
                <a:cs typeface="Open Sans" pitchFamily="34" charset="-120"/>
              </a:rPr>
              <a:t>Ethical fading</a:t>
            </a:r>
            <a:r>
              <a:rPr lang="en-US" sz="750" dirty="0">
                <a:solidFill>
                  <a:srgbClr val="000000"/>
                </a:solidFill>
                <a:latin typeface="Open Sans" pitchFamily="34" charset="0"/>
                <a:ea typeface="Open Sans" pitchFamily="34" charset="-122"/>
                <a:cs typeface="Open Sans" pitchFamily="34" charset="-120"/>
              </a:rPr>
              <a:t> (Tenbrunsel &amp; Messick) describes how the ethical dimensions of a decision gradually fade from awareness — replaced by financial, legal, or strategic framing — until people no longer see the moral choice in front of them. These concepts explain corporate scandals, institutional abuse, and everyday workplace wrongdoing.</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3402449" y="272891"/>
            <a:ext cx="797481" cy="154781"/>
          </a:xfrm>
          <a:prstGeom prst="roundRect">
            <a:avLst>
              <a:gd name="adj" fmla="val 21542"/>
            </a:avLst>
          </a:prstGeom>
          <a:solidFill>
            <a:srgbClr val="EBE2E0"/>
          </a:solidFill>
          <a:ln/>
        </p:spPr>
        <p:txBody>
          <a:bodyPr/>
          <a:lstStyle/>
          <a:p>
            <a:endParaRPr lang="en-AU"/>
          </a:p>
        </p:txBody>
      </p:sp>
      <p:sp>
        <p:nvSpPr>
          <p:cNvPr id="3" name="Text 1"/>
          <p:cNvSpPr/>
          <p:nvPr/>
        </p:nvSpPr>
        <p:spPr>
          <a:xfrm>
            <a:off x="3461980" y="302657"/>
            <a:ext cx="678418" cy="95250"/>
          </a:xfrm>
          <a:prstGeom prst="rect">
            <a:avLst/>
          </a:prstGeom>
          <a:noFill/>
          <a:ln/>
        </p:spPr>
        <p:txBody>
          <a:bodyPr wrap="none" lIns="0" tIns="0" rIns="0" bIns="0" rtlCol="0" anchor="t"/>
          <a:lstStyle/>
          <a:p>
            <a:pPr marL="0" indent="0" algn="l">
              <a:lnSpc>
                <a:spcPts val="750"/>
              </a:lnSpc>
              <a:buNone/>
            </a:pPr>
            <a:r>
              <a:rPr lang="en-US" sz="600" dirty="0">
                <a:solidFill>
                  <a:srgbClr val="443728"/>
                </a:solidFill>
                <a:latin typeface="Open Sans" pitchFamily="34" charset="0"/>
                <a:ea typeface="Open Sans" pitchFamily="34" charset="-122"/>
                <a:cs typeface="Open Sans" pitchFamily="34" charset="-120"/>
              </a:rPr>
              <a:t>LEVEL 2 — GROUP</a:t>
            </a:r>
            <a:endParaRPr lang="en-US" sz="600" dirty="0"/>
          </a:p>
        </p:txBody>
      </p:sp>
      <p:sp>
        <p:nvSpPr>
          <p:cNvPr id="4" name="Text 2"/>
          <p:cNvSpPr/>
          <p:nvPr/>
        </p:nvSpPr>
        <p:spPr>
          <a:xfrm>
            <a:off x="3402449" y="447437"/>
            <a:ext cx="317694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Group Dynamics &amp; Teamwork</a:t>
            </a:r>
            <a:endParaRPr lang="en-US" sz="1950" dirty="0"/>
          </a:p>
        </p:txBody>
      </p:sp>
      <p:sp>
        <p:nvSpPr>
          <p:cNvPr id="5" name="Text 3"/>
          <p:cNvSpPr/>
          <p:nvPr/>
        </p:nvSpPr>
        <p:spPr>
          <a:xfrm>
            <a:off x="3402449" y="832009"/>
            <a:ext cx="7825502" cy="237887"/>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Group dynamics explores how people interact, influence each other, and develop shared norms and identities within teams. Understanding these dynamics is essential for building high-performing, cohesive groups.</a:t>
            </a:r>
            <a:endParaRPr lang="en-US" sz="750" dirty="0"/>
          </a:p>
        </p:txBody>
      </p:sp>
      <p:sp>
        <p:nvSpPr>
          <p:cNvPr id="6" name="Shape 4"/>
          <p:cNvSpPr/>
          <p:nvPr/>
        </p:nvSpPr>
        <p:spPr>
          <a:xfrm>
            <a:off x="3402449" y="1125617"/>
            <a:ext cx="7825502" cy="763191"/>
          </a:xfrm>
          <a:prstGeom prst="roundRect">
            <a:avLst>
              <a:gd name="adj" fmla="val 5461"/>
            </a:avLst>
          </a:prstGeom>
          <a:solidFill>
            <a:srgbClr val="E1D4D0"/>
          </a:solidFill>
          <a:ln/>
        </p:spPr>
        <p:txBody>
          <a:bodyPr/>
          <a:lstStyle/>
          <a:p>
            <a:endParaRPr lang="en-AU"/>
          </a:p>
        </p:txBody>
      </p:sp>
      <p:pic>
        <p:nvPicPr>
          <p:cNvPr id="7" name="Image 0" descr="preencoded.png"/>
          <p:cNvPicPr>
            <a:picLocks noChangeAspect="1"/>
          </p:cNvPicPr>
          <p:nvPr/>
        </p:nvPicPr>
        <p:blipFill>
          <a:blip r:embed="rId3"/>
          <a:stretch>
            <a:fillRect/>
          </a:stretch>
        </p:blipFill>
        <p:spPr>
          <a:xfrm>
            <a:off x="3501628" y="1254204"/>
            <a:ext cx="123944" cy="99179"/>
          </a:xfrm>
          <a:prstGeom prst="rect">
            <a:avLst/>
          </a:prstGeom>
        </p:spPr>
      </p:pic>
      <p:sp>
        <p:nvSpPr>
          <p:cNvPr id="8" name="Text 5"/>
          <p:cNvSpPr/>
          <p:nvPr/>
        </p:nvSpPr>
        <p:spPr>
          <a:xfrm>
            <a:off x="3724751" y="1199912"/>
            <a:ext cx="7404021" cy="594717"/>
          </a:xfrm>
          <a:prstGeom prst="rect">
            <a:avLst/>
          </a:prstGeom>
          <a:noFill/>
          <a:ln/>
        </p:spPr>
        <p:txBody>
          <a:bodyPr wrap="square" lIns="0" tIns="0" rIns="0" bIns="0" rtlCol="0" anchor="t"/>
          <a:lstStyle/>
          <a:p>
            <a:pPr marL="0" indent="0" algn="l">
              <a:lnSpc>
                <a:spcPts val="900"/>
              </a:lnSpc>
              <a:buNone/>
            </a:pPr>
            <a:r>
              <a:rPr lang="en-US" sz="750" dirty="0">
                <a:solidFill>
                  <a:srgbClr val="000000"/>
                </a:solidFill>
                <a:latin typeface="Open Sans" pitchFamily="34" charset="0"/>
                <a:ea typeface="Open Sans" pitchFamily="34" charset="-122"/>
                <a:cs typeface="Open Sans" pitchFamily="34" charset="-120"/>
              </a:rPr>
              <a:t>📹 </a:t>
            </a:r>
            <a:r>
              <a:rPr lang="en-US" sz="750" b="1" dirty="0">
                <a:solidFill>
                  <a:srgbClr val="000000"/>
                </a:solidFill>
                <a:latin typeface="Open Sans" pitchFamily="34" charset="0"/>
                <a:ea typeface="Open Sans" pitchFamily="34" charset="-122"/>
                <a:cs typeface="Open Sans" pitchFamily="34" charset="-120"/>
              </a:rPr>
              <a:t>Video Placeholder</a:t>
            </a:r>
            <a:r>
              <a:rPr lang="en-US" sz="750" dirty="0">
                <a:solidFill>
                  <a:srgbClr val="000000"/>
                </a:solidFill>
                <a:latin typeface="Open Sans" pitchFamily="34" charset="0"/>
                <a:ea typeface="Open Sans" pitchFamily="34" charset="-122"/>
                <a:cs typeface="Open Sans" pitchFamily="34" charset="-120"/>
              </a:rPr>
              <a:t> — "Think about the last group of people you were thrown into — a new class, a sports team, a group project, a family gathering with relatives you barely know. There was probably an awkward start, maybe a blow-up at some point, then things settled, and eventually the group either clicked or fell apart. That's Tuckman's model — Forming, Storming, Norming, Performing, Adjourning — and you've lived through it dozens of times already. This video maps those exact social experiences from your personal life onto group dynamics theory, so that when you're placed in a work team for the first time, you'll know exactly which stage you're in — and what to do about it."</a:t>
            </a:r>
            <a:endParaRPr lang="en-US" sz="750" dirty="0"/>
          </a:p>
        </p:txBody>
      </p:sp>
      <p:sp>
        <p:nvSpPr>
          <p:cNvPr id="9" name="Shape 6"/>
          <p:cNvSpPr/>
          <p:nvPr/>
        </p:nvSpPr>
        <p:spPr>
          <a:xfrm>
            <a:off x="7307580" y="1944529"/>
            <a:ext cx="15240" cy="7538204"/>
          </a:xfrm>
          <a:prstGeom prst="roundRect">
            <a:avLst>
              <a:gd name="adj" fmla="val 273488"/>
            </a:avLst>
          </a:prstGeom>
          <a:solidFill>
            <a:srgbClr val="D1C8C6"/>
          </a:solidFill>
          <a:ln/>
        </p:spPr>
        <p:txBody>
          <a:bodyPr/>
          <a:lstStyle/>
          <a:p>
            <a:endParaRPr lang="en-AU"/>
          </a:p>
        </p:txBody>
      </p:sp>
      <p:sp>
        <p:nvSpPr>
          <p:cNvPr id="10" name="Shape 7"/>
          <p:cNvSpPr/>
          <p:nvPr/>
        </p:nvSpPr>
        <p:spPr>
          <a:xfrm>
            <a:off x="6921163" y="2048470"/>
            <a:ext cx="297656" cy="15240"/>
          </a:xfrm>
          <a:prstGeom prst="roundRect">
            <a:avLst>
              <a:gd name="adj" fmla="val 273488"/>
            </a:avLst>
          </a:prstGeom>
          <a:solidFill>
            <a:srgbClr val="D1C8C6"/>
          </a:solidFill>
          <a:ln/>
        </p:spPr>
        <p:txBody>
          <a:bodyPr/>
          <a:lstStyle/>
          <a:p>
            <a:endParaRPr lang="en-AU"/>
          </a:p>
        </p:txBody>
      </p:sp>
      <p:sp>
        <p:nvSpPr>
          <p:cNvPr id="11" name="Shape 8"/>
          <p:cNvSpPr/>
          <p:nvPr/>
        </p:nvSpPr>
        <p:spPr>
          <a:xfrm>
            <a:off x="7203579" y="1944529"/>
            <a:ext cx="223242" cy="223242"/>
          </a:xfrm>
          <a:prstGeom prst="roundRect">
            <a:avLst>
              <a:gd name="adj" fmla="val 18670"/>
            </a:avLst>
          </a:prstGeom>
          <a:solidFill>
            <a:srgbClr val="EBE2E0"/>
          </a:solidFill>
          <a:ln w="7620">
            <a:solidFill>
              <a:srgbClr val="D1C8C6"/>
            </a:solidFill>
            <a:prstDash val="solid"/>
          </a:ln>
        </p:spPr>
        <p:txBody>
          <a:bodyPr/>
          <a:lstStyle/>
          <a:p>
            <a:endParaRPr lang="en-AU"/>
          </a:p>
        </p:txBody>
      </p:sp>
      <p:sp>
        <p:nvSpPr>
          <p:cNvPr id="12" name="Text 9"/>
          <p:cNvSpPr/>
          <p:nvPr/>
        </p:nvSpPr>
        <p:spPr>
          <a:xfrm>
            <a:off x="7240726" y="1963103"/>
            <a:ext cx="148828" cy="185976"/>
          </a:xfrm>
          <a:prstGeom prst="rect">
            <a:avLst/>
          </a:prstGeom>
          <a:noFill/>
          <a:ln/>
        </p:spPr>
        <p:txBody>
          <a:bodyPr wrap="none" lIns="0" tIns="0" rIns="0" bIns="0" rtlCol="0" anchor="t"/>
          <a:lstStyle/>
          <a:p>
            <a:pPr marL="0" indent="0" algn="ctr">
              <a:lnSpc>
                <a:spcPts val="1150"/>
              </a:lnSpc>
              <a:buNone/>
            </a:pPr>
            <a:r>
              <a:rPr lang="en-US" sz="1150" b="1" dirty="0">
                <a:solidFill>
                  <a:srgbClr val="443728"/>
                </a:solidFill>
                <a:latin typeface="Crimson Pro Bold" pitchFamily="34" charset="0"/>
                <a:ea typeface="Crimson Pro Bold" pitchFamily="34" charset="-122"/>
                <a:cs typeface="Crimson Pro Bold" pitchFamily="34" charset="-120"/>
              </a:rPr>
              <a:t>1</a:t>
            </a:r>
            <a:endParaRPr lang="en-US" sz="1150" dirty="0"/>
          </a:p>
        </p:txBody>
      </p:sp>
      <p:pic>
        <p:nvPicPr>
          <p:cNvPr id="13" name="Image 1" descr="preencoded.png"/>
          <p:cNvPicPr>
            <a:picLocks noChangeAspect="1"/>
          </p:cNvPicPr>
          <p:nvPr/>
        </p:nvPicPr>
        <p:blipFill>
          <a:blip r:embed="rId4"/>
          <a:stretch>
            <a:fillRect/>
          </a:stretch>
        </p:blipFill>
        <p:spPr>
          <a:xfrm>
            <a:off x="3402449" y="1976676"/>
            <a:ext cx="3416618" cy="1936075"/>
          </a:xfrm>
          <a:prstGeom prst="rect">
            <a:avLst/>
          </a:prstGeom>
        </p:spPr>
      </p:pic>
      <p:sp>
        <p:nvSpPr>
          <p:cNvPr id="14" name="Text 10"/>
          <p:cNvSpPr/>
          <p:nvPr/>
        </p:nvSpPr>
        <p:spPr>
          <a:xfrm>
            <a:off x="5578673" y="3968472"/>
            <a:ext cx="1240393" cy="155019"/>
          </a:xfrm>
          <a:prstGeom prst="rect">
            <a:avLst/>
          </a:prstGeom>
          <a:noFill/>
          <a:ln/>
        </p:spPr>
        <p:txBody>
          <a:bodyPr wrap="none" lIns="0" tIns="0" rIns="0" bIns="0" rtlCol="0" anchor="t"/>
          <a:lstStyle/>
          <a:p>
            <a:pPr marL="0" indent="0" algn="r">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Forming</a:t>
            </a:r>
            <a:endParaRPr lang="en-US" sz="950" dirty="0"/>
          </a:p>
        </p:txBody>
      </p:sp>
      <p:sp>
        <p:nvSpPr>
          <p:cNvPr id="15" name="Text 11"/>
          <p:cNvSpPr/>
          <p:nvPr/>
        </p:nvSpPr>
        <p:spPr>
          <a:xfrm>
            <a:off x="3402449" y="4153257"/>
            <a:ext cx="3416618" cy="237887"/>
          </a:xfrm>
          <a:prstGeom prst="rect">
            <a:avLst/>
          </a:prstGeom>
          <a:noFill/>
          <a:ln/>
        </p:spPr>
        <p:txBody>
          <a:bodyPr wrap="square" lIns="0" tIns="0" rIns="0" bIns="0" rtlCol="0" anchor="t"/>
          <a:lstStyle/>
          <a:p>
            <a:pPr marL="0" indent="0" algn="r">
              <a:lnSpc>
                <a:spcPts val="900"/>
              </a:lnSpc>
              <a:buNone/>
            </a:pPr>
            <a:r>
              <a:rPr lang="en-US" sz="750" dirty="0">
                <a:solidFill>
                  <a:srgbClr val="443728"/>
                </a:solidFill>
                <a:latin typeface="Open Sans" pitchFamily="34" charset="0"/>
                <a:ea typeface="Open Sans" pitchFamily="34" charset="-122"/>
                <a:cs typeface="Open Sans" pitchFamily="34" charset="-120"/>
              </a:rPr>
              <a:t>Members are polite, uncertain, and dependent on the leader for guidance. Goals and roles are unclear.</a:t>
            </a:r>
            <a:endParaRPr lang="en-US" sz="750" dirty="0"/>
          </a:p>
        </p:txBody>
      </p:sp>
      <p:sp>
        <p:nvSpPr>
          <p:cNvPr id="16" name="Shape 12"/>
          <p:cNvSpPr/>
          <p:nvPr/>
        </p:nvSpPr>
        <p:spPr>
          <a:xfrm>
            <a:off x="7411581" y="2544485"/>
            <a:ext cx="297656" cy="15240"/>
          </a:xfrm>
          <a:prstGeom prst="roundRect">
            <a:avLst>
              <a:gd name="adj" fmla="val 273488"/>
            </a:avLst>
          </a:prstGeom>
          <a:solidFill>
            <a:srgbClr val="D1C8C6"/>
          </a:solidFill>
          <a:ln/>
        </p:spPr>
        <p:txBody>
          <a:bodyPr/>
          <a:lstStyle/>
          <a:p>
            <a:endParaRPr lang="en-AU"/>
          </a:p>
        </p:txBody>
      </p:sp>
      <p:sp>
        <p:nvSpPr>
          <p:cNvPr id="17" name="Shape 13"/>
          <p:cNvSpPr/>
          <p:nvPr/>
        </p:nvSpPr>
        <p:spPr>
          <a:xfrm>
            <a:off x="7203579" y="2440543"/>
            <a:ext cx="223242" cy="223242"/>
          </a:xfrm>
          <a:prstGeom prst="roundRect">
            <a:avLst>
              <a:gd name="adj" fmla="val 18670"/>
            </a:avLst>
          </a:prstGeom>
          <a:solidFill>
            <a:srgbClr val="EBE2E0"/>
          </a:solidFill>
          <a:ln w="7620">
            <a:solidFill>
              <a:srgbClr val="D1C8C6"/>
            </a:solidFill>
            <a:prstDash val="solid"/>
          </a:ln>
        </p:spPr>
        <p:txBody>
          <a:bodyPr/>
          <a:lstStyle/>
          <a:p>
            <a:endParaRPr lang="en-AU"/>
          </a:p>
        </p:txBody>
      </p:sp>
      <p:sp>
        <p:nvSpPr>
          <p:cNvPr id="18" name="Text 14"/>
          <p:cNvSpPr/>
          <p:nvPr/>
        </p:nvSpPr>
        <p:spPr>
          <a:xfrm>
            <a:off x="7240726" y="2459117"/>
            <a:ext cx="148828" cy="185976"/>
          </a:xfrm>
          <a:prstGeom prst="rect">
            <a:avLst/>
          </a:prstGeom>
          <a:noFill/>
          <a:ln/>
        </p:spPr>
        <p:txBody>
          <a:bodyPr wrap="none" lIns="0" tIns="0" rIns="0" bIns="0" rtlCol="0" anchor="t"/>
          <a:lstStyle/>
          <a:p>
            <a:pPr marL="0" indent="0" algn="ctr">
              <a:lnSpc>
                <a:spcPts val="1150"/>
              </a:lnSpc>
              <a:buNone/>
            </a:pPr>
            <a:r>
              <a:rPr lang="en-US" sz="1150" b="1" dirty="0">
                <a:solidFill>
                  <a:srgbClr val="443728"/>
                </a:solidFill>
                <a:latin typeface="Crimson Pro Bold" pitchFamily="34" charset="0"/>
                <a:ea typeface="Crimson Pro Bold" pitchFamily="34" charset="-122"/>
                <a:cs typeface="Crimson Pro Bold" pitchFamily="34" charset="-120"/>
              </a:rPr>
              <a:t>2</a:t>
            </a:r>
            <a:endParaRPr lang="en-US" sz="1150" dirty="0"/>
          </a:p>
        </p:txBody>
      </p:sp>
      <p:pic>
        <p:nvPicPr>
          <p:cNvPr id="19" name="Image 2" descr="preencoded.png"/>
          <p:cNvPicPr>
            <a:picLocks noChangeAspect="1"/>
          </p:cNvPicPr>
          <p:nvPr/>
        </p:nvPicPr>
        <p:blipFill>
          <a:blip r:embed="rId5"/>
          <a:stretch>
            <a:fillRect/>
          </a:stretch>
        </p:blipFill>
        <p:spPr>
          <a:xfrm>
            <a:off x="7811333" y="2472690"/>
            <a:ext cx="3416618" cy="1936075"/>
          </a:xfrm>
          <a:prstGeom prst="rect">
            <a:avLst/>
          </a:prstGeom>
        </p:spPr>
      </p:pic>
      <p:sp>
        <p:nvSpPr>
          <p:cNvPr id="20" name="Text 15"/>
          <p:cNvSpPr/>
          <p:nvPr/>
        </p:nvSpPr>
        <p:spPr>
          <a:xfrm>
            <a:off x="7811333" y="4464487"/>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Storming</a:t>
            </a:r>
            <a:endParaRPr lang="en-US" sz="950" dirty="0"/>
          </a:p>
        </p:txBody>
      </p:sp>
      <p:sp>
        <p:nvSpPr>
          <p:cNvPr id="21" name="Text 16"/>
          <p:cNvSpPr/>
          <p:nvPr/>
        </p:nvSpPr>
        <p:spPr>
          <a:xfrm>
            <a:off x="7811333" y="4649272"/>
            <a:ext cx="3416618" cy="237887"/>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Conflict emerges as personalities clash and members compete for influence. Leadership may be challenged.</a:t>
            </a:r>
            <a:endParaRPr lang="en-US" sz="750" dirty="0"/>
          </a:p>
        </p:txBody>
      </p:sp>
      <p:sp>
        <p:nvSpPr>
          <p:cNvPr id="22" name="Shape 17"/>
          <p:cNvSpPr/>
          <p:nvPr/>
        </p:nvSpPr>
        <p:spPr>
          <a:xfrm>
            <a:off x="6921163" y="4594265"/>
            <a:ext cx="297656" cy="15240"/>
          </a:xfrm>
          <a:prstGeom prst="roundRect">
            <a:avLst>
              <a:gd name="adj" fmla="val 273488"/>
            </a:avLst>
          </a:prstGeom>
          <a:solidFill>
            <a:srgbClr val="D1C8C6"/>
          </a:solidFill>
          <a:ln/>
        </p:spPr>
        <p:txBody>
          <a:bodyPr/>
          <a:lstStyle/>
          <a:p>
            <a:endParaRPr lang="en-AU"/>
          </a:p>
        </p:txBody>
      </p:sp>
      <p:sp>
        <p:nvSpPr>
          <p:cNvPr id="23" name="Shape 18"/>
          <p:cNvSpPr/>
          <p:nvPr/>
        </p:nvSpPr>
        <p:spPr>
          <a:xfrm>
            <a:off x="7203579" y="4490323"/>
            <a:ext cx="223242" cy="223242"/>
          </a:xfrm>
          <a:prstGeom prst="roundRect">
            <a:avLst>
              <a:gd name="adj" fmla="val 18670"/>
            </a:avLst>
          </a:prstGeom>
          <a:solidFill>
            <a:srgbClr val="EBE2E0"/>
          </a:solidFill>
          <a:ln w="7620">
            <a:solidFill>
              <a:srgbClr val="D1C8C6"/>
            </a:solidFill>
            <a:prstDash val="solid"/>
          </a:ln>
        </p:spPr>
        <p:txBody>
          <a:bodyPr/>
          <a:lstStyle/>
          <a:p>
            <a:endParaRPr lang="en-AU"/>
          </a:p>
        </p:txBody>
      </p:sp>
      <p:sp>
        <p:nvSpPr>
          <p:cNvPr id="24" name="Text 19"/>
          <p:cNvSpPr/>
          <p:nvPr/>
        </p:nvSpPr>
        <p:spPr>
          <a:xfrm>
            <a:off x="7240726" y="4508897"/>
            <a:ext cx="148828" cy="185976"/>
          </a:xfrm>
          <a:prstGeom prst="rect">
            <a:avLst/>
          </a:prstGeom>
          <a:noFill/>
          <a:ln/>
        </p:spPr>
        <p:txBody>
          <a:bodyPr wrap="none" lIns="0" tIns="0" rIns="0" bIns="0" rtlCol="0" anchor="t"/>
          <a:lstStyle/>
          <a:p>
            <a:pPr marL="0" indent="0" algn="ctr">
              <a:lnSpc>
                <a:spcPts val="1150"/>
              </a:lnSpc>
              <a:buNone/>
            </a:pPr>
            <a:r>
              <a:rPr lang="en-US" sz="1150" b="1" dirty="0">
                <a:solidFill>
                  <a:srgbClr val="443728"/>
                </a:solidFill>
                <a:latin typeface="Crimson Pro Bold" pitchFamily="34" charset="0"/>
                <a:ea typeface="Crimson Pro Bold" pitchFamily="34" charset="-122"/>
                <a:cs typeface="Crimson Pro Bold" pitchFamily="34" charset="-120"/>
              </a:rPr>
              <a:t>3</a:t>
            </a:r>
            <a:endParaRPr lang="en-US" sz="1150" dirty="0"/>
          </a:p>
        </p:txBody>
      </p:sp>
      <p:pic>
        <p:nvPicPr>
          <p:cNvPr id="25" name="Image 3" descr="preencoded.png"/>
          <p:cNvPicPr>
            <a:picLocks noChangeAspect="1"/>
          </p:cNvPicPr>
          <p:nvPr/>
        </p:nvPicPr>
        <p:blipFill>
          <a:blip r:embed="rId6"/>
          <a:stretch>
            <a:fillRect/>
          </a:stretch>
        </p:blipFill>
        <p:spPr>
          <a:xfrm>
            <a:off x="3402449" y="4522470"/>
            <a:ext cx="3416618" cy="1936075"/>
          </a:xfrm>
          <a:prstGeom prst="rect">
            <a:avLst/>
          </a:prstGeom>
        </p:spPr>
      </p:pic>
      <p:sp>
        <p:nvSpPr>
          <p:cNvPr id="26" name="Text 20"/>
          <p:cNvSpPr/>
          <p:nvPr/>
        </p:nvSpPr>
        <p:spPr>
          <a:xfrm>
            <a:off x="5578673" y="6514267"/>
            <a:ext cx="1240393" cy="155019"/>
          </a:xfrm>
          <a:prstGeom prst="rect">
            <a:avLst/>
          </a:prstGeom>
          <a:noFill/>
          <a:ln/>
        </p:spPr>
        <p:txBody>
          <a:bodyPr wrap="none" lIns="0" tIns="0" rIns="0" bIns="0" rtlCol="0" anchor="t"/>
          <a:lstStyle/>
          <a:p>
            <a:pPr marL="0" indent="0" algn="r">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Norming</a:t>
            </a:r>
            <a:endParaRPr lang="en-US" sz="950" dirty="0"/>
          </a:p>
        </p:txBody>
      </p:sp>
      <p:sp>
        <p:nvSpPr>
          <p:cNvPr id="27" name="Text 21"/>
          <p:cNvSpPr/>
          <p:nvPr/>
        </p:nvSpPr>
        <p:spPr>
          <a:xfrm>
            <a:off x="3402449" y="6699052"/>
            <a:ext cx="3416618" cy="237887"/>
          </a:xfrm>
          <a:prstGeom prst="rect">
            <a:avLst/>
          </a:prstGeom>
          <a:noFill/>
          <a:ln/>
        </p:spPr>
        <p:txBody>
          <a:bodyPr wrap="square" lIns="0" tIns="0" rIns="0" bIns="0" rtlCol="0" anchor="t"/>
          <a:lstStyle/>
          <a:p>
            <a:pPr marL="0" indent="0" algn="r">
              <a:lnSpc>
                <a:spcPts val="900"/>
              </a:lnSpc>
              <a:buNone/>
            </a:pPr>
            <a:r>
              <a:rPr lang="en-US" sz="750" dirty="0">
                <a:solidFill>
                  <a:srgbClr val="443728"/>
                </a:solidFill>
                <a:latin typeface="Open Sans" pitchFamily="34" charset="0"/>
                <a:ea typeface="Open Sans" pitchFamily="34" charset="-122"/>
                <a:cs typeface="Open Sans" pitchFamily="34" charset="-120"/>
              </a:rPr>
              <a:t>The group establishes shared norms, roles solidify, and cohesion grows. Cooperation replaces conflict.</a:t>
            </a:r>
            <a:endParaRPr lang="en-US" sz="750" dirty="0"/>
          </a:p>
        </p:txBody>
      </p:sp>
      <p:sp>
        <p:nvSpPr>
          <p:cNvPr id="28" name="Shape 22"/>
          <p:cNvSpPr/>
          <p:nvPr/>
        </p:nvSpPr>
        <p:spPr>
          <a:xfrm>
            <a:off x="7411581" y="5867162"/>
            <a:ext cx="297656" cy="15240"/>
          </a:xfrm>
          <a:prstGeom prst="roundRect">
            <a:avLst>
              <a:gd name="adj" fmla="val 273488"/>
            </a:avLst>
          </a:prstGeom>
          <a:solidFill>
            <a:srgbClr val="D1C8C6"/>
          </a:solidFill>
          <a:ln/>
        </p:spPr>
        <p:txBody>
          <a:bodyPr/>
          <a:lstStyle/>
          <a:p>
            <a:endParaRPr lang="en-AU"/>
          </a:p>
        </p:txBody>
      </p:sp>
      <p:sp>
        <p:nvSpPr>
          <p:cNvPr id="29" name="Shape 23"/>
          <p:cNvSpPr/>
          <p:nvPr/>
        </p:nvSpPr>
        <p:spPr>
          <a:xfrm>
            <a:off x="7203579" y="5763220"/>
            <a:ext cx="223242" cy="223242"/>
          </a:xfrm>
          <a:prstGeom prst="roundRect">
            <a:avLst>
              <a:gd name="adj" fmla="val 18670"/>
            </a:avLst>
          </a:prstGeom>
          <a:solidFill>
            <a:srgbClr val="EBE2E0"/>
          </a:solidFill>
          <a:ln w="7620">
            <a:solidFill>
              <a:srgbClr val="D1C8C6"/>
            </a:solidFill>
            <a:prstDash val="solid"/>
          </a:ln>
        </p:spPr>
        <p:txBody>
          <a:bodyPr/>
          <a:lstStyle/>
          <a:p>
            <a:endParaRPr lang="en-AU"/>
          </a:p>
        </p:txBody>
      </p:sp>
      <p:sp>
        <p:nvSpPr>
          <p:cNvPr id="30" name="Text 24"/>
          <p:cNvSpPr/>
          <p:nvPr/>
        </p:nvSpPr>
        <p:spPr>
          <a:xfrm>
            <a:off x="7240726" y="5781794"/>
            <a:ext cx="148828" cy="185976"/>
          </a:xfrm>
          <a:prstGeom prst="rect">
            <a:avLst/>
          </a:prstGeom>
          <a:noFill/>
          <a:ln/>
        </p:spPr>
        <p:txBody>
          <a:bodyPr wrap="none" lIns="0" tIns="0" rIns="0" bIns="0" rtlCol="0" anchor="t"/>
          <a:lstStyle/>
          <a:p>
            <a:pPr marL="0" indent="0" algn="ctr">
              <a:lnSpc>
                <a:spcPts val="1150"/>
              </a:lnSpc>
              <a:buNone/>
            </a:pPr>
            <a:r>
              <a:rPr lang="en-US" sz="1150" b="1" dirty="0">
                <a:solidFill>
                  <a:srgbClr val="443728"/>
                </a:solidFill>
                <a:latin typeface="Crimson Pro Bold" pitchFamily="34" charset="0"/>
                <a:ea typeface="Crimson Pro Bold" pitchFamily="34" charset="-122"/>
                <a:cs typeface="Crimson Pro Bold" pitchFamily="34" charset="-120"/>
              </a:rPr>
              <a:t>4</a:t>
            </a:r>
            <a:endParaRPr lang="en-US" sz="1150" dirty="0"/>
          </a:p>
        </p:txBody>
      </p:sp>
      <p:pic>
        <p:nvPicPr>
          <p:cNvPr id="31" name="Image 4" descr="preencoded.png"/>
          <p:cNvPicPr>
            <a:picLocks noChangeAspect="1"/>
          </p:cNvPicPr>
          <p:nvPr/>
        </p:nvPicPr>
        <p:blipFill>
          <a:blip r:embed="rId7"/>
          <a:stretch>
            <a:fillRect/>
          </a:stretch>
        </p:blipFill>
        <p:spPr>
          <a:xfrm>
            <a:off x="7811333" y="5795367"/>
            <a:ext cx="3416618" cy="1936075"/>
          </a:xfrm>
          <a:prstGeom prst="rect">
            <a:avLst/>
          </a:prstGeom>
        </p:spPr>
      </p:pic>
      <p:sp>
        <p:nvSpPr>
          <p:cNvPr id="32" name="Text 25"/>
          <p:cNvSpPr/>
          <p:nvPr/>
        </p:nvSpPr>
        <p:spPr>
          <a:xfrm>
            <a:off x="7811333" y="7787164"/>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Performing</a:t>
            </a:r>
            <a:endParaRPr lang="en-US" sz="950" dirty="0"/>
          </a:p>
        </p:txBody>
      </p:sp>
      <p:sp>
        <p:nvSpPr>
          <p:cNvPr id="33" name="Text 26"/>
          <p:cNvSpPr/>
          <p:nvPr/>
        </p:nvSpPr>
        <p:spPr>
          <a:xfrm>
            <a:off x="7811333" y="7971949"/>
            <a:ext cx="3416618" cy="237887"/>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The group functions as a high-performance unit. Energy is directed toward the task rather than internal dynamics.</a:t>
            </a:r>
            <a:endParaRPr lang="en-US" sz="750" dirty="0"/>
          </a:p>
        </p:txBody>
      </p:sp>
      <p:sp>
        <p:nvSpPr>
          <p:cNvPr id="34" name="Shape 27"/>
          <p:cNvSpPr/>
          <p:nvPr/>
        </p:nvSpPr>
        <p:spPr>
          <a:xfrm>
            <a:off x="6921163" y="7140059"/>
            <a:ext cx="297656" cy="15240"/>
          </a:xfrm>
          <a:prstGeom prst="roundRect">
            <a:avLst>
              <a:gd name="adj" fmla="val 273488"/>
            </a:avLst>
          </a:prstGeom>
          <a:solidFill>
            <a:srgbClr val="D1C8C6"/>
          </a:solidFill>
          <a:ln/>
        </p:spPr>
        <p:txBody>
          <a:bodyPr/>
          <a:lstStyle/>
          <a:p>
            <a:endParaRPr lang="en-AU"/>
          </a:p>
        </p:txBody>
      </p:sp>
      <p:sp>
        <p:nvSpPr>
          <p:cNvPr id="35" name="Shape 28"/>
          <p:cNvSpPr/>
          <p:nvPr/>
        </p:nvSpPr>
        <p:spPr>
          <a:xfrm>
            <a:off x="7203579" y="7036118"/>
            <a:ext cx="223242" cy="223242"/>
          </a:xfrm>
          <a:prstGeom prst="roundRect">
            <a:avLst>
              <a:gd name="adj" fmla="val 18670"/>
            </a:avLst>
          </a:prstGeom>
          <a:solidFill>
            <a:srgbClr val="EBE2E0"/>
          </a:solidFill>
          <a:ln w="7620">
            <a:solidFill>
              <a:srgbClr val="D1C8C6"/>
            </a:solidFill>
            <a:prstDash val="solid"/>
          </a:ln>
        </p:spPr>
        <p:txBody>
          <a:bodyPr/>
          <a:lstStyle/>
          <a:p>
            <a:endParaRPr lang="en-AU"/>
          </a:p>
        </p:txBody>
      </p:sp>
      <p:sp>
        <p:nvSpPr>
          <p:cNvPr id="36" name="Text 29"/>
          <p:cNvSpPr/>
          <p:nvPr/>
        </p:nvSpPr>
        <p:spPr>
          <a:xfrm>
            <a:off x="7240726" y="7054691"/>
            <a:ext cx="148828" cy="185976"/>
          </a:xfrm>
          <a:prstGeom prst="rect">
            <a:avLst/>
          </a:prstGeom>
          <a:noFill/>
          <a:ln/>
        </p:spPr>
        <p:txBody>
          <a:bodyPr wrap="none" lIns="0" tIns="0" rIns="0" bIns="0" rtlCol="0" anchor="t"/>
          <a:lstStyle/>
          <a:p>
            <a:pPr marL="0" indent="0" algn="ctr">
              <a:lnSpc>
                <a:spcPts val="1150"/>
              </a:lnSpc>
              <a:buNone/>
            </a:pPr>
            <a:r>
              <a:rPr lang="en-US" sz="1150" b="1" dirty="0">
                <a:solidFill>
                  <a:srgbClr val="443728"/>
                </a:solidFill>
                <a:latin typeface="Crimson Pro Bold" pitchFamily="34" charset="0"/>
                <a:ea typeface="Crimson Pro Bold" pitchFamily="34" charset="-122"/>
                <a:cs typeface="Crimson Pro Bold" pitchFamily="34" charset="-120"/>
              </a:rPr>
              <a:t>5</a:t>
            </a:r>
            <a:endParaRPr lang="en-US" sz="1150" dirty="0"/>
          </a:p>
        </p:txBody>
      </p:sp>
      <p:pic>
        <p:nvPicPr>
          <p:cNvPr id="37" name="Image 5" descr="preencoded.png"/>
          <p:cNvPicPr>
            <a:picLocks noChangeAspect="1"/>
          </p:cNvPicPr>
          <p:nvPr/>
        </p:nvPicPr>
        <p:blipFill>
          <a:blip r:embed="rId8"/>
          <a:stretch>
            <a:fillRect/>
          </a:stretch>
        </p:blipFill>
        <p:spPr>
          <a:xfrm>
            <a:off x="3402449" y="7068264"/>
            <a:ext cx="3416618" cy="1936075"/>
          </a:xfrm>
          <a:prstGeom prst="rect">
            <a:avLst/>
          </a:prstGeom>
        </p:spPr>
      </p:pic>
      <p:sp>
        <p:nvSpPr>
          <p:cNvPr id="38" name="Text 30"/>
          <p:cNvSpPr/>
          <p:nvPr/>
        </p:nvSpPr>
        <p:spPr>
          <a:xfrm>
            <a:off x="5578673" y="9060061"/>
            <a:ext cx="1240393" cy="155019"/>
          </a:xfrm>
          <a:prstGeom prst="rect">
            <a:avLst/>
          </a:prstGeom>
          <a:noFill/>
          <a:ln/>
        </p:spPr>
        <p:txBody>
          <a:bodyPr wrap="none" lIns="0" tIns="0" rIns="0" bIns="0" rtlCol="0" anchor="t"/>
          <a:lstStyle/>
          <a:p>
            <a:pPr marL="0" indent="0" algn="r">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Adjourning</a:t>
            </a:r>
            <a:endParaRPr lang="en-US" sz="950" dirty="0"/>
          </a:p>
        </p:txBody>
      </p:sp>
      <p:sp>
        <p:nvSpPr>
          <p:cNvPr id="39" name="Text 31"/>
          <p:cNvSpPr/>
          <p:nvPr/>
        </p:nvSpPr>
        <p:spPr>
          <a:xfrm>
            <a:off x="3402449" y="9244846"/>
            <a:ext cx="3416618" cy="237887"/>
          </a:xfrm>
          <a:prstGeom prst="rect">
            <a:avLst/>
          </a:prstGeom>
          <a:noFill/>
          <a:ln/>
        </p:spPr>
        <p:txBody>
          <a:bodyPr wrap="square" lIns="0" tIns="0" rIns="0" bIns="0" rtlCol="0" anchor="t"/>
          <a:lstStyle/>
          <a:p>
            <a:pPr marL="0" indent="0" algn="r">
              <a:lnSpc>
                <a:spcPts val="900"/>
              </a:lnSpc>
              <a:buNone/>
            </a:pPr>
            <a:r>
              <a:rPr lang="en-US" sz="750" dirty="0">
                <a:solidFill>
                  <a:srgbClr val="443728"/>
                </a:solidFill>
                <a:latin typeface="Open Sans" pitchFamily="34" charset="0"/>
                <a:ea typeface="Open Sans" pitchFamily="34" charset="-122"/>
                <a:cs typeface="Open Sans" pitchFamily="34" charset="-120"/>
              </a:rPr>
              <a:t>The group disbands after completing its task. Members reflect on achievements and may experience loss.</a:t>
            </a:r>
            <a:endParaRPr lang="en-US" sz="750" dirty="0"/>
          </a:p>
        </p:txBody>
      </p:sp>
      <p:sp>
        <p:nvSpPr>
          <p:cNvPr id="40" name="Text 32"/>
          <p:cNvSpPr/>
          <p:nvPr/>
        </p:nvSpPr>
        <p:spPr>
          <a:xfrm>
            <a:off x="3402449" y="9587984"/>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Belbin's Team Roles</a:t>
            </a:r>
            <a:endParaRPr lang="en-US" sz="950" dirty="0"/>
          </a:p>
        </p:txBody>
      </p:sp>
      <p:sp>
        <p:nvSpPr>
          <p:cNvPr id="41" name="Text 33"/>
          <p:cNvSpPr/>
          <p:nvPr/>
        </p:nvSpPr>
        <p:spPr>
          <a:xfrm>
            <a:off x="3402449" y="9792533"/>
            <a:ext cx="3791783" cy="594717"/>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Meredith Belbin identified nine team roles across three clusters: </a:t>
            </a:r>
            <a:r>
              <a:rPr lang="en-US" sz="750" b="1" dirty="0">
                <a:solidFill>
                  <a:srgbClr val="443728"/>
                </a:solidFill>
                <a:latin typeface="Open Sans" pitchFamily="34" charset="0"/>
                <a:ea typeface="Open Sans" pitchFamily="34" charset="-122"/>
                <a:cs typeface="Open Sans" pitchFamily="34" charset="-120"/>
              </a:rPr>
              <a:t>Action-Oriented</a:t>
            </a:r>
            <a:r>
              <a:rPr lang="en-US" sz="750" dirty="0">
                <a:solidFill>
                  <a:srgbClr val="443728"/>
                </a:solidFill>
                <a:latin typeface="Open Sans" pitchFamily="34" charset="0"/>
                <a:ea typeface="Open Sans" pitchFamily="34" charset="-122"/>
                <a:cs typeface="Open Sans" pitchFamily="34" charset="-120"/>
              </a:rPr>
              <a:t> (Shaper, Implementer, Completer-Finisher), </a:t>
            </a:r>
            <a:r>
              <a:rPr lang="en-US" sz="750" b="1" dirty="0">
                <a:solidFill>
                  <a:srgbClr val="443728"/>
                </a:solidFill>
                <a:latin typeface="Open Sans" pitchFamily="34" charset="0"/>
                <a:ea typeface="Open Sans" pitchFamily="34" charset="-122"/>
                <a:cs typeface="Open Sans" pitchFamily="34" charset="-120"/>
              </a:rPr>
              <a:t>People-Oriented</a:t>
            </a:r>
            <a:r>
              <a:rPr lang="en-US" sz="750" dirty="0">
                <a:solidFill>
                  <a:srgbClr val="443728"/>
                </a:solidFill>
                <a:latin typeface="Open Sans" pitchFamily="34" charset="0"/>
                <a:ea typeface="Open Sans" pitchFamily="34" charset="-122"/>
                <a:cs typeface="Open Sans" pitchFamily="34" charset="-120"/>
              </a:rPr>
              <a:t> (Coordinator, Teamworker, Resource Investigator), and </a:t>
            </a:r>
            <a:r>
              <a:rPr lang="en-US" sz="750" b="1" dirty="0">
                <a:solidFill>
                  <a:srgbClr val="443728"/>
                </a:solidFill>
                <a:latin typeface="Open Sans" pitchFamily="34" charset="0"/>
                <a:ea typeface="Open Sans" pitchFamily="34" charset="-122"/>
                <a:cs typeface="Open Sans" pitchFamily="34" charset="-120"/>
              </a:rPr>
              <a:t>Thought-Oriented</a:t>
            </a:r>
            <a:r>
              <a:rPr lang="en-US" sz="750" dirty="0">
                <a:solidFill>
                  <a:srgbClr val="443728"/>
                </a:solidFill>
                <a:latin typeface="Open Sans" pitchFamily="34" charset="0"/>
                <a:ea typeface="Open Sans" pitchFamily="34" charset="-122"/>
                <a:cs typeface="Open Sans" pitchFamily="34" charset="-120"/>
              </a:rPr>
              <a:t> (Plant, Monitor-Evaluator, Specialist). Effective teams balance these roles. Knowing your role allows you to contribute your strengths while compensating for team gaps.</a:t>
            </a:r>
            <a:endParaRPr lang="en-US" sz="750" dirty="0"/>
          </a:p>
        </p:txBody>
      </p:sp>
      <p:sp>
        <p:nvSpPr>
          <p:cNvPr id="42" name="Text 34"/>
          <p:cNvSpPr/>
          <p:nvPr/>
        </p:nvSpPr>
        <p:spPr>
          <a:xfrm>
            <a:off x="7443788" y="9587984"/>
            <a:ext cx="2089309"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Social Identity Theory (Tajfel &amp; Turner)</a:t>
            </a:r>
            <a:endParaRPr lang="en-US" sz="950" dirty="0"/>
          </a:p>
        </p:txBody>
      </p:sp>
      <p:sp>
        <p:nvSpPr>
          <p:cNvPr id="43" name="Text 35"/>
          <p:cNvSpPr/>
          <p:nvPr/>
        </p:nvSpPr>
        <p:spPr>
          <a:xfrm>
            <a:off x="7443788" y="9792533"/>
            <a:ext cx="3791783" cy="594717"/>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People derive part of their self-concept from membership in social groups — including work teams and organisations. In-group favouritism and out-group discrimination emerge naturally from this. Managers must leverage shared identity to build cohesion while actively countering inter-group bias that fragments organisational collaboration.</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2553772" y="1171337"/>
            <a:ext cx="969883" cy="196572"/>
          </a:xfrm>
          <a:prstGeom prst="roundRect">
            <a:avLst>
              <a:gd name="adj" fmla="val 20642"/>
            </a:avLst>
          </a:prstGeom>
          <a:solidFill>
            <a:srgbClr val="EBE2E0"/>
          </a:solidFill>
          <a:ln/>
        </p:spPr>
        <p:txBody>
          <a:bodyPr/>
          <a:lstStyle/>
          <a:p>
            <a:endParaRPr lang="en-AU"/>
          </a:p>
        </p:txBody>
      </p:sp>
      <p:sp>
        <p:nvSpPr>
          <p:cNvPr id="3" name="Text 1"/>
          <p:cNvSpPr/>
          <p:nvPr/>
        </p:nvSpPr>
        <p:spPr>
          <a:xfrm>
            <a:off x="2626162" y="1207532"/>
            <a:ext cx="825103" cy="124182"/>
          </a:xfrm>
          <a:prstGeom prst="rect">
            <a:avLst/>
          </a:prstGeom>
          <a:noFill/>
          <a:ln/>
        </p:spPr>
        <p:txBody>
          <a:bodyPr wrap="none" lIns="0" tIns="0" rIns="0" bIns="0" rtlCol="0" anchor="t"/>
          <a:lstStyle/>
          <a:p>
            <a:pPr marL="0" indent="0" algn="l">
              <a:lnSpc>
                <a:spcPts val="950"/>
              </a:lnSpc>
              <a:buNone/>
            </a:pPr>
            <a:r>
              <a:rPr lang="en-US" sz="750" dirty="0">
                <a:solidFill>
                  <a:srgbClr val="443728"/>
                </a:solidFill>
                <a:latin typeface="Open Sans" pitchFamily="34" charset="0"/>
                <a:ea typeface="Open Sans" pitchFamily="34" charset="-122"/>
                <a:cs typeface="Open Sans" pitchFamily="34" charset="-120"/>
              </a:rPr>
              <a:t>LEVEL 2 — GROUP</a:t>
            </a:r>
            <a:endParaRPr lang="en-US" sz="750" dirty="0"/>
          </a:p>
        </p:txBody>
      </p:sp>
      <p:sp>
        <p:nvSpPr>
          <p:cNvPr id="4" name="Text 2"/>
          <p:cNvSpPr/>
          <p:nvPr/>
        </p:nvSpPr>
        <p:spPr>
          <a:xfrm>
            <a:off x="2553772" y="1397198"/>
            <a:ext cx="3018949" cy="377428"/>
          </a:xfrm>
          <a:prstGeom prst="rect">
            <a:avLst/>
          </a:prstGeom>
          <a:noFill/>
          <a:ln/>
        </p:spPr>
        <p:txBody>
          <a:bodyPr wrap="none" lIns="0" tIns="0" rIns="0" bIns="0" rtlCol="0" anchor="t"/>
          <a:lstStyle/>
          <a:p>
            <a:pPr marL="0" indent="0" algn="l">
              <a:lnSpc>
                <a:spcPts val="2950"/>
              </a:lnSpc>
              <a:buNone/>
            </a:pPr>
            <a:r>
              <a:rPr lang="en-US" sz="2350" b="1" dirty="0">
                <a:solidFill>
                  <a:srgbClr val="443728"/>
                </a:solidFill>
                <a:latin typeface="Crimson Pro Bold" pitchFamily="34" charset="0"/>
                <a:ea typeface="Crimson Pro Bold" pitchFamily="34" charset="-122"/>
                <a:cs typeface="Crimson Pro Bold" pitchFamily="34" charset="-120"/>
              </a:rPr>
              <a:t>Leadership Theories</a:t>
            </a:r>
            <a:endParaRPr lang="en-US" sz="2350" dirty="0"/>
          </a:p>
        </p:txBody>
      </p:sp>
      <p:sp>
        <p:nvSpPr>
          <p:cNvPr id="5" name="Text 3"/>
          <p:cNvSpPr/>
          <p:nvPr/>
        </p:nvSpPr>
        <p:spPr>
          <a:xfrm>
            <a:off x="2553772" y="1884759"/>
            <a:ext cx="9522857" cy="310515"/>
          </a:xfrm>
          <a:prstGeom prst="rect">
            <a:avLst/>
          </a:prstGeom>
          <a:noFill/>
          <a:ln/>
        </p:spPr>
        <p:txBody>
          <a:bodyPr wrap="square" lIns="0" tIns="0" rIns="0" bIns="0" rtlCol="0" anchor="t"/>
          <a:lstStyle/>
          <a:p>
            <a:pPr marL="0" indent="0" algn="l">
              <a:lnSpc>
                <a:spcPts val="1200"/>
              </a:lnSpc>
              <a:buNone/>
            </a:pPr>
            <a:r>
              <a:rPr lang="en-US" sz="950" dirty="0">
                <a:solidFill>
                  <a:srgbClr val="443728"/>
                </a:solidFill>
                <a:latin typeface="Open Sans" pitchFamily="34" charset="0"/>
                <a:ea typeface="Open Sans" pitchFamily="34" charset="-122"/>
                <a:cs typeface="Open Sans" pitchFamily="34" charset="-120"/>
              </a:rPr>
              <a:t>Leadership is one of the most studied topics in OB. Theories have evolved from viewing leadership as an innate trait to recognising it as a dynamic, relational, and context-dependent process. Below is a structured overview of each theoretical generation.</a:t>
            </a:r>
            <a:endParaRPr lang="en-US" sz="950" dirty="0"/>
          </a:p>
        </p:txBody>
      </p:sp>
      <p:sp>
        <p:nvSpPr>
          <p:cNvPr id="6" name="Shape 4"/>
          <p:cNvSpPr/>
          <p:nvPr/>
        </p:nvSpPr>
        <p:spPr>
          <a:xfrm>
            <a:off x="2553772" y="2277904"/>
            <a:ext cx="9522857" cy="1013936"/>
          </a:xfrm>
          <a:prstGeom prst="roundRect">
            <a:avLst>
              <a:gd name="adj" fmla="val 5002"/>
            </a:avLst>
          </a:prstGeom>
          <a:solidFill>
            <a:srgbClr val="E1D4D0"/>
          </a:solidFill>
          <a:ln/>
        </p:spPr>
        <p:txBody>
          <a:bodyPr/>
          <a:lstStyle/>
          <a:p>
            <a:endParaRPr lang="en-AU"/>
          </a:p>
        </p:txBody>
      </p:sp>
      <p:pic>
        <p:nvPicPr>
          <p:cNvPr id="7" name="Image 0" descr="preencoded.png"/>
          <p:cNvPicPr>
            <a:picLocks noChangeAspect="1"/>
          </p:cNvPicPr>
          <p:nvPr/>
        </p:nvPicPr>
        <p:blipFill>
          <a:blip r:embed="rId3"/>
          <a:stretch>
            <a:fillRect/>
          </a:stretch>
        </p:blipFill>
        <p:spPr>
          <a:xfrm>
            <a:off x="2674501" y="2444948"/>
            <a:ext cx="150852" cy="120729"/>
          </a:xfrm>
          <a:prstGeom prst="rect">
            <a:avLst/>
          </a:prstGeom>
        </p:spPr>
      </p:pic>
      <p:sp>
        <p:nvSpPr>
          <p:cNvPr id="8" name="Text 5"/>
          <p:cNvSpPr/>
          <p:nvPr/>
        </p:nvSpPr>
        <p:spPr>
          <a:xfrm>
            <a:off x="2946083" y="2381488"/>
            <a:ext cx="9009817" cy="783908"/>
          </a:xfrm>
          <a:prstGeom prst="rect">
            <a:avLst/>
          </a:prstGeom>
          <a:noFill/>
          <a:ln/>
        </p:spPr>
        <p:txBody>
          <a:bodyPr wrap="square" lIns="0" tIns="0" rIns="0" bIns="0" rtlCol="0" anchor="t"/>
          <a:lstStyle/>
          <a:p>
            <a:pPr marL="0" indent="0" algn="l">
              <a:lnSpc>
                <a:spcPts val="1200"/>
              </a:lnSpc>
              <a:buNone/>
            </a:pPr>
            <a:r>
              <a:rPr lang="en-US" sz="950" dirty="0">
                <a:solidFill>
                  <a:srgbClr val="000000"/>
                </a:solidFill>
                <a:latin typeface="Open Sans" pitchFamily="34" charset="0"/>
                <a:ea typeface="Open Sans" pitchFamily="34" charset="-122"/>
                <a:cs typeface="Open Sans" pitchFamily="34" charset="-120"/>
              </a:rPr>
              <a:t>📹 </a:t>
            </a:r>
            <a:r>
              <a:rPr lang="en-US" sz="950" b="1" dirty="0">
                <a:solidFill>
                  <a:srgbClr val="000000"/>
                </a:solidFill>
                <a:latin typeface="Open Sans" pitchFamily="34" charset="0"/>
                <a:ea typeface="Open Sans" pitchFamily="34" charset="-122"/>
                <a:cs typeface="Open Sans" pitchFamily="34" charset="-120"/>
              </a:rPr>
              <a:t>Video Placeholder</a:t>
            </a:r>
            <a:r>
              <a:rPr lang="en-US" sz="950" dirty="0">
                <a:solidFill>
                  <a:srgbClr val="000000"/>
                </a:solidFill>
                <a:latin typeface="Open Sans" pitchFamily="34" charset="0"/>
                <a:ea typeface="Open Sans" pitchFamily="34" charset="-122"/>
                <a:cs typeface="Open Sans" pitchFamily="34" charset="-120"/>
              </a:rPr>
              <a:t> — "Think about the people in your life who have led you — a parent, a coach, a teacher, an older sibling, a friend who always takes charge. What made you actually follow them? Was it their title, their personality, their knowledge, or the way they made you feel? And think about the ones who had authority but lost your respect — why? Leadership theory isn't just about CEOs. It's about every person who has ever influenced your behaviour. This video uses the leaders already in your life to walk through Trait, Behavioural, Contingency and Transformational theories — so you understand leadership as something you've already experienced, evaluated, and responded to your whole life."</a:t>
            </a:r>
            <a:endParaRPr lang="en-US" sz="950" dirty="0"/>
          </a:p>
        </p:txBody>
      </p:sp>
      <p:pic>
        <p:nvPicPr>
          <p:cNvPr id="9" name="Image 1" descr="preencoded.png"/>
          <p:cNvPicPr>
            <a:picLocks noChangeAspect="1"/>
          </p:cNvPicPr>
          <p:nvPr/>
        </p:nvPicPr>
        <p:blipFill>
          <a:blip r:embed="rId4"/>
          <a:stretch>
            <a:fillRect/>
          </a:stretch>
        </p:blipFill>
        <p:spPr>
          <a:xfrm>
            <a:off x="2553772" y="3374469"/>
            <a:ext cx="1340763" cy="1340763"/>
          </a:xfrm>
          <a:prstGeom prst="rect">
            <a:avLst/>
          </a:prstGeom>
        </p:spPr>
      </p:pic>
      <p:sp>
        <p:nvSpPr>
          <p:cNvPr id="10" name="Text 6"/>
          <p:cNvSpPr/>
          <p:nvPr/>
        </p:nvSpPr>
        <p:spPr>
          <a:xfrm>
            <a:off x="2553772" y="4807029"/>
            <a:ext cx="1509474" cy="188714"/>
          </a:xfrm>
          <a:prstGeom prst="rect">
            <a:avLst/>
          </a:prstGeom>
          <a:noFill/>
          <a:ln/>
        </p:spPr>
        <p:txBody>
          <a:bodyPr wrap="none" lIns="0" tIns="0" rIns="0" bIns="0" rtlCol="0" anchor="t"/>
          <a:lstStyle/>
          <a:p>
            <a:pPr marL="0" indent="0" algn="l">
              <a:lnSpc>
                <a:spcPts val="1450"/>
              </a:lnSpc>
              <a:buNone/>
            </a:pPr>
            <a:r>
              <a:rPr lang="en-US" sz="1150" b="1" dirty="0">
                <a:solidFill>
                  <a:srgbClr val="443728"/>
                </a:solidFill>
                <a:latin typeface="Crimson Pro Bold" pitchFamily="34" charset="0"/>
                <a:ea typeface="Crimson Pro Bold" pitchFamily="34" charset="-122"/>
                <a:cs typeface="Crimson Pro Bold" pitchFamily="34" charset="-120"/>
              </a:rPr>
              <a:t>Trait Theories</a:t>
            </a:r>
            <a:endParaRPr lang="en-US" sz="1150" dirty="0"/>
          </a:p>
        </p:txBody>
      </p:sp>
      <p:sp>
        <p:nvSpPr>
          <p:cNvPr id="11" name="Text 7"/>
          <p:cNvSpPr/>
          <p:nvPr/>
        </p:nvSpPr>
        <p:spPr>
          <a:xfrm>
            <a:off x="2553772" y="5039797"/>
            <a:ext cx="2311837" cy="1552575"/>
          </a:xfrm>
          <a:prstGeom prst="rect">
            <a:avLst/>
          </a:prstGeom>
          <a:noFill/>
          <a:ln/>
        </p:spPr>
        <p:txBody>
          <a:bodyPr wrap="square" lIns="0" tIns="0" rIns="0" bIns="0" rtlCol="0" anchor="t"/>
          <a:lstStyle/>
          <a:p>
            <a:pPr marL="0" indent="0" algn="l">
              <a:lnSpc>
                <a:spcPts val="1200"/>
              </a:lnSpc>
              <a:buNone/>
            </a:pPr>
            <a:r>
              <a:rPr lang="en-US" sz="950" dirty="0">
                <a:solidFill>
                  <a:srgbClr val="443728"/>
                </a:solidFill>
                <a:latin typeface="Open Sans" pitchFamily="34" charset="0"/>
                <a:ea typeface="Open Sans" pitchFamily="34" charset="-122"/>
                <a:cs typeface="Open Sans" pitchFamily="34" charset="-120"/>
              </a:rPr>
              <a:t>The </a:t>
            </a:r>
            <a:r>
              <a:rPr lang="en-US" sz="950" b="1" dirty="0">
                <a:solidFill>
                  <a:srgbClr val="443728"/>
                </a:solidFill>
                <a:latin typeface="Open Sans" pitchFamily="34" charset="0"/>
                <a:ea typeface="Open Sans" pitchFamily="34" charset="-122"/>
                <a:cs typeface="Open Sans" pitchFamily="34" charset="-120"/>
              </a:rPr>
              <a:t>"Great Man" Theory</a:t>
            </a:r>
            <a:r>
              <a:rPr lang="en-US" sz="950" dirty="0">
                <a:solidFill>
                  <a:srgbClr val="443728"/>
                </a:solidFill>
                <a:latin typeface="Open Sans" pitchFamily="34" charset="0"/>
                <a:ea typeface="Open Sans" pitchFamily="34" charset="-122"/>
                <a:cs typeface="Open Sans" pitchFamily="34" charset="-120"/>
              </a:rPr>
              <a:t> assumed leaders were born, not made — possessing innate qualities like charisma, intelligence, and determination. Later trait research identified specific characteristics (drive, integrity, self-confidence, emotional intelligence) that distinguish effective leaders. Limitation: traits alone don't account for situational variation.</a:t>
            </a:r>
            <a:endParaRPr lang="en-US" sz="950" dirty="0"/>
          </a:p>
        </p:txBody>
      </p:sp>
      <p:pic>
        <p:nvPicPr>
          <p:cNvPr id="12" name="Image 2" descr="preencoded.png"/>
          <p:cNvPicPr>
            <a:picLocks noChangeAspect="1"/>
          </p:cNvPicPr>
          <p:nvPr/>
        </p:nvPicPr>
        <p:blipFill>
          <a:blip r:embed="rId5"/>
          <a:stretch>
            <a:fillRect/>
          </a:stretch>
        </p:blipFill>
        <p:spPr>
          <a:xfrm>
            <a:off x="4957405" y="3374469"/>
            <a:ext cx="1340763" cy="1340763"/>
          </a:xfrm>
          <a:prstGeom prst="rect">
            <a:avLst/>
          </a:prstGeom>
        </p:spPr>
      </p:pic>
      <p:sp>
        <p:nvSpPr>
          <p:cNvPr id="13" name="Text 8"/>
          <p:cNvSpPr/>
          <p:nvPr/>
        </p:nvSpPr>
        <p:spPr>
          <a:xfrm>
            <a:off x="4957405" y="4807029"/>
            <a:ext cx="1509474" cy="188714"/>
          </a:xfrm>
          <a:prstGeom prst="rect">
            <a:avLst/>
          </a:prstGeom>
          <a:noFill/>
          <a:ln/>
        </p:spPr>
        <p:txBody>
          <a:bodyPr wrap="none" lIns="0" tIns="0" rIns="0" bIns="0" rtlCol="0" anchor="t"/>
          <a:lstStyle/>
          <a:p>
            <a:pPr marL="0" indent="0" algn="l">
              <a:lnSpc>
                <a:spcPts val="1450"/>
              </a:lnSpc>
              <a:buNone/>
            </a:pPr>
            <a:r>
              <a:rPr lang="en-US" sz="1150" b="1" dirty="0">
                <a:solidFill>
                  <a:srgbClr val="443728"/>
                </a:solidFill>
                <a:latin typeface="Crimson Pro Bold" pitchFamily="34" charset="0"/>
                <a:ea typeface="Crimson Pro Bold" pitchFamily="34" charset="-122"/>
                <a:cs typeface="Crimson Pro Bold" pitchFamily="34" charset="-120"/>
              </a:rPr>
              <a:t>Behavioural Theories</a:t>
            </a:r>
            <a:endParaRPr lang="en-US" sz="1150" dirty="0"/>
          </a:p>
        </p:txBody>
      </p:sp>
      <p:sp>
        <p:nvSpPr>
          <p:cNvPr id="14" name="Text 9"/>
          <p:cNvSpPr/>
          <p:nvPr/>
        </p:nvSpPr>
        <p:spPr>
          <a:xfrm>
            <a:off x="4957405" y="5039797"/>
            <a:ext cx="2311837" cy="1552575"/>
          </a:xfrm>
          <a:prstGeom prst="rect">
            <a:avLst/>
          </a:prstGeom>
          <a:noFill/>
          <a:ln/>
        </p:spPr>
        <p:txBody>
          <a:bodyPr wrap="square" lIns="0" tIns="0" rIns="0" bIns="0" rtlCol="0" anchor="t"/>
          <a:lstStyle/>
          <a:p>
            <a:pPr marL="0" indent="0" algn="l">
              <a:lnSpc>
                <a:spcPts val="1200"/>
              </a:lnSpc>
              <a:buNone/>
            </a:pPr>
            <a:r>
              <a:rPr lang="en-US" sz="950" dirty="0">
                <a:solidFill>
                  <a:srgbClr val="443728"/>
                </a:solidFill>
                <a:latin typeface="Open Sans" pitchFamily="34" charset="0"/>
                <a:ea typeface="Open Sans" pitchFamily="34" charset="-122"/>
                <a:cs typeface="Open Sans" pitchFamily="34" charset="-120"/>
              </a:rPr>
              <a:t>The </a:t>
            </a:r>
            <a:r>
              <a:rPr lang="en-US" sz="950" b="1" dirty="0">
                <a:solidFill>
                  <a:srgbClr val="443728"/>
                </a:solidFill>
                <a:latin typeface="Open Sans" pitchFamily="34" charset="0"/>
                <a:ea typeface="Open Sans" pitchFamily="34" charset="-122"/>
                <a:cs typeface="Open Sans" pitchFamily="34" charset="-120"/>
              </a:rPr>
              <a:t>Ohio State Studies</a:t>
            </a:r>
            <a:r>
              <a:rPr lang="en-US" sz="950" dirty="0">
                <a:solidFill>
                  <a:srgbClr val="443728"/>
                </a:solidFill>
                <a:latin typeface="Open Sans" pitchFamily="34" charset="0"/>
                <a:ea typeface="Open Sans" pitchFamily="34" charset="-122"/>
                <a:cs typeface="Open Sans" pitchFamily="34" charset="-120"/>
              </a:rPr>
              <a:t> identified two key dimensions: </a:t>
            </a:r>
            <a:r>
              <a:rPr lang="en-US" sz="950" b="1" dirty="0">
                <a:solidFill>
                  <a:srgbClr val="443728"/>
                </a:solidFill>
                <a:latin typeface="Open Sans" pitchFamily="34" charset="0"/>
                <a:ea typeface="Open Sans" pitchFamily="34" charset="-122"/>
                <a:cs typeface="Open Sans" pitchFamily="34" charset="-120"/>
              </a:rPr>
              <a:t>Initiating Structure</a:t>
            </a:r>
            <a:r>
              <a:rPr lang="en-US" sz="950" dirty="0">
                <a:solidFill>
                  <a:srgbClr val="443728"/>
                </a:solidFill>
                <a:latin typeface="Open Sans" pitchFamily="34" charset="0"/>
                <a:ea typeface="Open Sans" pitchFamily="34" charset="-122"/>
                <a:cs typeface="Open Sans" pitchFamily="34" charset="-120"/>
              </a:rPr>
              <a:t> (task focus) and </a:t>
            </a:r>
            <a:r>
              <a:rPr lang="en-US" sz="950" b="1" dirty="0">
                <a:solidFill>
                  <a:srgbClr val="443728"/>
                </a:solidFill>
                <a:latin typeface="Open Sans" pitchFamily="34" charset="0"/>
                <a:ea typeface="Open Sans" pitchFamily="34" charset="-122"/>
                <a:cs typeface="Open Sans" pitchFamily="34" charset="-120"/>
              </a:rPr>
              <a:t>Consideration</a:t>
            </a:r>
            <a:r>
              <a:rPr lang="en-US" sz="950" dirty="0">
                <a:solidFill>
                  <a:srgbClr val="443728"/>
                </a:solidFill>
                <a:latin typeface="Open Sans" pitchFamily="34" charset="0"/>
                <a:ea typeface="Open Sans" pitchFamily="34" charset="-122"/>
                <a:cs typeface="Open Sans" pitchFamily="34" charset="-120"/>
              </a:rPr>
              <a:t> (people focus). The </a:t>
            </a:r>
            <a:r>
              <a:rPr lang="en-US" sz="950" b="1" dirty="0">
                <a:solidFill>
                  <a:srgbClr val="443728"/>
                </a:solidFill>
                <a:latin typeface="Open Sans" pitchFamily="34" charset="0"/>
                <a:ea typeface="Open Sans" pitchFamily="34" charset="-122"/>
                <a:cs typeface="Open Sans" pitchFamily="34" charset="-120"/>
              </a:rPr>
              <a:t>University of Michigan Studies</a:t>
            </a:r>
            <a:r>
              <a:rPr lang="en-US" sz="950" dirty="0">
                <a:solidFill>
                  <a:srgbClr val="443728"/>
                </a:solidFill>
                <a:latin typeface="Open Sans" pitchFamily="34" charset="0"/>
                <a:ea typeface="Open Sans" pitchFamily="34" charset="-122"/>
                <a:cs typeface="Open Sans" pitchFamily="34" charset="-120"/>
              </a:rPr>
              <a:t> produced similar findings. Blake &amp; Mouton's </a:t>
            </a:r>
            <a:r>
              <a:rPr lang="en-US" sz="950" b="1" dirty="0">
                <a:solidFill>
                  <a:srgbClr val="443728"/>
                </a:solidFill>
                <a:latin typeface="Open Sans" pitchFamily="34" charset="0"/>
                <a:ea typeface="Open Sans" pitchFamily="34" charset="-122"/>
                <a:cs typeface="Open Sans" pitchFamily="34" charset="-120"/>
              </a:rPr>
              <a:t>Managerial Grid</a:t>
            </a:r>
            <a:r>
              <a:rPr lang="en-US" sz="950" dirty="0">
                <a:solidFill>
                  <a:srgbClr val="443728"/>
                </a:solidFill>
                <a:latin typeface="Open Sans" pitchFamily="34" charset="0"/>
                <a:ea typeface="Open Sans" pitchFamily="34" charset="-122"/>
                <a:cs typeface="Open Sans" pitchFamily="34" charset="-120"/>
              </a:rPr>
              <a:t> plots concern for people against concern for production, identifying five leadership styles, with "Team Management" (9,9) as ideal.</a:t>
            </a:r>
            <a:endParaRPr lang="en-US" sz="950" dirty="0"/>
          </a:p>
        </p:txBody>
      </p:sp>
      <p:pic>
        <p:nvPicPr>
          <p:cNvPr id="15" name="Image 3" descr="preencoded.png"/>
          <p:cNvPicPr>
            <a:picLocks noChangeAspect="1"/>
          </p:cNvPicPr>
          <p:nvPr/>
        </p:nvPicPr>
        <p:blipFill>
          <a:blip r:embed="rId6"/>
          <a:stretch>
            <a:fillRect/>
          </a:stretch>
        </p:blipFill>
        <p:spPr>
          <a:xfrm>
            <a:off x="7361039" y="3374469"/>
            <a:ext cx="1340763" cy="1340763"/>
          </a:xfrm>
          <a:prstGeom prst="rect">
            <a:avLst/>
          </a:prstGeom>
        </p:spPr>
      </p:pic>
      <p:sp>
        <p:nvSpPr>
          <p:cNvPr id="16" name="Text 10"/>
          <p:cNvSpPr/>
          <p:nvPr/>
        </p:nvSpPr>
        <p:spPr>
          <a:xfrm>
            <a:off x="7361039" y="4807029"/>
            <a:ext cx="1509474" cy="188714"/>
          </a:xfrm>
          <a:prstGeom prst="rect">
            <a:avLst/>
          </a:prstGeom>
          <a:noFill/>
          <a:ln/>
        </p:spPr>
        <p:txBody>
          <a:bodyPr wrap="none" lIns="0" tIns="0" rIns="0" bIns="0" rtlCol="0" anchor="t"/>
          <a:lstStyle/>
          <a:p>
            <a:pPr marL="0" indent="0" algn="l">
              <a:lnSpc>
                <a:spcPts val="1450"/>
              </a:lnSpc>
              <a:buNone/>
            </a:pPr>
            <a:r>
              <a:rPr lang="en-US" sz="1150" b="1" dirty="0">
                <a:solidFill>
                  <a:srgbClr val="443728"/>
                </a:solidFill>
                <a:latin typeface="Crimson Pro Bold" pitchFamily="34" charset="0"/>
                <a:ea typeface="Crimson Pro Bold" pitchFamily="34" charset="-122"/>
                <a:cs typeface="Crimson Pro Bold" pitchFamily="34" charset="-120"/>
              </a:rPr>
              <a:t>Contingency Theories</a:t>
            </a:r>
            <a:endParaRPr lang="en-US" sz="1150" dirty="0"/>
          </a:p>
        </p:txBody>
      </p:sp>
      <p:sp>
        <p:nvSpPr>
          <p:cNvPr id="17" name="Text 11"/>
          <p:cNvSpPr/>
          <p:nvPr/>
        </p:nvSpPr>
        <p:spPr>
          <a:xfrm>
            <a:off x="7361039" y="5039797"/>
            <a:ext cx="2311837" cy="1863090"/>
          </a:xfrm>
          <a:prstGeom prst="rect">
            <a:avLst/>
          </a:prstGeom>
          <a:noFill/>
          <a:ln/>
        </p:spPr>
        <p:txBody>
          <a:bodyPr wrap="square" lIns="0" tIns="0" rIns="0" bIns="0" rtlCol="0" anchor="t"/>
          <a:lstStyle/>
          <a:p>
            <a:pPr marL="0" indent="0" algn="l">
              <a:lnSpc>
                <a:spcPts val="1200"/>
              </a:lnSpc>
              <a:buNone/>
            </a:pPr>
            <a:r>
              <a:rPr lang="en-US" sz="950" b="1" dirty="0">
                <a:solidFill>
                  <a:srgbClr val="443728"/>
                </a:solidFill>
                <a:latin typeface="Open Sans" pitchFamily="34" charset="0"/>
                <a:ea typeface="Open Sans" pitchFamily="34" charset="-122"/>
                <a:cs typeface="Open Sans" pitchFamily="34" charset="-120"/>
              </a:rPr>
              <a:t>Fiedler's Contingency Model</a:t>
            </a:r>
            <a:r>
              <a:rPr lang="en-US" sz="950" dirty="0">
                <a:solidFill>
                  <a:srgbClr val="443728"/>
                </a:solidFill>
                <a:latin typeface="Open Sans" pitchFamily="34" charset="0"/>
                <a:ea typeface="Open Sans" pitchFamily="34" charset="-122"/>
                <a:cs typeface="Open Sans" pitchFamily="34" charset="-120"/>
              </a:rPr>
              <a:t> argues leadership effectiveness depends on matching leader style (task vs. relationship-oriented) to situational favourableness. </a:t>
            </a:r>
            <a:r>
              <a:rPr lang="en-US" sz="950" b="1" dirty="0">
                <a:solidFill>
                  <a:srgbClr val="443728"/>
                </a:solidFill>
                <a:latin typeface="Open Sans" pitchFamily="34" charset="0"/>
                <a:ea typeface="Open Sans" pitchFamily="34" charset="-122"/>
                <a:cs typeface="Open Sans" pitchFamily="34" charset="-120"/>
              </a:rPr>
              <a:t>Path-Goal Theory</a:t>
            </a:r>
            <a:r>
              <a:rPr lang="en-US" sz="950" dirty="0">
                <a:solidFill>
                  <a:srgbClr val="443728"/>
                </a:solidFill>
                <a:latin typeface="Open Sans" pitchFamily="34" charset="0"/>
                <a:ea typeface="Open Sans" pitchFamily="34" charset="-122"/>
                <a:cs typeface="Open Sans" pitchFamily="34" charset="-120"/>
              </a:rPr>
              <a:t> (House) holds that leaders should adapt style (directive, supportive, participative, achievement-oriented) to remove obstacles and motivate followers. </a:t>
            </a:r>
            <a:r>
              <a:rPr lang="en-US" sz="950" b="1" dirty="0">
                <a:solidFill>
                  <a:srgbClr val="443728"/>
                </a:solidFill>
                <a:latin typeface="Open Sans" pitchFamily="34" charset="0"/>
                <a:ea typeface="Open Sans" pitchFamily="34" charset="-122"/>
                <a:cs typeface="Open Sans" pitchFamily="34" charset="-120"/>
              </a:rPr>
              <a:t>Hersey-Blanchard Situational Leadership</a:t>
            </a:r>
            <a:r>
              <a:rPr lang="en-US" sz="950" dirty="0">
                <a:solidFill>
                  <a:srgbClr val="443728"/>
                </a:solidFill>
                <a:latin typeface="Open Sans" pitchFamily="34" charset="0"/>
                <a:ea typeface="Open Sans" pitchFamily="34" charset="-122"/>
                <a:cs typeface="Open Sans" pitchFamily="34" charset="-120"/>
              </a:rPr>
              <a:t> matches style to follower maturity and readiness.</a:t>
            </a:r>
            <a:endParaRPr lang="en-US" sz="950" dirty="0"/>
          </a:p>
        </p:txBody>
      </p:sp>
      <p:pic>
        <p:nvPicPr>
          <p:cNvPr id="18" name="Image 4" descr="preencoded.png"/>
          <p:cNvPicPr>
            <a:picLocks noChangeAspect="1"/>
          </p:cNvPicPr>
          <p:nvPr/>
        </p:nvPicPr>
        <p:blipFill>
          <a:blip r:embed="rId7"/>
          <a:stretch>
            <a:fillRect/>
          </a:stretch>
        </p:blipFill>
        <p:spPr>
          <a:xfrm>
            <a:off x="9764673" y="3374469"/>
            <a:ext cx="1340882" cy="1340882"/>
          </a:xfrm>
          <a:prstGeom prst="rect">
            <a:avLst/>
          </a:prstGeom>
        </p:spPr>
      </p:pic>
      <p:sp>
        <p:nvSpPr>
          <p:cNvPr id="19" name="Text 12"/>
          <p:cNvSpPr/>
          <p:nvPr/>
        </p:nvSpPr>
        <p:spPr>
          <a:xfrm>
            <a:off x="9764673" y="4807148"/>
            <a:ext cx="1524000" cy="188714"/>
          </a:xfrm>
          <a:prstGeom prst="rect">
            <a:avLst/>
          </a:prstGeom>
          <a:noFill/>
          <a:ln/>
        </p:spPr>
        <p:txBody>
          <a:bodyPr wrap="none" lIns="0" tIns="0" rIns="0" bIns="0" rtlCol="0" anchor="t"/>
          <a:lstStyle/>
          <a:p>
            <a:pPr marL="0" indent="0" algn="l">
              <a:lnSpc>
                <a:spcPts val="1450"/>
              </a:lnSpc>
              <a:buNone/>
            </a:pPr>
            <a:r>
              <a:rPr lang="en-US" sz="1150" b="1" dirty="0">
                <a:solidFill>
                  <a:srgbClr val="443728"/>
                </a:solidFill>
                <a:latin typeface="Crimson Pro Bold" pitchFamily="34" charset="0"/>
                <a:ea typeface="Crimson Pro Bold" pitchFamily="34" charset="-122"/>
                <a:cs typeface="Crimson Pro Bold" pitchFamily="34" charset="-120"/>
              </a:rPr>
              <a:t>Contemporary Theories</a:t>
            </a:r>
            <a:endParaRPr lang="en-US" sz="1150" dirty="0"/>
          </a:p>
        </p:txBody>
      </p:sp>
      <p:sp>
        <p:nvSpPr>
          <p:cNvPr id="20" name="Text 13"/>
          <p:cNvSpPr/>
          <p:nvPr/>
        </p:nvSpPr>
        <p:spPr>
          <a:xfrm>
            <a:off x="9764673" y="5039916"/>
            <a:ext cx="2311956" cy="2018348"/>
          </a:xfrm>
          <a:prstGeom prst="rect">
            <a:avLst/>
          </a:prstGeom>
          <a:noFill/>
          <a:ln/>
        </p:spPr>
        <p:txBody>
          <a:bodyPr wrap="square" lIns="0" tIns="0" rIns="0" bIns="0" rtlCol="0" anchor="t"/>
          <a:lstStyle/>
          <a:p>
            <a:pPr marL="0" indent="0" algn="l">
              <a:lnSpc>
                <a:spcPts val="1200"/>
              </a:lnSpc>
              <a:buNone/>
            </a:pPr>
            <a:r>
              <a:rPr lang="en-US" sz="950" b="1" dirty="0">
                <a:solidFill>
                  <a:srgbClr val="443728"/>
                </a:solidFill>
                <a:latin typeface="Open Sans" pitchFamily="34" charset="0"/>
                <a:ea typeface="Open Sans" pitchFamily="34" charset="-122"/>
                <a:cs typeface="Open Sans" pitchFamily="34" charset="-120"/>
              </a:rPr>
              <a:t>Transformational Leadership</a:t>
            </a:r>
            <a:r>
              <a:rPr lang="en-US" sz="950" dirty="0">
                <a:solidFill>
                  <a:srgbClr val="443728"/>
                </a:solidFill>
                <a:latin typeface="Open Sans" pitchFamily="34" charset="0"/>
                <a:ea typeface="Open Sans" pitchFamily="34" charset="-122"/>
                <a:cs typeface="Open Sans" pitchFamily="34" charset="-120"/>
              </a:rPr>
              <a:t> inspires change through vision, charisma, and intellectual stimulation. </a:t>
            </a:r>
            <a:r>
              <a:rPr lang="en-US" sz="950" b="1" dirty="0">
                <a:solidFill>
                  <a:srgbClr val="443728"/>
                </a:solidFill>
                <a:latin typeface="Open Sans" pitchFamily="34" charset="0"/>
                <a:ea typeface="Open Sans" pitchFamily="34" charset="-122"/>
                <a:cs typeface="Open Sans" pitchFamily="34" charset="-120"/>
              </a:rPr>
              <a:t>Transactional Leadership</a:t>
            </a:r>
            <a:r>
              <a:rPr lang="en-US" sz="950" dirty="0">
                <a:solidFill>
                  <a:srgbClr val="443728"/>
                </a:solidFill>
                <a:latin typeface="Open Sans" pitchFamily="34" charset="0"/>
                <a:ea typeface="Open Sans" pitchFamily="34" charset="-122"/>
                <a:cs typeface="Open Sans" pitchFamily="34" charset="-120"/>
              </a:rPr>
              <a:t> manages through contingent rewards and exception-based monitoring. </a:t>
            </a:r>
            <a:r>
              <a:rPr lang="en-US" sz="950" b="1" dirty="0">
                <a:solidFill>
                  <a:srgbClr val="443728"/>
                </a:solidFill>
                <a:latin typeface="Open Sans" pitchFamily="34" charset="0"/>
                <a:ea typeface="Open Sans" pitchFamily="34" charset="-122"/>
                <a:cs typeface="Open Sans" pitchFamily="34" charset="-120"/>
              </a:rPr>
              <a:t>Leader-Member Exchange (LMX)</a:t>
            </a:r>
            <a:r>
              <a:rPr lang="en-US" sz="950" dirty="0">
                <a:solidFill>
                  <a:srgbClr val="443728"/>
                </a:solidFill>
                <a:latin typeface="Open Sans" pitchFamily="34" charset="0"/>
                <a:ea typeface="Open Sans" pitchFamily="34" charset="-122"/>
                <a:cs typeface="Open Sans" pitchFamily="34" charset="-120"/>
              </a:rPr>
              <a:t> explores the quality of dyadic relationships between leaders and followers, noting that "in-group" members receive more resources. </a:t>
            </a:r>
            <a:r>
              <a:rPr lang="en-US" sz="950" b="1" dirty="0">
                <a:solidFill>
                  <a:srgbClr val="443728"/>
                </a:solidFill>
                <a:latin typeface="Open Sans" pitchFamily="34" charset="0"/>
                <a:ea typeface="Open Sans" pitchFamily="34" charset="-122"/>
                <a:cs typeface="Open Sans" pitchFamily="34" charset="-120"/>
              </a:rPr>
              <a:t>Servant Leadership</a:t>
            </a:r>
            <a:r>
              <a:rPr lang="en-US" sz="950" dirty="0">
                <a:solidFill>
                  <a:srgbClr val="443728"/>
                </a:solidFill>
                <a:latin typeface="Open Sans" pitchFamily="34" charset="0"/>
                <a:ea typeface="Open Sans" pitchFamily="34" charset="-122"/>
                <a:cs typeface="Open Sans" pitchFamily="34" charset="-120"/>
              </a:rPr>
              <a:t> places follower needs first, building community and shared purpose.</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3402449" y="272891"/>
            <a:ext cx="797481" cy="154781"/>
          </a:xfrm>
          <a:prstGeom prst="roundRect">
            <a:avLst>
              <a:gd name="adj" fmla="val 21542"/>
            </a:avLst>
          </a:prstGeom>
          <a:solidFill>
            <a:srgbClr val="EBE2E0"/>
          </a:solidFill>
          <a:ln/>
        </p:spPr>
        <p:txBody>
          <a:bodyPr/>
          <a:lstStyle/>
          <a:p>
            <a:endParaRPr lang="en-AU"/>
          </a:p>
        </p:txBody>
      </p:sp>
      <p:sp>
        <p:nvSpPr>
          <p:cNvPr id="3" name="Text 1"/>
          <p:cNvSpPr/>
          <p:nvPr/>
        </p:nvSpPr>
        <p:spPr>
          <a:xfrm>
            <a:off x="3461980" y="302657"/>
            <a:ext cx="678418" cy="95250"/>
          </a:xfrm>
          <a:prstGeom prst="rect">
            <a:avLst/>
          </a:prstGeom>
          <a:noFill/>
          <a:ln/>
        </p:spPr>
        <p:txBody>
          <a:bodyPr wrap="none" lIns="0" tIns="0" rIns="0" bIns="0" rtlCol="0" anchor="t"/>
          <a:lstStyle/>
          <a:p>
            <a:pPr marL="0" indent="0" algn="l">
              <a:lnSpc>
                <a:spcPts val="750"/>
              </a:lnSpc>
              <a:buNone/>
            </a:pPr>
            <a:r>
              <a:rPr lang="en-US" sz="600" dirty="0">
                <a:solidFill>
                  <a:srgbClr val="443728"/>
                </a:solidFill>
                <a:latin typeface="Open Sans" pitchFamily="34" charset="0"/>
                <a:ea typeface="Open Sans" pitchFamily="34" charset="-122"/>
                <a:cs typeface="Open Sans" pitchFamily="34" charset="-120"/>
              </a:rPr>
              <a:t>LEVEL 2 — GROUP</a:t>
            </a:r>
            <a:endParaRPr lang="en-US" sz="600" dirty="0"/>
          </a:p>
        </p:txBody>
      </p:sp>
      <p:sp>
        <p:nvSpPr>
          <p:cNvPr id="4" name="Text 2"/>
          <p:cNvSpPr/>
          <p:nvPr/>
        </p:nvSpPr>
        <p:spPr>
          <a:xfrm>
            <a:off x="3402449" y="447437"/>
            <a:ext cx="3560564"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Power, Politics &amp; Communication</a:t>
            </a:r>
            <a:endParaRPr lang="en-US" sz="1950" dirty="0"/>
          </a:p>
        </p:txBody>
      </p:sp>
      <p:sp>
        <p:nvSpPr>
          <p:cNvPr id="5" name="Shape 3"/>
          <p:cNvSpPr/>
          <p:nvPr/>
        </p:nvSpPr>
        <p:spPr>
          <a:xfrm>
            <a:off x="3331012" y="832009"/>
            <a:ext cx="3934658" cy="21915001"/>
          </a:xfrm>
          <a:prstGeom prst="roundRect">
            <a:avLst>
              <a:gd name="adj" fmla="val 1816"/>
            </a:avLst>
          </a:prstGeom>
          <a:solidFill>
            <a:srgbClr val="835E54"/>
          </a:solidFill>
          <a:ln/>
        </p:spPr>
        <p:txBody>
          <a:bodyPr/>
          <a:lstStyle/>
          <a:p>
            <a:endParaRPr lang="en-AU"/>
          </a:p>
        </p:txBody>
      </p:sp>
      <p:sp>
        <p:nvSpPr>
          <p:cNvPr id="6" name="Text 4"/>
          <p:cNvSpPr/>
          <p:nvPr/>
        </p:nvSpPr>
        <p:spPr>
          <a:xfrm>
            <a:off x="3430191" y="881539"/>
            <a:ext cx="1952982" cy="155019"/>
          </a:xfrm>
          <a:prstGeom prst="rect">
            <a:avLst/>
          </a:prstGeom>
          <a:noFill/>
          <a:ln/>
        </p:spPr>
        <p:txBody>
          <a:bodyPr wrap="none" lIns="0" tIns="0" rIns="0" bIns="0" rtlCol="0" anchor="t"/>
          <a:lstStyle/>
          <a:p>
            <a:pPr marL="0" indent="0" algn="l">
              <a:lnSpc>
                <a:spcPts val="1200"/>
              </a:lnSpc>
              <a:buNone/>
            </a:pPr>
            <a:r>
              <a:rPr lang="en-US" sz="950" b="1" dirty="0">
                <a:solidFill>
                  <a:srgbClr val="FFFFFF"/>
                </a:solidFill>
                <a:latin typeface="Crimson Pro Bold" pitchFamily="34" charset="0"/>
                <a:ea typeface="Crimson Pro Bold" pitchFamily="34" charset="-122"/>
                <a:cs typeface="Crimson Pro Bold" pitchFamily="34" charset="-120"/>
              </a:rPr>
              <a:t>French &amp; Raven's Five Bases of Power</a:t>
            </a:r>
            <a:endParaRPr lang="en-US" sz="950" dirty="0"/>
          </a:p>
        </p:txBody>
      </p:sp>
      <p:sp>
        <p:nvSpPr>
          <p:cNvPr id="7" name="Text 5"/>
          <p:cNvSpPr/>
          <p:nvPr/>
        </p:nvSpPr>
        <p:spPr>
          <a:xfrm>
            <a:off x="3430191" y="1086088"/>
            <a:ext cx="3736300" cy="475774"/>
          </a:xfrm>
          <a:prstGeom prst="rect">
            <a:avLst/>
          </a:prstGeom>
          <a:noFill/>
          <a:ln/>
        </p:spPr>
        <p:txBody>
          <a:bodyPr wrap="square" lIns="0" tIns="0" rIns="0" bIns="0" rtlCol="0" anchor="t"/>
          <a:lstStyle/>
          <a:p>
            <a:pPr marL="0" indent="0" algn="l">
              <a:lnSpc>
                <a:spcPts val="900"/>
              </a:lnSpc>
              <a:buNone/>
            </a:pPr>
            <a:r>
              <a:rPr lang="en-US" sz="750" dirty="0">
                <a:solidFill>
                  <a:srgbClr val="FFFFFF"/>
                </a:solidFill>
                <a:latin typeface="Open Sans" pitchFamily="34" charset="0"/>
                <a:ea typeface="Open Sans" pitchFamily="34" charset="-122"/>
                <a:cs typeface="Open Sans" pitchFamily="34" charset="-120"/>
              </a:rPr>
              <a:t>John French and Bertram Raven identified five distinct sources from which leaders and others draw their power in organisations. Understanding these bases helps both leaders exercise influence effectively and employees recognise how power operates around them.</a:t>
            </a:r>
            <a:endParaRPr lang="en-US" sz="750" dirty="0"/>
          </a:p>
        </p:txBody>
      </p:sp>
      <p:sp>
        <p:nvSpPr>
          <p:cNvPr id="8" name="Shape 6"/>
          <p:cNvSpPr/>
          <p:nvPr/>
        </p:nvSpPr>
        <p:spPr>
          <a:xfrm>
            <a:off x="3430191" y="1672114"/>
            <a:ext cx="49530" cy="49530"/>
          </a:xfrm>
          <a:prstGeom prst="roundRect">
            <a:avLst>
              <a:gd name="adj" fmla="val 923077"/>
            </a:avLst>
          </a:prstGeom>
          <a:solidFill>
            <a:srgbClr val="835E54"/>
          </a:solidFill>
          <a:ln/>
        </p:spPr>
        <p:txBody>
          <a:bodyPr/>
          <a:lstStyle/>
          <a:p>
            <a:endParaRPr lang="en-AU"/>
          </a:p>
        </p:txBody>
      </p:sp>
      <p:pic>
        <p:nvPicPr>
          <p:cNvPr id="9" name="Image 0" descr="preencoded.png"/>
          <p:cNvPicPr>
            <a:picLocks noChangeAspect="1"/>
          </p:cNvPicPr>
          <p:nvPr/>
        </p:nvPicPr>
        <p:blipFill>
          <a:blip r:embed="rId3"/>
          <a:stretch>
            <a:fillRect/>
          </a:stretch>
        </p:blipFill>
        <p:spPr>
          <a:xfrm>
            <a:off x="3529251" y="1617583"/>
            <a:ext cx="3637240" cy="3637240"/>
          </a:xfrm>
          <a:prstGeom prst="rect">
            <a:avLst/>
          </a:prstGeom>
        </p:spPr>
      </p:pic>
      <p:sp>
        <p:nvSpPr>
          <p:cNvPr id="10" name="Text 7"/>
          <p:cNvSpPr/>
          <p:nvPr/>
        </p:nvSpPr>
        <p:spPr>
          <a:xfrm>
            <a:off x="3529251" y="5310545"/>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FFFFFF"/>
                </a:solidFill>
                <a:latin typeface="Crimson Pro Bold" pitchFamily="34" charset="0"/>
                <a:ea typeface="Crimson Pro Bold" pitchFamily="34" charset="-122"/>
                <a:cs typeface="Crimson Pro Bold" pitchFamily="34" charset="-120"/>
              </a:rPr>
              <a:t>Legitimate Power</a:t>
            </a:r>
            <a:endParaRPr lang="en-US" sz="950" dirty="0"/>
          </a:p>
        </p:txBody>
      </p:sp>
      <p:sp>
        <p:nvSpPr>
          <p:cNvPr id="11" name="Text 8"/>
          <p:cNvSpPr/>
          <p:nvPr/>
        </p:nvSpPr>
        <p:spPr>
          <a:xfrm>
            <a:off x="3529251" y="5515094"/>
            <a:ext cx="3637240" cy="237887"/>
          </a:xfrm>
          <a:prstGeom prst="rect">
            <a:avLst/>
          </a:prstGeom>
          <a:noFill/>
          <a:ln/>
        </p:spPr>
        <p:txBody>
          <a:bodyPr wrap="square" lIns="0" tIns="0" rIns="0" bIns="0" rtlCol="0" anchor="t"/>
          <a:lstStyle/>
          <a:p>
            <a:pPr marL="0" indent="0" algn="l">
              <a:lnSpc>
                <a:spcPts val="900"/>
              </a:lnSpc>
              <a:buNone/>
            </a:pPr>
            <a:r>
              <a:rPr lang="en-US" sz="750" dirty="0">
                <a:solidFill>
                  <a:srgbClr val="FFFFFF"/>
                </a:solidFill>
                <a:latin typeface="Open Sans" pitchFamily="34" charset="0"/>
                <a:ea typeface="Open Sans" pitchFamily="34" charset="-122"/>
                <a:cs typeface="Open Sans" pitchFamily="34" charset="-120"/>
              </a:rPr>
              <a:t>Derived from formal position or role in the organisational hierarchy. It is granted by the organisation and is recognised by others as rightful authority.</a:t>
            </a:r>
            <a:endParaRPr lang="en-US" sz="750" dirty="0"/>
          </a:p>
        </p:txBody>
      </p:sp>
      <p:sp>
        <p:nvSpPr>
          <p:cNvPr id="12" name="Shape 9"/>
          <p:cNvSpPr/>
          <p:nvPr/>
        </p:nvSpPr>
        <p:spPr>
          <a:xfrm>
            <a:off x="3430191" y="5906691"/>
            <a:ext cx="49530" cy="49530"/>
          </a:xfrm>
          <a:prstGeom prst="roundRect">
            <a:avLst>
              <a:gd name="adj" fmla="val 923077"/>
            </a:avLst>
          </a:prstGeom>
          <a:solidFill>
            <a:srgbClr val="835E54"/>
          </a:solidFill>
          <a:ln/>
        </p:spPr>
        <p:txBody>
          <a:bodyPr/>
          <a:lstStyle/>
          <a:p>
            <a:endParaRPr lang="en-AU"/>
          </a:p>
        </p:txBody>
      </p:sp>
      <p:pic>
        <p:nvPicPr>
          <p:cNvPr id="13" name="Image 1" descr="preencoded.png"/>
          <p:cNvPicPr>
            <a:picLocks noChangeAspect="1"/>
          </p:cNvPicPr>
          <p:nvPr/>
        </p:nvPicPr>
        <p:blipFill>
          <a:blip r:embed="rId4"/>
          <a:stretch>
            <a:fillRect/>
          </a:stretch>
        </p:blipFill>
        <p:spPr>
          <a:xfrm>
            <a:off x="3529251" y="5852160"/>
            <a:ext cx="3637240" cy="3637240"/>
          </a:xfrm>
          <a:prstGeom prst="rect">
            <a:avLst/>
          </a:prstGeom>
        </p:spPr>
      </p:pic>
      <p:sp>
        <p:nvSpPr>
          <p:cNvPr id="14" name="Text 10"/>
          <p:cNvSpPr/>
          <p:nvPr/>
        </p:nvSpPr>
        <p:spPr>
          <a:xfrm>
            <a:off x="3529251" y="9545122"/>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FFFFFF"/>
                </a:solidFill>
                <a:latin typeface="Crimson Pro Bold" pitchFamily="34" charset="0"/>
                <a:ea typeface="Crimson Pro Bold" pitchFamily="34" charset="-122"/>
                <a:cs typeface="Crimson Pro Bold" pitchFamily="34" charset="-120"/>
              </a:rPr>
              <a:t>Reward Power</a:t>
            </a:r>
            <a:endParaRPr lang="en-US" sz="950" dirty="0"/>
          </a:p>
        </p:txBody>
      </p:sp>
      <p:sp>
        <p:nvSpPr>
          <p:cNvPr id="15" name="Text 11"/>
          <p:cNvSpPr/>
          <p:nvPr/>
        </p:nvSpPr>
        <p:spPr>
          <a:xfrm>
            <a:off x="3529251" y="9749671"/>
            <a:ext cx="3637240" cy="237887"/>
          </a:xfrm>
          <a:prstGeom prst="rect">
            <a:avLst/>
          </a:prstGeom>
          <a:noFill/>
          <a:ln/>
        </p:spPr>
        <p:txBody>
          <a:bodyPr wrap="square" lIns="0" tIns="0" rIns="0" bIns="0" rtlCol="0" anchor="t"/>
          <a:lstStyle/>
          <a:p>
            <a:pPr marL="0" indent="0" algn="l">
              <a:lnSpc>
                <a:spcPts val="900"/>
              </a:lnSpc>
              <a:buNone/>
            </a:pPr>
            <a:r>
              <a:rPr lang="en-US" sz="750" dirty="0">
                <a:solidFill>
                  <a:srgbClr val="FFFFFF"/>
                </a:solidFill>
                <a:latin typeface="Open Sans" pitchFamily="34" charset="0"/>
                <a:ea typeface="Open Sans" pitchFamily="34" charset="-122"/>
                <a:cs typeface="Open Sans" pitchFamily="34" charset="-120"/>
              </a:rPr>
              <a:t>The ability to grant positive outcomes — pay rises, promotions, praise, or preferred assignments — to influence behaviour.</a:t>
            </a:r>
            <a:endParaRPr lang="en-US" sz="750" dirty="0"/>
          </a:p>
        </p:txBody>
      </p:sp>
      <p:sp>
        <p:nvSpPr>
          <p:cNvPr id="16" name="Shape 12"/>
          <p:cNvSpPr/>
          <p:nvPr/>
        </p:nvSpPr>
        <p:spPr>
          <a:xfrm>
            <a:off x="3430191" y="10141268"/>
            <a:ext cx="49530" cy="49530"/>
          </a:xfrm>
          <a:prstGeom prst="roundRect">
            <a:avLst>
              <a:gd name="adj" fmla="val 923077"/>
            </a:avLst>
          </a:prstGeom>
          <a:solidFill>
            <a:srgbClr val="835E54"/>
          </a:solidFill>
          <a:ln/>
        </p:spPr>
        <p:txBody>
          <a:bodyPr/>
          <a:lstStyle/>
          <a:p>
            <a:endParaRPr lang="en-AU"/>
          </a:p>
        </p:txBody>
      </p:sp>
      <p:pic>
        <p:nvPicPr>
          <p:cNvPr id="17" name="Image 2" descr="preencoded.png"/>
          <p:cNvPicPr>
            <a:picLocks noChangeAspect="1"/>
          </p:cNvPicPr>
          <p:nvPr/>
        </p:nvPicPr>
        <p:blipFill>
          <a:blip r:embed="rId5"/>
          <a:stretch>
            <a:fillRect/>
          </a:stretch>
        </p:blipFill>
        <p:spPr>
          <a:xfrm>
            <a:off x="3529251" y="10086737"/>
            <a:ext cx="3637240" cy="3637240"/>
          </a:xfrm>
          <a:prstGeom prst="rect">
            <a:avLst/>
          </a:prstGeom>
        </p:spPr>
      </p:pic>
      <p:sp>
        <p:nvSpPr>
          <p:cNvPr id="18" name="Text 13"/>
          <p:cNvSpPr/>
          <p:nvPr/>
        </p:nvSpPr>
        <p:spPr>
          <a:xfrm>
            <a:off x="3529251" y="13779698"/>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FFFFFF"/>
                </a:solidFill>
                <a:latin typeface="Crimson Pro Bold" pitchFamily="34" charset="0"/>
                <a:ea typeface="Crimson Pro Bold" pitchFamily="34" charset="-122"/>
                <a:cs typeface="Crimson Pro Bold" pitchFamily="34" charset="-120"/>
              </a:rPr>
              <a:t>Coercive Power</a:t>
            </a:r>
            <a:endParaRPr lang="en-US" sz="950" dirty="0"/>
          </a:p>
        </p:txBody>
      </p:sp>
      <p:sp>
        <p:nvSpPr>
          <p:cNvPr id="19" name="Text 14"/>
          <p:cNvSpPr/>
          <p:nvPr/>
        </p:nvSpPr>
        <p:spPr>
          <a:xfrm>
            <a:off x="3529251" y="13984248"/>
            <a:ext cx="3637240" cy="237887"/>
          </a:xfrm>
          <a:prstGeom prst="rect">
            <a:avLst/>
          </a:prstGeom>
          <a:noFill/>
          <a:ln/>
        </p:spPr>
        <p:txBody>
          <a:bodyPr wrap="square" lIns="0" tIns="0" rIns="0" bIns="0" rtlCol="0" anchor="t"/>
          <a:lstStyle/>
          <a:p>
            <a:pPr marL="0" indent="0" algn="l">
              <a:lnSpc>
                <a:spcPts val="900"/>
              </a:lnSpc>
              <a:buNone/>
            </a:pPr>
            <a:r>
              <a:rPr lang="en-US" sz="750" dirty="0">
                <a:solidFill>
                  <a:srgbClr val="FFFFFF"/>
                </a:solidFill>
                <a:latin typeface="Open Sans" pitchFamily="34" charset="0"/>
                <a:ea typeface="Open Sans" pitchFamily="34" charset="-122"/>
                <a:cs typeface="Open Sans" pitchFamily="34" charset="-120"/>
              </a:rPr>
              <a:t>Based on fear of punishment, demotion, or other negative consequences. Effective in the short term but corrosive to trust and engagement.</a:t>
            </a:r>
            <a:endParaRPr lang="en-US" sz="750" dirty="0"/>
          </a:p>
        </p:txBody>
      </p:sp>
      <p:sp>
        <p:nvSpPr>
          <p:cNvPr id="20" name="Shape 15"/>
          <p:cNvSpPr/>
          <p:nvPr/>
        </p:nvSpPr>
        <p:spPr>
          <a:xfrm>
            <a:off x="3430191" y="14375844"/>
            <a:ext cx="49530" cy="49530"/>
          </a:xfrm>
          <a:prstGeom prst="roundRect">
            <a:avLst>
              <a:gd name="adj" fmla="val 923077"/>
            </a:avLst>
          </a:prstGeom>
          <a:solidFill>
            <a:srgbClr val="835E54"/>
          </a:solidFill>
          <a:ln/>
        </p:spPr>
        <p:txBody>
          <a:bodyPr/>
          <a:lstStyle/>
          <a:p>
            <a:endParaRPr lang="en-AU"/>
          </a:p>
        </p:txBody>
      </p:sp>
      <p:pic>
        <p:nvPicPr>
          <p:cNvPr id="21" name="Image 3" descr="preencoded.png"/>
          <p:cNvPicPr>
            <a:picLocks noChangeAspect="1"/>
          </p:cNvPicPr>
          <p:nvPr/>
        </p:nvPicPr>
        <p:blipFill>
          <a:blip r:embed="rId6"/>
          <a:stretch>
            <a:fillRect/>
          </a:stretch>
        </p:blipFill>
        <p:spPr>
          <a:xfrm>
            <a:off x="3529251" y="14321314"/>
            <a:ext cx="3637240" cy="3637240"/>
          </a:xfrm>
          <a:prstGeom prst="rect">
            <a:avLst/>
          </a:prstGeom>
        </p:spPr>
      </p:pic>
      <p:sp>
        <p:nvSpPr>
          <p:cNvPr id="22" name="Text 16"/>
          <p:cNvSpPr/>
          <p:nvPr/>
        </p:nvSpPr>
        <p:spPr>
          <a:xfrm>
            <a:off x="3529251" y="18014275"/>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FFFFFF"/>
                </a:solidFill>
                <a:latin typeface="Crimson Pro Bold" pitchFamily="34" charset="0"/>
                <a:ea typeface="Crimson Pro Bold" pitchFamily="34" charset="-122"/>
                <a:cs typeface="Crimson Pro Bold" pitchFamily="34" charset="-120"/>
              </a:rPr>
              <a:t>Expert Power</a:t>
            </a:r>
            <a:endParaRPr lang="en-US" sz="950" dirty="0"/>
          </a:p>
        </p:txBody>
      </p:sp>
      <p:sp>
        <p:nvSpPr>
          <p:cNvPr id="23" name="Text 17"/>
          <p:cNvSpPr/>
          <p:nvPr/>
        </p:nvSpPr>
        <p:spPr>
          <a:xfrm>
            <a:off x="3529251" y="18218825"/>
            <a:ext cx="3637240" cy="237887"/>
          </a:xfrm>
          <a:prstGeom prst="rect">
            <a:avLst/>
          </a:prstGeom>
          <a:noFill/>
          <a:ln/>
        </p:spPr>
        <p:txBody>
          <a:bodyPr wrap="square" lIns="0" tIns="0" rIns="0" bIns="0" rtlCol="0" anchor="t"/>
          <a:lstStyle/>
          <a:p>
            <a:pPr marL="0" indent="0" algn="l">
              <a:lnSpc>
                <a:spcPts val="900"/>
              </a:lnSpc>
              <a:buNone/>
            </a:pPr>
            <a:r>
              <a:rPr lang="en-US" sz="750" dirty="0">
                <a:solidFill>
                  <a:srgbClr val="FFFFFF"/>
                </a:solidFill>
                <a:latin typeface="Open Sans" pitchFamily="34" charset="0"/>
                <a:ea typeface="Open Sans" pitchFamily="34" charset="-122"/>
                <a:cs typeface="Open Sans" pitchFamily="34" charset="-120"/>
              </a:rPr>
              <a:t>Drawn from superior knowledge, skill, or expertise. Highly credible and sustainable, as it is earned through demonstrated competence.</a:t>
            </a:r>
            <a:endParaRPr lang="en-US" sz="750" dirty="0"/>
          </a:p>
        </p:txBody>
      </p:sp>
      <p:sp>
        <p:nvSpPr>
          <p:cNvPr id="24" name="Shape 18"/>
          <p:cNvSpPr/>
          <p:nvPr/>
        </p:nvSpPr>
        <p:spPr>
          <a:xfrm>
            <a:off x="3430191" y="18610421"/>
            <a:ext cx="49530" cy="49530"/>
          </a:xfrm>
          <a:prstGeom prst="roundRect">
            <a:avLst>
              <a:gd name="adj" fmla="val 923077"/>
            </a:avLst>
          </a:prstGeom>
          <a:solidFill>
            <a:srgbClr val="835E54"/>
          </a:solidFill>
          <a:ln/>
        </p:spPr>
        <p:txBody>
          <a:bodyPr/>
          <a:lstStyle/>
          <a:p>
            <a:endParaRPr lang="en-AU"/>
          </a:p>
        </p:txBody>
      </p:sp>
      <p:pic>
        <p:nvPicPr>
          <p:cNvPr id="25" name="Image 4" descr="preencoded.png"/>
          <p:cNvPicPr>
            <a:picLocks noChangeAspect="1"/>
          </p:cNvPicPr>
          <p:nvPr/>
        </p:nvPicPr>
        <p:blipFill>
          <a:blip r:embed="rId7"/>
          <a:stretch>
            <a:fillRect/>
          </a:stretch>
        </p:blipFill>
        <p:spPr>
          <a:xfrm>
            <a:off x="3529251" y="18555891"/>
            <a:ext cx="3637240" cy="3637240"/>
          </a:xfrm>
          <a:prstGeom prst="rect">
            <a:avLst/>
          </a:prstGeom>
        </p:spPr>
      </p:pic>
      <p:sp>
        <p:nvSpPr>
          <p:cNvPr id="26" name="Text 19"/>
          <p:cNvSpPr/>
          <p:nvPr/>
        </p:nvSpPr>
        <p:spPr>
          <a:xfrm>
            <a:off x="3529251" y="22248852"/>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FFFFFF"/>
                </a:solidFill>
                <a:latin typeface="Crimson Pro Bold" pitchFamily="34" charset="0"/>
                <a:ea typeface="Crimson Pro Bold" pitchFamily="34" charset="-122"/>
                <a:cs typeface="Crimson Pro Bold" pitchFamily="34" charset="-120"/>
              </a:rPr>
              <a:t>Referent Power</a:t>
            </a:r>
            <a:endParaRPr lang="en-US" sz="950" dirty="0"/>
          </a:p>
        </p:txBody>
      </p:sp>
      <p:sp>
        <p:nvSpPr>
          <p:cNvPr id="27" name="Text 20"/>
          <p:cNvSpPr/>
          <p:nvPr/>
        </p:nvSpPr>
        <p:spPr>
          <a:xfrm>
            <a:off x="3529251" y="22453402"/>
            <a:ext cx="3637240" cy="237887"/>
          </a:xfrm>
          <a:prstGeom prst="rect">
            <a:avLst/>
          </a:prstGeom>
          <a:noFill/>
          <a:ln/>
        </p:spPr>
        <p:txBody>
          <a:bodyPr wrap="square" lIns="0" tIns="0" rIns="0" bIns="0" rtlCol="0" anchor="t"/>
          <a:lstStyle/>
          <a:p>
            <a:pPr marL="0" indent="0" algn="l">
              <a:lnSpc>
                <a:spcPts val="900"/>
              </a:lnSpc>
              <a:buNone/>
            </a:pPr>
            <a:r>
              <a:rPr lang="en-US" sz="750" dirty="0">
                <a:solidFill>
                  <a:srgbClr val="FFFFFF"/>
                </a:solidFill>
                <a:latin typeface="Open Sans" pitchFamily="34" charset="0"/>
                <a:ea typeface="Open Sans" pitchFamily="34" charset="-122"/>
                <a:cs typeface="Open Sans" pitchFamily="34" charset="-120"/>
              </a:rPr>
              <a:t>Based on admiration, identification, and liking. Charismatic leaders and trusted mentors hold referent power through relationship quality.</a:t>
            </a:r>
            <a:endParaRPr lang="en-US" sz="750" dirty="0"/>
          </a:p>
        </p:txBody>
      </p:sp>
      <p:sp>
        <p:nvSpPr>
          <p:cNvPr id="28" name="Text 21"/>
          <p:cNvSpPr/>
          <p:nvPr/>
        </p:nvSpPr>
        <p:spPr>
          <a:xfrm>
            <a:off x="7443788" y="881539"/>
            <a:ext cx="1343739"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Communication Theories</a:t>
            </a:r>
            <a:endParaRPr lang="en-US" sz="950" dirty="0"/>
          </a:p>
        </p:txBody>
      </p:sp>
      <p:pic>
        <p:nvPicPr>
          <p:cNvPr id="29" name="Image 5" descr="preencoded.png"/>
          <p:cNvPicPr>
            <a:picLocks noChangeAspect="1"/>
          </p:cNvPicPr>
          <p:nvPr/>
        </p:nvPicPr>
        <p:blipFill>
          <a:blip r:embed="rId8"/>
          <a:stretch>
            <a:fillRect/>
          </a:stretch>
        </p:blipFill>
        <p:spPr>
          <a:xfrm>
            <a:off x="7443788" y="1092279"/>
            <a:ext cx="3791783" cy="3791783"/>
          </a:xfrm>
          <a:prstGeom prst="rect">
            <a:avLst/>
          </a:prstGeom>
        </p:spPr>
      </p:pic>
      <p:sp>
        <p:nvSpPr>
          <p:cNvPr id="30" name="Text 22"/>
          <p:cNvSpPr/>
          <p:nvPr/>
        </p:nvSpPr>
        <p:spPr>
          <a:xfrm>
            <a:off x="7443788" y="4939784"/>
            <a:ext cx="3791783" cy="713661"/>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The </a:t>
            </a:r>
            <a:r>
              <a:rPr lang="en-US" sz="750" b="1" dirty="0">
                <a:solidFill>
                  <a:srgbClr val="443728"/>
                </a:solidFill>
                <a:latin typeface="Open Sans" pitchFamily="34" charset="0"/>
                <a:ea typeface="Open Sans" pitchFamily="34" charset="-122"/>
                <a:cs typeface="Open Sans" pitchFamily="34" charset="-120"/>
              </a:rPr>
              <a:t>Shannon-Weaver Model</a:t>
            </a:r>
            <a:r>
              <a:rPr lang="en-US" sz="750" dirty="0">
                <a:solidFill>
                  <a:srgbClr val="443728"/>
                </a:solidFill>
                <a:latin typeface="Open Sans" pitchFamily="34" charset="0"/>
                <a:ea typeface="Open Sans" pitchFamily="34" charset="-122"/>
                <a:cs typeface="Open Sans" pitchFamily="34" charset="-120"/>
              </a:rPr>
              <a:t> depicts communication as a linear process: a </a:t>
            </a:r>
            <a:r>
              <a:rPr lang="en-US" sz="750" i="1" dirty="0">
                <a:solidFill>
                  <a:srgbClr val="443728"/>
                </a:solidFill>
                <a:latin typeface="Open Sans" pitchFamily="34" charset="0"/>
                <a:ea typeface="Open Sans" pitchFamily="34" charset="-122"/>
                <a:cs typeface="Open Sans" pitchFamily="34" charset="-120"/>
              </a:rPr>
              <a:t>sender</a:t>
            </a:r>
            <a:r>
              <a:rPr lang="en-US" sz="750" dirty="0">
                <a:solidFill>
                  <a:srgbClr val="443728"/>
                </a:solidFill>
                <a:latin typeface="Open Sans" pitchFamily="34" charset="0"/>
                <a:ea typeface="Open Sans" pitchFamily="34" charset="-122"/>
                <a:cs typeface="Open Sans" pitchFamily="34" charset="-120"/>
              </a:rPr>
              <a:t> encodes a </a:t>
            </a:r>
            <a:r>
              <a:rPr lang="en-US" sz="750" i="1" dirty="0">
                <a:solidFill>
                  <a:srgbClr val="443728"/>
                </a:solidFill>
                <a:latin typeface="Open Sans" pitchFamily="34" charset="0"/>
                <a:ea typeface="Open Sans" pitchFamily="34" charset="-122"/>
                <a:cs typeface="Open Sans" pitchFamily="34" charset="-120"/>
              </a:rPr>
              <a:t>message</a:t>
            </a:r>
            <a:r>
              <a:rPr lang="en-US" sz="750" dirty="0">
                <a:solidFill>
                  <a:srgbClr val="443728"/>
                </a:solidFill>
                <a:latin typeface="Open Sans" pitchFamily="34" charset="0"/>
                <a:ea typeface="Open Sans" pitchFamily="34" charset="-122"/>
                <a:cs typeface="Open Sans" pitchFamily="34" charset="-120"/>
              </a:rPr>
              <a:t>, transmits it through a </a:t>
            </a:r>
            <a:r>
              <a:rPr lang="en-US" sz="750" i="1" dirty="0">
                <a:solidFill>
                  <a:srgbClr val="443728"/>
                </a:solidFill>
                <a:latin typeface="Open Sans" pitchFamily="34" charset="0"/>
                <a:ea typeface="Open Sans" pitchFamily="34" charset="-122"/>
                <a:cs typeface="Open Sans" pitchFamily="34" charset="-120"/>
              </a:rPr>
              <a:t>channel</a:t>
            </a:r>
            <a:r>
              <a:rPr lang="en-US" sz="750" dirty="0">
                <a:solidFill>
                  <a:srgbClr val="443728"/>
                </a:solidFill>
                <a:latin typeface="Open Sans" pitchFamily="34" charset="0"/>
                <a:ea typeface="Open Sans" pitchFamily="34" charset="-122"/>
                <a:cs typeface="Open Sans" pitchFamily="34" charset="-120"/>
              </a:rPr>
              <a:t>, and a </a:t>
            </a:r>
            <a:r>
              <a:rPr lang="en-US" sz="750" i="1" dirty="0">
                <a:solidFill>
                  <a:srgbClr val="443728"/>
                </a:solidFill>
                <a:latin typeface="Open Sans" pitchFamily="34" charset="0"/>
                <a:ea typeface="Open Sans" pitchFamily="34" charset="-122"/>
                <a:cs typeface="Open Sans" pitchFamily="34" charset="-120"/>
              </a:rPr>
              <a:t>receiver</a:t>
            </a:r>
            <a:r>
              <a:rPr lang="en-US" sz="750" dirty="0">
                <a:solidFill>
                  <a:srgbClr val="443728"/>
                </a:solidFill>
                <a:latin typeface="Open Sans" pitchFamily="34" charset="0"/>
                <a:ea typeface="Open Sans" pitchFamily="34" charset="-122"/>
                <a:cs typeface="Open Sans" pitchFamily="34" charset="-120"/>
              </a:rPr>
              <a:t> decodes it — all subject to </a:t>
            </a:r>
            <a:r>
              <a:rPr lang="en-US" sz="750" i="1" dirty="0">
                <a:solidFill>
                  <a:srgbClr val="443728"/>
                </a:solidFill>
                <a:latin typeface="Open Sans" pitchFamily="34" charset="0"/>
                <a:ea typeface="Open Sans" pitchFamily="34" charset="-122"/>
                <a:cs typeface="Open Sans" pitchFamily="34" charset="-120"/>
              </a:rPr>
              <a:t>noise</a:t>
            </a:r>
            <a:r>
              <a:rPr lang="en-US" sz="750" dirty="0">
                <a:solidFill>
                  <a:srgbClr val="443728"/>
                </a:solidFill>
                <a:latin typeface="Open Sans" pitchFamily="34" charset="0"/>
                <a:ea typeface="Open Sans" pitchFamily="34" charset="-122"/>
                <a:cs typeface="Open Sans" pitchFamily="34" charset="-120"/>
              </a:rPr>
              <a:t> that distorts meaning. While simplified, it highlights that breakdowns can occur at every stage. </a:t>
            </a:r>
            <a:r>
              <a:rPr lang="en-US" sz="750" b="1" dirty="0">
                <a:solidFill>
                  <a:srgbClr val="443728"/>
                </a:solidFill>
                <a:latin typeface="Open Sans" pitchFamily="34" charset="0"/>
                <a:ea typeface="Open Sans" pitchFamily="34" charset="-122"/>
                <a:cs typeface="Open Sans" pitchFamily="34" charset="-120"/>
              </a:rPr>
              <a:t>Interpersonal Communication Styles</a:t>
            </a:r>
            <a:r>
              <a:rPr lang="en-US" sz="750" dirty="0">
                <a:solidFill>
                  <a:srgbClr val="443728"/>
                </a:solidFill>
                <a:latin typeface="Open Sans" pitchFamily="34" charset="0"/>
                <a:ea typeface="Open Sans" pitchFamily="34" charset="-122"/>
                <a:cs typeface="Open Sans" pitchFamily="34" charset="-120"/>
              </a:rPr>
              <a:t> (assertive, aggressive, passive, passive-aggressive) further shape how messages land and relationships develop.</a:t>
            </a:r>
            <a:endParaRPr lang="en-US" sz="750" dirty="0"/>
          </a:p>
        </p:txBody>
      </p:sp>
      <p:sp>
        <p:nvSpPr>
          <p:cNvPr id="31" name="Shape 23"/>
          <p:cNvSpPr/>
          <p:nvPr/>
        </p:nvSpPr>
        <p:spPr>
          <a:xfrm>
            <a:off x="7443788" y="5709166"/>
            <a:ext cx="3791783" cy="1476851"/>
          </a:xfrm>
          <a:prstGeom prst="roundRect">
            <a:avLst>
              <a:gd name="adj" fmla="val 2822"/>
            </a:avLst>
          </a:prstGeom>
          <a:solidFill>
            <a:srgbClr val="E1D4D0"/>
          </a:solidFill>
          <a:ln/>
        </p:spPr>
        <p:txBody>
          <a:bodyPr/>
          <a:lstStyle/>
          <a:p>
            <a:endParaRPr lang="en-AU"/>
          </a:p>
        </p:txBody>
      </p:sp>
      <p:pic>
        <p:nvPicPr>
          <p:cNvPr id="32" name="Image 6" descr="preencoded.png"/>
          <p:cNvPicPr>
            <a:picLocks noChangeAspect="1"/>
          </p:cNvPicPr>
          <p:nvPr/>
        </p:nvPicPr>
        <p:blipFill>
          <a:blip r:embed="rId9"/>
          <a:stretch>
            <a:fillRect/>
          </a:stretch>
        </p:blipFill>
        <p:spPr>
          <a:xfrm>
            <a:off x="7542967" y="5837753"/>
            <a:ext cx="123944" cy="99179"/>
          </a:xfrm>
          <a:prstGeom prst="rect">
            <a:avLst/>
          </a:prstGeom>
        </p:spPr>
      </p:pic>
      <p:sp>
        <p:nvSpPr>
          <p:cNvPr id="33" name="Text 24"/>
          <p:cNvSpPr/>
          <p:nvPr/>
        </p:nvSpPr>
        <p:spPr>
          <a:xfrm>
            <a:off x="7766090" y="5783461"/>
            <a:ext cx="3370302" cy="1308378"/>
          </a:xfrm>
          <a:prstGeom prst="rect">
            <a:avLst/>
          </a:prstGeom>
          <a:noFill/>
          <a:ln/>
        </p:spPr>
        <p:txBody>
          <a:bodyPr wrap="square" lIns="0" tIns="0" rIns="0" bIns="0" rtlCol="0" anchor="t"/>
          <a:lstStyle/>
          <a:p>
            <a:pPr marL="0" indent="0" algn="l">
              <a:lnSpc>
                <a:spcPts val="900"/>
              </a:lnSpc>
              <a:buNone/>
            </a:pPr>
            <a:r>
              <a:rPr lang="en-US" sz="750" dirty="0">
                <a:solidFill>
                  <a:srgbClr val="000000"/>
                </a:solidFill>
                <a:latin typeface="Open Sans" pitchFamily="34" charset="0"/>
                <a:ea typeface="Open Sans" pitchFamily="34" charset="-122"/>
                <a:cs typeface="Open Sans" pitchFamily="34" charset="-120"/>
              </a:rPr>
              <a:t>📹 </a:t>
            </a:r>
            <a:r>
              <a:rPr lang="en-US" sz="750" b="1" dirty="0">
                <a:solidFill>
                  <a:srgbClr val="000000"/>
                </a:solidFill>
                <a:latin typeface="Open Sans" pitchFamily="34" charset="0"/>
                <a:ea typeface="Open Sans" pitchFamily="34" charset="-122"/>
                <a:cs typeface="Open Sans" pitchFamily="34" charset="-120"/>
              </a:rPr>
              <a:t>Video Placeholder</a:t>
            </a:r>
            <a:r>
              <a:rPr lang="en-US" sz="750" dirty="0">
                <a:solidFill>
                  <a:srgbClr val="000000"/>
                </a:solidFill>
                <a:latin typeface="Open Sans" pitchFamily="34" charset="0"/>
                <a:ea typeface="Open Sans" pitchFamily="34" charset="-122"/>
                <a:cs typeface="Open Sans" pitchFamily="34" charset="-120"/>
              </a:rPr>
              <a:t> — "Who has power over you right now — and why do you actually let them? Is it because they can punish you (coercive)? Because they control something you want (reward)? Because they know more than you (expert)? Because you genuinely admire them (referent)? Or just because of their role (legitimate)? These five power bases aren't just in organisations — they're in your family, your friend group, your school, your social media feed. And communication? Think about the last time a message you sent was completely misunderstood. That's Shannon-Weaver's noise in action. This video decodes power and communication through the relationships you're already navigating every day."</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3402449" y="272891"/>
            <a:ext cx="797481" cy="154781"/>
          </a:xfrm>
          <a:prstGeom prst="roundRect">
            <a:avLst>
              <a:gd name="adj" fmla="val 21542"/>
            </a:avLst>
          </a:prstGeom>
          <a:solidFill>
            <a:srgbClr val="EBE2E0"/>
          </a:solidFill>
          <a:ln/>
        </p:spPr>
        <p:txBody>
          <a:bodyPr/>
          <a:lstStyle/>
          <a:p>
            <a:endParaRPr lang="en-AU"/>
          </a:p>
        </p:txBody>
      </p:sp>
      <p:sp>
        <p:nvSpPr>
          <p:cNvPr id="3" name="Text 1"/>
          <p:cNvSpPr/>
          <p:nvPr/>
        </p:nvSpPr>
        <p:spPr>
          <a:xfrm>
            <a:off x="3461980" y="302657"/>
            <a:ext cx="678418" cy="95250"/>
          </a:xfrm>
          <a:prstGeom prst="rect">
            <a:avLst/>
          </a:prstGeom>
          <a:noFill/>
          <a:ln/>
        </p:spPr>
        <p:txBody>
          <a:bodyPr wrap="none" lIns="0" tIns="0" rIns="0" bIns="0" rtlCol="0" anchor="t"/>
          <a:lstStyle/>
          <a:p>
            <a:pPr marL="0" indent="0" algn="l">
              <a:lnSpc>
                <a:spcPts val="750"/>
              </a:lnSpc>
              <a:buNone/>
            </a:pPr>
            <a:r>
              <a:rPr lang="en-US" sz="600" dirty="0">
                <a:solidFill>
                  <a:srgbClr val="443728"/>
                </a:solidFill>
                <a:latin typeface="Open Sans" pitchFamily="34" charset="0"/>
                <a:ea typeface="Open Sans" pitchFamily="34" charset="-122"/>
                <a:cs typeface="Open Sans" pitchFamily="34" charset="-120"/>
              </a:rPr>
              <a:t>LEVEL 2 — GROUP</a:t>
            </a:r>
            <a:endParaRPr lang="en-US" sz="600" dirty="0"/>
          </a:p>
        </p:txBody>
      </p:sp>
      <p:sp>
        <p:nvSpPr>
          <p:cNvPr id="4" name="Text 2"/>
          <p:cNvSpPr/>
          <p:nvPr/>
        </p:nvSpPr>
        <p:spPr>
          <a:xfrm>
            <a:off x="3402449" y="447437"/>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Conflict &amp; Negotiation</a:t>
            </a:r>
            <a:endParaRPr lang="en-US" sz="1950" dirty="0"/>
          </a:p>
        </p:txBody>
      </p:sp>
      <p:sp>
        <p:nvSpPr>
          <p:cNvPr id="5" name="Text 3"/>
          <p:cNvSpPr/>
          <p:nvPr/>
        </p:nvSpPr>
        <p:spPr>
          <a:xfrm>
            <a:off x="3402449" y="832009"/>
            <a:ext cx="7825502" cy="237887"/>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Conflict is an inevitable part of organisational life. When managed well, it can stimulate creativity and improve decision quality. When managed poorly, it damages relationships and performance. Negotiation is the key process through which conflict is resolved.</a:t>
            </a:r>
            <a:endParaRPr lang="en-US" sz="750" dirty="0"/>
          </a:p>
        </p:txBody>
      </p:sp>
      <p:sp>
        <p:nvSpPr>
          <p:cNvPr id="6" name="Shape 4"/>
          <p:cNvSpPr/>
          <p:nvPr/>
        </p:nvSpPr>
        <p:spPr>
          <a:xfrm>
            <a:off x="3402449" y="1125617"/>
            <a:ext cx="7825502" cy="763191"/>
          </a:xfrm>
          <a:prstGeom prst="roundRect">
            <a:avLst>
              <a:gd name="adj" fmla="val 5461"/>
            </a:avLst>
          </a:prstGeom>
          <a:solidFill>
            <a:srgbClr val="E1D4D0"/>
          </a:solidFill>
          <a:ln/>
        </p:spPr>
        <p:txBody>
          <a:bodyPr/>
          <a:lstStyle/>
          <a:p>
            <a:endParaRPr lang="en-AU"/>
          </a:p>
        </p:txBody>
      </p:sp>
      <p:pic>
        <p:nvPicPr>
          <p:cNvPr id="7" name="Image 0" descr="preencoded.png"/>
          <p:cNvPicPr>
            <a:picLocks noChangeAspect="1"/>
          </p:cNvPicPr>
          <p:nvPr/>
        </p:nvPicPr>
        <p:blipFill>
          <a:blip r:embed="rId3"/>
          <a:stretch>
            <a:fillRect/>
          </a:stretch>
        </p:blipFill>
        <p:spPr>
          <a:xfrm>
            <a:off x="3501628" y="1254204"/>
            <a:ext cx="123944" cy="99179"/>
          </a:xfrm>
          <a:prstGeom prst="rect">
            <a:avLst/>
          </a:prstGeom>
        </p:spPr>
      </p:pic>
      <p:sp>
        <p:nvSpPr>
          <p:cNvPr id="8" name="Text 5"/>
          <p:cNvSpPr/>
          <p:nvPr/>
        </p:nvSpPr>
        <p:spPr>
          <a:xfrm>
            <a:off x="3724751" y="1199912"/>
            <a:ext cx="7404021" cy="594717"/>
          </a:xfrm>
          <a:prstGeom prst="rect">
            <a:avLst/>
          </a:prstGeom>
          <a:noFill/>
          <a:ln/>
        </p:spPr>
        <p:txBody>
          <a:bodyPr wrap="square" lIns="0" tIns="0" rIns="0" bIns="0" rtlCol="0" anchor="t"/>
          <a:lstStyle/>
          <a:p>
            <a:pPr marL="0" indent="0" algn="l">
              <a:lnSpc>
                <a:spcPts val="900"/>
              </a:lnSpc>
              <a:buNone/>
            </a:pPr>
            <a:r>
              <a:rPr lang="en-US" sz="750" dirty="0">
                <a:solidFill>
                  <a:srgbClr val="000000"/>
                </a:solidFill>
                <a:latin typeface="Open Sans" pitchFamily="34" charset="0"/>
                <a:ea typeface="Open Sans" pitchFamily="34" charset="-122"/>
                <a:cs typeface="Open Sans" pitchFamily="34" charset="-120"/>
              </a:rPr>
              <a:t>📹 </a:t>
            </a:r>
            <a:r>
              <a:rPr lang="en-US" sz="750" b="1" dirty="0">
                <a:solidFill>
                  <a:srgbClr val="000000"/>
                </a:solidFill>
                <a:latin typeface="Open Sans" pitchFamily="34" charset="0"/>
                <a:ea typeface="Open Sans" pitchFamily="34" charset="-122"/>
                <a:cs typeface="Open Sans" pitchFamily="34" charset="-120"/>
              </a:rPr>
              <a:t>Video Placeholder</a:t>
            </a:r>
            <a:r>
              <a:rPr lang="en-US" sz="750" dirty="0">
                <a:solidFill>
                  <a:srgbClr val="000000"/>
                </a:solidFill>
                <a:latin typeface="Open Sans" pitchFamily="34" charset="0"/>
                <a:ea typeface="Open Sans" pitchFamily="34" charset="-122"/>
                <a:cs typeface="Open Sans" pitchFamily="34" charset="-120"/>
              </a:rPr>
              <a:t> — "Think about how you handle conflict with a sibling, a close friend, or a parent. Do you go in hard and fight for what you want (Competing)? Do you avoid the conversation entirely and hope it goes away (Avoiding)? Do you give in to keep the peace even when you're right (Accommodating)? Or do you sit down and actually work it out together (Collaborating)? You already have a default conflict style — you've been using it your whole life. This video uses those real personal conflicts to map the Thomas-Kilmann model and Fisher &amp; Ury's negotiation principles onto your lived experience — so that when you face conflict at work, you'll know exactly what you're doing and why, and whether it's actually serving you."</a:t>
            </a:r>
            <a:endParaRPr lang="en-US" sz="750" dirty="0"/>
          </a:p>
        </p:txBody>
      </p:sp>
      <p:sp>
        <p:nvSpPr>
          <p:cNvPr id="9" name="Text 6"/>
          <p:cNvSpPr/>
          <p:nvPr/>
        </p:nvSpPr>
        <p:spPr>
          <a:xfrm>
            <a:off x="3402449" y="1994059"/>
            <a:ext cx="2642711"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Thomas-Kilmann Conflict Mode Instrument (TKI)</a:t>
            </a:r>
            <a:endParaRPr lang="en-US" sz="950" dirty="0"/>
          </a:p>
        </p:txBody>
      </p:sp>
      <p:sp>
        <p:nvSpPr>
          <p:cNvPr id="10" name="Text 7"/>
          <p:cNvSpPr/>
          <p:nvPr/>
        </p:nvSpPr>
        <p:spPr>
          <a:xfrm>
            <a:off x="3402449" y="2198608"/>
            <a:ext cx="3791783" cy="356830"/>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Kenneth Thomas and Ralph Kilmann mapped five conflict-handling styles on two dimensions — </a:t>
            </a:r>
            <a:r>
              <a:rPr lang="en-US" sz="750" b="1" dirty="0">
                <a:solidFill>
                  <a:srgbClr val="443728"/>
                </a:solidFill>
                <a:latin typeface="Open Sans" pitchFamily="34" charset="0"/>
                <a:ea typeface="Open Sans" pitchFamily="34" charset="-122"/>
                <a:cs typeface="Open Sans" pitchFamily="34" charset="-120"/>
              </a:rPr>
              <a:t>Assertiveness</a:t>
            </a:r>
            <a:r>
              <a:rPr lang="en-US" sz="750" dirty="0">
                <a:solidFill>
                  <a:srgbClr val="443728"/>
                </a:solidFill>
                <a:latin typeface="Open Sans" pitchFamily="34" charset="0"/>
                <a:ea typeface="Open Sans" pitchFamily="34" charset="-122"/>
                <a:cs typeface="Open Sans" pitchFamily="34" charset="-120"/>
              </a:rPr>
              <a:t> (concern for own goals) and </a:t>
            </a:r>
            <a:r>
              <a:rPr lang="en-US" sz="750" b="1" dirty="0">
                <a:solidFill>
                  <a:srgbClr val="443728"/>
                </a:solidFill>
                <a:latin typeface="Open Sans" pitchFamily="34" charset="0"/>
                <a:ea typeface="Open Sans" pitchFamily="34" charset="-122"/>
                <a:cs typeface="Open Sans" pitchFamily="34" charset="-120"/>
              </a:rPr>
              <a:t>Cooperativeness</a:t>
            </a:r>
            <a:r>
              <a:rPr lang="en-US" sz="750" dirty="0">
                <a:solidFill>
                  <a:srgbClr val="443728"/>
                </a:solidFill>
                <a:latin typeface="Open Sans" pitchFamily="34" charset="0"/>
                <a:ea typeface="Open Sans" pitchFamily="34" charset="-122"/>
                <a:cs typeface="Open Sans" pitchFamily="34" charset="-120"/>
              </a:rPr>
              <a:t> (concern for others' goals):</a:t>
            </a:r>
            <a:endParaRPr lang="en-US" sz="750" dirty="0"/>
          </a:p>
        </p:txBody>
      </p:sp>
      <p:sp>
        <p:nvSpPr>
          <p:cNvPr id="11" name="Shape 8"/>
          <p:cNvSpPr/>
          <p:nvPr/>
        </p:nvSpPr>
        <p:spPr>
          <a:xfrm>
            <a:off x="3402449" y="2611160"/>
            <a:ext cx="1871067" cy="2607231"/>
          </a:xfrm>
          <a:prstGeom prst="roundRect">
            <a:avLst>
              <a:gd name="adj" fmla="val 2228"/>
            </a:avLst>
          </a:prstGeom>
          <a:solidFill>
            <a:srgbClr val="FFFCFA"/>
          </a:solidFill>
          <a:ln w="15240">
            <a:solidFill>
              <a:srgbClr val="D1C8C6"/>
            </a:solidFill>
            <a:prstDash val="solid"/>
          </a:ln>
        </p:spPr>
        <p:txBody>
          <a:bodyPr/>
          <a:lstStyle/>
          <a:p>
            <a:endParaRPr lang="en-AU"/>
          </a:p>
        </p:txBody>
      </p:sp>
      <p:pic>
        <p:nvPicPr>
          <p:cNvPr id="12" name="Image 1" descr="preencoded.png"/>
          <p:cNvPicPr>
            <a:picLocks noChangeAspect="1"/>
          </p:cNvPicPr>
          <p:nvPr/>
        </p:nvPicPr>
        <p:blipFill>
          <a:blip r:embed="rId4"/>
          <a:stretch>
            <a:fillRect/>
          </a:stretch>
        </p:blipFill>
        <p:spPr>
          <a:xfrm>
            <a:off x="3516868" y="2725579"/>
            <a:ext cx="1642229" cy="1642229"/>
          </a:xfrm>
          <a:prstGeom prst="rect">
            <a:avLst/>
          </a:prstGeom>
        </p:spPr>
      </p:pic>
      <p:sp>
        <p:nvSpPr>
          <p:cNvPr id="13" name="Text 9"/>
          <p:cNvSpPr/>
          <p:nvPr/>
        </p:nvSpPr>
        <p:spPr>
          <a:xfrm>
            <a:off x="3516868" y="4423529"/>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Competing</a:t>
            </a:r>
            <a:endParaRPr lang="en-US" sz="950" dirty="0"/>
          </a:p>
        </p:txBody>
      </p:sp>
      <p:sp>
        <p:nvSpPr>
          <p:cNvPr id="14" name="Text 10"/>
          <p:cNvSpPr/>
          <p:nvPr/>
        </p:nvSpPr>
        <p:spPr>
          <a:xfrm>
            <a:off x="3516868" y="4628078"/>
            <a:ext cx="1642229" cy="475774"/>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High assertiveness, low cooperation. Win-lose approach. Best for emergencies or when decisiveness is critical.</a:t>
            </a:r>
            <a:endParaRPr lang="en-US" sz="750" dirty="0"/>
          </a:p>
        </p:txBody>
      </p:sp>
      <p:sp>
        <p:nvSpPr>
          <p:cNvPr id="15" name="Shape 11"/>
          <p:cNvSpPr/>
          <p:nvPr/>
        </p:nvSpPr>
        <p:spPr>
          <a:xfrm>
            <a:off x="5323046" y="2611160"/>
            <a:ext cx="1871186" cy="2607231"/>
          </a:xfrm>
          <a:prstGeom prst="roundRect">
            <a:avLst>
              <a:gd name="adj" fmla="val 2227"/>
            </a:avLst>
          </a:prstGeom>
          <a:solidFill>
            <a:srgbClr val="FFFCFA"/>
          </a:solidFill>
          <a:ln w="15240">
            <a:solidFill>
              <a:srgbClr val="D1C8C6"/>
            </a:solidFill>
            <a:prstDash val="solid"/>
          </a:ln>
        </p:spPr>
        <p:txBody>
          <a:bodyPr/>
          <a:lstStyle/>
          <a:p>
            <a:endParaRPr lang="en-AU"/>
          </a:p>
        </p:txBody>
      </p:sp>
      <p:pic>
        <p:nvPicPr>
          <p:cNvPr id="16" name="Image 2" descr="preencoded.png"/>
          <p:cNvPicPr>
            <a:picLocks noChangeAspect="1"/>
          </p:cNvPicPr>
          <p:nvPr/>
        </p:nvPicPr>
        <p:blipFill>
          <a:blip r:embed="rId5"/>
          <a:stretch>
            <a:fillRect/>
          </a:stretch>
        </p:blipFill>
        <p:spPr>
          <a:xfrm>
            <a:off x="5437465" y="2725579"/>
            <a:ext cx="1642348" cy="1642348"/>
          </a:xfrm>
          <a:prstGeom prst="rect">
            <a:avLst/>
          </a:prstGeom>
        </p:spPr>
      </p:pic>
      <p:sp>
        <p:nvSpPr>
          <p:cNvPr id="17" name="Text 12"/>
          <p:cNvSpPr/>
          <p:nvPr/>
        </p:nvSpPr>
        <p:spPr>
          <a:xfrm>
            <a:off x="5437465" y="4423648"/>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Collaborating</a:t>
            </a:r>
            <a:endParaRPr lang="en-US" sz="950" dirty="0"/>
          </a:p>
        </p:txBody>
      </p:sp>
      <p:sp>
        <p:nvSpPr>
          <p:cNvPr id="18" name="Text 13"/>
          <p:cNvSpPr/>
          <p:nvPr/>
        </p:nvSpPr>
        <p:spPr>
          <a:xfrm>
            <a:off x="5437465" y="4628198"/>
            <a:ext cx="1642348" cy="475774"/>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High on both. Win-win approach. Best for complex problems where full integration of perspectives is needed.</a:t>
            </a:r>
            <a:endParaRPr lang="en-US" sz="750" dirty="0"/>
          </a:p>
        </p:txBody>
      </p:sp>
      <p:sp>
        <p:nvSpPr>
          <p:cNvPr id="19" name="Shape 14"/>
          <p:cNvSpPr/>
          <p:nvPr/>
        </p:nvSpPr>
        <p:spPr>
          <a:xfrm>
            <a:off x="3402449" y="5267920"/>
            <a:ext cx="1871067" cy="2607231"/>
          </a:xfrm>
          <a:prstGeom prst="roundRect">
            <a:avLst>
              <a:gd name="adj" fmla="val 2228"/>
            </a:avLst>
          </a:prstGeom>
          <a:solidFill>
            <a:srgbClr val="FFFCFA"/>
          </a:solidFill>
          <a:ln w="15240">
            <a:solidFill>
              <a:srgbClr val="D1C8C6"/>
            </a:solidFill>
            <a:prstDash val="solid"/>
          </a:ln>
        </p:spPr>
        <p:txBody>
          <a:bodyPr/>
          <a:lstStyle/>
          <a:p>
            <a:endParaRPr lang="en-AU"/>
          </a:p>
        </p:txBody>
      </p:sp>
      <p:pic>
        <p:nvPicPr>
          <p:cNvPr id="20" name="Image 3" descr="preencoded.png"/>
          <p:cNvPicPr>
            <a:picLocks noChangeAspect="1"/>
          </p:cNvPicPr>
          <p:nvPr/>
        </p:nvPicPr>
        <p:blipFill>
          <a:blip r:embed="rId6"/>
          <a:stretch>
            <a:fillRect/>
          </a:stretch>
        </p:blipFill>
        <p:spPr>
          <a:xfrm>
            <a:off x="3516868" y="5382339"/>
            <a:ext cx="1642229" cy="1642229"/>
          </a:xfrm>
          <a:prstGeom prst="rect">
            <a:avLst/>
          </a:prstGeom>
        </p:spPr>
      </p:pic>
      <p:sp>
        <p:nvSpPr>
          <p:cNvPr id="21" name="Text 15"/>
          <p:cNvSpPr/>
          <p:nvPr/>
        </p:nvSpPr>
        <p:spPr>
          <a:xfrm>
            <a:off x="3516868" y="7080290"/>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Compromising</a:t>
            </a:r>
            <a:endParaRPr lang="en-US" sz="950" dirty="0"/>
          </a:p>
        </p:txBody>
      </p:sp>
      <p:sp>
        <p:nvSpPr>
          <p:cNvPr id="22" name="Text 16"/>
          <p:cNvSpPr/>
          <p:nvPr/>
        </p:nvSpPr>
        <p:spPr>
          <a:xfrm>
            <a:off x="3516868" y="7284839"/>
            <a:ext cx="1642229" cy="475774"/>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Moderate on both. Partial win-partial win. Useful for time-pressured situations requiring workable solutions.</a:t>
            </a:r>
            <a:endParaRPr lang="en-US" sz="750" dirty="0"/>
          </a:p>
        </p:txBody>
      </p:sp>
      <p:sp>
        <p:nvSpPr>
          <p:cNvPr id="23" name="Shape 17"/>
          <p:cNvSpPr/>
          <p:nvPr/>
        </p:nvSpPr>
        <p:spPr>
          <a:xfrm>
            <a:off x="5323046" y="5267920"/>
            <a:ext cx="1871186" cy="2607231"/>
          </a:xfrm>
          <a:prstGeom prst="roundRect">
            <a:avLst>
              <a:gd name="adj" fmla="val 2227"/>
            </a:avLst>
          </a:prstGeom>
          <a:solidFill>
            <a:srgbClr val="FFFCFA"/>
          </a:solidFill>
          <a:ln w="15240">
            <a:solidFill>
              <a:srgbClr val="D1C8C6"/>
            </a:solidFill>
            <a:prstDash val="solid"/>
          </a:ln>
        </p:spPr>
        <p:txBody>
          <a:bodyPr/>
          <a:lstStyle/>
          <a:p>
            <a:endParaRPr lang="en-AU"/>
          </a:p>
        </p:txBody>
      </p:sp>
      <p:pic>
        <p:nvPicPr>
          <p:cNvPr id="24" name="Image 4" descr="preencoded.png"/>
          <p:cNvPicPr>
            <a:picLocks noChangeAspect="1"/>
          </p:cNvPicPr>
          <p:nvPr/>
        </p:nvPicPr>
        <p:blipFill>
          <a:blip r:embed="rId7"/>
          <a:stretch>
            <a:fillRect/>
          </a:stretch>
        </p:blipFill>
        <p:spPr>
          <a:xfrm>
            <a:off x="5437465" y="5382339"/>
            <a:ext cx="1642348" cy="1642348"/>
          </a:xfrm>
          <a:prstGeom prst="rect">
            <a:avLst/>
          </a:prstGeom>
        </p:spPr>
      </p:pic>
      <p:sp>
        <p:nvSpPr>
          <p:cNvPr id="25" name="Text 18"/>
          <p:cNvSpPr/>
          <p:nvPr/>
        </p:nvSpPr>
        <p:spPr>
          <a:xfrm>
            <a:off x="5437465" y="7080409"/>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Avoiding</a:t>
            </a:r>
            <a:endParaRPr lang="en-US" sz="950" dirty="0"/>
          </a:p>
        </p:txBody>
      </p:sp>
      <p:sp>
        <p:nvSpPr>
          <p:cNvPr id="26" name="Text 19"/>
          <p:cNvSpPr/>
          <p:nvPr/>
        </p:nvSpPr>
        <p:spPr>
          <a:xfrm>
            <a:off x="5437465" y="7284958"/>
            <a:ext cx="1642348" cy="475774"/>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Low on both. Lose-lose in the short term. Appropriate when the issue is trivial or emotions are running too high.</a:t>
            </a:r>
            <a:endParaRPr lang="en-US" sz="750" dirty="0"/>
          </a:p>
        </p:txBody>
      </p:sp>
      <p:sp>
        <p:nvSpPr>
          <p:cNvPr id="27" name="Shape 20"/>
          <p:cNvSpPr/>
          <p:nvPr/>
        </p:nvSpPr>
        <p:spPr>
          <a:xfrm>
            <a:off x="3402449" y="7924681"/>
            <a:ext cx="3791783" cy="4289941"/>
          </a:xfrm>
          <a:prstGeom prst="roundRect">
            <a:avLst>
              <a:gd name="adj" fmla="val 1099"/>
            </a:avLst>
          </a:prstGeom>
          <a:solidFill>
            <a:srgbClr val="FFFCFA"/>
          </a:solidFill>
          <a:ln w="15240">
            <a:solidFill>
              <a:srgbClr val="D1C8C6"/>
            </a:solidFill>
            <a:prstDash val="solid"/>
          </a:ln>
        </p:spPr>
        <p:txBody>
          <a:bodyPr/>
          <a:lstStyle/>
          <a:p>
            <a:endParaRPr lang="en-AU"/>
          </a:p>
        </p:txBody>
      </p:sp>
      <p:pic>
        <p:nvPicPr>
          <p:cNvPr id="28" name="Image 5" descr="preencoded.png"/>
          <p:cNvPicPr>
            <a:picLocks noChangeAspect="1"/>
          </p:cNvPicPr>
          <p:nvPr/>
        </p:nvPicPr>
        <p:blipFill>
          <a:blip r:embed="rId8"/>
          <a:stretch>
            <a:fillRect/>
          </a:stretch>
        </p:blipFill>
        <p:spPr>
          <a:xfrm>
            <a:off x="3516868" y="8039100"/>
            <a:ext cx="3562945" cy="3562945"/>
          </a:xfrm>
          <a:prstGeom prst="rect">
            <a:avLst/>
          </a:prstGeom>
        </p:spPr>
      </p:pic>
      <p:sp>
        <p:nvSpPr>
          <p:cNvPr id="29" name="Text 21"/>
          <p:cNvSpPr/>
          <p:nvPr/>
        </p:nvSpPr>
        <p:spPr>
          <a:xfrm>
            <a:off x="3516868" y="11657767"/>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Accommodating</a:t>
            </a:r>
            <a:endParaRPr lang="en-US" sz="950" dirty="0"/>
          </a:p>
        </p:txBody>
      </p:sp>
      <p:sp>
        <p:nvSpPr>
          <p:cNvPr id="30" name="Text 22"/>
          <p:cNvSpPr/>
          <p:nvPr/>
        </p:nvSpPr>
        <p:spPr>
          <a:xfrm>
            <a:off x="3516868" y="11862316"/>
            <a:ext cx="3562945" cy="237887"/>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Low assertiveness, high cooperation. Preserves relationships. Best when the other party's issue matters more.</a:t>
            </a:r>
            <a:endParaRPr lang="en-US" sz="750" dirty="0"/>
          </a:p>
        </p:txBody>
      </p:sp>
      <p:sp>
        <p:nvSpPr>
          <p:cNvPr id="31" name="Text 23"/>
          <p:cNvSpPr/>
          <p:nvPr/>
        </p:nvSpPr>
        <p:spPr>
          <a:xfrm>
            <a:off x="7443788" y="1994059"/>
            <a:ext cx="1977628"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Principled Negotiation (Fisher &amp; Ury)</a:t>
            </a:r>
            <a:endParaRPr lang="en-US" sz="950" dirty="0"/>
          </a:p>
        </p:txBody>
      </p:sp>
      <p:sp>
        <p:nvSpPr>
          <p:cNvPr id="32" name="Text 24"/>
          <p:cNvSpPr/>
          <p:nvPr/>
        </p:nvSpPr>
        <p:spPr>
          <a:xfrm>
            <a:off x="7443788" y="2198608"/>
            <a:ext cx="3791783" cy="356830"/>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Developed at Harvard, this approach from </a:t>
            </a:r>
            <a:r>
              <a:rPr lang="en-US" sz="750" i="1" dirty="0">
                <a:solidFill>
                  <a:srgbClr val="443728"/>
                </a:solidFill>
                <a:latin typeface="Open Sans" pitchFamily="34" charset="0"/>
                <a:ea typeface="Open Sans" pitchFamily="34" charset="-122"/>
                <a:cs typeface="Open Sans" pitchFamily="34" charset="-120"/>
              </a:rPr>
              <a:t>Getting to Yes</a:t>
            </a:r>
            <a:r>
              <a:rPr lang="en-US" sz="750" dirty="0">
                <a:solidFill>
                  <a:srgbClr val="443728"/>
                </a:solidFill>
                <a:latin typeface="Open Sans" pitchFamily="34" charset="0"/>
                <a:ea typeface="Open Sans" pitchFamily="34" charset="-122"/>
                <a:cs typeface="Open Sans" pitchFamily="34" charset="-120"/>
              </a:rPr>
              <a:t> outlines four core principles that move negotiation from positional bargaining to interest-based resolution:</a:t>
            </a:r>
            <a:endParaRPr lang="en-US" sz="750" dirty="0"/>
          </a:p>
        </p:txBody>
      </p:sp>
      <p:sp>
        <p:nvSpPr>
          <p:cNvPr id="33" name="Text 25"/>
          <p:cNvSpPr/>
          <p:nvPr/>
        </p:nvSpPr>
        <p:spPr>
          <a:xfrm>
            <a:off x="7443788" y="2600087"/>
            <a:ext cx="3791783" cy="1003340"/>
          </a:xfrm>
          <a:prstGeom prst="rect">
            <a:avLst/>
          </a:prstGeom>
          <a:noFill/>
          <a:ln/>
        </p:spPr>
        <p:txBody>
          <a:bodyPr wrap="square" lIns="0" tIns="0" rIns="0" bIns="0" rtlCol="0" anchor="t"/>
          <a:lstStyle/>
          <a:p>
            <a:pPr marL="342900" indent="-342900" algn="l">
              <a:lnSpc>
                <a:spcPts val="900"/>
              </a:lnSpc>
              <a:buSzPct val="100000"/>
              <a:buChar char="•"/>
            </a:pPr>
            <a:r>
              <a:rPr lang="en-US" sz="750" b="1" dirty="0">
                <a:solidFill>
                  <a:srgbClr val="443728"/>
                </a:solidFill>
                <a:latin typeface="Open Sans" pitchFamily="34" charset="0"/>
                <a:ea typeface="Open Sans" pitchFamily="34" charset="-122"/>
                <a:cs typeface="Open Sans" pitchFamily="34" charset="-120"/>
              </a:rPr>
              <a:t>Separate people from the problem</a:t>
            </a:r>
            <a:r>
              <a:rPr lang="en-US" sz="750" dirty="0">
                <a:solidFill>
                  <a:srgbClr val="443728"/>
                </a:solidFill>
                <a:latin typeface="Open Sans" pitchFamily="34" charset="0"/>
                <a:ea typeface="Open Sans" pitchFamily="34" charset="-122"/>
                <a:cs typeface="Open Sans" pitchFamily="34" charset="-120"/>
              </a:rPr>
              <a:t> — attack the issue, not the individual, preserving relationships.</a:t>
            </a:r>
            <a:endParaRPr lang="en-US" sz="750" dirty="0"/>
          </a:p>
          <a:p>
            <a:pPr marL="342900" indent="-342900" algn="l">
              <a:lnSpc>
                <a:spcPts val="900"/>
              </a:lnSpc>
              <a:buSzPct val="100000"/>
              <a:buChar char="•"/>
            </a:pPr>
            <a:r>
              <a:rPr lang="en-US" sz="750" b="1" dirty="0">
                <a:solidFill>
                  <a:srgbClr val="443728"/>
                </a:solidFill>
                <a:latin typeface="Open Sans" pitchFamily="34" charset="0"/>
                <a:ea typeface="Open Sans" pitchFamily="34" charset="-122"/>
                <a:cs typeface="Open Sans" pitchFamily="34" charset="-120"/>
              </a:rPr>
              <a:t>Focus on interests, not positions</a:t>
            </a:r>
            <a:r>
              <a:rPr lang="en-US" sz="750" dirty="0">
                <a:solidFill>
                  <a:srgbClr val="443728"/>
                </a:solidFill>
                <a:latin typeface="Open Sans" pitchFamily="34" charset="0"/>
                <a:ea typeface="Open Sans" pitchFamily="34" charset="-122"/>
                <a:cs typeface="Open Sans" pitchFamily="34" charset="-120"/>
              </a:rPr>
              <a:t> — understand the underlying needs driving each party's stance.</a:t>
            </a:r>
            <a:endParaRPr lang="en-US" sz="750" dirty="0"/>
          </a:p>
          <a:p>
            <a:pPr marL="342900" indent="-342900" algn="l">
              <a:lnSpc>
                <a:spcPts val="900"/>
              </a:lnSpc>
              <a:buSzPct val="100000"/>
              <a:buChar char="•"/>
            </a:pPr>
            <a:r>
              <a:rPr lang="en-US" sz="750" b="1" dirty="0">
                <a:solidFill>
                  <a:srgbClr val="443728"/>
                </a:solidFill>
                <a:latin typeface="Open Sans" pitchFamily="34" charset="0"/>
                <a:ea typeface="Open Sans" pitchFamily="34" charset="-122"/>
                <a:cs typeface="Open Sans" pitchFamily="34" charset="-120"/>
              </a:rPr>
              <a:t>Invent options for mutual gain</a:t>
            </a:r>
            <a:r>
              <a:rPr lang="en-US" sz="750" dirty="0">
                <a:solidFill>
                  <a:srgbClr val="443728"/>
                </a:solidFill>
                <a:latin typeface="Open Sans" pitchFamily="34" charset="0"/>
                <a:ea typeface="Open Sans" pitchFamily="34" charset="-122"/>
                <a:cs typeface="Open Sans" pitchFamily="34" charset="-120"/>
              </a:rPr>
              <a:t> — brainstorm creative solutions before evaluating them.</a:t>
            </a:r>
            <a:endParaRPr lang="en-US" sz="750" dirty="0"/>
          </a:p>
          <a:p>
            <a:pPr marL="342900" indent="-342900" algn="l">
              <a:lnSpc>
                <a:spcPts val="900"/>
              </a:lnSpc>
              <a:buSzPct val="100000"/>
              <a:buChar char="•"/>
            </a:pPr>
            <a:r>
              <a:rPr lang="en-US" sz="750" b="1" dirty="0">
                <a:solidFill>
                  <a:srgbClr val="443728"/>
                </a:solidFill>
                <a:latin typeface="Open Sans" pitchFamily="34" charset="0"/>
                <a:ea typeface="Open Sans" pitchFamily="34" charset="-122"/>
                <a:cs typeface="Open Sans" pitchFamily="34" charset="-120"/>
              </a:rPr>
              <a:t>Insist on objective criteria</a:t>
            </a:r>
            <a:r>
              <a:rPr lang="en-US" sz="750" dirty="0">
                <a:solidFill>
                  <a:srgbClr val="443728"/>
                </a:solidFill>
                <a:latin typeface="Open Sans" pitchFamily="34" charset="0"/>
                <a:ea typeface="Open Sans" pitchFamily="34" charset="-122"/>
                <a:cs typeface="Open Sans" pitchFamily="34" charset="-120"/>
              </a:rPr>
              <a:t> — use fair standards (market value, legal precedent, expert opinion) to evaluate options.</a:t>
            </a:r>
            <a:endParaRPr lang="en-US" sz="750" dirty="0"/>
          </a:p>
        </p:txBody>
      </p:sp>
      <p:sp>
        <p:nvSpPr>
          <p:cNvPr id="34" name="Text 26"/>
          <p:cNvSpPr/>
          <p:nvPr/>
        </p:nvSpPr>
        <p:spPr>
          <a:xfrm>
            <a:off x="7443788" y="3648075"/>
            <a:ext cx="3791783" cy="356830"/>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The concept of </a:t>
            </a:r>
            <a:r>
              <a:rPr lang="en-US" sz="750" b="1" dirty="0">
                <a:solidFill>
                  <a:srgbClr val="443728"/>
                </a:solidFill>
                <a:latin typeface="Open Sans" pitchFamily="34" charset="0"/>
                <a:ea typeface="Open Sans" pitchFamily="34" charset="-122"/>
                <a:cs typeface="Open Sans" pitchFamily="34" charset="-120"/>
              </a:rPr>
              <a:t>BATNA</a:t>
            </a:r>
            <a:r>
              <a:rPr lang="en-US" sz="750" dirty="0">
                <a:solidFill>
                  <a:srgbClr val="443728"/>
                </a:solidFill>
                <a:latin typeface="Open Sans" pitchFamily="34" charset="0"/>
                <a:ea typeface="Open Sans" pitchFamily="34" charset="-122"/>
                <a:cs typeface="Open Sans" pitchFamily="34" charset="-120"/>
              </a:rPr>
              <a:t> (Best Alternative to a Negotiated Agreement) is central: knowing your walk-away point gives you confidence and prevents accepting a poor deal out of pressure.</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2328982" y="1271826"/>
            <a:ext cx="1524953" cy="208240"/>
          </a:xfrm>
          <a:prstGeom prst="roundRect">
            <a:avLst>
              <a:gd name="adj" fmla="val 20405"/>
            </a:avLst>
          </a:prstGeom>
          <a:solidFill>
            <a:srgbClr val="EBE2E0"/>
          </a:solidFill>
          <a:ln/>
        </p:spPr>
        <p:txBody>
          <a:bodyPr/>
          <a:lstStyle/>
          <a:p>
            <a:endParaRPr lang="en-AU"/>
          </a:p>
        </p:txBody>
      </p:sp>
      <p:sp>
        <p:nvSpPr>
          <p:cNvPr id="3" name="Text 1"/>
          <p:cNvSpPr/>
          <p:nvPr/>
        </p:nvSpPr>
        <p:spPr>
          <a:xfrm>
            <a:off x="2404824" y="1309688"/>
            <a:ext cx="1373267" cy="132517"/>
          </a:xfrm>
          <a:prstGeom prst="rect">
            <a:avLst/>
          </a:prstGeom>
          <a:noFill/>
          <a:ln/>
        </p:spPr>
        <p:txBody>
          <a:bodyPr wrap="none" lIns="0" tIns="0" rIns="0" bIns="0" rtlCol="0" anchor="t"/>
          <a:lstStyle/>
          <a:p>
            <a:pPr marL="0" indent="0" algn="l">
              <a:lnSpc>
                <a:spcPts val="1000"/>
              </a:lnSpc>
              <a:buNone/>
            </a:pPr>
            <a:r>
              <a:rPr lang="en-US" sz="750" dirty="0">
                <a:solidFill>
                  <a:srgbClr val="443728"/>
                </a:solidFill>
                <a:latin typeface="Open Sans" pitchFamily="34" charset="0"/>
                <a:ea typeface="Open Sans" pitchFamily="34" charset="-122"/>
                <a:cs typeface="Open Sans" pitchFamily="34" charset="-120"/>
              </a:rPr>
              <a:t>LEVEL 3 — ORGANISATIONAL</a:t>
            </a:r>
            <a:endParaRPr lang="en-US" sz="750" dirty="0"/>
          </a:p>
        </p:txBody>
      </p:sp>
      <p:sp>
        <p:nvSpPr>
          <p:cNvPr id="4" name="Text 2"/>
          <p:cNvSpPr/>
          <p:nvPr/>
        </p:nvSpPr>
        <p:spPr>
          <a:xfrm>
            <a:off x="2328982" y="1512213"/>
            <a:ext cx="4632127" cy="395049"/>
          </a:xfrm>
          <a:prstGeom prst="rect">
            <a:avLst/>
          </a:prstGeom>
          <a:noFill/>
          <a:ln/>
        </p:spPr>
        <p:txBody>
          <a:bodyPr wrap="none" lIns="0" tIns="0" rIns="0" bIns="0" rtlCol="0" anchor="t"/>
          <a:lstStyle/>
          <a:p>
            <a:pPr marL="0" indent="0" algn="l">
              <a:lnSpc>
                <a:spcPts val="3100"/>
              </a:lnSpc>
              <a:buNone/>
            </a:pPr>
            <a:r>
              <a:rPr lang="en-US" sz="2450" b="1" dirty="0">
                <a:solidFill>
                  <a:srgbClr val="443728"/>
                </a:solidFill>
                <a:latin typeface="Crimson Pro Bold" pitchFamily="34" charset="0"/>
                <a:ea typeface="Crimson Pro Bold" pitchFamily="34" charset="-122"/>
                <a:cs typeface="Crimson Pro Bold" pitchFamily="34" charset="-120"/>
              </a:rPr>
              <a:t>Organisational Structure &amp; Design</a:t>
            </a:r>
            <a:endParaRPr lang="en-US" sz="2450" dirty="0"/>
          </a:p>
        </p:txBody>
      </p:sp>
      <p:sp>
        <p:nvSpPr>
          <p:cNvPr id="5" name="Text 3"/>
          <p:cNvSpPr/>
          <p:nvPr/>
        </p:nvSpPr>
        <p:spPr>
          <a:xfrm>
            <a:off x="2328982" y="2028111"/>
            <a:ext cx="9972318" cy="330994"/>
          </a:xfrm>
          <a:prstGeom prst="rect">
            <a:avLst/>
          </a:prstGeom>
          <a:noFill/>
          <a:ln/>
        </p:spPr>
        <p:txBody>
          <a:bodyPr wrap="square" lIns="0" tIns="0" rIns="0" bIns="0" rtlCol="0" anchor="t"/>
          <a:lstStyle/>
          <a:p>
            <a:pPr marL="0" indent="0" algn="l">
              <a:lnSpc>
                <a:spcPts val="1300"/>
              </a:lnSpc>
              <a:buNone/>
            </a:pPr>
            <a:r>
              <a:rPr lang="en-US" sz="950" dirty="0">
                <a:solidFill>
                  <a:srgbClr val="443728"/>
                </a:solidFill>
                <a:latin typeface="Open Sans" pitchFamily="34" charset="0"/>
                <a:ea typeface="Open Sans" pitchFamily="34" charset="-122"/>
                <a:cs typeface="Open Sans" pitchFamily="34" charset="-120"/>
              </a:rPr>
              <a:t>Organisational structure defines how activities, roles, and authority are formally arranged within a firm. Structure shapes how information flows, how decisions are made, and how employees experience their work. The following three theoretical frameworks have shaped how we think about and design organisations.</a:t>
            </a:r>
            <a:endParaRPr lang="en-US" sz="950" dirty="0"/>
          </a:p>
        </p:txBody>
      </p:sp>
      <p:sp>
        <p:nvSpPr>
          <p:cNvPr id="6" name="Shape 4"/>
          <p:cNvSpPr/>
          <p:nvPr/>
        </p:nvSpPr>
        <p:spPr>
          <a:xfrm>
            <a:off x="2328982" y="2449711"/>
            <a:ext cx="9972318" cy="1082873"/>
          </a:xfrm>
          <a:prstGeom prst="roundRect">
            <a:avLst>
              <a:gd name="adj" fmla="val 4905"/>
            </a:avLst>
          </a:prstGeom>
          <a:solidFill>
            <a:srgbClr val="E1D4D0"/>
          </a:solidFill>
          <a:ln/>
        </p:spPr>
        <p:txBody>
          <a:bodyPr/>
          <a:lstStyle/>
          <a:p>
            <a:endParaRPr lang="en-AU"/>
          </a:p>
        </p:txBody>
      </p:sp>
      <p:pic>
        <p:nvPicPr>
          <p:cNvPr id="7" name="Image 0" descr="preencoded.png"/>
          <p:cNvPicPr>
            <a:picLocks noChangeAspect="1"/>
          </p:cNvPicPr>
          <p:nvPr/>
        </p:nvPicPr>
        <p:blipFill>
          <a:blip r:embed="rId3"/>
          <a:stretch>
            <a:fillRect/>
          </a:stretch>
        </p:blipFill>
        <p:spPr>
          <a:xfrm>
            <a:off x="2455426" y="2626519"/>
            <a:ext cx="157996" cy="126444"/>
          </a:xfrm>
          <a:prstGeom prst="rect">
            <a:avLst/>
          </a:prstGeom>
        </p:spPr>
      </p:pic>
      <p:sp>
        <p:nvSpPr>
          <p:cNvPr id="8" name="Text 5"/>
          <p:cNvSpPr/>
          <p:nvPr/>
        </p:nvSpPr>
        <p:spPr>
          <a:xfrm>
            <a:off x="2739866" y="2561749"/>
            <a:ext cx="9434989" cy="835104"/>
          </a:xfrm>
          <a:prstGeom prst="rect">
            <a:avLst/>
          </a:prstGeom>
          <a:noFill/>
          <a:ln/>
        </p:spPr>
        <p:txBody>
          <a:bodyPr wrap="square" lIns="0" tIns="0" rIns="0" bIns="0" rtlCol="0" anchor="t"/>
          <a:lstStyle/>
          <a:p>
            <a:pPr marL="0" indent="0" algn="l">
              <a:lnSpc>
                <a:spcPts val="1300"/>
              </a:lnSpc>
              <a:buNone/>
            </a:pPr>
            <a:r>
              <a:rPr lang="en-US" sz="950" dirty="0">
                <a:solidFill>
                  <a:srgbClr val="000000"/>
                </a:solidFill>
                <a:latin typeface="Open Sans" pitchFamily="34" charset="0"/>
                <a:ea typeface="Open Sans" pitchFamily="34" charset="-122"/>
                <a:cs typeface="Open Sans" pitchFamily="34" charset="-120"/>
              </a:rPr>
              <a:t>📹 </a:t>
            </a:r>
            <a:r>
              <a:rPr lang="en-US" sz="950" b="1" dirty="0">
                <a:solidFill>
                  <a:srgbClr val="000000"/>
                </a:solidFill>
                <a:latin typeface="Open Sans" pitchFamily="34" charset="0"/>
                <a:ea typeface="Open Sans" pitchFamily="34" charset="-122"/>
                <a:cs typeface="Open Sans" pitchFamily="34" charset="-120"/>
              </a:rPr>
              <a:t>Video Placeholder</a:t>
            </a:r>
            <a:r>
              <a:rPr lang="en-US" sz="950" dirty="0">
                <a:solidFill>
                  <a:srgbClr val="000000"/>
                </a:solidFill>
                <a:latin typeface="Open Sans" pitchFamily="34" charset="0"/>
                <a:ea typeface="Open Sans" pitchFamily="34" charset="-122"/>
                <a:cs typeface="Open Sans" pitchFamily="34" charset="-120"/>
              </a:rPr>
              <a:t> — "Think about the difference between your school and a small family business, or between a hospital and a startup. Why does one feel rigid and rule-bound while the other feels chaotic and free? You've already experienced multiple organisational structures — your school has a hierarchy, your sports club has roles, your family has its own version of authority and division of labour. This video uses those familiar structures from your everyday life to explain Weber's bureaucracy, Taylor's scientific management, and Mintzberg's configurations — so that when you join an organisation, you'll immediately be able to read its structure and understand why it feels the way it does."</a:t>
            </a:r>
            <a:endParaRPr lang="en-US" sz="950" dirty="0"/>
          </a:p>
        </p:txBody>
      </p:sp>
      <p:pic>
        <p:nvPicPr>
          <p:cNvPr id="9" name="Image 1" descr="preencoded.png"/>
          <p:cNvPicPr>
            <a:picLocks noChangeAspect="1"/>
          </p:cNvPicPr>
          <p:nvPr/>
        </p:nvPicPr>
        <p:blipFill>
          <a:blip r:embed="rId4"/>
          <a:stretch>
            <a:fillRect/>
          </a:stretch>
        </p:blipFill>
        <p:spPr>
          <a:xfrm>
            <a:off x="2328982" y="3623191"/>
            <a:ext cx="1888927" cy="1167408"/>
          </a:xfrm>
          <a:prstGeom prst="rect">
            <a:avLst/>
          </a:prstGeom>
        </p:spPr>
      </p:pic>
      <p:sp>
        <p:nvSpPr>
          <p:cNvPr id="10" name="Text 6"/>
          <p:cNvSpPr/>
          <p:nvPr/>
        </p:nvSpPr>
        <p:spPr>
          <a:xfrm>
            <a:off x="2328982" y="4891207"/>
            <a:ext cx="1926431" cy="197644"/>
          </a:xfrm>
          <a:prstGeom prst="rect">
            <a:avLst/>
          </a:prstGeom>
          <a:noFill/>
          <a:ln/>
        </p:spPr>
        <p:txBody>
          <a:bodyPr wrap="none" lIns="0" tIns="0" rIns="0" bIns="0" rtlCol="0" anchor="t"/>
          <a:lstStyle/>
          <a:p>
            <a:pPr marL="0" indent="0" algn="l">
              <a:lnSpc>
                <a:spcPts val="1550"/>
              </a:lnSpc>
              <a:buNone/>
            </a:pPr>
            <a:r>
              <a:rPr lang="en-US" sz="1200" b="1" dirty="0">
                <a:solidFill>
                  <a:srgbClr val="443728"/>
                </a:solidFill>
                <a:latin typeface="Crimson Pro Bold" pitchFamily="34" charset="0"/>
                <a:ea typeface="Crimson Pro Bold" pitchFamily="34" charset="-122"/>
                <a:cs typeface="Crimson Pro Bold" pitchFamily="34" charset="-120"/>
              </a:rPr>
              <a:t>Weber's Bureaucracy Theory</a:t>
            </a:r>
            <a:endParaRPr lang="en-US" sz="1200" dirty="0"/>
          </a:p>
        </p:txBody>
      </p:sp>
      <p:sp>
        <p:nvSpPr>
          <p:cNvPr id="11" name="Text 7"/>
          <p:cNvSpPr/>
          <p:nvPr/>
        </p:nvSpPr>
        <p:spPr>
          <a:xfrm>
            <a:off x="2328982" y="5137190"/>
            <a:ext cx="3256955" cy="1489472"/>
          </a:xfrm>
          <a:prstGeom prst="rect">
            <a:avLst/>
          </a:prstGeom>
          <a:noFill/>
          <a:ln/>
        </p:spPr>
        <p:txBody>
          <a:bodyPr wrap="square" lIns="0" tIns="0" rIns="0" bIns="0" rtlCol="0" anchor="t"/>
          <a:lstStyle/>
          <a:p>
            <a:pPr marL="0" indent="0" algn="l">
              <a:lnSpc>
                <a:spcPts val="1300"/>
              </a:lnSpc>
              <a:buNone/>
            </a:pPr>
            <a:r>
              <a:rPr lang="en-US" sz="950" dirty="0">
                <a:solidFill>
                  <a:srgbClr val="443728"/>
                </a:solidFill>
                <a:latin typeface="Open Sans" pitchFamily="34" charset="0"/>
                <a:ea typeface="Open Sans" pitchFamily="34" charset="-122"/>
                <a:cs typeface="Open Sans" pitchFamily="34" charset="-120"/>
              </a:rPr>
              <a:t>Max Weber described the ideal-type bureaucracy as a rational, rule-governed organisation characterised by: </a:t>
            </a:r>
            <a:r>
              <a:rPr lang="en-US" sz="950" b="1" dirty="0">
                <a:solidFill>
                  <a:srgbClr val="443728"/>
                </a:solidFill>
                <a:latin typeface="Open Sans" pitchFamily="34" charset="0"/>
                <a:ea typeface="Open Sans" pitchFamily="34" charset="-122"/>
                <a:cs typeface="Open Sans" pitchFamily="34" charset="-120"/>
              </a:rPr>
              <a:t>formal hierarchy of authority</a:t>
            </a:r>
            <a:r>
              <a:rPr lang="en-US" sz="950" dirty="0">
                <a:solidFill>
                  <a:srgbClr val="443728"/>
                </a:solidFill>
                <a:latin typeface="Open Sans" pitchFamily="34" charset="0"/>
                <a:ea typeface="Open Sans" pitchFamily="34" charset="-122"/>
                <a:cs typeface="Open Sans" pitchFamily="34" charset="-120"/>
              </a:rPr>
              <a:t>, </a:t>
            </a:r>
            <a:r>
              <a:rPr lang="en-US" sz="950" b="1" dirty="0">
                <a:solidFill>
                  <a:srgbClr val="443728"/>
                </a:solidFill>
                <a:latin typeface="Open Sans" pitchFamily="34" charset="0"/>
                <a:ea typeface="Open Sans" pitchFamily="34" charset="-122"/>
                <a:cs typeface="Open Sans" pitchFamily="34" charset="-120"/>
              </a:rPr>
              <a:t>written rules and procedures</a:t>
            </a:r>
            <a:r>
              <a:rPr lang="en-US" sz="950" dirty="0">
                <a:solidFill>
                  <a:srgbClr val="443728"/>
                </a:solidFill>
                <a:latin typeface="Open Sans" pitchFamily="34" charset="0"/>
                <a:ea typeface="Open Sans" pitchFamily="34" charset="-122"/>
                <a:cs typeface="Open Sans" pitchFamily="34" charset="-120"/>
              </a:rPr>
              <a:t>, </a:t>
            </a:r>
            <a:r>
              <a:rPr lang="en-US" sz="950" b="1" dirty="0">
                <a:solidFill>
                  <a:srgbClr val="443728"/>
                </a:solidFill>
                <a:latin typeface="Open Sans" pitchFamily="34" charset="0"/>
                <a:ea typeface="Open Sans" pitchFamily="34" charset="-122"/>
                <a:cs typeface="Open Sans" pitchFamily="34" charset="-120"/>
              </a:rPr>
              <a:t>specialisation of labour</a:t>
            </a:r>
            <a:r>
              <a:rPr lang="en-US" sz="950" dirty="0">
                <a:solidFill>
                  <a:srgbClr val="443728"/>
                </a:solidFill>
                <a:latin typeface="Open Sans" pitchFamily="34" charset="0"/>
                <a:ea typeface="Open Sans" pitchFamily="34" charset="-122"/>
                <a:cs typeface="Open Sans" pitchFamily="34" charset="-120"/>
              </a:rPr>
              <a:t>, </a:t>
            </a:r>
            <a:r>
              <a:rPr lang="en-US" sz="950" b="1" dirty="0">
                <a:solidFill>
                  <a:srgbClr val="443728"/>
                </a:solidFill>
                <a:latin typeface="Open Sans" pitchFamily="34" charset="0"/>
                <a:ea typeface="Open Sans" pitchFamily="34" charset="-122"/>
                <a:cs typeface="Open Sans" pitchFamily="34" charset="-120"/>
              </a:rPr>
              <a:t>impersonality</a:t>
            </a:r>
            <a:r>
              <a:rPr lang="en-US" sz="950" dirty="0">
                <a:solidFill>
                  <a:srgbClr val="443728"/>
                </a:solidFill>
                <a:latin typeface="Open Sans" pitchFamily="34" charset="0"/>
                <a:ea typeface="Open Sans" pitchFamily="34" charset="-122"/>
                <a:cs typeface="Open Sans" pitchFamily="34" charset="-120"/>
              </a:rPr>
              <a:t> (decisions based on rules, not personal preference), and </a:t>
            </a:r>
            <a:r>
              <a:rPr lang="en-US" sz="950" b="1" dirty="0">
                <a:solidFill>
                  <a:srgbClr val="443728"/>
                </a:solidFill>
                <a:latin typeface="Open Sans" pitchFamily="34" charset="0"/>
                <a:ea typeface="Open Sans" pitchFamily="34" charset="-122"/>
                <a:cs typeface="Open Sans" pitchFamily="34" charset="-120"/>
              </a:rPr>
              <a:t>merit-based selection and promotion</a:t>
            </a:r>
            <a:r>
              <a:rPr lang="en-US" sz="950" dirty="0">
                <a:solidFill>
                  <a:srgbClr val="443728"/>
                </a:solidFill>
                <a:latin typeface="Open Sans" pitchFamily="34" charset="0"/>
                <a:ea typeface="Open Sans" pitchFamily="34" charset="-122"/>
                <a:cs typeface="Open Sans" pitchFamily="34" charset="-120"/>
              </a:rPr>
              <a:t>. While often criticised as rigid, Weber saw bureaucracy as the most technically efficient organisational form — and its legacy is visible in most large organisations today.</a:t>
            </a:r>
            <a:endParaRPr lang="en-US" sz="950" dirty="0"/>
          </a:p>
        </p:txBody>
      </p:sp>
      <p:pic>
        <p:nvPicPr>
          <p:cNvPr id="12" name="Image 2" descr="preencoded.png"/>
          <p:cNvPicPr>
            <a:picLocks noChangeAspect="1"/>
          </p:cNvPicPr>
          <p:nvPr/>
        </p:nvPicPr>
        <p:blipFill>
          <a:blip r:embed="rId5"/>
          <a:stretch>
            <a:fillRect/>
          </a:stretch>
        </p:blipFill>
        <p:spPr>
          <a:xfrm>
            <a:off x="5686544" y="3623191"/>
            <a:ext cx="1889046" cy="1167408"/>
          </a:xfrm>
          <a:prstGeom prst="rect">
            <a:avLst/>
          </a:prstGeom>
        </p:spPr>
      </p:pic>
      <p:sp>
        <p:nvSpPr>
          <p:cNvPr id="13" name="Text 8"/>
          <p:cNvSpPr/>
          <p:nvPr/>
        </p:nvSpPr>
        <p:spPr>
          <a:xfrm>
            <a:off x="5686544" y="4891207"/>
            <a:ext cx="2122051" cy="197644"/>
          </a:xfrm>
          <a:prstGeom prst="rect">
            <a:avLst/>
          </a:prstGeom>
          <a:noFill/>
          <a:ln/>
        </p:spPr>
        <p:txBody>
          <a:bodyPr wrap="none" lIns="0" tIns="0" rIns="0" bIns="0" rtlCol="0" anchor="t"/>
          <a:lstStyle/>
          <a:p>
            <a:pPr marL="0" indent="0" algn="l">
              <a:lnSpc>
                <a:spcPts val="1550"/>
              </a:lnSpc>
              <a:buNone/>
            </a:pPr>
            <a:r>
              <a:rPr lang="en-US" sz="1200" b="1" dirty="0">
                <a:solidFill>
                  <a:srgbClr val="443728"/>
                </a:solidFill>
                <a:latin typeface="Crimson Pro Bold" pitchFamily="34" charset="0"/>
                <a:ea typeface="Crimson Pro Bold" pitchFamily="34" charset="-122"/>
                <a:cs typeface="Crimson Pro Bold" pitchFamily="34" charset="-120"/>
              </a:rPr>
              <a:t>Taylor's Scientific Management</a:t>
            </a:r>
            <a:endParaRPr lang="en-US" sz="1200" dirty="0"/>
          </a:p>
        </p:txBody>
      </p:sp>
      <p:sp>
        <p:nvSpPr>
          <p:cNvPr id="14" name="Text 9"/>
          <p:cNvSpPr/>
          <p:nvPr/>
        </p:nvSpPr>
        <p:spPr>
          <a:xfrm>
            <a:off x="5686544" y="5137190"/>
            <a:ext cx="3257074" cy="1654969"/>
          </a:xfrm>
          <a:prstGeom prst="rect">
            <a:avLst/>
          </a:prstGeom>
          <a:noFill/>
          <a:ln/>
        </p:spPr>
        <p:txBody>
          <a:bodyPr wrap="square" lIns="0" tIns="0" rIns="0" bIns="0" rtlCol="0" anchor="t"/>
          <a:lstStyle/>
          <a:p>
            <a:pPr marL="0" indent="0" algn="l">
              <a:lnSpc>
                <a:spcPts val="1300"/>
              </a:lnSpc>
              <a:buNone/>
            </a:pPr>
            <a:r>
              <a:rPr lang="en-US" sz="950" dirty="0">
                <a:solidFill>
                  <a:srgbClr val="443728"/>
                </a:solidFill>
                <a:latin typeface="Open Sans" pitchFamily="34" charset="0"/>
                <a:ea typeface="Open Sans" pitchFamily="34" charset="-122"/>
                <a:cs typeface="Open Sans" pitchFamily="34" charset="-120"/>
              </a:rPr>
              <a:t>Frederick Winslow Taylor applied scientific principles to optimise work performance. His four principles: </a:t>
            </a:r>
            <a:r>
              <a:rPr lang="en-US" sz="950" b="1" dirty="0">
                <a:solidFill>
                  <a:srgbClr val="443728"/>
                </a:solidFill>
                <a:latin typeface="Open Sans" pitchFamily="34" charset="0"/>
                <a:ea typeface="Open Sans" pitchFamily="34" charset="-122"/>
                <a:cs typeface="Open Sans" pitchFamily="34" charset="-120"/>
              </a:rPr>
              <a:t>scientifically study each task</a:t>
            </a:r>
            <a:r>
              <a:rPr lang="en-US" sz="950" dirty="0">
                <a:solidFill>
                  <a:srgbClr val="443728"/>
                </a:solidFill>
                <a:latin typeface="Open Sans" pitchFamily="34" charset="0"/>
                <a:ea typeface="Open Sans" pitchFamily="34" charset="-122"/>
                <a:cs typeface="Open Sans" pitchFamily="34" charset="-120"/>
              </a:rPr>
              <a:t> to find the one best method; </a:t>
            </a:r>
            <a:r>
              <a:rPr lang="en-US" sz="950" b="1" dirty="0">
                <a:solidFill>
                  <a:srgbClr val="443728"/>
                </a:solidFill>
                <a:latin typeface="Open Sans" pitchFamily="34" charset="0"/>
                <a:ea typeface="Open Sans" pitchFamily="34" charset="-122"/>
                <a:cs typeface="Open Sans" pitchFamily="34" charset="-120"/>
              </a:rPr>
              <a:t>select and train workers scientifically</a:t>
            </a:r>
            <a:r>
              <a:rPr lang="en-US" sz="950" dirty="0">
                <a:solidFill>
                  <a:srgbClr val="443728"/>
                </a:solidFill>
                <a:latin typeface="Open Sans" pitchFamily="34" charset="0"/>
                <a:ea typeface="Open Sans" pitchFamily="34" charset="-122"/>
                <a:cs typeface="Open Sans" pitchFamily="34" charset="-120"/>
              </a:rPr>
              <a:t>; </a:t>
            </a:r>
            <a:r>
              <a:rPr lang="en-US" sz="950" b="1" dirty="0">
                <a:solidFill>
                  <a:srgbClr val="443728"/>
                </a:solidFill>
                <a:latin typeface="Open Sans" pitchFamily="34" charset="0"/>
                <a:ea typeface="Open Sans" pitchFamily="34" charset="-122"/>
                <a:cs typeface="Open Sans" pitchFamily="34" charset="-120"/>
              </a:rPr>
              <a:t>cooperate with workers</a:t>
            </a:r>
            <a:r>
              <a:rPr lang="en-US" sz="950" dirty="0">
                <a:solidFill>
                  <a:srgbClr val="443728"/>
                </a:solidFill>
                <a:latin typeface="Open Sans" pitchFamily="34" charset="0"/>
                <a:ea typeface="Open Sans" pitchFamily="34" charset="-122"/>
                <a:cs typeface="Open Sans" pitchFamily="34" charset="-120"/>
              </a:rPr>
              <a:t> to ensure methods are followed; and </a:t>
            </a:r>
            <a:r>
              <a:rPr lang="en-US" sz="950" b="1" dirty="0">
                <a:solidFill>
                  <a:srgbClr val="443728"/>
                </a:solidFill>
                <a:latin typeface="Open Sans" pitchFamily="34" charset="0"/>
                <a:ea typeface="Open Sans" pitchFamily="34" charset="-122"/>
                <a:cs typeface="Open Sans" pitchFamily="34" charset="-120"/>
              </a:rPr>
              <a:t>divide work</a:t>
            </a:r>
            <a:r>
              <a:rPr lang="en-US" sz="950" dirty="0">
                <a:solidFill>
                  <a:srgbClr val="443728"/>
                </a:solidFill>
                <a:latin typeface="Open Sans" pitchFamily="34" charset="0"/>
                <a:ea typeface="Open Sans" pitchFamily="34" charset="-122"/>
                <a:cs typeface="Open Sans" pitchFamily="34" charset="-120"/>
              </a:rPr>
              <a:t> between managers (planning) and workers (execution). Scientific Management drove industrial productivity but was criticised for dehumanising workers by treating them as interchangeable parts.</a:t>
            </a:r>
            <a:endParaRPr lang="en-US" sz="950" dirty="0"/>
          </a:p>
        </p:txBody>
      </p:sp>
      <p:pic>
        <p:nvPicPr>
          <p:cNvPr id="15" name="Image 3" descr="preencoded.png"/>
          <p:cNvPicPr>
            <a:picLocks noChangeAspect="1"/>
          </p:cNvPicPr>
          <p:nvPr/>
        </p:nvPicPr>
        <p:blipFill>
          <a:blip r:embed="rId6"/>
          <a:stretch>
            <a:fillRect/>
          </a:stretch>
        </p:blipFill>
        <p:spPr>
          <a:xfrm>
            <a:off x="9044226" y="3623191"/>
            <a:ext cx="1888927" cy="1167408"/>
          </a:xfrm>
          <a:prstGeom prst="rect">
            <a:avLst/>
          </a:prstGeom>
        </p:spPr>
      </p:pic>
      <p:sp>
        <p:nvSpPr>
          <p:cNvPr id="16" name="Text 10"/>
          <p:cNvSpPr/>
          <p:nvPr/>
        </p:nvSpPr>
        <p:spPr>
          <a:xfrm>
            <a:off x="9044226" y="4891207"/>
            <a:ext cx="2885361" cy="197644"/>
          </a:xfrm>
          <a:prstGeom prst="rect">
            <a:avLst/>
          </a:prstGeom>
          <a:noFill/>
          <a:ln/>
        </p:spPr>
        <p:txBody>
          <a:bodyPr wrap="none" lIns="0" tIns="0" rIns="0" bIns="0" rtlCol="0" anchor="t"/>
          <a:lstStyle/>
          <a:p>
            <a:pPr marL="0" indent="0" algn="l">
              <a:lnSpc>
                <a:spcPts val="1550"/>
              </a:lnSpc>
              <a:buNone/>
            </a:pPr>
            <a:r>
              <a:rPr lang="en-US" sz="1200" b="1" dirty="0">
                <a:solidFill>
                  <a:srgbClr val="443728"/>
                </a:solidFill>
                <a:latin typeface="Crimson Pro Bold" pitchFamily="34" charset="0"/>
                <a:ea typeface="Crimson Pro Bold" pitchFamily="34" charset="-122"/>
                <a:cs typeface="Crimson Pro Bold" pitchFamily="34" charset="-120"/>
              </a:rPr>
              <a:t>Mintzberg's Organisational Configurations</a:t>
            </a:r>
            <a:endParaRPr lang="en-US" sz="1200" dirty="0"/>
          </a:p>
        </p:txBody>
      </p:sp>
      <p:sp>
        <p:nvSpPr>
          <p:cNvPr id="17" name="Text 11"/>
          <p:cNvSpPr/>
          <p:nvPr/>
        </p:nvSpPr>
        <p:spPr>
          <a:xfrm>
            <a:off x="9044226" y="5137190"/>
            <a:ext cx="3256955" cy="1820466"/>
          </a:xfrm>
          <a:prstGeom prst="rect">
            <a:avLst/>
          </a:prstGeom>
          <a:noFill/>
          <a:ln/>
        </p:spPr>
        <p:txBody>
          <a:bodyPr wrap="square" lIns="0" tIns="0" rIns="0" bIns="0" rtlCol="0" anchor="t"/>
          <a:lstStyle/>
          <a:p>
            <a:pPr marL="0" indent="0" algn="l">
              <a:lnSpc>
                <a:spcPts val="1300"/>
              </a:lnSpc>
              <a:buNone/>
            </a:pPr>
            <a:r>
              <a:rPr lang="en-US" sz="950" dirty="0">
                <a:solidFill>
                  <a:srgbClr val="443728"/>
                </a:solidFill>
                <a:latin typeface="Open Sans" pitchFamily="34" charset="0"/>
                <a:ea typeface="Open Sans" pitchFamily="34" charset="-122"/>
                <a:cs typeface="Open Sans" pitchFamily="34" charset="-120"/>
              </a:rPr>
              <a:t>Henry Mintzberg proposed five structural configurations that emerge from different combinations of coordinating mechanisms and organisational components: </a:t>
            </a:r>
            <a:r>
              <a:rPr lang="en-US" sz="950" b="1" dirty="0">
                <a:solidFill>
                  <a:srgbClr val="443728"/>
                </a:solidFill>
                <a:latin typeface="Open Sans" pitchFamily="34" charset="0"/>
                <a:ea typeface="Open Sans" pitchFamily="34" charset="-122"/>
                <a:cs typeface="Open Sans" pitchFamily="34" charset="-120"/>
              </a:rPr>
              <a:t>Simple Structure</a:t>
            </a:r>
            <a:r>
              <a:rPr lang="en-US" sz="950" dirty="0">
                <a:solidFill>
                  <a:srgbClr val="443728"/>
                </a:solidFill>
                <a:latin typeface="Open Sans" pitchFamily="34" charset="0"/>
                <a:ea typeface="Open Sans" pitchFamily="34" charset="-122"/>
                <a:cs typeface="Open Sans" pitchFamily="34" charset="-120"/>
              </a:rPr>
              <a:t> (centralised, direct supervision), </a:t>
            </a:r>
            <a:r>
              <a:rPr lang="en-US" sz="950" b="1" dirty="0">
                <a:solidFill>
                  <a:srgbClr val="443728"/>
                </a:solidFill>
                <a:latin typeface="Open Sans" pitchFamily="34" charset="0"/>
                <a:ea typeface="Open Sans" pitchFamily="34" charset="-122"/>
                <a:cs typeface="Open Sans" pitchFamily="34" charset="-120"/>
              </a:rPr>
              <a:t>Machine Bureaucracy</a:t>
            </a:r>
            <a:r>
              <a:rPr lang="en-US" sz="950" dirty="0">
                <a:solidFill>
                  <a:srgbClr val="443728"/>
                </a:solidFill>
                <a:latin typeface="Open Sans" pitchFamily="34" charset="0"/>
                <a:ea typeface="Open Sans" pitchFamily="34" charset="-122"/>
                <a:cs typeface="Open Sans" pitchFamily="34" charset="-120"/>
              </a:rPr>
              <a:t> (standardised processes, large middle line), </a:t>
            </a:r>
            <a:r>
              <a:rPr lang="en-US" sz="950" b="1" dirty="0">
                <a:solidFill>
                  <a:srgbClr val="443728"/>
                </a:solidFill>
                <a:latin typeface="Open Sans" pitchFamily="34" charset="0"/>
                <a:ea typeface="Open Sans" pitchFamily="34" charset="-122"/>
                <a:cs typeface="Open Sans" pitchFamily="34" charset="-120"/>
              </a:rPr>
              <a:t>Professional Bureaucracy</a:t>
            </a:r>
            <a:r>
              <a:rPr lang="en-US" sz="950" dirty="0">
                <a:solidFill>
                  <a:srgbClr val="443728"/>
                </a:solidFill>
                <a:latin typeface="Open Sans" pitchFamily="34" charset="0"/>
                <a:ea typeface="Open Sans" pitchFamily="34" charset="-122"/>
                <a:cs typeface="Open Sans" pitchFamily="34" charset="-120"/>
              </a:rPr>
              <a:t> (skilled experts with autonomy), </a:t>
            </a:r>
            <a:r>
              <a:rPr lang="en-US" sz="950" b="1" dirty="0">
                <a:solidFill>
                  <a:srgbClr val="443728"/>
                </a:solidFill>
                <a:latin typeface="Open Sans" pitchFamily="34" charset="0"/>
                <a:ea typeface="Open Sans" pitchFamily="34" charset="-122"/>
                <a:cs typeface="Open Sans" pitchFamily="34" charset="-120"/>
              </a:rPr>
              <a:t>Divisionalised Form</a:t>
            </a:r>
            <a:r>
              <a:rPr lang="en-US" sz="950" dirty="0">
                <a:solidFill>
                  <a:srgbClr val="443728"/>
                </a:solidFill>
                <a:latin typeface="Open Sans" pitchFamily="34" charset="0"/>
                <a:ea typeface="Open Sans" pitchFamily="34" charset="-122"/>
                <a:cs typeface="Open Sans" pitchFamily="34" charset="-120"/>
              </a:rPr>
              <a:t> (autonomous divisions), and </a:t>
            </a:r>
            <a:r>
              <a:rPr lang="en-US" sz="950" b="1" dirty="0">
                <a:solidFill>
                  <a:srgbClr val="443728"/>
                </a:solidFill>
                <a:latin typeface="Open Sans" pitchFamily="34" charset="0"/>
                <a:ea typeface="Open Sans" pitchFamily="34" charset="-122"/>
                <a:cs typeface="Open Sans" pitchFamily="34" charset="-120"/>
              </a:rPr>
              <a:t>Adhocracy</a:t>
            </a:r>
            <a:r>
              <a:rPr lang="en-US" sz="950" dirty="0">
                <a:solidFill>
                  <a:srgbClr val="443728"/>
                </a:solidFill>
                <a:latin typeface="Open Sans" pitchFamily="34" charset="0"/>
                <a:ea typeface="Open Sans" pitchFamily="34" charset="-122"/>
                <a:cs typeface="Open Sans" pitchFamily="34" charset="-120"/>
              </a:rPr>
              <a:t> (flexible, project-based teams for innovation). Each suits specific environments and strategies.</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3402449" y="272891"/>
            <a:ext cx="1196340" cy="154781"/>
          </a:xfrm>
          <a:prstGeom prst="roundRect">
            <a:avLst>
              <a:gd name="adj" fmla="val 21542"/>
            </a:avLst>
          </a:prstGeom>
          <a:solidFill>
            <a:srgbClr val="EBE2E0"/>
          </a:solidFill>
          <a:ln/>
        </p:spPr>
        <p:txBody>
          <a:bodyPr/>
          <a:lstStyle/>
          <a:p>
            <a:endParaRPr lang="en-AU"/>
          </a:p>
        </p:txBody>
      </p:sp>
      <p:sp>
        <p:nvSpPr>
          <p:cNvPr id="3" name="Text 1"/>
          <p:cNvSpPr/>
          <p:nvPr/>
        </p:nvSpPr>
        <p:spPr>
          <a:xfrm>
            <a:off x="3461980" y="302657"/>
            <a:ext cx="1077278" cy="95250"/>
          </a:xfrm>
          <a:prstGeom prst="rect">
            <a:avLst/>
          </a:prstGeom>
          <a:noFill/>
          <a:ln/>
        </p:spPr>
        <p:txBody>
          <a:bodyPr wrap="none" lIns="0" tIns="0" rIns="0" bIns="0" rtlCol="0" anchor="t"/>
          <a:lstStyle/>
          <a:p>
            <a:pPr marL="0" indent="0" algn="l">
              <a:lnSpc>
                <a:spcPts val="750"/>
              </a:lnSpc>
              <a:buNone/>
            </a:pPr>
            <a:r>
              <a:rPr lang="en-US" sz="600" dirty="0">
                <a:solidFill>
                  <a:srgbClr val="443728"/>
                </a:solidFill>
                <a:latin typeface="Open Sans" pitchFamily="34" charset="0"/>
                <a:ea typeface="Open Sans" pitchFamily="34" charset="-122"/>
                <a:cs typeface="Open Sans" pitchFamily="34" charset="-120"/>
              </a:rPr>
              <a:t>LEVEL 3 — ORGANISATIONAL</a:t>
            </a:r>
            <a:endParaRPr lang="en-US" sz="600" dirty="0"/>
          </a:p>
        </p:txBody>
      </p:sp>
      <p:sp>
        <p:nvSpPr>
          <p:cNvPr id="4" name="Text 2"/>
          <p:cNvSpPr/>
          <p:nvPr/>
        </p:nvSpPr>
        <p:spPr>
          <a:xfrm>
            <a:off x="3402449" y="447437"/>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Organisational Culture</a:t>
            </a:r>
            <a:endParaRPr lang="en-US" sz="1950" dirty="0"/>
          </a:p>
        </p:txBody>
      </p:sp>
      <p:sp>
        <p:nvSpPr>
          <p:cNvPr id="5" name="Text 3"/>
          <p:cNvSpPr/>
          <p:nvPr/>
        </p:nvSpPr>
        <p:spPr>
          <a:xfrm>
            <a:off x="3402449" y="832009"/>
            <a:ext cx="7825502" cy="237887"/>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Organisational culture is the shared set of values, beliefs, and assumptions that define "how things are done around here." Culture is powerful precisely because much of it operates below conscious awareness — shaping decisions, behaviours, and relationships without explicit direction.</a:t>
            </a:r>
            <a:endParaRPr lang="en-US" sz="750" dirty="0"/>
          </a:p>
        </p:txBody>
      </p:sp>
      <p:sp>
        <p:nvSpPr>
          <p:cNvPr id="6" name="Shape 4"/>
          <p:cNvSpPr/>
          <p:nvPr/>
        </p:nvSpPr>
        <p:spPr>
          <a:xfrm>
            <a:off x="3402449" y="1125617"/>
            <a:ext cx="7825502" cy="882134"/>
          </a:xfrm>
          <a:prstGeom prst="roundRect">
            <a:avLst>
              <a:gd name="adj" fmla="val 4725"/>
            </a:avLst>
          </a:prstGeom>
          <a:solidFill>
            <a:srgbClr val="E1D4D0"/>
          </a:solidFill>
          <a:ln/>
        </p:spPr>
        <p:txBody>
          <a:bodyPr/>
          <a:lstStyle/>
          <a:p>
            <a:endParaRPr lang="en-AU"/>
          </a:p>
        </p:txBody>
      </p:sp>
      <p:pic>
        <p:nvPicPr>
          <p:cNvPr id="7" name="Image 0" descr="preencoded.png"/>
          <p:cNvPicPr>
            <a:picLocks noChangeAspect="1"/>
          </p:cNvPicPr>
          <p:nvPr/>
        </p:nvPicPr>
        <p:blipFill>
          <a:blip r:embed="rId3"/>
          <a:stretch>
            <a:fillRect/>
          </a:stretch>
        </p:blipFill>
        <p:spPr>
          <a:xfrm>
            <a:off x="3501628" y="1254204"/>
            <a:ext cx="123944" cy="99179"/>
          </a:xfrm>
          <a:prstGeom prst="rect">
            <a:avLst/>
          </a:prstGeom>
        </p:spPr>
      </p:pic>
      <p:sp>
        <p:nvSpPr>
          <p:cNvPr id="8" name="Text 5"/>
          <p:cNvSpPr/>
          <p:nvPr/>
        </p:nvSpPr>
        <p:spPr>
          <a:xfrm>
            <a:off x="3724751" y="1199912"/>
            <a:ext cx="7404021" cy="713661"/>
          </a:xfrm>
          <a:prstGeom prst="rect">
            <a:avLst/>
          </a:prstGeom>
          <a:noFill/>
          <a:ln/>
        </p:spPr>
        <p:txBody>
          <a:bodyPr wrap="square" lIns="0" tIns="0" rIns="0" bIns="0" rtlCol="0" anchor="t"/>
          <a:lstStyle/>
          <a:p>
            <a:pPr marL="0" indent="0" algn="l">
              <a:lnSpc>
                <a:spcPts val="900"/>
              </a:lnSpc>
              <a:buNone/>
            </a:pPr>
            <a:r>
              <a:rPr lang="en-US" sz="750" dirty="0">
                <a:solidFill>
                  <a:srgbClr val="000000"/>
                </a:solidFill>
                <a:latin typeface="Open Sans" pitchFamily="34" charset="0"/>
                <a:ea typeface="Open Sans" pitchFamily="34" charset="-122"/>
                <a:cs typeface="Open Sans" pitchFamily="34" charset="-120"/>
              </a:rPr>
              <a:t>📹 </a:t>
            </a:r>
            <a:r>
              <a:rPr lang="en-US" sz="750" b="1" dirty="0">
                <a:solidFill>
                  <a:srgbClr val="000000"/>
                </a:solidFill>
                <a:latin typeface="Open Sans" pitchFamily="34" charset="0"/>
                <a:ea typeface="Open Sans" pitchFamily="34" charset="-122"/>
                <a:cs typeface="Open Sans" pitchFamily="34" charset="-120"/>
              </a:rPr>
              <a:t>Video Placeholder</a:t>
            </a:r>
            <a:r>
              <a:rPr lang="en-US" sz="750" dirty="0">
                <a:solidFill>
                  <a:srgbClr val="000000"/>
                </a:solidFill>
                <a:latin typeface="Open Sans" pitchFamily="34" charset="0"/>
                <a:ea typeface="Open Sans" pitchFamily="34" charset="-122"/>
                <a:cs typeface="Open Sans" pitchFamily="34" charset="-120"/>
              </a:rPr>
              <a:t> — "Every family has a culture. There are unwritten rules about what you talk about at dinner, how you handle disagreements, what's celebrated and what's never mentioned. Some families are loud and expressive; others are quiet and reserved. Some reward achievement; others prioritise loyalty. You didn't choose those rules — you absorbed them. That's Schein's three levels of culture: the visible rituals (artifacts), the stated values, and the deep assumptions nobody questions. And Hofstede's dimensions? They explain why your family's culture might feel completely normal to you but baffling to someone from a different background. This video uses family and community culture to make organisational culture theory feel like something you've been an expert in your whole life."</a:t>
            </a:r>
            <a:endParaRPr lang="en-US" sz="750" dirty="0"/>
          </a:p>
        </p:txBody>
      </p:sp>
      <p:sp>
        <p:nvSpPr>
          <p:cNvPr id="9" name="Text 6"/>
          <p:cNvSpPr/>
          <p:nvPr/>
        </p:nvSpPr>
        <p:spPr>
          <a:xfrm>
            <a:off x="3402449" y="2113002"/>
            <a:ext cx="1670328"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Schein's Three Levels of Culture</a:t>
            </a:r>
            <a:endParaRPr lang="en-US" sz="950" dirty="0"/>
          </a:p>
        </p:txBody>
      </p:sp>
      <p:sp>
        <p:nvSpPr>
          <p:cNvPr id="10" name="Text 7"/>
          <p:cNvSpPr/>
          <p:nvPr/>
        </p:nvSpPr>
        <p:spPr>
          <a:xfrm>
            <a:off x="3402449" y="2317552"/>
            <a:ext cx="3791783" cy="237887"/>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Edgar Schein proposed that organisational culture exists at three levels of visibility:</a:t>
            </a:r>
            <a:endParaRPr lang="en-US" sz="750" dirty="0"/>
          </a:p>
        </p:txBody>
      </p:sp>
      <p:sp>
        <p:nvSpPr>
          <p:cNvPr id="11" name="Shape 8"/>
          <p:cNvSpPr/>
          <p:nvPr/>
        </p:nvSpPr>
        <p:spPr>
          <a:xfrm>
            <a:off x="3402449" y="2611160"/>
            <a:ext cx="1871067" cy="1131808"/>
          </a:xfrm>
          <a:prstGeom prst="roundRect">
            <a:avLst>
              <a:gd name="adj" fmla="val 3683"/>
            </a:avLst>
          </a:prstGeom>
          <a:solidFill>
            <a:srgbClr val="EBE2E0"/>
          </a:solidFill>
          <a:ln w="7620">
            <a:solidFill>
              <a:srgbClr val="D1C8C6"/>
            </a:solidFill>
            <a:prstDash val="solid"/>
          </a:ln>
        </p:spPr>
        <p:txBody>
          <a:bodyPr/>
          <a:lstStyle/>
          <a:p>
            <a:endParaRPr lang="en-AU"/>
          </a:p>
        </p:txBody>
      </p:sp>
      <p:sp>
        <p:nvSpPr>
          <p:cNvPr id="12" name="Text 9"/>
          <p:cNvSpPr/>
          <p:nvPr/>
        </p:nvSpPr>
        <p:spPr>
          <a:xfrm>
            <a:off x="3509248" y="2717959"/>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Artifacts</a:t>
            </a:r>
            <a:endParaRPr lang="en-US" sz="950" dirty="0"/>
          </a:p>
        </p:txBody>
      </p:sp>
      <p:sp>
        <p:nvSpPr>
          <p:cNvPr id="13" name="Text 10"/>
          <p:cNvSpPr/>
          <p:nvPr/>
        </p:nvSpPr>
        <p:spPr>
          <a:xfrm>
            <a:off x="3509248" y="2922508"/>
            <a:ext cx="1657469" cy="713661"/>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The visible, tangible manifestations of culture — office layout, dress code, company rituals, logos, and the way meetings are run. Observable but hard to interpret without context.</a:t>
            </a:r>
            <a:endParaRPr lang="en-US" sz="750" dirty="0"/>
          </a:p>
        </p:txBody>
      </p:sp>
      <p:sp>
        <p:nvSpPr>
          <p:cNvPr id="14" name="Shape 11"/>
          <p:cNvSpPr/>
          <p:nvPr/>
        </p:nvSpPr>
        <p:spPr>
          <a:xfrm>
            <a:off x="5323046" y="2611160"/>
            <a:ext cx="1871186" cy="1131808"/>
          </a:xfrm>
          <a:prstGeom prst="roundRect">
            <a:avLst>
              <a:gd name="adj" fmla="val 3683"/>
            </a:avLst>
          </a:prstGeom>
          <a:solidFill>
            <a:srgbClr val="EBE2E0"/>
          </a:solidFill>
          <a:ln w="7620">
            <a:solidFill>
              <a:srgbClr val="D1C8C6"/>
            </a:solidFill>
            <a:prstDash val="solid"/>
          </a:ln>
        </p:spPr>
        <p:txBody>
          <a:bodyPr/>
          <a:lstStyle/>
          <a:p>
            <a:endParaRPr lang="en-AU"/>
          </a:p>
        </p:txBody>
      </p:sp>
      <p:sp>
        <p:nvSpPr>
          <p:cNvPr id="15" name="Text 12"/>
          <p:cNvSpPr/>
          <p:nvPr/>
        </p:nvSpPr>
        <p:spPr>
          <a:xfrm>
            <a:off x="5429845" y="2717959"/>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Espoused Values</a:t>
            </a:r>
            <a:endParaRPr lang="en-US" sz="950" dirty="0"/>
          </a:p>
        </p:txBody>
      </p:sp>
      <p:sp>
        <p:nvSpPr>
          <p:cNvPr id="16" name="Text 13"/>
          <p:cNvSpPr/>
          <p:nvPr/>
        </p:nvSpPr>
        <p:spPr>
          <a:xfrm>
            <a:off x="5429845" y="2922508"/>
            <a:ext cx="1657588" cy="594717"/>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The stated strategies, goals, and philosophies that the organisation publicly endorses — its mission statements, codes of conduct, and leadership rhetoric.</a:t>
            </a:r>
            <a:endParaRPr lang="en-US" sz="750" dirty="0"/>
          </a:p>
        </p:txBody>
      </p:sp>
      <p:sp>
        <p:nvSpPr>
          <p:cNvPr id="17" name="Shape 14"/>
          <p:cNvSpPr/>
          <p:nvPr/>
        </p:nvSpPr>
        <p:spPr>
          <a:xfrm>
            <a:off x="3402449" y="3792498"/>
            <a:ext cx="3791783" cy="774978"/>
          </a:xfrm>
          <a:prstGeom prst="roundRect">
            <a:avLst>
              <a:gd name="adj" fmla="val 5378"/>
            </a:avLst>
          </a:prstGeom>
          <a:solidFill>
            <a:srgbClr val="EBE2E0"/>
          </a:solidFill>
          <a:ln w="7620">
            <a:solidFill>
              <a:srgbClr val="D1C8C6"/>
            </a:solidFill>
            <a:prstDash val="solid"/>
          </a:ln>
        </p:spPr>
        <p:txBody>
          <a:bodyPr/>
          <a:lstStyle/>
          <a:p>
            <a:endParaRPr lang="en-AU"/>
          </a:p>
        </p:txBody>
      </p:sp>
      <p:sp>
        <p:nvSpPr>
          <p:cNvPr id="18" name="Text 15"/>
          <p:cNvSpPr/>
          <p:nvPr/>
        </p:nvSpPr>
        <p:spPr>
          <a:xfrm>
            <a:off x="3509248" y="3899297"/>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Basic Assumptions</a:t>
            </a:r>
            <a:endParaRPr lang="en-US" sz="950" dirty="0"/>
          </a:p>
        </p:txBody>
      </p:sp>
      <p:sp>
        <p:nvSpPr>
          <p:cNvPr id="19" name="Text 16"/>
          <p:cNvSpPr/>
          <p:nvPr/>
        </p:nvSpPr>
        <p:spPr>
          <a:xfrm>
            <a:off x="3509248" y="4103846"/>
            <a:ext cx="3578185" cy="356830"/>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The deeply embedded, unconscious beliefs that are taken for granted and rarely questioned. These are the true root of culture, and the hardest to change.</a:t>
            </a:r>
            <a:endParaRPr lang="en-US" sz="750" dirty="0"/>
          </a:p>
        </p:txBody>
      </p:sp>
      <p:pic>
        <p:nvPicPr>
          <p:cNvPr id="20" name="Image 1" descr="preencoded.png"/>
          <p:cNvPicPr>
            <a:picLocks noChangeAspect="1"/>
          </p:cNvPicPr>
          <p:nvPr/>
        </p:nvPicPr>
        <p:blipFill>
          <a:blip r:embed="rId4"/>
          <a:stretch>
            <a:fillRect/>
          </a:stretch>
        </p:blipFill>
        <p:spPr>
          <a:xfrm>
            <a:off x="7443788" y="2119193"/>
            <a:ext cx="3791783" cy="3791783"/>
          </a:xfrm>
          <a:prstGeom prst="rect">
            <a:avLst/>
          </a:prstGeom>
        </p:spPr>
      </p:pic>
      <p:sp>
        <p:nvSpPr>
          <p:cNvPr id="21" name="Text 17"/>
          <p:cNvSpPr/>
          <p:nvPr/>
        </p:nvSpPr>
        <p:spPr>
          <a:xfrm>
            <a:off x="7443788" y="5966698"/>
            <a:ext cx="1665684"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Hofstede's Cultural Dimensions</a:t>
            </a:r>
            <a:endParaRPr lang="en-US" sz="950" dirty="0"/>
          </a:p>
        </p:txBody>
      </p:sp>
      <p:sp>
        <p:nvSpPr>
          <p:cNvPr id="22" name="Text 18"/>
          <p:cNvSpPr/>
          <p:nvPr/>
        </p:nvSpPr>
        <p:spPr>
          <a:xfrm>
            <a:off x="7443788" y="6171248"/>
            <a:ext cx="3791783" cy="356830"/>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Geert Hofstede's landmark cross-national research identified six dimensions on which national cultures differ — profoundly affecting how organisations in those countries operate:</a:t>
            </a:r>
            <a:endParaRPr lang="en-US" sz="750" dirty="0"/>
          </a:p>
        </p:txBody>
      </p:sp>
      <p:sp>
        <p:nvSpPr>
          <p:cNvPr id="23" name="Text 19"/>
          <p:cNvSpPr/>
          <p:nvPr/>
        </p:nvSpPr>
        <p:spPr>
          <a:xfrm>
            <a:off x="7443788" y="6572726"/>
            <a:ext cx="3791783" cy="1156811"/>
          </a:xfrm>
          <a:prstGeom prst="rect">
            <a:avLst/>
          </a:prstGeom>
          <a:noFill/>
          <a:ln/>
        </p:spPr>
        <p:txBody>
          <a:bodyPr wrap="square" lIns="0" tIns="0" rIns="0" bIns="0" rtlCol="0" anchor="t"/>
          <a:lstStyle/>
          <a:p>
            <a:pPr marL="342900" indent="-342900" algn="l">
              <a:lnSpc>
                <a:spcPts val="900"/>
              </a:lnSpc>
              <a:buSzPct val="100000"/>
              <a:buChar char="•"/>
            </a:pPr>
            <a:r>
              <a:rPr lang="en-US" sz="750" b="1" dirty="0">
                <a:solidFill>
                  <a:srgbClr val="443728"/>
                </a:solidFill>
                <a:latin typeface="Open Sans" pitchFamily="34" charset="0"/>
                <a:ea typeface="Open Sans" pitchFamily="34" charset="-122"/>
                <a:cs typeface="Open Sans" pitchFamily="34" charset="-120"/>
              </a:rPr>
              <a:t>Power Distance</a:t>
            </a:r>
            <a:r>
              <a:rPr lang="en-US" sz="750" dirty="0">
                <a:solidFill>
                  <a:srgbClr val="443728"/>
                </a:solidFill>
                <a:latin typeface="Open Sans" pitchFamily="34" charset="0"/>
                <a:ea typeface="Open Sans" pitchFamily="34" charset="-122"/>
                <a:cs typeface="Open Sans" pitchFamily="34" charset="-120"/>
              </a:rPr>
              <a:t> — acceptance of unequal power distribution.</a:t>
            </a:r>
            <a:endParaRPr lang="en-US" sz="750" dirty="0"/>
          </a:p>
          <a:p>
            <a:pPr marL="342900" indent="-342900" algn="l">
              <a:lnSpc>
                <a:spcPts val="900"/>
              </a:lnSpc>
              <a:buSzPct val="100000"/>
              <a:buChar char="•"/>
            </a:pPr>
            <a:r>
              <a:rPr lang="en-US" sz="750" b="1" dirty="0">
                <a:solidFill>
                  <a:srgbClr val="443728"/>
                </a:solidFill>
                <a:latin typeface="Open Sans" pitchFamily="34" charset="0"/>
                <a:ea typeface="Open Sans" pitchFamily="34" charset="-122"/>
                <a:cs typeface="Open Sans" pitchFamily="34" charset="-120"/>
              </a:rPr>
              <a:t>Individualism vs. Collectivism</a:t>
            </a:r>
            <a:r>
              <a:rPr lang="en-US" sz="750" dirty="0">
                <a:solidFill>
                  <a:srgbClr val="443728"/>
                </a:solidFill>
                <a:latin typeface="Open Sans" pitchFamily="34" charset="0"/>
                <a:ea typeface="Open Sans" pitchFamily="34" charset="-122"/>
                <a:cs typeface="Open Sans" pitchFamily="34" charset="-120"/>
              </a:rPr>
              <a:t> — loyalty to self/family vs. group.</a:t>
            </a:r>
            <a:endParaRPr lang="en-US" sz="750" dirty="0"/>
          </a:p>
          <a:p>
            <a:pPr marL="342900" indent="-342900" algn="l">
              <a:lnSpc>
                <a:spcPts val="900"/>
              </a:lnSpc>
              <a:buSzPct val="100000"/>
              <a:buChar char="•"/>
            </a:pPr>
            <a:r>
              <a:rPr lang="en-US" sz="750" b="1" dirty="0">
                <a:solidFill>
                  <a:srgbClr val="443728"/>
                </a:solidFill>
                <a:latin typeface="Open Sans" pitchFamily="34" charset="0"/>
                <a:ea typeface="Open Sans" pitchFamily="34" charset="-122"/>
                <a:cs typeface="Open Sans" pitchFamily="34" charset="-120"/>
              </a:rPr>
              <a:t>Masculinity vs. Femininity</a:t>
            </a:r>
            <a:r>
              <a:rPr lang="en-US" sz="750" dirty="0">
                <a:solidFill>
                  <a:srgbClr val="443728"/>
                </a:solidFill>
                <a:latin typeface="Open Sans" pitchFamily="34" charset="0"/>
                <a:ea typeface="Open Sans" pitchFamily="34" charset="-122"/>
                <a:cs typeface="Open Sans" pitchFamily="34" charset="-120"/>
              </a:rPr>
              <a:t> — achievement and competition vs. care and quality of life.</a:t>
            </a:r>
            <a:endParaRPr lang="en-US" sz="750" dirty="0"/>
          </a:p>
          <a:p>
            <a:pPr marL="342900" indent="-342900" algn="l">
              <a:lnSpc>
                <a:spcPts val="900"/>
              </a:lnSpc>
              <a:buSzPct val="100000"/>
              <a:buChar char="•"/>
            </a:pPr>
            <a:r>
              <a:rPr lang="en-US" sz="750" b="1" dirty="0">
                <a:solidFill>
                  <a:srgbClr val="443728"/>
                </a:solidFill>
                <a:latin typeface="Open Sans" pitchFamily="34" charset="0"/>
                <a:ea typeface="Open Sans" pitchFamily="34" charset="-122"/>
                <a:cs typeface="Open Sans" pitchFamily="34" charset="-120"/>
              </a:rPr>
              <a:t>Uncertainty Avoidance</a:t>
            </a:r>
            <a:r>
              <a:rPr lang="en-US" sz="750" dirty="0">
                <a:solidFill>
                  <a:srgbClr val="443728"/>
                </a:solidFill>
                <a:latin typeface="Open Sans" pitchFamily="34" charset="0"/>
                <a:ea typeface="Open Sans" pitchFamily="34" charset="-122"/>
                <a:cs typeface="Open Sans" pitchFamily="34" charset="-120"/>
              </a:rPr>
              <a:t> — tolerance for ambiguity and risk.</a:t>
            </a:r>
            <a:endParaRPr lang="en-US" sz="750" dirty="0"/>
          </a:p>
          <a:p>
            <a:pPr marL="342900" indent="-342900" algn="l">
              <a:lnSpc>
                <a:spcPts val="900"/>
              </a:lnSpc>
              <a:buSzPct val="100000"/>
              <a:buChar char="•"/>
            </a:pPr>
            <a:r>
              <a:rPr lang="en-US" sz="750" b="1" dirty="0">
                <a:solidFill>
                  <a:srgbClr val="443728"/>
                </a:solidFill>
                <a:latin typeface="Open Sans" pitchFamily="34" charset="0"/>
                <a:ea typeface="Open Sans" pitchFamily="34" charset="-122"/>
                <a:cs typeface="Open Sans" pitchFamily="34" charset="-120"/>
              </a:rPr>
              <a:t>Long-term vs. Short-term Orientation</a:t>
            </a:r>
            <a:r>
              <a:rPr lang="en-US" sz="750" dirty="0">
                <a:solidFill>
                  <a:srgbClr val="443728"/>
                </a:solidFill>
                <a:latin typeface="Open Sans" pitchFamily="34" charset="0"/>
                <a:ea typeface="Open Sans" pitchFamily="34" charset="-122"/>
                <a:cs typeface="Open Sans" pitchFamily="34" charset="-120"/>
              </a:rPr>
              <a:t> — focus on future virtues vs. present traditions.</a:t>
            </a:r>
            <a:endParaRPr lang="en-US" sz="750" dirty="0"/>
          </a:p>
          <a:p>
            <a:pPr marL="342900" indent="-342900" algn="l">
              <a:lnSpc>
                <a:spcPts val="900"/>
              </a:lnSpc>
              <a:buSzPct val="100000"/>
              <a:buChar char="•"/>
            </a:pPr>
            <a:r>
              <a:rPr lang="en-US" sz="750" b="1" dirty="0">
                <a:solidFill>
                  <a:srgbClr val="443728"/>
                </a:solidFill>
                <a:latin typeface="Open Sans" pitchFamily="34" charset="0"/>
                <a:ea typeface="Open Sans" pitchFamily="34" charset="-122"/>
                <a:cs typeface="Open Sans" pitchFamily="34" charset="-120"/>
              </a:rPr>
              <a:t>Indulgence vs. Restraint</a:t>
            </a:r>
            <a:r>
              <a:rPr lang="en-US" sz="750" dirty="0">
                <a:solidFill>
                  <a:srgbClr val="443728"/>
                </a:solidFill>
                <a:latin typeface="Open Sans" pitchFamily="34" charset="0"/>
                <a:ea typeface="Open Sans" pitchFamily="34" charset="-122"/>
                <a:cs typeface="Open Sans" pitchFamily="34" charset="-120"/>
              </a:rPr>
              <a:t> — degree to which impulses and desires are freely gratified.</a:t>
            </a:r>
            <a:endParaRPr lang="en-US" sz="750" dirty="0"/>
          </a:p>
        </p:txBody>
      </p:sp>
      <p:sp>
        <p:nvSpPr>
          <p:cNvPr id="24" name="Text 20"/>
          <p:cNvSpPr/>
          <p:nvPr/>
        </p:nvSpPr>
        <p:spPr>
          <a:xfrm>
            <a:off x="7443788" y="7774186"/>
            <a:ext cx="3791783" cy="356830"/>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These dimensions are essential for managing diverse, multinational teams and understanding why management practices that work in one culture may fail in another.</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3016329" y="1088469"/>
            <a:ext cx="1314807" cy="173355"/>
          </a:xfrm>
          <a:prstGeom prst="roundRect">
            <a:avLst>
              <a:gd name="adj" fmla="val 21132"/>
            </a:avLst>
          </a:prstGeom>
          <a:solidFill>
            <a:srgbClr val="EBE2E0"/>
          </a:solidFill>
          <a:ln/>
        </p:spPr>
        <p:txBody>
          <a:bodyPr/>
          <a:lstStyle/>
          <a:p>
            <a:endParaRPr lang="en-AU"/>
          </a:p>
        </p:txBody>
      </p:sp>
      <p:sp>
        <p:nvSpPr>
          <p:cNvPr id="3" name="Text 1"/>
          <p:cNvSpPr/>
          <p:nvPr/>
        </p:nvSpPr>
        <p:spPr>
          <a:xfrm>
            <a:off x="3081695" y="1121093"/>
            <a:ext cx="1184077" cy="108109"/>
          </a:xfrm>
          <a:prstGeom prst="rect">
            <a:avLst/>
          </a:prstGeom>
          <a:noFill/>
          <a:ln/>
        </p:spPr>
        <p:txBody>
          <a:bodyPr wrap="none" lIns="0" tIns="0" rIns="0" bIns="0" rtlCol="0" anchor="t"/>
          <a:lstStyle/>
          <a:p>
            <a:pPr marL="0" indent="0" algn="l">
              <a:lnSpc>
                <a:spcPts val="850"/>
              </a:lnSpc>
              <a:buNone/>
            </a:pPr>
            <a:r>
              <a:rPr lang="en-US" sz="650" dirty="0">
                <a:solidFill>
                  <a:srgbClr val="443728"/>
                </a:solidFill>
                <a:latin typeface="Open Sans" pitchFamily="34" charset="0"/>
                <a:ea typeface="Open Sans" pitchFamily="34" charset="-122"/>
                <a:cs typeface="Open Sans" pitchFamily="34" charset="-120"/>
              </a:rPr>
              <a:t>LEVEL 3 — ORGANISATIONAL</a:t>
            </a:r>
            <a:endParaRPr lang="en-US" sz="650" dirty="0"/>
          </a:p>
        </p:txBody>
      </p:sp>
      <p:sp>
        <p:nvSpPr>
          <p:cNvPr id="4" name="Text 2"/>
          <p:cNvSpPr/>
          <p:nvPr/>
        </p:nvSpPr>
        <p:spPr>
          <a:xfrm>
            <a:off x="3016329" y="1285756"/>
            <a:ext cx="2742486" cy="340638"/>
          </a:xfrm>
          <a:prstGeom prst="rect">
            <a:avLst/>
          </a:prstGeom>
          <a:noFill/>
          <a:ln/>
        </p:spPr>
        <p:txBody>
          <a:bodyPr wrap="none" lIns="0" tIns="0" rIns="0" bIns="0" rtlCol="0" anchor="t"/>
          <a:lstStyle/>
          <a:p>
            <a:pPr marL="0" indent="0" algn="l">
              <a:lnSpc>
                <a:spcPts val="2650"/>
              </a:lnSpc>
              <a:buNone/>
            </a:pPr>
            <a:r>
              <a:rPr lang="en-US" sz="2100" b="1" dirty="0">
                <a:solidFill>
                  <a:srgbClr val="443728"/>
                </a:solidFill>
                <a:latin typeface="Crimson Pro Bold" pitchFamily="34" charset="0"/>
                <a:ea typeface="Crimson Pro Bold" pitchFamily="34" charset="-122"/>
                <a:cs typeface="Crimson Pro Bold" pitchFamily="34" charset="-120"/>
              </a:rPr>
              <a:t>Management of Change</a:t>
            </a:r>
            <a:endParaRPr lang="en-US" sz="2100" dirty="0"/>
          </a:p>
        </p:txBody>
      </p:sp>
      <p:sp>
        <p:nvSpPr>
          <p:cNvPr id="5" name="Text 3"/>
          <p:cNvSpPr/>
          <p:nvPr/>
        </p:nvSpPr>
        <p:spPr>
          <a:xfrm>
            <a:off x="3016329" y="1716167"/>
            <a:ext cx="8597741" cy="270272"/>
          </a:xfrm>
          <a:prstGeom prst="rect">
            <a:avLst/>
          </a:prstGeom>
          <a:noFill/>
          <a:ln/>
        </p:spPr>
        <p:txBody>
          <a:bodyPr wrap="square" lIns="0" tIns="0" rIns="0" bIns="0" rtlCol="0" anchor="t"/>
          <a:lstStyle/>
          <a:p>
            <a:pPr marL="0" indent="0" algn="l">
              <a:lnSpc>
                <a:spcPts val="1050"/>
              </a:lnSpc>
              <a:buNone/>
            </a:pPr>
            <a:r>
              <a:rPr lang="en-US" sz="850" dirty="0">
                <a:solidFill>
                  <a:srgbClr val="443728"/>
                </a:solidFill>
                <a:latin typeface="Open Sans" pitchFamily="34" charset="0"/>
                <a:ea typeface="Open Sans" pitchFamily="34" charset="-122"/>
                <a:cs typeface="Open Sans" pitchFamily="34" charset="-120"/>
              </a:rPr>
              <a:t>Organisational change is constant — driven by technology, competition, regulation, and evolving workforce expectations. The theories below offer managers structured frameworks for leading change effectively, minimising resistance, and sustaining new ways of working.</a:t>
            </a:r>
            <a:endParaRPr lang="en-US" sz="850" dirty="0"/>
          </a:p>
        </p:txBody>
      </p:sp>
      <p:sp>
        <p:nvSpPr>
          <p:cNvPr id="6" name="Shape 4"/>
          <p:cNvSpPr/>
          <p:nvPr/>
        </p:nvSpPr>
        <p:spPr>
          <a:xfrm>
            <a:off x="3016329" y="2053709"/>
            <a:ext cx="8597741" cy="1013698"/>
          </a:xfrm>
          <a:prstGeom prst="roundRect">
            <a:avLst>
              <a:gd name="adj" fmla="val 4517"/>
            </a:avLst>
          </a:prstGeom>
          <a:solidFill>
            <a:srgbClr val="E1D4D0"/>
          </a:solidFill>
          <a:ln/>
        </p:spPr>
        <p:txBody>
          <a:bodyPr/>
          <a:lstStyle/>
          <a:p>
            <a:endParaRPr lang="en-AU"/>
          </a:p>
        </p:txBody>
      </p:sp>
      <p:pic>
        <p:nvPicPr>
          <p:cNvPr id="7" name="Image 0" descr="preencoded.png"/>
          <p:cNvPicPr>
            <a:picLocks noChangeAspect="1"/>
          </p:cNvPicPr>
          <p:nvPr/>
        </p:nvPicPr>
        <p:blipFill>
          <a:blip r:embed="rId3"/>
          <a:stretch>
            <a:fillRect/>
          </a:stretch>
        </p:blipFill>
        <p:spPr>
          <a:xfrm>
            <a:off x="3125272" y="2201108"/>
            <a:ext cx="136208" cy="108942"/>
          </a:xfrm>
          <a:prstGeom prst="rect">
            <a:avLst/>
          </a:prstGeom>
        </p:spPr>
      </p:pic>
      <p:sp>
        <p:nvSpPr>
          <p:cNvPr id="8" name="Text 5"/>
          <p:cNvSpPr/>
          <p:nvPr/>
        </p:nvSpPr>
        <p:spPr>
          <a:xfrm>
            <a:off x="3370421" y="2140744"/>
            <a:ext cx="8134707" cy="818436"/>
          </a:xfrm>
          <a:prstGeom prst="rect">
            <a:avLst/>
          </a:prstGeom>
          <a:noFill/>
          <a:ln/>
        </p:spPr>
        <p:txBody>
          <a:bodyPr wrap="square" lIns="0" tIns="0" rIns="0" bIns="0" rtlCol="0" anchor="t"/>
          <a:lstStyle/>
          <a:p>
            <a:pPr marL="0" indent="0" algn="l">
              <a:lnSpc>
                <a:spcPts val="1050"/>
              </a:lnSpc>
              <a:buNone/>
            </a:pPr>
            <a:r>
              <a:rPr lang="en-US" sz="850" dirty="0">
                <a:solidFill>
                  <a:srgbClr val="000000"/>
                </a:solidFill>
                <a:latin typeface="Open Sans" pitchFamily="34" charset="0"/>
                <a:ea typeface="Open Sans" pitchFamily="34" charset="-122"/>
                <a:cs typeface="Open Sans" pitchFamily="34" charset="-120"/>
              </a:rPr>
              <a:t>📹 </a:t>
            </a:r>
            <a:r>
              <a:rPr lang="en-US" sz="850" b="1" dirty="0">
                <a:solidFill>
                  <a:srgbClr val="000000"/>
                </a:solidFill>
                <a:latin typeface="Open Sans" pitchFamily="34" charset="0"/>
                <a:ea typeface="Open Sans" pitchFamily="34" charset="-122"/>
                <a:cs typeface="Open Sans" pitchFamily="34" charset="-120"/>
              </a:rPr>
              <a:t>Video Placeholder</a:t>
            </a:r>
            <a:r>
              <a:rPr lang="en-US" sz="850" dirty="0">
                <a:solidFill>
                  <a:srgbClr val="000000"/>
                </a:solidFill>
                <a:latin typeface="Open Sans" pitchFamily="34" charset="0"/>
                <a:ea typeface="Open Sans" pitchFamily="34" charset="-122"/>
                <a:cs typeface="Open Sans" pitchFamily="34" charset="-120"/>
              </a:rPr>
              <a:t> — "Think about a time something in your life changed and you resisted it — moving schools, a family restructure, a friendship group shifting, a new routine being forced on you. Why did you resist, even when the change might have been good? And think about a time change actually stuck — what made it different? Lewin's Unfreeze-Change-Refreeze, Kotter's 8 steps, and the ADKAR model aren't just for corporate transformations. They describe the exact psychological journey every human goes through when their world shifts. This video maps those personal moments of resistance, transition, and adaptation onto change management theory — so you understand change not as something that happens to organisations, but as something that happens to people."</a:t>
            </a:r>
            <a:endParaRPr lang="en-US" sz="850" dirty="0"/>
          </a:p>
        </p:txBody>
      </p:sp>
      <p:pic>
        <p:nvPicPr>
          <p:cNvPr id="9" name="Image 1" descr="preencoded.png"/>
          <p:cNvPicPr>
            <a:picLocks noChangeAspect="1"/>
          </p:cNvPicPr>
          <p:nvPr/>
        </p:nvPicPr>
        <p:blipFill>
          <a:blip r:embed="rId4"/>
          <a:stretch>
            <a:fillRect/>
          </a:stretch>
        </p:blipFill>
        <p:spPr>
          <a:xfrm>
            <a:off x="3016329" y="3134678"/>
            <a:ext cx="2865834" cy="436007"/>
          </a:xfrm>
          <a:prstGeom prst="rect">
            <a:avLst/>
          </a:prstGeom>
        </p:spPr>
      </p:pic>
      <p:pic>
        <p:nvPicPr>
          <p:cNvPr id="10" name="Image 2" descr="preencoded.png"/>
          <p:cNvPicPr>
            <a:picLocks noChangeAspect="1"/>
          </p:cNvPicPr>
          <p:nvPr/>
        </p:nvPicPr>
        <p:blipFill>
          <a:blip r:embed="rId5"/>
          <a:stretch>
            <a:fillRect/>
          </a:stretch>
        </p:blipFill>
        <p:spPr>
          <a:xfrm>
            <a:off x="3125272" y="3630573"/>
            <a:ext cx="2647950" cy="1500426"/>
          </a:xfrm>
          <a:prstGeom prst="rect">
            <a:avLst/>
          </a:prstGeom>
        </p:spPr>
      </p:pic>
      <p:sp>
        <p:nvSpPr>
          <p:cNvPr id="11" name="Text 6"/>
          <p:cNvSpPr/>
          <p:nvPr/>
        </p:nvSpPr>
        <p:spPr>
          <a:xfrm>
            <a:off x="3125272" y="5198269"/>
            <a:ext cx="1362789" cy="170378"/>
          </a:xfrm>
          <a:prstGeom prst="rect">
            <a:avLst/>
          </a:prstGeom>
          <a:noFill/>
          <a:ln/>
        </p:spPr>
        <p:txBody>
          <a:bodyPr wrap="none" lIns="0" tIns="0" rIns="0" bIns="0" rtlCol="0" anchor="t"/>
          <a:lstStyle/>
          <a:p>
            <a:pPr marL="0" indent="0" algn="l">
              <a:lnSpc>
                <a:spcPts val="1300"/>
              </a:lnSpc>
              <a:buNone/>
            </a:pPr>
            <a:r>
              <a:rPr lang="en-US" sz="1050" b="1" dirty="0">
                <a:solidFill>
                  <a:srgbClr val="443728"/>
                </a:solidFill>
                <a:latin typeface="Crimson Pro Bold" pitchFamily="34" charset="0"/>
                <a:ea typeface="Crimson Pro Bold" pitchFamily="34" charset="-122"/>
                <a:cs typeface="Crimson Pro Bold" pitchFamily="34" charset="-120"/>
              </a:rPr>
              <a:t>Unfreeze</a:t>
            </a:r>
            <a:endParaRPr lang="en-US" sz="1050" dirty="0"/>
          </a:p>
        </p:txBody>
      </p:sp>
      <p:sp>
        <p:nvSpPr>
          <p:cNvPr id="12" name="Text 7"/>
          <p:cNvSpPr/>
          <p:nvPr/>
        </p:nvSpPr>
        <p:spPr>
          <a:xfrm>
            <a:off x="3125272" y="5404485"/>
            <a:ext cx="2647950" cy="405408"/>
          </a:xfrm>
          <a:prstGeom prst="rect">
            <a:avLst/>
          </a:prstGeom>
          <a:noFill/>
          <a:ln/>
        </p:spPr>
        <p:txBody>
          <a:bodyPr wrap="square" lIns="0" tIns="0" rIns="0" bIns="0" rtlCol="0" anchor="t"/>
          <a:lstStyle/>
          <a:p>
            <a:pPr marL="0" indent="0" algn="l">
              <a:lnSpc>
                <a:spcPts val="1050"/>
              </a:lnSpc>
              <a:buNone/>
            </a:pPr>
            <a:r>
              <a:rPr lang="en-US" sz="850" dirty="0">
                <a:solidFill>
                  <a:srgbClr val="443728"/>
                </a:solidFill>
                <a:latin typeface="Open Sans" pitchFamily="34" charset="0"/>
                <a:ea typeface="Open Sans" pitchFamily="34" charset="-122"/>
                <a:cs typeface="Open Sans" pitchFamily="34" charset="-120"/>
              </a:rPr>
              <a:t>Lewin: Disrupt the status quo. Create motivation to change by challenging existing assumptions and increasing the driving forces for change.</a:t>
            </a:r>
            <a:endParaRPr lang="en-US" sz="850" dirty="0"/>
          </a:p>
        </p:txBody>
      </p:sp>
      <p:pic>
        <p:nvPicPr>
          <p:cNvPr id="13" name="Image 3" descr="preencoded.png"/>
          <p:cNvPicPr>
            <a:picLocks noChangeAspect="1"/>
          </p:cNvPicPr>
          <p:nvPr/>
        </p:nvPicPr>
        <p:blipFill>
          <a:blip r:embed="rId6"/>
          <a:stretch>
            <a:fillRect/>
          </a:stretch>
        </p:blipFill>
        <p:spPr>
          <a:xfrm>
            <a:off x="5882164" y="3134678"/>
            <a:ext cx="2865953" cy="436007"/>
          </a:xfrm>
          <a:prstGeom prst="rect">
            <a:avLst/>
          </a:prstGeom>
        </p:spPr>
      </p:pic>
      <p:pic>
        <p:nvPicPr>
          <p:cNvPr id="14" name="Image 4" descr="preencoded.png"/>
          <p:cNvPicPr>
            <a:picLocks noChangeAspect="1"/>
          </p:cNvPicPr>
          <p:nvPr/>
        </p:nvPicPr>
        <p:blipFill>
          <a:blip r:embed="rId7"/>
          <a:stretch>
            <a:fillRect/>
          </a:stretch>
        </p:blipFill>
        <p:spPr>
          <a:xfrm>
            <a:off x="5991106" y="3630573"/>
            <a:ext cx="2648069" cy="1500545"/>
          </a:xfrm>
          <a:prstGeom prst="rect">
            <a:avLst/>
          </a:prstGeom>
        </p:spPr>
      </p:pic>
      <p:sp>
        <p:nvSpPr>
          <p:cNvPr id="15" name="Text 8"/>
          <p:cNvSpPr/>
          <p:nvPr/>
        </p:nvSpPr>
        <p:spPr>
          <a:xfrm>
            <a:off x="5991106" y="5198388"/>
            <a:ext cx="1362789" cy="170378"/>
          </a:xfrm>
          <a:prstGeom prst="rect">
            <a:avLst/>
          </a:prstGeom>
          <a:noFill/>
          <a:ln/>
        </p:spPr>
        <p:txBody>
          <a:bodyPr wrap="none" lIns="0" tIns="0" rIns="0" bIns="0" rtlCol="0" anchor="t"/>
          <a:lstStyle/>
          <a:p>
            <a:pPr marL="0" indent="0" algn="l">
              <a:lnSpc>
                <a:spcPts val="1300"/>
              </a:lnSpc>
              <a:buNone/>
            </a:pPr>
            <a:r>
              <a:rPr lang="en-US" sz="1050" b="1" dirty="0">
                <a:solidFill>
                  <a:srgbClr val="443728"/>
                </a:solidFill>
                <a:latin typeface="Crimson Pro Bold" pitchFamily="34" charset="0"/>
                <a:ea typeface="Crimson Pro Bold" pitchFamily="34" charset="-122"/>
                <a:cs typeface="Crimson Pro Bold" pitchFamily="34" charset="-120"/>
              </a:rPr>
              <a:t>Change</a:t>
            </a:r>
            <a:endParaRPr lang="en-US" sz="1050" dirty="0"/>
          </a:p>
        </p:txBody>
      </p:sp>
      <p:sp>
        <p:nvSpPr>
          <p:cNvPr id="16" name="Text 9"/>
          <p:cNvSpPr/>
          <p:nvPr/>
        </p:nvSpPr>
        <p:spPr>
          <a:xfrm>
            <a:off x="5991106" y="5404604"/>
            <a:ext cx="2648069" cy="405408"/>
          </a:xfrm>
          <a:prstGeom prst="rect">
            <a:avLst/>
          </a:prstGeom>
          <a:noFill/>
          <a:ln/>
        </p:spPr>
        <p:txBody>
          <a:bodyPr wrap="square" lIns="0" tIns="0" rIns="0" bIns="0" rtlCol="0" anchor="t"/>
          <a:lstStyle/>
          <a:p>
            <a:pPr marL="0" indent="0" algn="l">
              <a:lnSpc>
                <a:spcPts val="1050"/>
              </a:lnSpc>
              <a:buNone/>
            </a:pPr>
            <a:r>
              <a:rPr lang="en-US" sz="850" dirty="0">
                <a:solidFill>
                  <a:srgbClr val="443728"/>
                </a:solidFill>
                <a:latin typeface="Open Sans" pitchFamily="34" charset="0"/>
                <a:ea typeface="Open Sans" pitchFamily="34" charset="-122"/>
                <a:cs typeface="Open Sans" pitchFamily="34" charset="-120"/>
              </a:rPr>
              <a:t>Lewin: Move to the new state. Provide direction, training, communication, and leadership to help people transition to new behaviours and systems.</a:t>
            </a:r>
            <a:endParaRPr lang="en-US" sz="850" dirty="0"/>
          </a:p>
        </p:txBody>
      </p:sp>
      <p:pic>
        <p:nvPicPr>
          <p:cNvPr id="17" name="Image 5" descr="preencoded.png"/>
          <p:cNvPicPr>
            <a:picLocks noChangeAspect="1"/>
          </p:cNvPicPr>
          <p:nvPr/>
        </p:nvPicPr>
        <p:blipFill>
          <a:blip r:embed="rId8"/>
          <a:stretch>
            <a:fillRect/>
          </a:stretch>
        </p:blipFill>
        <p:spPr>
          <a:xfrm>
            <a:off x="8748117" y="3134678"/>
            <a:ext cx="2865953" cy="436007"/>
          </a:xfrm>
          <a:prstGeom prst="rect">
            <a:avLst/>
          </a:prstGeom>
        </p:spPr>
      </p:pic>
      <p:pic>
        <p:nvPicPr>
          <p:cNvPr id="18" name="Image 6" descr="preencoded.png"/>
          <p:cNvPicPr>
            <a:picLocks noChangeAspect="1"/>
          </p:cNvPicPr>
          <p:nvPr/>
        </p:nvPicPr>
        <p:blipFill>
          <a:blip r:embed="rId9"/>
          <a:stretch>
            <a:fillRect/>
          </a:stretch>
        </p:blipFill>
        <p:spPr>
          <a:xfrm>
            <a:off x="8857059" y="3630573"/>
            <a:ext cx="2648069" cy="1500545"/>
          </a:xfrm>
          <a:prstGeom prst="rect">
            <a:avLst/>
          </a:prstGeom>
        </p:spPr>
      </p:pic>
      <p:sp>
        <p:nvSpPr>
          <p:cNvPr id="19" name="Text 10"/>
          <p:cNvSpPr/>
          <p:nvPr/>
        </p:nvSpPr>
        <p:spPr>
          <a:xfrm>
            <a:off x="8857059" y="5198388"/>
            <a:ext cx="1362789" cy="170378"/>
          </a:xfrm>
          <a:prstGeom prst="rect">
            <a:avLst/>
          </a:prstGeom>
          <a:noFill/>
          <a:ln/>
        </p:spPr>
        <p:txBody>
          <a:bodyPr wrap="none" lIns="0" tIns="0" rIns="0" bIns="0" rtlCol="0" anchor="t"/>
          <a:lstStyle/>
          <a:p>
            <a:pPr marL="0" indent="0" algn="l">
              <a:lnSpc>
                <a:spcPts val="1300"/>
              </a:lnSpc>
              <a:buNone/>
            </a:pPr>
            <a:r>
              <a:rPr lang="en-US" sz="1050" b="1" dirty="0">
                <a:solidFill>
                  <a:srgbClr val="443728"/>
                </a:solidFill>
                <a:latin typeface="Crimson Pro Bold" pitchFamily="34" charset="0"/>
                <a:ea typeface="Crimson Pro Bold" pitchFamily="34" charset="-122"/>
                <a:cs typeface="Crimson Pro Bold" pitchFamily="34" charset="-120"/>
              </a:rPr>
              <a:t>Refreeze</a:t>
            </a:r>
            <a:endParaRPr lang="en-US" sz="1050" dirty="0"/>
          </a:p>
        </p:txBody>
      </p:sp>
      <p:sp>
        <p:nvSpPr>
          <p:cNvPr id="20" name="Text 11"/>
          <p:cNvSpPr/>
          <p:nvPr/>
        </p:nvSpPr>
        <p:spPr>
          <a:xfrm>
            <a:off x="8857059" y="5404604"/>
            <a:ext cx="2648069" cy="405408"/>
          </a:xfrm>
          <a:prstGeom prst="rect">
            <a:avLst/>
          </a:prstGeom>
          <a:noFill/>
          <a:ln/>
        </p:spPr>
        <p:txBody>
          <a:bodyPr wrap="square" lIns="0" tIns="0" rIns="0" bIns="0" rtlCol="0" anchor="t"/>
          <a:lstStyle/>
          <a:p>
            <a:pPr marL="0" indent="0" algn="l">
              <a:lnSpc>
                <a:spcPts val="1050"/>
              </a:lnSpc>
              <a:buNone/>
            </a:pPr>
            <a:r>
              <a:rPr lang="en-US" sz="850" dirty="0">
                <a:solidFill>
                  <a:srgbClr val="443728"/>
                </a:solidFill>
                <a:latin typeface="Open Sans" pitchFamily="34" charset="0"/>
                <a:ea typeface="Open Sans" pitchFamily="34" charset="-122"/>
                <a:cs typeface="Open Sans" pitchFamily="34" charset="-120"/>
              </a:rPr>
              <a:t>Lewin: Stabilise the change. Embed new practices into culture, processes, and reward systems so they become the new normal.</a:t>
            </a:r>
            <a:endParaRPr lang="en-US" sz="850" dirty="0"/>
          </a:p>
        </p:txBody>
      </p:sp>
      <p:sp>
        <p:nvSpPr>
          <p:cNvPr id="21" name="Text 12"/>
          <p:cNvSpPr/>
          <p:nvPr/>
        </p:nvSpPr>
        <p:spPr>
          <a:xfrm>
            <a:off x="3016329" y="6046113"/>
            <a:ext cx="1362789" cy="170378"/>
          </a:xfrm>
          <a:prstGeom prst="rect">
            <a:avLst/>
          </a:prstGeom>
          <a:noFill/>
          <a:ln/>
        </p:spPr>
        <p:txBody>
          <a:bodyPr wrap="none" lIns="0" tIns="0" rIns="0" bIns="0" rtlCol="0" anchor="t"/>
          <a:lstStyle/>
          <a:p>
            <a:pPr marL="0" indent="0" algn="l">
              <a:lnSpc>
                <a:spcPts val="1300"/>
              </a:lnSpc>
              <a:buNone/>
            </a:pPr>
            <a:r>
              <a:rPr lang="en-US" sz="1050" b="1" dirty="0">
                <a:solidFill>
                  <a:srgbClr val="443728"/>
                </a:solidFill>
                <a:latin typeface="Crimson Pro Bold" pitchFamily="34" charset="0"/>
                <a:ea typeface="Crimson Pro Bold" pitchFamily="34" charset="-122"/>
                <a:cs typeface="Crimson Pro Bold" pitchFamily="34" charset="-120"/>
              </a:rPr>
              <a:t>Kotter's 8-Step Process</a:t>
            </a:r>
            <a:endParaRPr lang="en-US" sz="1050" dirty="0"/>
          </a:p>
        </p:txBody>
      </p:sp>
      <p:sp>
        <p:nvSpPr>
          <p:cNvPr id="22" name="Text 13"/>
          <p:cNvSpPr/>
          <p:nvPr/>
        </p:nvSpPr>
        <p:spPr>
          <a:xfrm>
            <a:off x="3016329" y="6276380"/>
            <a:ext cx="4165878" cy="810816"/>
          </a:xfrm>
          <a:prstGeom prst="rect">
            <a:avLst/>
          </a:prstGeom>
          <a:noFill/>
          <a:ln/>
        </p:spPr>
        <p:txBody>
          <a:bodyPr wrap="square" lIns="0" tIns="0" rIns="0" bIns="0" rtlCol="0" anchor="t"/>
          <a:lstStyle/>
          <a:p>
            <a:pPr marL="0" indent="0" algn="l">
              <a:lnSpc>
                <a:spcPts val="1050"/>
              </a:lnSpc>
              <a:buNone/>
            </a:pPr>
            <a:r>
              <a:rPr lang="en-US" sz="850" dirty="0">
                <a:solidFill>
                  <a:srgbClr val="443728"/>
                </a:solidFill>
                <a:latin typeface="Open Sans" pitchFamily="34" charset="0"/>
                <a:ea typeface="Open Sans" pitchFamily="34" charset="-122"/>
                <a:cs typeface="Open Sans" pitchFamily="34" charset="-120"/>
              </a:rPr>
              <a:t>John Kotter's model provides a detailed roadmap for large-scale organisational transformation: </a:t>
            </a:r>
            <a:r>
              <a:rPr lang="en-US" sz="850" b="1" dirty="0">
                <a:solidFill>
                  <a:srgbClr val="443728"/>
                </a:solidFill>
                <a:latin typeface="Open Sans" pitchFamily="34" charset="0"/>
                <a:ea typeface="Open Sans" pitchFamily="34" charset="-122"/>
                <a:cs typeface="Open Sans" pitchFamily="34" charset="-120"/>
              </a:rPr>
              <a:t>(1)</a:t>
            </a:r>
            <a:r>
              <a:rPr lang="en-US" sz="850" dirty="0">
                <a:solidFill>
                  <a:srgbClr val="443728"/>
                </a:solidFill>
                <a:latin typeface="Open Sans" pitchFamily="34" charset="0"/>
                <a:ea typeface="Open Sans" pitchFamily="34" charset="-122"/>
                <a:cs typeface="Open Sans" pitchFamily="34" charset="-120"/>
              </a:rPr>
              <a:t> Create urgency; </a:t>
            </a:r>
            <a:r>
              <a:rPr lang="en-US" sz="850" b="1" dirty="0">
                <a:solidFill>
                  <a:srgbClr val="443728"/>
                </a:solidFill>
                <a:latin typeface="Open Sans" pitchFamily="34" charset="0"/>
                <a:ea typeface="Open Sans" pitchFamily="34" charset="-122"/>
                <a:cs typeface="Open Sans" pitchFamily="34" charset="-120"/>
              </a:rPr>
              <a:t>(2)</a:t>
            </a:r>
            <a:r>
              <a:rPr lang="en-US" sz="850" dirty="0">
                <a:solidFill>
                  <a:srgbClr val="443728"/>
                </a:solidFill>
                <a:latin typeface="Open Sans" pitchFamily="34" charset="0"/>
                <a:ea typeface="Open Sans" pitchFamily="34" charset="-122"/>
                <a:cs typeface="Open Sans" pitchFamily="34" charset="-120"/>
              </a:rPr>
              <a:t> Build a guiding coalition; </a:t>
            </a:r>
            <a:r>
              <a:rPr lang="en-US" sz="850" b="1" dirty="0">
                <a:solidFill>
                  <a:srgbClr val="443728"/>
                </a:solidFill>
                <a:latin typeface="Open Sans" pitchFamily="34" charset="0"/>
                <a:ea typeface="Open Sans" pitchFamily="34" charset="-122"/>
                <a:cs typeface="Open Sans" pitchFamily="34" charset="-120"/>
              </a:rPr>
              <a:t>(3)</a:t>
            </a:r>
            <a:r>
              <a:rPr lang="en-US" sz="850" dirty="0">
                <a:solidFill>
                  <a:srgbClr val="443728"/>
                </a:solidFill>
                <a:latin typeface="Open Sans" pitchFamily="34" charset="0"/>
                <a:ea typeface="Open Sans" pitchFamily="34" charset="-122"/>
                <a:cs typeface="Open Sans" pitchFamily="34" charset="-120"/>
              </a:rPr>
              <a:t> Form a strategic vision; </a:t>
            </a:r>
            <a:r>
              <a:rPr lang="en-US" sz="850" b="1" dirty="0">
                <a:solidFill>
                  <a:srgbClr val="443728"/>
                </a:solidFill>
                <a:latin typeface="Open Sans" pitchFamily="34" charset="0"/>
                <a:ea typeface="Open Sans" pitchFamily="34" charset="-122"/>
                <a:cs typeface="Open Sans" pitchFamily="34" charset="-120"/>
              </a:rPr>
              <a:t>(4)</a:t>
            </a:r>
            <a:r>
              <a:rPr lang="en-US" sz="850" dirty="0">
                <a:solidFill>
                  <a:srgbClr val="443728"/>
                </a:solidFill>
                <a:latin typeface="Open Sans" pitchFamily="34" charset="0"/>
                <a:ea typeface="Open Sans" pitchFamily="34" charset="-122"/>
                <a:cs typeface="Open Sans" pitchFamily="34" charset="-120"/>
              </a:rPr>
              <a:t> Enlist a volunteer army; </a:t>
            </a:r>
            <a:r>
              <a:rPr lang="en-US" sz="850" b="1" dirty="0">
                <a:solidFill>
                  <a:srgbClr val="443728"/>
                </a:solidFill>
                <a:latin typeface="Open Sans" pitchFamily="34" charset="0"/>
                <a:ea typeface="Open Sans" pitchFamily="34" charset="-122"/>
                <a:cs typeface="Open Sans" pitchFamily="34" charset="-120"/>
              </a:rPr>
              <a:t>(5)</a:t>
            </a:r>
            <a:r>
              <a:rPr lang="en-US" sz="850" dirty="0">
                <a:solidFill>
                  <a:srgbClr val="443728"/>
                </a:solidFill>
                <a:latin typeface="Open Sans" pitchFamily="34" charset="0"/>
                <a:ea typeface="Open Sans" pitchFamily="34" charset="-122"/>
                <a:cs typeface="Open Sans" pitchFamily="34" charset="-120"/>
              </a:rPr>
              <a:t> Enable action by removing barriers; </a:t>
            </a:r>
            <a:r>
              <a:rPr lang="en-US" sz="850" b="1" dirty="0">
                <a:solidFill>
                  <a:srgbClr val="443728"/>
                </a:solidFill>
                <a:latin typeface="Open Sans" pitchFamily="34" charset="0"/>
                <a:ea typeface="Open Sans" pitchFamily="34" charset="-122"/>
                <a:cs typeface="Open Sans" pitchFamily="34" charset="-120"/>
              </a:rPr>
              <a:t>(6)</a:t>
            </a:r>
            <a:r>
              <a:rPr lang="en-US" sz="850" dirty="0">
                <a:solidFill>
                  <a:srgbClr val="443728"/>
                </a:solidFill>
                <a:latin typeface="Open Sans" pitchFamily="34" charset="0"/>
                <a:ea typeface="Open Sans" pitchFamily="34" charset="-122"/>
                <a:cs typeface="Open Sans" pitchFamily="34" charset="-120"/>
              </a:rPr>
              <a:t> Generate short-term wins; </a:t>
            </a:r>
            <a:r>
              <a:rPr lang="en-US" sz="850" b="1" dirty="0">
                <a:solidFill>
                  <a:srgbClr val="443728"/>
                </a:solidFill>
                <a:latin typeface="Open Sans" pitchFamily="34" charset="0"/>
                <a:ea typeface="Open Sans" pitchFamily="34" charset="-122"/>
                <a:cs typeface="Open Sans" pitchFamily="34" charset="-120"/>
              </a:rPr>
              <a:t>(7)</a:t>
            </a:r>
            <a:r>
              <a:rPr lang="en-US" sz="850" dirty="0">
                <a:solidFill>
                  <a:srgbClr val="443728"/>
                </a:solidFill>
                <a:latin typeface="Open Sans" pitchFamily="34" charset="0"/>
                <a:ea typeface="Open Sans" pitchFamily="34" charset="-122"/>
                <a:cs typeface="Open Sans" pitchFamily="34" charset="-120"/>
              </a:rPr>
              <a:t> Sustain acceleration; </a:t>
            </a:r>
            <a:r>
              <a:rPr lang="en-US" sz="850" b="1" dirty="0">
                <a:solidFill>
                  <a:srgbClr val="443728"/>
                </a:solidFill>
                <a:latin typeface="Open Sans" pitchFamily="34" charset="0"/>
                <a:ea typeface="Open Sans" pitchFamily="34" charset="-122"/>
                <a:cs typeface="Open Sans" pitchFamily="34" charset="-120"/>
              </a:rPr>
              <a:t>(8)</a:t>
            </a:r>
            <a:r>
              <a:rPr lang="en-US" sz="850" dirty="0">
                <a:solidFill>
                  <a:srgbClr val="443728"/>
                </a:solidFill>
                <a:latin typeface="Open Sans" pitchFamily="34" charset="0"/>
                <a:ea typeface="Open Sans" pitchFamily="34" charset="-122"/>
                <a:cs typeface="Open Sans" pitchFamily="34" charset="-120"/>
              </a:rPr>
              <a:t> Institute change. Kotter emphasises that skipping steps or moving too quickly creates only the illusion of change without lasting impact.</a:t>
            </a:r>
            <a:endParaRPr lang="en-US" sz="850" dirty="0"/>
          </a:p>
        </p:txBody>
      </p:sp>
      <p:sp>
        <p:nvSpPr>
          <p:cNvPr id="23" name="Text 14"/>
          <p:cNvSpPr/>
          <p:nvPr/>
        </p:nvSpPr>
        <p:spPr>
          <a:xfrm>
            <a:off x="7455813" y="6046113"/>
            <a:ext cx="1362789" cy="170378"/>
          </a:xfrm>
          <a:prstGeom prst="rect">
            <a:avLst/>
          </a:prstGeom>
          <a:noFill/>
          <a:ln/>
        </p:spPr>
        <p:txBody>
          <a:bodyPr wrap="none" lIns="0" tIns="0" rIns="0" bIns="0" rtlCol="0" anchor="t"/>
          <a:lstStyle/>
          <a:p>
            <a:pPr marL="0" indent="0" algn="l">
              <a:lnSpc>
                <a:spcPts val="1300"/>
              </a:lnSpc>
              <a:buNone/>
            </a:pPr>
            <a:r>
              <a:rPr lang="en-US" sz="1050" b="1" dirty="0">
                <a:solidFill>
                  <a:srgbClr val="443728"/>
                </a:solidFill>
                <a:latin typeface="Crimson Pro Bold" pitchFamily="34" charset="0"/>
                <a:ea typeface="Crimson Pro Bold" pitchFamily="34" charset="-122"/>
                <a:cs typeface="Crimson Pro Bold" pitchFamily="34" charset="-120"/>
              </a:rPr>
              <a:t>ADKAR Model (Prosci)</a:t>
            </a:r>
            <a:endParaRPr lang="en-US" sz="1050" dirty="0"/>
          </a:p>
        </p:txBody>
      </p:sp>
      <p:sp>
        <p:nvSpPr>
          <p:cNvPr id="24" name="Text 15"/>
          <p:cNvSpPr/>
          <p:nvPr/>
        </p:nvSpPr>
        <p:spPr>
          <a:xfrm>
            <a:off x="7455813" y="6276380"/>
            <a:ext cx="4165878" cy="810816"/>
          </a:xfrm>
          <a:prstGeom prst="rect">
            <a:avLst/>
          </a:prstGeom>
          <a:noFill/>
          <a:ln/>
        </p:spPr>
        <p:txBody>
          <a:bodyPr wrap="square" lIns="0" tIns="0" rIns="0" bIns="0" rtlCol="0" anchor="t"/>
          <a:lstStyle/>
          <a:p>
            <a:pPr marL="0" indent="0" algn="l">
              <a:lnSpc>
                <a:spcPts val="1050"/>
              </a:lnSpc>
              <a:buNone/>
            </a:pPr>
            <a:r>
              <a:rPr lang="en-US" sz="850" dirty="0">
                <a:solidFill>
                  <a:srgbClr val="443728"/>
                </a:solidFill>
                <a:latin typeface="Open Sans" pitchFamily="34" charset="0"/>
                <a:ea typeface="Open Sans" pitchFamily="34" charset="-122"/>
                <a:cs typeface="Open Sans" pitchFamily="34" charset="-120"/>
              </a:rPr>
              <a:t>ADKAR is a goal-oriented model focused on individual change, recognising that organisational change only happens when individuals change. Each letter represents a building block: </a:t>
            </a:r>
            <a:r>
              <a:rPr lang="en-US" sz="850" b="1" dirty="0">
                <a:solidFill>
                  <a:srgbClr val="443728"/>
                </a:solidFill>
                <a:latin typeface="Open Sans" pitchFamily="34" charset="0"/>
                <a:ea typeface="Open Sans" pitchFamily="34" charset="-122"/>
                <a:cs typeface="Open Sans" pitchFamily="34" charset="-120"/>
              </a:rPr>
              <a:t>A</a:t>
            </a:r>
            <a:r>
              <a:rPr lang="en-US" sz="850" dirty="0">
                <a:solidFill>
                  <a:srgbClr val="443728"/>
                </a:solidFill>
                <a:latin typeface="Open Sans" pitchFamily="34" charset="0"/>
                <a:ea typeface="Open Sans" pitchFamily="34" charset="-122"/>
                <a:cs typeface="Open Sans" pitchFamily="34" charset="-120"/>
              </a:rPr>
              <a:t>wareness (of the need to change), </a:t>
            </a:r>
            <a:r>
              <a:rPr lang="en-US" sz="850" b="1" dirty="0">
                <a:solidFill>
                  <a:srgbClr val="443728"/>
                </a:solidFill>
                <a:latin typeface="Open Sans" pitchFamily="34" charset="0"/>
                <a:ea typeface="Open Sans" pitchFamily="34" charset="-122"/>
                <a:cs typeface="Open Sans" pitchFamily="34" charset="-120"/>
              </a:rPr>
              <a:t>D</a:t>
            </a:r>
            <a:r>
              <a:rPr lang="en-US" sz="850" dirty="0">
                <a:solidFill>
                  <a:srgbClr val="443728"/>
                </a:solidFill>
                <a:latin typeface="Open Sans" pitchFamily="34" charset="0"/>
                <a:ea typeface="Open Sans" pitchFamily="34" charset="-122"/>
                <a:cs typeface="Open Sans" pitchFamily="34" charset="-120"/>
              </a:rPr>
              <a:t>esire (to support and participate), </a:t>
            </a:r>
            <a:r>
              <a:rPr lang="en-US" sz="850" b="1" dirty="0">
                <a:solidFill>
                  <a:srgbClr val="443728"/>
                </a:solidFill>
                <a:latin typeface="Open Sans" pitchFamily="34" charset="0"/>
                <a:ea typeface="Open Sans" pitchFamily="34" charset="-122"/>
                <a:cs typeface="Open Sans" pitchFamily="34" charset="-120"/>
              </a:rPr>
              <a:t>K</a:t>
            </a:r>
            <a:r>
              <a:rPr lang="en-US" sz="850" dirty="0">
                <a:solidFill>
                  <a:srgbClr val="443728"/>
                </a:solidFill>
                <a:latin typeface="Open Sans" pitchFamily="34" charset="0"/>
                <a:ea typeface="Open Sans" pitchFamily="34" charset="-122"/>
                <a:cs typeface="Open Sans" pitchFamily="34" charset="-120"/>
              </a:rPr>
              <a:t>nowledge (of how to change), </a:t>
            </a:r>
            <a:r>
              <a:rPr lang="en-US" sz="850" b="1" dirty="0">
                <a:solidFill>
                  <a:srgbClr val="443728"/>
                </a:solidFill>
                <a:latin typeface="Open Sans" pitchFamily="34" charset="0"/>
                <a:ea typeface="Open Sans" pitchFamily="34" charset="-122"/>
                <a:cs typeface="Open Sans" pitchFamily="34" charset="-120"/>
              </a:rPr>
              <a:t>A</a:t>
            </a:r>
            <a:r>
              <a:rPr lang="en-US" sz="850" dirty="0">
                <a:solidFill>
                  <a:srgbClr val="443728"/>
                </a:solidFill>
                <a:latin typeface="Open Sans" pitchFamily="34" charset="0"/>
                <a:ea typeface="Open Sans" pitchFamily="34" charset="-122"/>
                <a:cs typeface="Open Sans" pitchFamily="34" charset="-120"/>
              </a:rPr>
              <a:t>bility (to implement new skills and behaviours), and </a:t>
            </a:r>
            <a:r>
              <a:rPr lang="en-US" sz="850" b="1" dirty="0">
                <a:solidFill>
                  <a:srgbClr val="443728"/>
                </a:solidFill>
                <a:latin typeface="Open Sans" pitchFamily="34" charset="0"/>
                <a:ea typeface="Open Sans" pitchFamily="34" charset="-122"/>
                <a:cs typeface="Open Sans" pitchFamily="34" charset="-120"/>
              </a:rPr>
              <a:t>R</a:t>
            </a:r>
            <a:r>
              <a:rPr lang="en-US" sz="850" dirty="0">
                <a:solidFill>
                  <a:srgbClr val="443728"/>
                </a:solidFill>
                <a:latin typeface="Open Sans" pitchFamily="34" charset="0"/>
                <a:ea typeface="Open Sans" pitchFamily="34" charset="-122"/>
                <a:cs typeface="Open Sans" pitchFamily="34" charset="-120"/>
              </a:rPr>
              <a:t>einforcement (to sustain the change). Gaps in any element explain why change initiatives stall.</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3402449" y="272891"/>
            <a:ext cx="1196340" cy="154781"/>
          </a:xfrm>
          <a:prstGeom prst="roundRect">
            <a:avLst>
              <a:gd name="adj" fmla="val 21542"/>
            </a:avLst>
          </a:prstGeom>
          <a:solidFill>
            <a:srgbClr val="EBE2E0"/>
          </a:solidFill>
          <a:ln/>
        </p:spPr>
        <p:txBody>
          <a:bodyPr/>
          <a:lstStyle/>
          <a:p>
            <a:endParaRPr lang="en-AU"/>
          </a:p>
        </p:txBody>
      </p:sp>
      <p:sp>
        <p:nvSpPr>
          <p:cNvPr id="3" name="Text 1"/>
          <p:cNvSpPr/>
          <p:nvPr/>
        </p:nvSpPr>
        <p:spPr>
          <a:xfrm>
            <a:off x="3461980" y="302657"/>
            <a:ext cx="1077278" cy="95250"/>
          </a:xfrm>
          <a:prstGeom prst="rect">
            <a:avLst/>
          </a:prstGeom>
          <a:noFill/>
          <a:ln/>
        </p:spPr>
        <p:txBody>
          <a:bodyPr wrap="none" lIns="0" tIns="0" rIns="0" bIns="0" rtlCol="0" anchor="t"/>
          <a:lstStyle/>
          <a:p>
            <a:pPr marL="0" indent="0" algn="l">
              <a:lnSpc>
                <a:spcPts val="750"/>
              </a:lnSpc>
              <a:buNone/>
            </a:pPr>
            <a:r>
              <a:rPr lang="en-US" sz="600" dirty="0">
                <a:solidFill>
                  <a:srgbClr val="443728"/>
                </a:solidFill>
                <a:latin typeface="Open Sans" pitchFamily="34" charset="0"/>
                <a:ea typeface="Open Sans" pitchFamily="34" charset="-122"/>
                <a:cs typeface="Open Sans" pitchFamily="34" charset="-120"/>
              </a:rPr>
              <a:t>LEVEL 3 — ORGANISATIONAL</a:t>
            </a:r>
            <a:endParaRPr lang="en-US" sz="600" dirty="0"/>
          </a:p>
        </p:txBody>
      </p:sp>
      <p:sp>
        <p:nvSpPr>
          <p:cNvPr id="4" name="Text 2"/>
          <p:cNvSpPr/>
          <p:nvPr/>
        </p:nvSpPr>
        <p:spPr>
          <a:xfrm>
            <a:off x="3402449" y="447437"/>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Systems Theory</a:t>
            </a:r>
            <a:endParaRPr lang="en-US" sz="1950" dirty="0"/>
          </a:p>
        </p:txBody>
      </p:sp>
      <p:pic>
        <p:nvPicPr>
          <p:cNvPr id="5" name="Image 0" descr="preencoded.png"/>
          <p:cNvPicPr>
            <a:picLocks noChangeAspect="1"/>
          </p:cNvPicPr>
          <p:nvPr/>
        </p:nvPicPr>
        <p:blipFill>
          <a:blip r:embed="rId3"/>
          <a:stretch>
            <a:fillRect/>
          </a:stretch>
        </p:blipFill>
        <p:spPr>
          <a:xfrm>
            <a:off x="3402449" y="887730"/>
            <a:ext cx="3791783" cy="3791783"/>
          </a:xfrm>
          <a:prstGeom prst="rect">
            <a:avLst/>
          </a:prstGeom>
        </p:spPr>
      </p:pic>
      <p:sp>
        <p:nvSpPr>
          <p:cNvPr id="6" name="Text 3"/>
          <p:cNvSpPr/>
          <p:nvPr/>
        </p:nvSpPr>
        <p:spPr>
          <a:xfrm>
            <a:off x="7443788" y="876657"/>
            <a:ext cx="3791783" cy="475774"/>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Systems Theory applies the principles of general systems thinking to organisations, viewing them as complex, dynamic, and interdependent entities rather than simple machines. This perspective fundamentally changed how managers think about cause, effect, and organisational health.</a:t>
            </a:r>
            <a:endParaRPr lang="en-US" sz="750" dirty="0"/>
          </a:p>
        </p:txBody>
      </p:sp>
      <p:sp>
        <p:nvSpPr>
          <p:cNvPr id="7" name="Shape 4"/>
          <p:cNvSpPr/>
          <p:nvPr/>
        </p:nvSpPr>
        <p:spPr>
          <a:xfrm>
            <a:off x="7443788" y="1408152"/>
            <a:ext cx="3791783" cy="1476851"/>
          </a:xfrm>
          <a:prstGeom prst="roundRect">
            <a:avLst>
              <a:gd name="adj" fmla="val 2822"/>
            </a:avLst>
          </a:prstGeom>
          <a:solidFill>
            <a:srgbClr val="E1D4D0"/>
          </a:solidFill>
          <a:ln/>
        </p:spPr>
        <p:txBody>
          <a:bodyPr/>
          <a:lstStyle/>
          <a:p>
            <a:endParaRPr lang="en-AU"/>
          </a:p>
        </p:txBody>
      </p:sp>
      <p:pic>
        <p:nvPicPr>
          <p:cNvPr id="8" name="Image 1" descr="preencoded.png"/>
          <p:cNvPicPr>
            <a:picLocks noChangeAspect="1"/>
          </p:cNvPicPr>
          <p:nvPr/>
        </p:nvPicPr>
        <p:blipFill>
          <a:blip r:embed="rId4"/>
          <a:stretch>
            <a:fillRect/>
          </a:stretch>
        </p:blipFill>
        <p:spPr>
          <a:xfrm>
            <a:off x="7542967" y="1536740"/>
            <a:ext cx="123944" cy="99179"/>
          </a:xfrm>
          <a:prstGeom prst="rect">
            <a:avLst/>
          </a:prstGeom>
        </p:spPr>
      </p:pic>
      <p:sp>
        <p:nvSpPr>
          <p:cNvPr id="9" name="Text 5"/>
          <p:cNvSpPr/>
          <p:nvPr/>
        </p:nvSpPr>
        <p:spPr>
          <a:xfrm>
            <a:off x="7766090" y="1482447"/>
            <a:ext cx="3370302" cy="1308378"/>
          </a:xfrm>
          <a:prstGeom prst="rect">
            <a:avLst/>
          </a:prstGeom>
          <a:noFill/>
          <a:ln/>
        </p:spPr>
        <p:txBody>
          <a:bodyPr wrap="square" lIns="0" tIns="0" rIns="0" bIns="0" rtlCol="0" anchor="t"/>
          <a:lstStyle/>
          <a:p>
            <a:pPr marL="0" indent="0" algn="l">
              <a:lnSpc>
                <a:spcPts val="900"/>
              </a:lnSpc>
              <a:buNone/>
            </a:pPr>
            <a:r>
              <a:rPr lang="en-US" sz="750" dirty="0">
                <a:solidFill>
                  <a:srgbClr val="000000"/>
                </a:solidFill>
                <a:latin typeface="Open Sans" pitchFamily="34" charset="0"/>
                <a:ea typeface="Open Sans" pitchFamily="34" charset="-122"/>
                <a:cs typeface="Open Sans" pitchFamily="34" charset="-120"/>
              </a:rPr>
              <a:t>📹 </a:t>
            </a:r>
            <a:r>
              <a:rPr lang="en-US" sz="750" b="1" dirty="0">
                <a:solidFill>
                  <a:srgbClr val="000000"/>
                </a:solidFill>
                <a:latin typeface="Open Sans" pitchFamily="34" charset="0"/>
                <a:ea typeface="Open Sans" pitchFamily="34" charset="-122"/>
                <a:cs typeface="Open Sans" pitchFamily="34" charset="-120"/>
              </a:rPr>
              <a:t>Video Placeholder</a:t>
            </a:r>
            <a:r>
              <a:rPr lang="en-US" sz="750" dirty="0">
                <a:solidFill>
                  <a:srgbClr val="000000"/>
                </a:solidFill>
                <a:latin typeface="Open Sans" pitchFamily="34" charset="0"/>
                <a:ea typeface="Open Sans" pitchFamily="34" charset="-122"/>
                <a:cs typeface="Open Sans" pitchFamily="34" charset="-120"/>
              </a:rPr>
              <a:t> — "Have you ever noticed that when one person in your family is stressed, everyone else feels it? Or that fixing one problem in a group project somehow creates a new one somewhere else? That's systems thinking — and you've been experiencing it your whole life. Your family is a system. Your friend group is a system. Your school is a system. Change one part and the whole thing shifts. This video uses those interconnected relationships from your personal life to explain Open Systems Theory and General Systems principles — so that when you enter an organisation, you'll immediately understand why you can never change just one thing, and why the whole is always more than the sum of its parts."</a:t>
            </a:r>
            <a:endParaRPr lang="en-US" sz="750" dirty="0"/>
          </a:p>
        </p:txBody>
      </p:sp>
      <p:sp>
        <p:nvSpPr>
          <p:cNvPr id="10" name="Shape 6"/>
          <p:cNvSpPr/>
          <p:nvPr/>
        </p:nvSpPr>
        <p:spPr>
          <a:xfrm>
            <a:off x="3402449" y="4790956"/>
            <a:ext cx="3887986" cy="3825240"/>
          </a:xfrm>
          <a:prstGeom prst="roundRect">
            <a:avLst>
              <a:gd name="adj" fmla="val 1912"/>
            </a:avLst>
          </a:prstGeom>
          <a:solidFill>
            <a:srgbClr val="FFFCFA"/>
          </a:solidFill>
          <a:ln w="15240">
            <a:solidFill>
              <a:srgbClr val="D1C8C6"/>
            </a:solidFill>
            <a:prstDash val="solid"/>
          </a:ln>
        </p:spPr>
        <p:txBody>
          <a:bodyPr/>
          <a:lstStyle/>
          <a:p>
            <a:endParaRPr lang="en-AU"/>
          </a:p>
        </p:txBody>
      </p:sp>
      <p:sp>
        <p:nvSpPr>
          <p:cNvPr id="11" name="Shape 7"/>
          <p:cNvSpPr/>
          <p:nvPr/>
        </p:nvSpPr>
        <p:spPr>
          <a:xfrm>
            <a:off x="3387209" y="4790956"/>
            <a:ext cx="60960" cy="3825240"/>
          </a:xfrm>
          <a:prstGeom prst="roundRect">
            <a:avLst>
              <a:gd name="adj" fmla="val 68372"/>
            </a:avLst>
          </a:prstGeom>
          <a:solidFill>
            <a:srgbClr val="835E54"/>
          </a:solidFill>
          <a:ln/>
        </p:spPr>
        <p:txBody>
          <a:bodyPr/>
          <a:lstStyle/>
          <a:p>
            <a:endParaRPr lang="en-AU"/>
          </a:p>
        </p:txBody>
      </p:sp>
      <p:pic>
        <p:nvPicPr>
          <p:cNvPr id="12" name="Image 2" descr="preencoded.png"/>
          <p:cNvPicPr>
            <a:picLocks noChangeAspect="1"/>
          </p:cNvPicPr>
          <p:nvPr/>
        </p:nvPicPr>
        <p:blipFill>
          <a:blip r:embed="rId5"/>
          <a:stretch>
            <a:fillRect/>
          </a:stretch>
        </p:blipFill>
        <p:spPr>
          <a:xfrm>
            <a:off x="3562588" y="4905375"/>
            <a:ext cx="3613428" cy="2047518"/>
          </a:xfrm>
          <a:prstGeom prst="rect">
            <a:avLst/>
          </a:prstGeom>
        </p:spPr>
      </p:pic>
      <p:sp>
        <p:nvSpPr>
          <p:cNvPr id="13" name="Text 8"/>
          <p:cNvSpPr/>
          <p:nvPr/>
        </p:nvSpPr>
        <p:spPr>
          <a:xfrm>
            <a:off x="3562588" y="7008614"/>
            <a:ext cx="1914049"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Open Systems Theory (Katz &amp; Kahn)</a:t>
            </a:r>
            <a:endParaRPr lang="en-US" sz="950" dirty="0"/>
          </a:p>
        </p:txBody>
      </p:sp>
      <p:sp>
        <p:nvSpPr>
          <p:cNvPr id="14" name="Text 9"/>
          <p:cNvSpPr/>
          <p:nvPr/>
        </p:nvSpPr>
        <p:spPr>
          <a:xfrm>
            <a:off x="3562588" y="7193399"/>
            <a:ext cx="3613428" cy="1308378"/>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Daniel Katz and Robert Kahn applied open systems thinking to organisations, arguing that organisations are </a:t>
            </a:r>
            <a:r>
              <a:rPr lang="en-US" sz="750" b="1" dirty="0">
                <a:solidFill>
                  <a:srgbClr val="443728"/>
                </a:solidFill>
                <a:latin typeface="Open Sans" pitchFamily="34" charset="0"/>
                <a:ea typeface="Open Sans" pitchFamily="34" charset="-122"/>
                <a:cs typeface="Open Sans" pitchFamily="34" charset="-120"/>
              </a:rPr>
              <a:t>open systems</a:t>
            </a:r>
            <a:r>
              <a:rPr lang="en-US" sz="750" dirty="0">
                <a:solidFill>
                  <a:srgbClr val="443728"/>
                </a:solidFill>
                <a:latin typeface="Open Sans" pitchFamily="34" charset="0"/>
                <a:ea typeface="Open Sans" pitchFamily="34" charset="-122"/>
                <a:cs typeface="Open Sans" pitchFamily="34" charset="-120"/>
              </a:rPr>
              <a:t> that continuously interact with their environment. The organisation takes in </a:t>
            </a:r>
            <a:r>
              <a:rPr lang="en-US" sz="750" b="1" dirty="0">
                <a:solidFill>
                  <a:srgbClr val="443728"/>
                </a:solidFill>
                <a:latin typeface="Open Sans" pitchFamily="34" charset="0"/>
                <a:ea typeface="Open Sans" pitchFamily="34" charset="-122"/>
                <a:cs typeface="Open Sans" pitchFamily="34" charset="-120"/>
              </a:rPr>
              <a:t>inputs</a:t>
            </a:r>
            <a:r>
              <a:rPr lang="en-US" sz="750" dirty="0">
                <a:solidFill>
                  <a:srgbClr val="443728"/>
                </a:solidFill>
                <a:latin typeface="Open Sans" pitchFamily="34" charset="0"/>
                <a:ea typeface="Open Sans" pitchFamily="34" charset="-122"/>
                <a:cs typeface="Open Sans" pitchFamily="34" charset="-120"/>
              </a:rPr>
              <a:t> (people, materials, information, energy), processes them through internal </a:t>
            </a:r>
            <a:r>
              <a:rPr lang="en-US" sz="750" b="1" dirty="0">
                <a:solidFill>
                  <a:srgbClr val="443728"/>
                </a:solidFill>
                <a:latin typeface="Open Sans" pitchFamily="34" charset="0"/>
                <a:ea typeface="Open Sans" pitchFamily="34" charset="-122"/>
                <a:cs typeface="Open Sans" pitchFamily="34" charset="-120"/>
              </a:rPr>
              <a:t>transformation mechanisms</a:t>
            </a:r>
            <a:r>
              <a:rPr lang="en-US" sz="750" dirty="0">
                <a:solidFill>
                  <a:srgbClr val="443728"/>
                </a:solidFill>
                <a:latin typeface="Open Sans" pitchFamily="34" charset="0"/>
                <a:ea typeface="Open Sans" pitchFamily="34" charset="-122"/>
                <a:cs typeface="Open Sans" pitchFamily="34" charset="-120"/>
              </a:rPr>
              <a:t> (technology, culture, management), and produces </a:t>
            </a:r>
            <a:r>
              <a:rPr lang="en-US" sz="750" b="1" dirty="0">
                <a:solidFill>
                  <a:srgbClr val="443728"/>
                </a:solidFill>
                <a:latin typeface="Open Sans" pitchFamily="34" charset="0"/>
                <a:ea typeface="Open Sans" pitchFamily="34" charset="-122"/>
                <a:cs typeface="Open Sans" pitchFamily="34" charset="-120"/>
              </a:rPr>
              <a:t>outputs</a:t>
            </a:r>
            <a:r>
              <a:rPr lang="en-US" sz="750" dirty="0">
                <a:solidFill>
                  <a:srgbClr val="443728"/>
                </a:solidFill>
                <a:latin typeface="Open Sans" pitchFamily="34" charset="0"/>
                <a:ea typeface="Open Sans" pitchFamily="34" charset="-122"/>
                <a:cs typeface="Open Sans" pitchFamily="34" charset="-120"/>
              </a:rPr>
              <a:t> (products, services, waste). Crucially, the system relies on </a:t>
            </a:r>
            <a:r>
              <a:rPr lang="en-US" sz="750" b="1" dirty="0">
                <a:solidFill>
                  <a:srgbClr val="443728"/>
                </a:solidFill>
                <a:latin typeface="Open Sans" pitchFamily="34" charset="0"/>
                <a:ea typeface="Open Sans" pitchFamily="34" charset="-122"/>
                <a:cs typeface="Open Sans" pitchFamily="34" charset="-120"/>
              </a:rPr>
              <a:t>feedback loops</a:t>
            </a:r>
            <a:r>
              <a:rPr lang="en-US" sz="750" dirty="0">
                <a:solidFill>
                  <a:srgbClr val="443728"/>
                </a:solidFill>
                <a:latin typeface="Open Sans" pitchFamily="34" charset="0"/>
                <a:ea typeface="Open Sans" pitchFamily="34" charset="-122"/>
                <a:cs typeface="Open Sans" pitchFamily="34" charset="-120"/>
              </a:rPr>
              <a:t> from the environment to adapt and survive. Entropy — the tendency of systems to decay — is counteracted through </a:t>
            </a:r>
            <a:r>
              <a:rPr lang="en-US" sz="750" b="1" dirty="0">
                <a:solidFill>
                  <a:srgbClr val="443728"/>
                </a:solidFill>
                <a:latin typeface="Open Sans" pitchFamily="34" charset="0"/>
                <a:ea typeface="Open Sans" pitchFamily="34" charset="-122"/>
                <a:cs typeface="Open Sans" pitchFamily="34" charset="-120"/>
              </a:rPr>
              <a:t>negative entropy</a:t>
            </a:r>
            <a:r>
              <a:rPr lang="en-US" sz="750" dirty="0">
                <a:solidFill>
                  <a:srgbClr val="443728"/>
                </a:solidFill>
                <a:latin typeface="Open Sans" pitchFamily="34" charset="0"/>
                <a:ea typeface="Open Sans" pitchFamily="34" charset="-122"/>
                <a:cs typeface="Open Sans" pitchFamily="34" charset="-120"/>
              </a:rPr>
              <a:t>: importing more energy than is expended. This explains why organisations must continuously innovate and refresh their resources, culture, and strategies to avoid decline and obsolescence.</a:t>
            </a:r>
            <a:endParaRPr lang="en-US" sz="750" dirty="0"/>
          </a:p>
        </p:txBody>
      </p:sp>
      <p:sp>
        <p:nvSpPr>
          <p:cNvPr id="15" name="Shape 10"/>
          <p:cNvSpPr/>
          <p:nvPr/>
        </p:nvSpPr>
        <p:spPr>
          <a:xfrm>
            <a:off x="7339965" y="4790956"/>
            <a:ext cx="3887986" cy="3825240"/>
          </a:xfrm>
          <a:prstGeom prst="roundRect">
            <a:avLst>
              <a:gd name="adj" fmla="val 1912"/>
            </a:avLst>
          </a:prstGeom>
          <a:solidFill>
            <a:srgbClr val="FFFCFA"/>
          </a:solidFill>
          <a:ln w="15240">
            <a:solidFill>
              <a:srgbClr val="D1C8C6"/>
            </a:solidFill>
            <a:prstDash val="solid"/>
          </a:ln>
        </p:spPr>
        <p:txBody>
          <a:bodyPr/>
          <a:lstStyle/>
          <a:p>
            <a:endParaRPr lang="en-AU"/>
          </a:p>
        </p:txBody>
      </p:sp>
      <p:sp>
        <p:nvSpPr>
          <p:cNvPr id="16" name="Shape 11"/>
          <p:cNvSpPr/>
          <p:nvPr/>
        </p:nvSpPr>
        <p:spPr>
          <a:xfrm>
            <a:off x="7324725" y="4790956"/>
            <a:ext cx="60960" cy="3825240"/>
          </a:xfrm>
          <a:prstGeom prst="roundRect">
            <a:avLst>
              <a:gd name="adj" fmla="val 68372"/>
            </a:avLst>
          </a:prstGeom>
          <a:solidFill>
            <a:srgbClr val="835E54"/>
          </a:solidFill>
          <a:ln/>
        </p:spPr>
        <p:txBody>
          <a:bodyPr/>
          <a:lstStyle/>
          <a:p>
            <a:endParaRPr lang="en-AU"/>
          </a:p>
        </p:txBody>
      </p:sp>
      <p:pic>
        <p:nvPicPr>
          <p:cNvPr id="17" name="Image 3" descr="preencoded.png"/>
          <p:cNvPicPr>
            <a:picLocks noChangeAspect="1"/>
          </p:cNvPicPr>
          <p:nvPr/>
        </p:nvPicPr>
        <p:blipFill>
          <a:blip r:embed="rId6"/>
          <a:stretch>
            <a:fillRect/>
          </a:stretch>
        </p:blipFill>
        <p:spPr>
          <a:xfrm>
            <a:off x="7500104" y="4905375"/>
            <a:ext cx="3613428" cy="2047518"/>
          </a:xfrm>
          <a:prstGeom prst="rect">
            <a:avLst/>
          </a:prstGeom>
        </p:spPr>
      </p:pic>
      <p:sp>
        <p:nvSpPr>
          <p:cNvPr id="18" name="Text 12"/>
          <p:cNvSpPr/>
          <p:nvPr/>
        </p:nvSpPr>
        <p:spPr>
          <a:xfrm>
            <a:off x="7500104" y="7008614"/>
            <a:ext cx="2589014"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General Systems Theory Applied to Organisations</a:t>
            </a:r>
            <a:endParaRPr lang="en-US" sz="950" dirty="0"/>
          </a:p>
        </p:txBody>
      </p:sp>
      <p:sp>
        <p:nvSpPr>
          <p:cNvPr id="19" name="Text 13"/>
          <p:cNvSpPr/>
          <p:nvPr/>
        </p:nvSpPr>
        <p:spPr>
          <a:xfrm>
            <a:off x="7500104" y="7193399"/>
            <a:ext cx="3613428" cy="1070491"/>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Ludwig von Bertalanffy's General Systems Theory provides the conceptual foundation. Key principles include: </a:t>
            </a:r>
            <a:r>
              <a:rPr lang="en-US" sz="750" b="1" dirty="0">
                <a:solidFill>
                  <a:srgbClr val="443728"/>
                </a:solidFill>
                <a:latin typeface="Open Sans" pitchFamily="34" charset="0"/>
                <a:ea typeface="Open Sans" pitchFamily="34" charset="-122"/>
                <a:cs typeface="Open Sans" pitchFamily="34" charset="-120"/>
              </a:rPr>
              <a:t>Holism</a:t>
            </a:r>
            <a:r>
              <a:rPr lang="en-US" sz="750" dirty="0">
                <a:solidFill>
                  <a:srgbClr val="443728"/>
                </a:solidFill>
                <a:latin typeface="Open Sans" pitchFamily="34" charset="0"/>
                <a:ea typeface="Open Sans" pitchFamily="34" charset="-122"/>
                <a:cs typeface="Open Sans" pitchFamily="34" charset="-120"/>
              </a:rPr>
              <a:t> — the whole is greater than the sum of its parts; </a:t>
            </a:r>
            <a:r>
              <a:rPr lang="en-US" sz="750" b="1" dirty="0">
                <a:solidFill>
                  <a:srgbClr val="443728"/>
                </a:solidFill>
                <a:latin typeface="Open Sans" pitchFamily="34" charset="0"/>
                <a:ea typeface="Open Sans" pitchFamily="34" charset="-122"/>
                <a:cs typeface="Open Sans" pitchFamily="34" charset="-120"/>
              </a:rPr>
              <a:t>Interdependence</a:t>
            </a:r>
            <a:r>
              <a:rPr lang="en-US" sz="750" dirty="0">
                <a:solidFill>
                  <a:srgbClr val="443728"/>
                </a:solidFill>
                <a:latin typeface="Open Sans" pitchFamily="34" charset="0"/>
                <a:ea typeface="Open Sans" pitchFamily="34" charset="-122"/>
                <a:cs typeface="Open Sans" pitchFamily="34" charset="-120"/>
              </a:rPr>
              <a:t> — a change in one subsystem affects all others; </a:t>
            </a:r>
            <a:r>
              <a:rPr lang="en-US" sz="750" b="1" dirty="0">
                <a:solidFill>
                  <a:srgbClr val="443728"/>
                </a:solidFill>
                <a:latin typeface="Open Sans" pitchFamily="34" charset="0"/>
                <a:ea typeface="Open Sans" pitchFamily="34" charset="-122"/>
                <a:cs typeface="Open Sans" pitchFamily="34" charset="-120"/>
              </a:rPr>
              <a:t>Equifinality</a:t>
            </a:r>
            <a:r>
              <a:rPr lang="en-US" sz="750" dirty="0">
                <a:solidFill>
                  <a:srgbClr val="443728"/>
                </a:solidFill>
                <a:latin typeface="Open Sans" pitchFamily="34" charset="0"/>
                <a:ea typeface="Open Sans" pitchFamily="34" charset="-122"/>
                <a:cs typeface="Open Sans" pitchFamily="34" charset="-120"/>
              </a:rPr>
              <a:t> — organisations can achieve the same outcome through multiple paths; and </a:t>
            </a:r>
            <a:r>
              <a:rPr lang="en-US" sz="750" b="1" dirty="0">
                <a:solidFill>
                  <a:srgbClr val="443728"/>
                </a:solidFill>
                <a:latin typeface="Open Sans" pitchFamily="34" charset="0"/>
                <a:ea typeface="Open Sans" pitchFamily="34" charset="-122"/>
                <a:cs typeface="Open Sans" pitchFamily="34" charset="-120"/>
              </a:rPr>
              <a:t>Synergy</a:t>
            </a:r>
            <a:r>
              <a:rPr lang="en-US" sz="750" dirty="0">
                <a:solidFill>
                  <a:srgbClr val="443728"/>
                </a:solidFill>
                <a:latin typeface="Open Sans" pitchFamily="34" charset="0"/>
                <a:ea typeface="Open Sans" pitchFamily="34" charset="-122"/>
                <a:cs typeface="Open Sans" pitchFamily="34" charset="-120"/>
              </a:rPr>
              <a:t> — effective integration creates performance beyond what individual parts could achieve. In practice, this means HR decisions affect operations, marketing affects culture, and leadership affects every other system simultaneously. Managers must think systemically, not in functional silos.</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3402449" y="376357"/>
            <a:ext cx="1196340" cy="154781"/>
          </a:xfrm>
          <a:prstGeom prst="roundRect">
            <a:avLst>
              <a:gd name="adj" fmla="val 21542"/>
            </a:avLst>
          </a:prstGeom>
          <a:solidFill>
            <a:srgbClr val="EBE2E0"/>
          </a:solidFill>
          <a:ln/>
        </p:spPr>
        <p:txBody>
          <a:bodyPr/>
          <a:lstStyle/>
          <a:p>
            <a:endParaRPr lang="en-AU"/>
          </a:p>
        </p:txBody>
      </p:sp>
      <p:sp>
        <p:nvSpPr>
          <p:cNvPr id="3" name="Text 1"/>
          <p:cNvSpPr/>
          <p:nvPr/>
        </p:nvSpPr>
        <p:spPr>
          <a:xfrm>
            <a:off x="3461980" y="406122"/>
            <a:ext cx="1077278" cy="95250"/>
          </a:xfrm>
          <a:prstGeom prst="rect">
            <a:avLst/>
          </a:prstGeom>
          <a:noFill/>
          <a:ln/>
        </p:spPr>
        <p:txBody>
          <a:bodyPr wrap="none" lIns="0" tIns="0" rIns="0" bIns="0" rtlCol="0" anchor="t"/>
          <a:lstStyle/>
          <a:p>
            <a:pPr marL="0" indent="0" algn="l">
              <a:lnSpc>
                <a:spcPts val="750"/>
              </a:lnSpc>
              <a:buNone/>
            </a:pPr>
            <a:r>
              <a:rPr lang="en-US" sz="600" dirty="0">
                <a:solidFill>
                  <a:srgbClr val="443728"/>
                </a:solidFill>
                <a:latin typeface="Open Sans" pitchFamily="34" charset="0"/>
                <a:ea typeface="Open Sans" pitchFamily="34" charset="-122"/>
                <a:cs typeface="Open Sans" pitchFamily="34" charset="-120"/>
              </a:rPr>
              <a:t>LEVEL 3 — ORGANISATIONAL</a:t>
            </a:r>
            <a:endParaRPr lang="en-US" sz="600" dirty="0"/>
          </a:p>
        </p:txBody>
      </p:sp>
      <p:sp>
        <p:nvSpPr>
          <p:cNvPr id="4" name="Text 2"/>
          <p:cNvSpPr/>
          <p:nvPr/>
        </p:nvSpPr>
        <p:spPr>
          <a:xfrm>
            <a:off x="3402449" y="550902"/>
            <a:ext cx="2706529"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Work Stress &amp; Well-being</a:t>
            </a:r>
            <a:endParaRPr lang="en-US" sz="1950" dirty="0"/>
          </a:p>
        </p:txBody>
      </p:sp>
      <p:sp>
        <p:nvSpPr>
          <p:cNvPr id="5" name="Text 3"/>
          <p:cNvSpPr/>
          <p:nvPr/>
        </p:nvSpPr>
        <p:spPr>
          <a:xfrm>
            <a:off x="3402449" y="935474"/>
            <a:ext cx="7825502" cy="237887"/>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Employee well-being is no longer a peripheral concern — it is a strategic priority. The theories below provide rigorous frameworks for understanding how work design, demand levels, and available resources shape employee health, performance, and retention.</a:t>
            </a:r>
            <a:endParaRPr lang="en-US" sz="750" dirty="0"/>
          </a:p>
        </p:txBody>
      </p:sp>
      <p:sp>
        <p:nvSpPr>
          <p:cNvPr id="6" name="Shape 4"/>
          <p:cNvSpPr/>
          <p:nvPr/>
        </p:nvSpPr>
        <p:spPr>
          <a:xfrm>
            <a:off x="3402449" y="1229082"/>
            <a:ext cx="7825502" cy="763191"/>
          </a:xfrm>
          <a:prstGeom prst="roundRect">
            <a:avLst>
              <a:gd name="adj" fmla="val 5461"/>
            </a:avLst>
          </a:prstGeom>
          <a:solidFill>
            <a:srgbClr val="E1D4D0"/>
          </a:solidFill>
          <a:ln/>
        </p:spPr>
        <p:txBody>
          <a:bodyPr/>
          <a:lstStyle/>
          <a:p>
            <a:endParaRPr lang="en-AU"/>
          </a:p>
        </p:txBody>
      </p:sp>
      <p:pic>
        <p:nvPicPr>
          <p:cNvPr id="7" name="Image 0" descr="preencoded.png"/>
          <p:cNvPicPr>
            <a:picLocks noChangeAspect="1"/>
          </p:cNvPicPr>
          <p:nvPr/>
        </p:nvPicPr>
        <p:blipFill>
          <a:blip r:embed="rId3"/>
          <a:stretch>
            <a:fillRect/>
          </a:stretch>
        </p:blipFill>
        <p:spPr>
          <a:xfrm>
            <a:off x="3501628" y="1357670"/>
            <a:ext cx="123944" cy="99179"/>
          </a:xfrm>
          <a:prstGeom prst="rect">
            <a:avLst/>
          </a:prstGeom>
        </p:spPr>
      </p:pic>
      <p:sp>
        <p:nvSpPr>
          <p:cNvPr id="8" name="Text 5"/>
          <p:cNvSpPr/>
          <p:nvPr/>
        </p:nvSpPr>
        <p:spPr>
          <a:xfrm>
            <a:off x="3724751" y="1303377"/>
            <a:ext cx="7404021" cy="594717"/>
          </a:xfrm>
          <a:prstGeom prst="rect">
            <a:avLst/>
          </a:prstGeom>
          <a:noFill/>
          <a:ln/>
        </p:spPr>
        <p:txBody>
          <a:bodyPr wrap="square" lIns="0" tIns="0" rIns="0" bIns="0" rtlCol="0" anchor="t"/>
          <a:lstStyle/>
          <a:p>
            <a:pPr marL="0" indent="0" algn="l">
              <a:lnSpc>
                <a:spcPts val="900"/>
              </a:lnSpc>
              <a:buNone/>
            </a:pPr>
            <a:r>
              <a:rPr lang="en-US" sz="750" dirty="0">
                <a:solidFill>
                  <a:srgbClr val="000000"/>
                </a:solidFill>
                <a:latin typeface="Open Sans" pitchFamily="34" charset="0"/>
                <a:ea typeface="Open Sans" pitchFamily="34" charset="-122"/>
                <a:cs typeface="Open Sans" pitchFamily="34" charset="-120"/>
              </a:rPr>
              <a:t>📹 </a:t>
            </a:r>
            <a:r>
              <a:rPr lang="en-US" sz="750" b="1" dirty="0">
                <a:solidFill>
                  <a:srgbClr val="000000"/>
                </a:solidFill>
                <a:latin typeface="Open Sans" pitchFamily="34" charset="0"/>
                <a:ea typeface="Open Sans" pitchFamily="34" charset="-122"/>
                <a:cs typeface="Open Sans" pitchFamily="34" charset="-120"/>
              </a:rPr>
              <a:t>Video Placeholder</a:t>
            </a:r>
            <a:r>
              <a:rPr lang="en-US" sz="750" dirty="0">
                <a:solidFill>
                  <a:srgbClr val="000000"/>
                </a:solidFill>
                <a:latin typeface="Open Sans" pitchFamily="34" charset="0"/>
                <a:ea typeface="Open Sans" pitchFamily="34" charset="-122"/>
                <a:cs typeface="Open Sans" pitchFamily="34" charset="-120"/>
              </a:rPr>
              <a:t> — "Think about the difference between a subject you love — where the workload feels energising — and one you dread, where even a small task feels crushing. Or the difference between a family environment where you feel supported and one where you feel controlled. The pressure isn't always the problem. What's missing is often the control, the support, or the sense that it matters. That's Karasek's Demand-Control model and the JD-R framework — playing out in your study life, your home life, and your social life right now. This video uses those real personal experiences of stress, burnout, and flow to explain well-being theory — so you understand your own limits and resources before you ever have to manage someone else's."</a:t>
            </a:r>
            <a:endParaRPr lang="en-US" sz="750" dirty="0"/>
          </a:p>
        </p:txBody>
      </p:sp>
      <p:sp>
        <p:nvSpPr>
          <p:cNvPr id="9" name="Shape 6"/>
          <p:cNvSpPr/>
          <p:nvPr/>
        </p:nvSpPr>
        <p:spPr>
          <a:xfrm>
            <a:off x="3331012" y="2047994"/>
            <a:ext cx="3934658" cy="5805249"/>
          </a:xfrm>
          <a:prstGeom prst="roundRect">
            <a:avLst>
              <a:gd name="adj" fmla="val 1816"/>
            </a:avLst>
          </a:prstGeom>
          <a:solidFill>
            <a:srgbClr val="835E54"/>
          </a:solidFill>
          <a:ln/>
        </p:spPr>
        <p:txBody>
          <a:bodyPr/>
          <a:lstStyle/>
          <a:p>
            <a:endParaRPr lang="en-AU"/>
          </a:p>
        </p:txBody>
      </p:sp>
      <p:sp>
        <p:nvSpPr>
          <p:cNvPr id="10" name="Text 7"/>
          <p:cNvSpPr/>
          <p:nvPr/>
        </p:nvSpPr>
        <p:spPr>
          <a:xfrm>
            <a:off x="3430191" y="2097524"/>
            <a:ext cx="1797844" cy="155019"/>
          </a:xfrm>
          <a:prstGeom prst="rect">
            <a:avLst/>
          </a:prstGeom>
          <a:noFill/>
          <a:ln/>
        </p:spPr>
        <p:txBody>
          <a:bodyPr wrap="none" lIns="0" tIns="0" rIns="0" bIns="0" rtlCol="0" anchor="t"/>
          <a:lstStyle/>
          <a:p>
            <a:pPr marL="0" indent="0" algn="l">
              <a:lnSpc>
                <a:spcPts val="1200"/>
              </a:lnSpc>
              <a:buNone/>
            </a:pPr>
            <a:r>
              <a:rPr lang="en-US" sz="950" b="1" dirty="0">
                <a:solidFill>
                  <a:srgbClr val="FFFFFF"/>
                </a:solidFill>
                <a:latin typeface="Crimson Pro Bold" pitchFamily="34" charset="0"/>
                <a:ea typeface="Crimson Pro Bold" pitchFamily="34" charset="-122"/>
                <a:cs typeface="Crimson Pro Bold" pitchFamily="34" charset="-120"/>
              </a:rPr>
              <a:t>Karasek's Demand–Control Model</a:t>
            </a:r>
            <a:endParaRPr lang="en-US" sz="950" dirty="0"/>
          </a:p>
        </p:txBody>
      </p:sp>
      <p:sp>
        <p:nvSpPr>
          <p:cNvPr id="11" name="Text 8"/>
          <p:cNvSpPr/>
          <p:nvPr/>
        </p:nvSpPr>
        <p:spPr>
          <a:xfrm>
            <a:off x="3430191" y="2302073"/>
            <a:ext cx="3736300" cy="356830"/>
          </a:xfrm>
          <a:prstGeom prst="rect">
            <a:avLst/>
          </a:prstGeom>
          <a:noFill/>
          <a:ln/>
        </p:spPr>
        <p:txBody>
          <a:bodyPr wrap="square" lIns="0" tIns="0" rIns="0" bIns="0" rtlCol="0" anchor="t"/>
          <a:lstStyle/>
          <a:p>
            <a:pPr marL="0" indent="0" algn="l">
              <a:lnSpc>
                <a:spcPts val="900"/>
              </a:lnSpc>
              <a:buNone/>
            </a:pPr>
            <a:r>
              <a:rPr lang="en-US" sz="750" dirty="0">
                <a:solidFill>
                  <a:srgbClr val="FFFFFF"/>
                </a:solidFill>
                <a:latin typeface="Open Sans" pitchFamily="34" charset="0"/>
                <a:ea typeface="Open Sans" pitchFamily="34" charset="-122"/>
                <a:cs typeface="Open Sans" pitchFamily="34" charset="-120"/>
              </a:rPr>
              <a:t>Robert Karasek proposed that job stress emerges from the </a:t>
            </a:r>
            <a:r>
              <a:rPr lang="en-US" sz="750" i="1" dirty="0">
                <a:solidFill>
                  <a:srgbClr val="FFFFFF"/>
                </a:solidFill>
                <a:latin typeface="Open Sans" pitchFamily="34" charset="0"/>
                <a:ea typeface="Open Sans" pitchFamily="34" charset="-122"/>
                <a:cs typeface="Open Sans" pitchFamily="34" charset="-120"/>
              </a:rPr>
              <a:t>combination</a:t>
            </a:r>
            <a:r>
              <a:rPr lang="en-US" sz="750" dirty="0">
                <a:solidFill>
                  <a:srgbClr val="FFFFFF"/>
                </a:solidFill>
                <a:latin typeface="Open Sans" pitchFamily="34" charset="0"/>
                <a:ea typeface="Open Sans" pitchFamily="34" charset="-122"/>
                <a:cs typeface="Open Sans" pitchFamily="34" charset="-120"/>
              </a:rPr>
              <a:t> of high psychological demands and low decision latitude (control). His model produces four job types:</a:t>
            </a:r>
            <a:endParaRPr lang="en-US" sz="750" dirty="0"/>
          </a:p>
        </p:txBody>
      </p:sp>
      <p:sp>
        <p:nvSpPr>
          <p:cNvPr id="12" name="Text 9"/>
          <p:cNvSpPr/>
          <p:nvPr/>
        </p:nvSpPr>
        <p:spPr>
          <a:xfrm>
            <a:off x="3430191" y="2703552"/>
            <a:ext cx="3736300" cy="1003340"/>
          </a:xfrm>
          <a:prstGeom prst="rect">
            <a:avLst/>
          </a:prstGeom>
          <a:noFill/>
          <a:ln/>
        </p:spPr>
        <p:txBody>
          <a:bodyPr wrap="square" lIns="0" tIns="0" rIns="0" bIns="0" rtlCol="0" anchor="t"/>
          <a:lstStyle/>
          <a:p>
            <a:pPr marL="342900" indent="-342900" algn="l">
              <a:lnSpc>
                <a:spcPts val="900"/>
              </a:lnSpc>
              <a:buSzPct val="100000"/>
              <a:buChar char="•"/>
            </a:pPr>
            <a:r>
              <a:rPr lang="en-US" sz="750" b="1" dirty="0">
                <a:solidFill>
                  <a:srgbClr val="FFFFFF"/>
                </a:solidFill>
                <a:latin typeface="Open Sans" pitchFamily="34" charset="0"/>
                <a:ea typeface="Open Sans" pitchFamily="34" charset="-122"/>
                <a:cs typeface="Open Sans" pitchFamily="34" charset="-120"/>
              </a:rPr>
              <a:t>High Strain Jobs</a:t>
            </a:r>
            <a:r>
              <a:rPr lang="en-US" sz="750" dirty="0">
                <a:solidFill>
                  <a:srgbClr val="FFFFFF"/>
                </a:solidFill>
                <a:latin typeface="Open Sans" pitchFamily="34" charset="0"/>
                <a:ea typeface="Open Sans" pitchFamily="34" charset="-122"/>
                <a:cs typeface="Open Sans" pitchFamily="34" charset="-120"/>
              </a:rPr>
              <a:t> (high demands + low control): most stressful and harmful to health — associated with cardiovascular disease and burnout.</a:t>
            </a:r>
            <a:endParaRPr lang="en-US" sz="750" dirty="0"/>
          </a:p>
          <a:p>
            <a:pPr marL="342900" indent="-342900" algn="l">
              <a:lnSpc>
                <a:spcPts val="900"/>
              </a:lnSpc>
              <a:buSzPct val="100000"/>
              <a:buChar char="•"/>
            </a:pPr>
            <a:r>
              <a:rPr lang="en-US" sz="750" b="1" dirty="0">
                <a:solidFill>
                  <a:srgbClr val="FFFFFF"/>
                </a:solidFill>
                <a:latin typeface="Open Sans" pitchFamily="34" charset="0"/>
                <a:ea typeface="Open Sans" pitchFamily="34" charset="-122"/>
                <a:cs typeface="Open Sans" pitchFamily="34" charset="-120"/>
              </a:rPr>
              <a:t>Active Jobs</a:t>
            </a:r>
            <a:r>
              <a:rPr lang="en-US" sz="750" dirty="0">
                <a:solidFill>
                  <a:srgbClr val="FFFFFF"/>
                </a:solidFill>
                <a:latin typeface="Open Sans" pitchFamily="34" charset="0"/>
                <a:ea typeface="Open Sans" pitchFamily="34" charset="-122"/>
                <a:cs typeface="Open Sans" pitchFamily="34" charset="-120"/>
              </a:rPr>
              <a:t> (high demands + high control): demanding but stimulating — promotes learning and motivation.</a:t>
            </a:r>
            <a:endParaRPr lang="en-US" sz="750" dirty="0"/>
          </a:p>
          <a:p>
            <a:pPr marL="342900" indent="-342900" algn="l">
              <a:lnSpc>
                <a:spcPts val="900"/>
              </a:lnSpc>
              <a:buSzPct val="100000"/>
              <a:buChar char="•"/>
            </a:pPr>
            <a:r>
              <a:rPr lang="en-US" sz="750" b="1" dirty="0">
                <a:solidFill>
                  <a:srgbClr val="FFFFFF"/>
                </a:solidFill>
                <a:latin typeface="Open Sans" pitchFamily="34" charset="0"/>
                <a:ea typeface="Open Sans" pitchFamily="34" charset="-122"/>
                <a:cs typeface="Open Sans" pitchFamily="34" charset="-120"/>
              </a:rPr>
              <a:t>Passive Jobs</a:t>
            </a:r>
            <a:r>
              <a:rPr lang="en-US" sz="750" dirty="0">
                <a:solidFill>
                  <a:srgbClr val="FFFFFF"/>
                </a:solidFill>
                <a:latin typeface="Open Sans" pitchFamily="34" charset="0"/>
                <a:ea typeface="Open Sans" pitchFamily="34" charset="-122"/>
                <a:cs typeface="Open Sans" pitchFamily="34" charset="-120"/>
              </a:rPr>
              <a:t> (low demands + low control): lead to skill atrophy and disengagement.</a:t>
            </a:r>
            <a:endParaRPr lang="en-US" sz="750" dirty="0"/>
          </a:p>
          <a:p>
            <a:pPr marL="342900" indent="-342900" algn="l">
              <a:lnSpc>
                <a:spcPts val="900"/>
              </a:lnSpc>
              <a:buSzPct val="100000"/>
              <a:buChar char="•"/>
            </a:pPr>
            <a:r>
              <a:rPr lang="en-US" sz="750" b="1" dirty="0">
                <a:solidFill>
                  <a:srgbClr val="FFFFFF"/>
                </a:solidFill>
                <a:latin typeface="Open Sans" pitchFamily="34" charset="0"/>
                <a:ea typeface="Open Sans" pitchFamily="34" charset="-122"/>
                <a:cs typeface="Open Sans" pitchFamily="34" charset="-120"/>
              </a:rPr>
              <a:t>Low Strain Jobs</a:t>
            </a:r>
            <a:r>
              <a:rPr lang="en-US" sz="750" dirty="0">
                <a:solidFill>
                  <a:srgbClr val="FFFFFF"/>
                </a:solidFill>
                <a:latin typeface="Open Sans" pitchFamily="34" charset="0"/>
                <a:ea typeface="Open Sans" pitchFamily="34" charset="-122"/>
                <a:cs typeface="Open Sans" pitchFamily="34" charset="-120"/>
              </a:rPr>
              <a:t> (low demands + high control): least stressful — promotes relaxation.</a:t>
            </a:r>
            <a:endParaRPr lang="en-US" sz="750" dirty="0"/>
          </a:p>
        </p:txBody>
      </p:sp>
      <p:sp>
        <p:nvSpPr>
          <p:cNvPr id="13" name="Text 10"/>
          <p:cNvSpPr/>
          <p:nvPr/>
        </p:nvSpPr>
        <p:spPr>
          <a:xfrm>
            <a:off x="3430191" y="3751540"/>
            <a:ext cx="3736300" cy="356830"/>
          </a:xfrm>
          <a:prstGeom prst="rect">
            <a:avLst/>
          </a:prstGeom>
          <a:noFill/>
          <a:ln/>
        </p:spPr>
        <p:txBody>
          <a:bodyPr wrap="square" lIns="0" tIns="0" rIns="0" bIns="0" rtlCol="0" anchor="t"/>
          <a:lstStyle/>
          <a:p>
            <a:pPr marL="0" indent="0" algn="l">
              <a:lnSpc>
                <a:spcPts val="900"/>
              </a:lnSpc>
              <a:buNone/>
            </a:pPr>
            <a:r>
              <a:rPr lang="en-US" sz="750" dirty="0">
                <a:solidFill>
                  <a:srgbClr val="FFFFFF"/>
                </a:solidFill>
                <a:latin typeface="Open Sans" pitchFamily="34" charset="0"/>
                <a:ea typeface="Open Sans" pitchFamily="34" charset="-122"/>
                <a:cs typeface="Open Sans" pitchFamily="34" charset="-120"/>
              </a:rPr>
              <a:t>The model underscores that autonomy is a protective factor: giving employees control over how and when they work buffers the negative effects of high demands.</a:t>
            </a:r>
            <a:endParaRPr lang="en-US" sz="750" dirty="0"/>
          </a:p>
        </p:txBody>
      </p:sp>
      <p:pic>
        <p:nvPicPr>
          <p:cNvPr id="14" name="Image 1" descr="preencoded.png"/>
          <p:cNvPicPr>
            <a:picLocks noChangeAspect="1"/>
          </p:cNvPicPr>
          <p:nvPr/>
        </p:nvPicPr>
        <p:blipFill>
          <a:blip r:embed="rId4"/>
          <a:stretch>
            <a:fillRect/>
          </a:stretch>
        </p:blipFill>
        <p:spPr>
          <a:xfrm>
            <a:off x="7443788" y="2103715"/>
            <a:ext cx="3791783" cy="3791783"/>
          </a:xfrm>
          <a:prstGeom prst="rect">
            <a:avLst/>
          </a:prstGeom>
        </p:spPr>
      </p:pic>
      <p:sp>
        <p:nvSpPr>
          <p:cNvPr id="15" name="Text 11"/>
          <p:cNvSpPr/>
          <p:nvPr/>
        </p:nvSpPr>
        <p:spPr>
          <a:xfrm>
            <a:off x="7443788" y="5951220"/>
            <a:ext cx="2017871" cy="155019"/>
          </a:xfrm>
          <a:prstGeom prst="rect">
            <a:avLst/>
          </a:prstGeom>
          <a:noFill/>
          <a:ln/>
        </p:spPr>
        <p:txBody>
          <a:bodyPr wrap="none" lIns="0" tIns="0" rIns="0" bIns="0" rtlCol="0" anchor="t"/>
          <a:lstStyle/>
          <a:p>
            <a:pPr marL="0" indent="0" algn="l">
              <a:lnSpc>
                <a:spcPts val="1200"/>
              </a:lnSpc>
              <a:buNone/>
            </a:pPr>
            <a:r>
              <a:rPr lang="en-US" sz="950" b="1" dirty="0">
                <a:solidFill>
                  <a:srgbClr val="443728"/>
                </a:solidFill>
                <a:latin typeface="Crimson Pro Bold" pitchFamily="34" charset="0"/>
                <a:ea typeface="Crimson Pro Bold" pitchFamily="34" charset="-122"/>
                <a:cs typeface="Crimson Pro Bold" pitchFamily="34" charset="-120"/>
              </a:rPr>
              <a:t>Job Demands–Resources (JD-R) Model</a:t>
            </a:r>
            <a:endParaRPr lang="en-US" sz="950" dirty="0"/>
          </a:p>
        </p:txBody>
      </p:sp>
      <p:sp>
        <p:nvSpPr>
          <p:cNvPr id="16" name="Text 12"/>
          <p:cNvSpPr/>
          <p:nvPr/>
        </p:nvSpPr>
        <p:spPr>
          <a:xfrm>
            <a:off x="7443788" y="6155769"/>
            <a:ext cx="3791783" cy="237887"/>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Arnold Bakker and Evangelia Demerouti extended Karasek's model into a broader framework applicable to any job. The model proposes two processes:</a:t>
            </a:r>
            <a:endParaRPr lang="en-US" sz="750" dirty="0"/>
          </a:p>
        </p:txBody>
      </p:sp>
      <p:sp>
        <p:nvSpPr>
          <p:cNvPr id="17" name="Text 13"/>
          <p:cNvSpPr/>
          <p:nvPr/>
        </p:nvSpPr>
        <p:spPr>
          <a:xfrm>
            <a:off x="7443788" y="6438305"/>
            <a:ext cx="3791783" cy="730925"/>
          </a:xfrm>
          <a:prstGeom prst="rect">
            <a:avLst/>
          </a:prstGeom>
          <a:noFill/>
          <a:ln/>
        </p:spPr>
        <p:txBody>
          <a:bodyPr wrap="square" lIns="0" tIns="0" rIns="0" bIns="0" rtlCol="0" anchor="t"/>
          <a:lstStyle/>
          <a:p>
            <a:pPr marL="342900" indent="-342900" algn="l">
              <a:lnSpc>
                <a:spcPts val="900"/>
              </a:lnSpc>
              <a:buSzPct val="100000"/>
              <a:buChar char="•"/>
            </a:pPr>
            <a:r>
              <a:rPr lang="en-US" sz="750" b="1" dirty="0">
                <a:solidFill>
                  <a:srgbClr val="443728"/>
                </a:solidFill>
                <a:latin typeface="Open Sans" pitchFamily="34" charset="0"/>
                <a:ea typeface="Open Sans" pitchFamily="34" charset="-122"/>
                <a:cs typeface="Open Sans" pitchFamily="34" charset="-120"/>
              </a:rPr>
              <a:t>The Health Impairment Process</a:t>
            </a:r>
            <a:r>
              <a:rPr lang="en-US" sz="750" dirty="0">
                <a:solidFill>
                  <a:srgbClr val="443728"/>
                </a:solidFill>
                <a:latin typeface="Open Sans" pitchFamily="34" charset="0"/>
                <a:ea typeface="Open Sans" pitchFamily="34" charset="-122"/>
                <a:cs typeface="Open Sans" pitchFamily="34" charset="-120"/>
              </a:rPr>
              <a:t>: Excessive job demands (workload, emotional demands, role conflict) deplete energy and cognitive resources, leading to exhaustion and health problems when sustained over time.</a:t>
            </a:r>
            <a:endParaRPr lang="en-US" sz="750" dirty="0"/>
          </a:p>
          <a:p>
            <a:pPr marL="342900" indent="-342900" algn="l">
              <a:lnSpc>
                <a:spcPts val="900"/>
              </a:lnSpc>
              <a:buSzPct val="100000"/>
              <a:buChar char="•"/>
            </a:pPr>
            <a:r>
              <a:rPr lang="en-US" sz="750" b="1" dirty="0">
                <a:solidFill>
                  <a:srgbClr val="443728"/>
                </a:solidFill>
                <a:latin typeface="Open Sans" pitchFamily="34" charset="0"/>
                <a:ea typeface="Open Sans" pitchFamily="34" charset="-122"/>
                <a:cs typeface="Open Sans" pitchFamily="34" charset="-120"/>
              </a:rPr>
              <a:t>The Motivational Process</a:t>
            </a:r>
            <a:r>
              <a:rPr lang="en-US" sz="750" dirty="0">
                <a:solidFill>
                  <a:srgbClr val="443728"/>
                </a:solidFill>
                <a:latin typeface="Open Sans" pitchFamily="34" charset="0"/>
                <a:ea typeface="Open Sans" pitchFamily="34" charset="-122"/>
                <a:cs typeface="Open Sans" pitchFamily="34" charset="-120"/>
              </a:rPr>
              <a:t>: Job resources (autonomy, feedback, social support, learning opportunities) fulfil psychological needs, fuelling engagement and performance.</a:t>
            </a:r>
            <a:endParaRPr lang="en-US" sz="750" dirty="0"/>
          </a:p>
        </p:txBody>
      </p:sp>
      <p:sp>
        <p:nvSpPr>
          <p:cNvPr id="18" name="Text 14"/>
          <p:cNvSpPr/>
          <p:nvPr/>
        </p:nvSpPr>
        <p:spPr>
          <a:xfrm>
            <a:off x="7443788" y="7213878"/>
            <a:ext cx="3791783" cy="594717"/>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Crucially, resources buffer the impact of demands: high demands are far less harmful when employees have access to strong resources. The JD-R model has become the dominant evidence-based framework for workplace well-being interventions, informing job redesign, leadership training, and organisational health strategies worldwide.</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1105376" y="1168003"/>
            <a:ext cx="3937397" cy="492085"/>
          </a:xfrm>
          <a:prstGeom prst="rect">
            <a:avLst/>
          </a:prstGeom>
          <a:noFill/>
          <a:ln/>
        </p:spPr>
        <p:txBody>
          <a:bodyPr wrap="none" lIns="0" tIns="0" rIns="0" bIns="0" rtlCol="0" anchor="t"/>
          <a:lstStyle/>
          <a:p>
            <a:pPr marL="0" indent="0" algn="l">
              <a:lnSpc>
                <a:spcPts val="3850"/>
              </a:lnSpc>
              <a:buNone/>
            </a:pPr>
            <a:r>
              <a:rPr lang="en-US" sz="3100" b="1" dirty="0">
                <a:solidFill>
                  <a:srgbClr val="443728"/>
                </a:solidFill>
                <a:latin typeface="Crimson Pro Bold" pitchFamily="34" charset="0"/>
                <a:ea typeface="Crimson Pro Bold" pitchFamily="34" charset="-122"/>
                <a:cs typeface="Crimson Pro Bold" pitchFamily="34" charset="-120"/>
              </a:rPr>
              <a:t>How to Use This Guide</a:t>
            </a:r>
            <a:endParaRPr lang="en-US" sz="3100" dirty="0"/>
          </a:p>
        </p:txBody>
      </p:sp>
      <p:sp>
        <p:nvSpPr>
          <p:cNvPr id="3" name="Text 1"/>
          <p:cNvSpPr/>
          <p:nvPr/>
        </p:nvSpPr>
        <p:spPr>
          <a:xfrm>
            <a:off x="1105376" y="1910001"/>
            <a:ext cx="12419648" cy="677942"/>
          </a:xfrm>
          <a:prstGeom prst="rect">
            <a:avLst/>
          </a:prstGeom>
          <a:noFill/>
          <a:ln/>
        </p:spPr>
        <p:txBody>
          <a:bodyPr wrap="square" lIns="0" tIns="0" rIns="0" bIns="0" rtlCol="0" anchor="t"/>
          <a:lstStyle/>
          <a:p>
            <a:pPr marL="0" indent="0" algn="l">
              <a:lnSpc>
                <a:spcPts val="1750"/>
              </a:lnSpc>
              <a:buNone/>
            </a:pPr>
            <a:r>
              <a:rPr lang="en-US" sz="1200" dirty="0">
                <a:solidFill>
                  <a:srgbClr val="443728"/>
                </a:solidFill>
                <a:latin typeface="Open Sans" pitchFamily="34" charset="0"/>
                <a:ea typeface="Open Sans" pitchFamily="34" charset="-122"/>
                <a:cs typeface="Open Sans" pitchFamily="34" charset="-120"/>
              </a:rPr>
              <a:t>This guide is built on a simple but powerful idea: you have already been living Organisational Behaviour your entire life. Every theory here plays out in your family, your friendships, your school, and your daily routines — long before it ever appears in a workplace. The videos and examples in this guide are designed to meet you where you are, so that theory becomes recognition, not memorisation.</a:t>
            </a:r>
            <a:endParaRPr lang="en-US" sz="120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5376" y="2728436"/>
            <a:ext cx="393740" cy="393740"/>
          </a:xfrm>
          <a:prstGeom prst="rect">
            <a:avLst/>
          </a:prstGeom>
        </p:spPr>
      </p:pic>
      <p:sp>
        <p:nvSpPr>
          <p:cNvPr id="5" name="Text 2"/>
          <p:cNvSpPr/>
          <p:nvPr/>
        </p:nvSpPr>
        <p:spPr>
          <a:xfrm>
            <a:off x="1655326" y="2728436"/>
            <a:ext cx="4251246" cy="246102"/>
          </a:xfrm>
          <a:prstGeom prst="rect">
            <a:avLst/>
          </a:prstGeom>
          <a:noFill/>
          <a:ln/>
        </p:spPr>
        <p:txBody>
          <a:bodyPr wrap="none" lIns="0" tIns="0" rIns="0" bIns="0" rtlCol="0" anchor="t"/>
          <a:lstStyle/>
          <a:p>
            <a:pPr marL="0" indent="0" algn="l">
              <a:lnSpc>
                <a:spcPts val="1900"/>
              </a:lnSpc>
              <a:buNone/>
            </a:pPr>
            <a:r>
              <a:rPr lang="en-US" sz="1550" b="1" dirty="0">
                <a:solidFill>
                  <a:srgbClr val="443728"/>
                </a:solidFill>
                <a:latin typeface="Crimson Pro Bold" pitchFamily="34" charset="0"/>
                <a:ea typeface="Crimson Pro Bold" pitchFamily="34" charset="-122"/>
                <a:cs typeface="Crimson Pro Bold" pitchFamily="34" charset="-120"/>
              </a:rPr>
              <a:t>Watch the Videos First — They Start With Your Life</a:t>
            </a:r>
            <a:endParaRPr lang="en-US" sz="1550" dirty="0"/>
          </a:p>
        </p:txBody>
      </p:sp>
      <p:sp>
        <p:nvSpPr>
          <p:cNvPr id="6" name="Text 3"/>
          <p:cNvSpPr/>
          <p:nvPr/>
        </p:nvSpPr>
        <p:spPr>
          <a:xfrm>
            <a:off x="1655326" y="3049429"/>
            <a:ext cx="5581769" cy="1129903"/>
          </a:xfrm>
          <a:prstGeom prst="rect">
            <a:avLst/>
          </a:prstGeom>
          <a:noFill/>
          <a:ln/>
        </p:spPr>
        <p:txBody>
          <a:bodyPr wrap="square" lIns="0" tIns="0" rIns="0" bIns="0" rtlCol="0" anchor="t"/>
          <a:lstStyle/>
          <a:p>
            <a:pPr marL="0" indent="0" algn="l">
              <a:lnSpc>
                <a:spcPts val="1750"/>
              </a:lnSpc>
              <a:buNone/>
            </a:pPr>
            <a:r>
              <a:rPr lang="en-US" sz="1200" dirty="0">
                <a:solidFill>
                  <a:srgbClr val="443728"/>
                </a:solidFill>
                <a:latin typeface="Open Sans" pitchFamily="34" charset="0"/>
                <a:ea typeface="Open Sans" pitchFamily="34" charset="-122"/>
                <a:cs typeface="Open Sans" pitchFamily="34" charset="-120"/>
              </a:rPr>
              <a:t>Each theory section opens with a video that begins in your personal world — a family argument, a friendship dynamic, a group project, a daily habit — before connecting it to the organisational concept. Watch these first. They are not standard lecture videos. They are designed to make you say "oh, that's what that is" before you ever read the theory.</a:t>
            </a:r>
            <a:endParaRPr lang="en-US" sz="1200" dirty="0"/>
          </a:p>
        </p:txBody>
      </p:sp>
      <p:pic>
        <p:nvPicPr>
          <p:cNvPr id="7"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93305" y="2728436"/>
            <a:ext cx="393740" cy="393740"/>
          </a:xfrm>
          <a:prstGeom prst="rect">
            <a:avLst/>
          </a:prstGeom>
        </p:spPr>
      </p:pic>
      <p:sp>
        <p:nvSpPr>
          <p:cNvPr id="8" name="Text 4"/>
          <p:cNvSpPr/>
          <p:nvPr/>
        </p:nvSpPr>
        <p:spPr>
          <a:xfrm>
            <a:off x="7943255" y="2728436"/>
            <a:ext cx="2796302" cy="246102"/>
          </a:xfrm>
          <a:prstGeom prst="rect">
            <a:avLst/>
          </a:prstGeom>
          <a:noFill/>
          <a:ln/>
        </p:spPr>
        <p:txBody>
          <a:bodyPr wrap="none" lIns="0" tIns="0" rIns="0" bIns="0" rtlCol="0" anchor="t"/>
          <a:lstStyle/>
          <a:p>
            <a:pPr marL="0" indent="0" algn="l">
              <a:lnSpc>
                <a:spcPts val="1900"/>
              </a:lnSpc>
              <a:buNone/>
            </a:pPr>
            <a:r>
              <a:rPr lang="en-US" sz="1550" b="1" dirty="0">
                <a:solidFill>
                  <a:srgbClr val="443728"/>
                </a:solidFill>
                <a:latin typeface="Crimson Pro Bold" pitchFamily="34" charset="0"/>
                <a:ea typeface="Crimson Pro Bold" pitchFamily="34" charset="-122"/>
                <a:cs typeface="Crimson Pro Bold" pitchFamily="34" charset="-120"/>
              </a:rPr>
              <a:t>Read With Your Own Life in Mind</a:t>
            </a:r>
            <a:endParaRPr lang="en-US" sz="1550" dirty="0"/>
          </a:p>
        </p:txBody>
      </p:sp>
      <p:sp>
        <p:nvSpPr>
          <p:cNvPr id="9" name="Text 5"/>
          <p:cNvSpPr/>
          <p:nvPr/>
        </p:nvSpPr>
        <p:spPr>
          <a:xfrm>
            <a:off x="7943255" y="3049429"/>
            <a:ext cx="5581769" cy="1129903"/>
          </a:xfrm>
          <a:prstGeom prst="rect">
            <a:avLst/>
          </a:prstGeom>
          <a:noFill/>
          <a:ln/>
        </p:spPr>
        <p:txBody>
          <a:bodyPr wrap="square" lIns="0" tIns="0" rIns="0" bIns="0" rtlCol="0" anchor="t"/>
          <a:lstStyle/>
          <a:p>
            <a:pPr marL="0" indent="0" algn="l">
              <a:lnSpc>
                <a:spcPts val="1750"/>
              </a:lnSpc>
              <a:buNone/>
            </a:pPr>
            <a:r>
              <a:rPr lang="en-US" sz="1200" dirty="0">
                <a:solidFill>
                  <a:srgbClr val="443728"/>
                </a:solidFill>
                <a:latin typeface="Open Sans" pitchFamily="34" charset="0"/>
                <a:ea typeface="Open Sans" pitchFamily="34" charset="-122"/>
                <a:cs typeface="Open Sans" pitchFamily="34" charset="-120"/>
              </a:rPr>
              <a:t>As you read each theory, ask yourself: "Where have I already seen this?" Think about your family structure (is it autocratic or collegial?), your friend group dynamics (who leads, who follows, who avoids conflict?), your own motivation patterns (what actually gets you moving?). OB is not abstract — it is a language for things you already experience.</a:t>
            </a:r>
            <a:endParaRPr lang="en-US" sz="1200" dirty="0"/>
          </a:p>
        </p:txBody>
      </p:sp>
      <p:pic>
        <p:nvPicPr>
          <p:cNvPr id="10"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05376" y="4429244"/>
            <a:ext cx="393740" cy="393740"/>
          </a:xfrm>
          <a:prstGeom prst="rect">
            <a:avLst/>
          </a:prstGeom>
        </p:spPr>
      </p:pic>
      <p:sp>
        <p:nvSpPr>
          <p:cNvPr id="11" name="Text 6"/>
          <p:cNvSpPr/>
          <p:nvPr/>
        </p:nvSpPr>
        <p:spPr>
          <a:xfrm>
            <a:off x="1655326" y="4429244"/>
            <a:ext cx="4536877" cy="246102"/>
          </a:xfrm>
          <a:prstGeom prst="rect">
            <a:avLst/>
          </a:prstGeom>
          <a:noFill/>
          <a:ln/>
        </p:spPr>
        <p:txBody>
          <a:bodyPr wrap="none" lIns="0" tIns="0" rIns="0" bIns="0" rtlCol="0" anchor="t"/>
          <a:lstStyle/>
          <a:p>
            <a:pPr marL="0" indent="0" algn="l">
              <a:lnSpc>
                <a:spcPts val="1900"/>
              </a:lnSpc>
              <a:buNone/>
            </a:pPr>
            <a:r>
              <a:rPr lang="en-US" sz="1550" b="1" dirty="0">
                <a:solidFill>
                  <a:srgbClr val="443728"/>
                </a:solidFill>
                <a:latin typeface="Crimson Pro Bold" pitchFamily="34" charset="0"/>
                <a:ea typeface="Crimson Pro Bold" pitchFamily="34" charset="-122"/>
                <a:cs typeface="Crimson Pro Bold" pitchFamily="34" charset="-120"/>
              </a:rPr>
              <a:t>Follow the Three Levels — They're Already in Your Life</a:t>
            </a:r>
            <a:endParaRPr lang="en-US" sz="1550" dirty="0"/>
          </a:p>
        </p:txBody>
      </p:sp>
      <p:sp>
        <p:nvSpPr>
          <p:cNvPr id="12" name="Text 7"/>
          <p:cNvSpPr/>
          <p:nvPr/>
        </p:nvSpPr>
        <p:spPr>
          <a:xfrm>
            <a:off x="1655326" y="4750237"/>
            <a:ext cx="5581769" cy="1129903"/>
          </a:xfrm>
          <a:prstGeom prst="rect">
            <a:avLst/>
          </a:prstGeom>
          <a:noFill/>
          <a:ln/>
        </p:spPr>
        <p:txBody>
          <a:bodyPr wrap="square" lIns="0" tIns="0" rIns="0" bIns="0" rtlCol="0" anchor="t"/>
          <a:lstStyle/>
          <a:p>
            <a:pPr marL="0" indent="0" algn="l">
              <a:lnSpc>
                <a:spcPts val="1750"/>
              </a:lnSpc>
              <a:buNone/>
            </a:pPr>
            <a:r>
              <a:rPr lang="en-US" sz="1200" dirty="0">
                <a:solidFill>
                  <a:srgbClr val="443728"/>
                </a:solidFill>
                <a:latin typeface="Open Sans" pitchFamily="34" charset="0"/>
                <a:ea typeface="Open Sans" pitchFamily="34" charset="-122"/>
                <a:cs typeface="Open Sans" pitchFamily="34" charset="-120"/>
              </a:rPr>
              <a:t>Individual theories describe you — your personality, your motivation, your perception. Group theories describe your friendships, family, and teams. Organisational theories describe the schools, clubs, and institutions you've grown up inside. You've been navigating all three levels your whole life. This guide just gives you the vocabulary.</a:t>
            </a:r>
            <a:endParaRPr lang="en-US" sz="1200" dirty="0"/>
          </a:p>
        </p:txBody>
      </p:sp>
      <p:pic>
        <p:nvPicPr>
          <p:cNvPr id="13"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393305" y="4429244"/>
            <a:ext cx="393740" cy="393740"/>
          </a:xfrm>
          <a:prstGeom prst="rect">
            <a:avLst/>
          </a:prstGeom>
        </p:spPr>
      </p:pic>
      <p:sp>
        <p:nvSpPr>
          <p:cNvPr id="14" name="Text 8"/>
          <p:cNvSpPr/>
          <p:nvPr/>
        </p:nvSpPr>
        <p:spPr>
          <a:xfrm>
            <a:off x="7943255" y="4429244"/>
            <a:ext cx="2257187" cy="246102"/>
          </a:xfrm>
          <a:prstGeom prst="rect">
            <a:avLst/>
          </a:prstGeom>
          <a:noFill/>
          <a:ln/>
        </p:spPr>
        <p:txBody>
          <a:bodyPr wrap="none" lIns="0" tIns="0" rIns="0" bIns="0" rtlCol="0" anchor="t"/>
          <a:lstStyle/>
          <a:p>
            <a:pPr marL="0" indent="0" algn="l">
              <a:lnSpc>
                <a:spcPts val="1900"/>
              </a:lnSpc>
              <a:buNone/>
            </a:pPr>
            <a:r>
              <a:rPr lang="en-US" sz="1550" b="1" dirty="0">
                <a:solidFill>
                  <a:srgbClr val="443728"/>
                </a:solidFill>
                <a:latin typeface="Crimson Pro Bold" pitchFamily="34" charset="0"/>
                <a:ea typeface="Crimson Pro Bold" pitchFamily="34" charset="-122"/>
                <a:cs typeface="Crimson Pro Bold" pitchFamily="34" charset="-120"/>
              </a:rPr>
              <a:t>Revisit After Real Moments</a:t>
            </a:r>
            <a:endParaRPr lang="en-US" sz="1550" dirty="0"/>
          </a:p>
        </p:txBody>
      </p:sp>
      <p:sp>
        <p:nvSpPr>
          <p:cNvPr id="15" name="Text 9"/>
          <p:cNvSpPr/>
          <p:nvPr/>
        </p:nvSpPr>
        <p:spPr>
          <a:xfrm>
            <a:off x="7943255" y="4750237"/>
            <a:ext cx="5581769" cy="1129903"/>
          </a:xfrm>
          <a:prstGeom prst="rect">
            <a:avLst/>
          </a:prstGeom>
          <a:noFill/>
          <a:ln/>
        </p:spPr>
        <p:txBody>
          <a:bodyPr wrap="square" lIns="0" tIns="0" rIns="0" bIns="0" rtlCol="0" anchor="t"/>
          <a:lstStyle/>
          <a:p>
            <a:pPr marL="0" indent="0" algn="l">
              <a:lnSpc>
                <a:spcPts val="1750"/>
              </a:lnSpc>
              <a:buNone/>
            </a:pPr>
            <a:r>
              <a:rPr lang="en-US" sz="1200" dirty="0">
                <a:solidFill>
                  <a:srgbClr val="443728"/>
                </a:solidFill>
                <a:latin typeface="Open Sans" pitchFamily="34" charset="0"/>
                <a:ea typeface="Open Sans" pitchFamily="34" charset="-122"/>
                <a:cs typeface="Open Sans" pitchFamily="34" charset="-120"/>
              </a:rPr>
              <a:t>Come back to a theory after a real experience — a falling-out with a friend (Conflict &amp; Negotiation), a family decision that felt unfair (Equity Theory), a group that just clicked (Tuckman's Norming/Performing), a time you felt burnt out (JD-R Model). Theory becomes permanent when it's anchored to a memory.</a:t>
            </a:r>
            <a:endParaRPr lang="en-US" sz="1200" dirty="0"/>
          </a:p>
        </p:txBody>
      </p:sp>
      <p:sp>
        <p:nvSpPr>
          <p:cNvPr id="16" name="Shape 10"/>
          <p:cNvSpPr/>
          <p:nvPr/>
        </p:nvSpPr>
        <p:spPr>
          <a:xfrm>
            <a:off x="1105376" y="6020633"/>
            <a:ext cx="12419648" cy="1040844"/>
          </a:xfrm>
          <a:prstGeom prst="roundRect">
            <a:avLst>
              <a:gd name="adj" fmla="val 6355"/>
            </a:avLst>
          </a:prstGeom>
          <a:solidFill>
            <a:srgbClr val="E1D4D0"/>
          </a:solidFill>
          <a:ln/>
        </p:spPr>
        <p:txBody>
          <a:bodyPr/>
          <a:lstStyle/>
          <a:p>
            <a:endParaRPr lang="en-AU"/>
          </a:p>
        </p:txBody>
      </p:sp>
      <p:pic>
        <p:nvPicPr>
          <p:cNvPr id="17" name="Image 4" descr="preencoded.png"/>
          <p:cNvPicPr>
            <a:picLocks noChangeAspect="1"/>
          </p:cNvPicPr>
          <p:nvPr/>
        </p:nvPicPr>
        <p:blipFill>
          <a:blip r:embed="rId11"/>
          <a:stretch>
            <a:fillRect/>
          </a:stretch>
        </p:blipFill>
        <p:spPr>
          <a:xfrm>
            <a:off x="1262777" y="6247209"/>
            <a:ext cx="196810" cy="157401"/>
          </a:xfrm>
          <a:prstGeom prst="rect">
            <a:avLst/>
          </a:prstGeom>
        </p:spPr>
      </p:pic>
      <p:sp>
        <p:nvSpPr>
          <p:cNvPr id="18" name="Text 11"/>
          <p:cNvSpPr/>
          <p:nvPr/>
        </p:nvSpPr>
        <p:spPr>
          <a:xfrm>
            <a:off x="1616988" y="6184821"/>
            <a:ext cx="11750635" cy="685562"/>
          </a:xfrm>
          <a:prstGeom prst="rect">
            <a:avLst/>
          </a:prstGeom>
          <a:noFill/>
          <a:ln/>
        </p:spPr>
        <p:txBody>
          <a:bodyPr wrap="square" lIns="0" tIns="0" rIns="0" bIns="0" rtlCol="0" anchor="t"/>
          <a:lstStyle/>
          <a:p>
            <a:pPr marL="0" indent="0" algn="l">
              <a:lnSpc>
                <a:spcPts val="1750"/>
              </a:lnSpc>
              <a:buNone/>
            </a:pPr>
            <a:r>
              <a:rPr lang="en-US" sz="1200" dirty="0">
                <a:solidFill>
                  <a:srgbClr val="000000"/>
                </a:solidFill>
                <a:latin typeface="Open Sans" pitchFamily="34" charset="0"/>
                <a:ea typeface="Open Sans" pitchFamily="34" charset="-122"/>
                <a:cs typeface="Open Sans" pitchFamily="34" charset="-120"/>
              </a:rPr>
              <a:t>💡 </a:t>
            </a:r>
            <a:r>
              <a:rPr lang="en-US" sz="1200" b="1" dirty="0">
                <a:solidFill>
                  <a:srgbClr val="000000"/>
                </a:solidFill>
                <a:latin typeface="Open Sans" pitchFamily="34" charset="0"/>
                <a:ea typeface="Open Sans" pitchFamily="34" charset="-122"/>
                <a:cs typeface="Open Sans" pitchFamily="34" charset="-120"/>
              </a:rPr>
              <a:t>Study Tip:</a:t>
            </a:r>
            <a:r>
              <a:rPr lang="en-US" sz="1200" dirty="0">
                <a:solidFill>
                  <a:srgbClr val="000000"/>
                </a:solidFill>
                <a:latin typeface="Open Sans" pitchFamily="34" charset="0"/>
                <a:ea typeface="Open Sans" pitchFamily="34" charset="-122"/>
                <a:cs typeface="Open Sans" pitchFamily="34" charset="-120"/>
              </a:rPr>
              <a:t> The most powerful exam answers don't just define a theory — they show it in action. Practice explaining each theory using a personal example first (family, friends, school), then translate it to an organisational context. This two-step approach builds deeper understanding and produces far more compelling written responses.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3402449" y="272891"/>
            <a:ext cx="4281607"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Crimson Pro Bold" pitchFamily="34" charset="0"/>
                <a:ea typeface="Crimson Pro Bold" pitchFamily="34" charset="-122"/>
                <a:cs typeface="Crimson Pro Bold" pitchFamily="34" charset="-120"/>
              </a:rPr>
              <a:t>Quick Reference: All Theories at a Glance</a:t>
            </a:r>
            <a:endParaRPr lang="en-US" sz="1950" dirty="0"/>
          </a:p>
        </p:txBody>
      </p:sp>
      <p:sp>
        <p:nvSpPr>
          <p:cNvPr id="3" name="Text 1"/>
          <p:cNvSpPr/>
          <p:nvPr/>
        </p:nvSpPr>
        <p:spPr>
          <a:xfrm>
            <a:off x="3402449" y="682228"/>
            <a:ext cx="7825502"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Use this summary table as a revision tool and study companion. Each theory is mapped to its level of analysis, its author(s), and its core focus.</a:t>
            </a:r>
            <a:endParaRPr lang="en-US" sz="750" dirty="0"/>
          </a:p>
        </p:txBody>
      </p:sp>
      <p:sp>
        <p:nvSpPr>
          <p:cNvPr id="4" name="Shape 2"/>
          <p:cNvSpPr/>
          <p:nvPr/>
        </p:nvSpPr>
        <p:spPr>
          <a:xfrm>
            <a:off x="3402449" y="856893"/>
            <a:ext cx="7825502" cy="7236976"/>
          </a:xfrm>
          <a:prstGeom prst="roundRect">
            <a:avLst>
              <a:gd name="adj" fmla="val 576"/>
            </a:avLst>
          </a:prstGeom>
          <a:noFill/>
          <a:ln w="7620">
            <a:solidFill>
              <a:srgbClr val="000000">
                <a:alpha val="8000"/>
              </a:srgbClr>
            </a:solidFill>
            <a:prstDash val="solid"/>
          </a:ln>
        </p:spPr>
        <p:txBody>
          <a:bodyPr/>
          <a:lstStyle/>
          <a:p>
            <a:endParaRPr lang="en-AU"/>
          </a:p>
        </p:txBody>
      </p:sp>
      <p:sp>
        <p:nvSpPr>
          <p:cNvPr id="5" name="Shape 3"/>
          <p:cNvSpPr/>
          <p:nvPr/>
        </p:nvSpPr>
        <p:spPr>
          <a:xfrm>
            <a:off x="3410069" y="864513"/>
            <a:ext cx="7810262" cy="193715"/>
          </a:xfrm>
          <a:prstGeom prst="rect">
            <a:avLst/>
          </a:prstGeom>
          <a:solidFill>
            <a:srgbClr val="FFFFFF">
              <a:alpha val="4000"/>
            </a:srgbClr>
          </a:solidFill>
          <a:ln/>
        </p:spPr>
        <p:txBody>
          <a:bodyPr/>
          <a:lstStyle/>
          <a:p>
            <a:endParaRPr lang="en-AU"/>
          </a:p>
        </p:txBody>
      </p:sp>
      <p:sp>
        <p:nvSpPr>
          <p:cNvPr id="6" name="Text 4"/>
          <p:cNvSpPr/>
          <p:nvPr/>
        </p:nvSpPr>
        <p:spPr>
          <a:xfrm>
            <a:off x="3509486" y="901898"/>
            <a:ext cx="1359813" cy="118943"/>
          </a:xfrm>
          <a:prstGeom prst="rect">
            <a:avLst/>
          </a:prstGeom>
          <a:noFill/>
          <a:ln/>
        </p:spPr>
        <p:txBody>
          <a:bodyPr wrap="none" lIns="0" tIns="0" rIns="0" bIns="0" rtlCol="0" anchor="t"/>
          <a:lstStyle/>
          <a:p>
            <a:pPr marL="0" indent="0" algn="l">
              <a:lnSpc>
                <a:spcPts val="900"/>
              </a:lnSpc>
              <a:buNone/>
            </a:pPr>
            <a:r>
              <a:rPr lang="en-US" sz="750" b="1" dirty="0">
                <a:solidFill>
                  <a:srgbClr val="443728"/>
                </a:solidFill>
                <a:latin typeface="Open Sans" pitchFamily="34" charset="0"/>
                <a:ea typeface="Open Sans" pitchFamily="34" charset="-122"/>
                <a:cs typeface="Open Sans" pitchFamily="34" charset="-120"/>
              </a:rPr>
              <a:t>Level</a:t>
            </a:r>
            <a:endParaRPr lang="en-US" sz="750" dirty="0"/>
          </a:p>
        </p:txBody>
      </p:sp>
      <p:sp>
        <p:nvSpPr>
          <p:cNvPr id="7" name="Text 5"/>
          <p:cNvSpPr/>
          <p:nvPr/>
        </p:nvSpPr>
        <p:spPr>
          <a:xfrm>
            <a:off x="5075277" y="901898"/>
            <a:ext cx="1356003" cy="118943"/>
          </a:xfrm>
          <a:prstGeom prst="rect">
            <a:avLst/>
          </a:prstGeom>
          <a:noFill/>
          <a:ln/>
        </p:spPr>
        <p:txBody>
          <a:bodyPr wrap="none" lIns="0" tIns="0" rIns="0" bIns="0" rtlCol="0" anchor="t"/>
          <a:lstStyle/>
          <a:p>
            <a:pPr marL="0" indent="0" algn="l">
              <a:lnSpc>
                <a:spcPts val="900"/>
              </a:lnSpc>
              <a:buNone/>
            </a:pPr>
            <a:r>
              <a:rPr lang="en-US" sz="750" b="1" dirty="0">
                <a:solidFill>
                  <a:srgbClr val="443728"/>
                </a:solidFill>
                <a:latin typeface="Open Sans" pitchFamily="34" charset="0"/>
                <a:ea typeface="Open Sans" pitchFamily="34" charset="-122"/>
                <a:cs typeface="Open Sans" pitchFamily="34" charset="-120"/>
              </a:rPr>
              <a:t>Topic</a:t>
            </a:r>
            <a:endParaRPr lang="en-US" sz="750" dirty="0"/>
          </a:p>
        </p:txBody>
      </p:sp>
      <p:sp>
        <p:nvSpPr>
          <p:cNvPr id="8" name="Text 6"/>
          <p:cNvSpPr/>
          <p:nvPr/>
        </p:nvSpPr>
        <p:spPr>
          <a:xfrm>
            <a:off x="6637258" y="901898"/>
            <a:ext cx="1746528" cy="118943"/>
          </a:xfrm>
          <a:prstGeom prst="rect">
            <a:avLst/>
          </a:prstGeom>
          <a:noFill/>
          <a:ln/>
        </p:spPr>
        <p:txBody>
          <a:bodyPr wrap="none" lIns="0" tIns="0" rIns="0" bIns="0" rtlCol="0" anchor="t"/>
          <a:lstStyle/>
          <a:p>
            <a:pPr marL="0" indent="0" algn="l">
              <a:lnSpc>
                <a:spcPts val="900"/>
              </a:lnSpc>
              <a:buNone/>
            </a:pPr>
            <a:r>
              <a:rPr lang="en-US" sz="750" b="1" dirty="0">
                <a:solidFill>
                  <a:srgbClr val="443728"/>
                </a:solidFill>
                <a:latin typeface="Open Sans" pitchFamily="34" charset="0"/>
                <a:ea typeface="Open Sans" pitchFamily="34" charset="-122"/>
                <a:cs typeface="Open Sans" pitchFamily="34" charset="-120"/>
              </a:rPr>
              <a:t>Theory / Model</a:t>
            </a:r>
            <a:endParaRPr lang="en-US" sz="750" dirty="0"/>
          </a:p>
        </p:txBody>
      </p:sp>
      <p:sp>
        <p:nvSpPr>
          <p:cNvPr id="9" name="Text 7"/>
          <p:cNvSpPr/>
          <p:nvPr/>
        </p:nvSpPr>
        <p:spPr>
          <a:xfrm>
            <a:off x="8589764" y="901898"/>
            <a:ext cx="2531388" cy="118943"/>
          </a:xfrm>
          <a:prstGeom prst="rect">
            <a:avLst/>
          </a:prstGeom>
          <a:noFill/>
          <a:ln/>
        </p:spPr>
        <p:txBody>
          <a:bodyPr wrap="none" lIns="0" tIns="0" rIns="0" bIns="0" rtlCol="0" anchor="t"/>
          <a:lstStyle/>
          <a:p>
            <a:pPr marL="0" indent="0" algn="l">
              <a:lnSpc>
                <a:spcPts val="900"/>
              </a:lnSpc>
              <a:buNone/>
            </a:pPr>
            <a:r>
              <a:rPr lang="en-US" sz="750" b="1" dirty="0">
                <a:solidFill>
                  <a:srgbClr val="443728"/>
                </a:solidFill>
                <a:latin typeface="Open Sans" pitchFamily="34" charset="0"/>
                <a:ea typeface="Open Sans" pitchFamily="34" charset="-122"/>
                <a:cs typeface="Open Sans" pitchFamily="34" charset="-120"/>
              </a:rPr>
              <a:t>Core Idea</a:t>
            </a:r>
            <a:endParaRPr lang="en-US" sz="750" dirty="0"/>
          </a:p>
        </p:txBody>
      </p:sp>
      <p:sp>
        <p:nvSpPr>
          <p:cNvPr id="10" name="Shape 8"/>
          <p:cNvSpPr/>
          <p:nvPr/>
        </p:nvSpPr>
        <p:spPr>
          <a:xfrm>
            <a:off x="3410069" y="1058228"/>
            <a:ext cx="7810262" cy="312658"/>
          </a:xfrm>
          <a:prstGeom prst="rect">
            <a:avLst/>
          </a:prstGeom>
          <a:solidFill>
            <a:srgbClr val="000000">
              <a:alpha val="4000"/>
            </a:srgbClr>
          </a:solidFill>
          <a:ln/>
        </p:spPr>
        <p:txBody>
          <a:bodyPr/>
          <a:lstStyle/>
          <a:p>
            <a:endParaRPr lang="en-AU"/>
          </a:p>
        </p:txBody>
      </p:sp>
      <p:sp>
        <p:nvSpPr>
          <p:cNvPr id="11" name="Text 9"/>
          <p:cNvSpPr/>
          <p:nvPr/>
        </p:nvSpPr>
        <p:spPr>
          <a:xfrm>
            <a:off x="3509486" y="1095613"/>
            <a:ext cx="1359813"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Individual</a:t>
            </a:r>
            <a:endParaRPr lang="en-US" sz="750" dirty="0"/>
          </a:p>
        </p:txBody>
      </p:sp>
      <p:sp>
        <p:nvSpPr>
          <p:cNvPr id="12" name="Text 10"/>
          <p:cNvSpPr/>
          <p:nvPr/>
        </p:nvSpPr>
        <p:spPr>
          <a:xfrm>
            <a:off x="5075277" y="1095613"/>
            <a:ext cx="1356003"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Motivation</a:t>
            </a:r>
            <a:endParaRPr lang="en-US" sz="750" dirty="0"/>
          </a:p>
        </p:txBody>
      </p:sp>
      <p:sp>
        <p:nvSpPr>
          <p:cNvPr id="13" name="Text 11"/>
          <p:cNvSpPr/>
          <p:nvPr/>
        </p:nvSpPr>
        <p:spPr>
          <a:xfrm>
            <a:off x="6637258" y="1095613"/>
            <a:ext cx="1746528"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Maslow's Hierarchy</a:t>
            </a:r>
            <a:endParaRPr lang="en-US" sz="750" dirty="0"/>
          </a:p>
        </p:txBody>
      </p:sp>
      <p:sp>
        <p:nvSpPr>
          <p:cNvPr id="14" name="Text 12"/>
          <p:cNvSpPr/>
          <p:nvPr/>
        </p:nvSpPr>
        <p:spPr>
          <a:xfrm>
            <a:off x="8589764" y="1095613"/>
            <a:ext cx="2531388" cy="237887"/>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Five-level pyramid of needs — lower needs must be met first</a:t>
            </a:r>
            <a:endParaRPr lang="en-US" sz="750" dirty="0"/>
          </a:p>
        </p:txBody>
      </p:sp>
      <p:sp>
        <p:nvSpPr>
          <p:cNvPr id="15" name="Shape 13"/>
          <p:cNvSpPr/>
          <p:nvPr/>
        </p:nvSpPr>
        <p:spPr>
          <a:xfrm>
            <a:off x="3410069" y="1370886"/>
            <a:ext cx="7810262" cy="312658"/>
          </a:xfrm>
          <a:prstGeom prst="rect">
            <a:avLst/>
          </a:prstGeom>
          <a:solidFill>
            <a:srgbClr val="FFFFFF">
              <a:alpha val="4000"/>
            </a:srgbClr>
          </a:solidFill>
          <a:ln/>
        </p:spPr>
        <p:txBody>
          <a:bodyPr/>
          <a:lstStyle/>
          <a:p>
            <a:endParaRPr lang="en-AU"/>
          </a:p>
        </p:txBody>
      </p:sp>
      <p:sp>
        <p:nvSpPr>
          <p:cNvPr id="16" name="Text 14"/>
          <p:cNvSpPr/>
          <p:nvPr/>
        </p:nvSpPr>
        <p:spPr>
          <a:xfrm>
            <a:off x="3509486" y="1408271"/>
            <a:ext cx="1359813"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Individual</a:t>
            </a:r>
            <a:endParaRPr lang="en-US" sz="750" dirty="0"/>
          </a:p>
        </p:txBody>
      </p:sp>
      <p:sp>
        <p:nvSpPr>
          <p:cNvPr id="17" name="Text 15"/>
          <p:cNvSpPr/>
          <p:nvPr/>
        </p:nvSpPr>
        <p:spPr>
          <a:xfrm>
            <a:off x="5075277" y="1408271"/>
            <a:ext cx="1356003"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Motivation</a:t>
            </a:r>
            <a:endParaRPr lang="en-US" sz="750" dirty="0"/>
          </a:p>
        </p:txBody>
      </p:sp>
      <p:sp>
        <p:nvSpPr>
          <p:cNvPr id="18" name="Text 16"/>
          <p:cNvSpPr/>
          <p:nvPr/>
        </p:nvSpPr>
        <p:spPr>
          <a:xfrm>
            <a:off x="6637258" y="1408271"/>
            <a:ext cx="1746528"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Herzberg Two-Factor</a:t>
            </a:r>
            <a:endParaRPr lang="en-US" sz="750" dirty="0"/>
          </a:p>
        </p:txBody>
      </p:sp>
      <p:sp>
        <p:nvSpPr>
          <p:cNvPr id="19" name="Text 17"/>
          <p:cNvSpPr/>
          <p:nvPr/>
        </p:nvSpPr>
        <p:spPr>
          <a:xfrm>
            <a:off x="8589764" y="1408271"/>
            <a:ext cx="2531388" cy="237887"/>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Hygiene factors prevent dissatisfaction; motivators create satisfaction</a:t>
            </a:r>
            <a:endParaRPr lang="en-US" sz="750" dirty="0"/>
          </a:p>
        </p:txBody>
      </p:sp>
      <p:sp>
        <p:nvSpPr>
          <p:cNvPr id="20" name="Shape 18"/>
          <p:cNvSpPr/>
          <p:nvPr/>
        </p:nvSpPr>
        <p:spPr>
          <a:xfrm>
            <a:off x="3410069" y="1683544"/>
            <a:ext cx="7810262" cy="193715"/>
          </a:xfrm>
          <a:prstGeom prst="rect">
            <a:avLst/>
          </a:prstGeom>
          <a:solidFill>
            <a:srgbClr val="000000">
              <a:alpha val="4000"/>
            </a:srgbClr>
          </a:solidFill>
          <a:ln/>
        </p:spPr>
        <p:txBody>
          <a:bodyPr/>
          <a:lstStyle/>
          <a:p>
            <a:endParaRPr lang="en-AU"/>
          </a:p>
        </p:txBody>
      </p:sp>
      <p:sp>
        <p:nvSpPr>
          <p:cNvPr id="21" name="Text 19"/>
          <p:cNvSpPr/>
          <p:nvPr/>
        </p:nvSpPr>
        <p:spPr>
          <a:xfrm>
            <a:off x="3509486" y="1720929"/>
            <a:ext cx="1359813"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Individual</a:t>
            </a:r>
            <a:endParaRPr lang="en-US" sz="750" dirty="0"/>
          </a:p>
        </p:txBody>
      </p:sp>
      <p:sp>
        <p:nvSpPr>
          <p:cNvPr id="22" name="Text 20"/>
          <p:cNvSpPr/>
          <p:nvPr/>
        </p:nvSpPr>
        <p:spPr>
          <a:xfrm>
            <a:off x="5075277" y="1720929"/>
            <a:ext cx="1356003"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Motivation</a:t>
            </a:r>
            <a:endParaRPr lang="en-US" sz="750" dirty="0"/>
          </a:p>
        </p:txBody>
      </p:sp>
      <p:sp>
        <p:nvSpPr>
          <p:cNvPr id="23" name="Text 21"/>
          <p:cNvSpPr/>
          <p:nvPr/>
        </p:nvSpPr>
        <p:spPr>
          <a:xfrm>
            <a:off x="6637258" y="1720929"/>
            <a:ext cx="1746528"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Vroom's Expectancy</a:t>
            </a:r>
            <a:endParaRPr lang="en-US" sz="750" dirty="0"/>
          </a:p>
        </p:txBody>
      </p:sp>
      <p:sp>
        <p:nvSpPr>
          <p:cNvPr id="24" name="Text 22"/>
          <p:cNvSpPr/>
          <p:nvPr/>
        </p:nvSpPr>
        <p:spPr>
          <a:xfrm>
            <a:off x="8589764" y="1720929"/>
            <a:ext cx="2531388"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Motivation = Expectancy × Instrumentality × Valence</a:t>
            </a:r>
            <a:endParaRPr lang="en-US" sz="750" dirty="0"/>
          </a:p>
        </p:txBody>
      </p:sp>
      <p:sp>
        <p:nvSpPr>
          <p:cNvPr id="25" name="Shape 23"/>
          <p:cNvSpPr/>
          <p:nvPr/>
        </p:nvSpPr>
        <p:spPr>
          <a:xfrm>
            <a:off x="3410069" y="1877258"/>
            <a:ext cx="7810262" cy="312658"/>
          </a:xfrm>
          <a:prstGeom prst="rect">
            <a:avLst/>
          </a:prstGeom>
          <a:solidFill>
            <a:srgbClr val="FFFFFF">
              <a:alpha val="4000"/>
            </a:srgbClr>
          </a:solidFill>
          <a:ln/>
        </p:spPr>
        <p:txBody>
          <a:bodyPr/>
          <a:lstStyle/>
          <a:p>
            <a:endParaRPr lang="en-AU"/>
          </a:p>
        </p:txBody>
      </p:sp>
      <p:sp>
        <p:nvSpPr>
          <p:cNvPr id="26" name="Text 24"/>
          <p:cNvSpPr/>
          <p:nvPr/>
        </p:nvSpPr>
        <p:spPr>
          <a:xfrm>
            <a:off x="3509486" y="1914644"/>
            <a:ext cx="1359813"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Individual</a:t>
            </a:r>
            <a:endParaRPr lang="en-US" sz="750" dirty="0"/>
          </a:p>
        </p:txBody>
      </p:sp>
      <p:sp>
        <p:nvSpPr>
          <p:cNvPr id="27" name="Text 25"/>
          <p:cNvSpPr/>
          <p:nvPr/>
        </p:nvSpPr>
        <p:spPr>
          <a:xfrm>
            <a:off x="5075277" y="1914644"/>
            <a:ext cx="1356003"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Motivation</a:t>
            </a:r>
            <a:endParaRPr lang="en-US" sz="750" dirty="0"/>
          </a:p>
        </p:txBody>
      </p:sp>
      <p:sp>
        <p:nvSpPr>
          <p:cNvPr id="28" name="Text 26"/>
          <p:cNvSpPr/>
          <p:nvPr/>
        </p:nvSpPr>
        <p:spPr>
          <a:xfrm>
            <a:off x="6637258" y="1914644"/>
            <a:ext cx="1746528"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Adams' Equity Theory</a:t>
            </a:r>
            <a:endParaRPr lang="en-US" sz="750" dirty="0"/>
          </a:p>
        </p:txBody>
      </p:sp>
      <p:sp>
        <p:nvSpPr>
          <p:cNvPr id="29" name="Text 27"/>
          <p:cNvSpPr/>
          <p:nvPr/>
        </p:nvSpPr>
        <p:spPr>
          <a:xfrm>
            <a:off x="8589764" y="1914644"/>
            <a:ext cx="2531388" cy="237887"/>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People compare input/outcome ratios and act to restore fairness</a:t>
            </a:r>
            <a:endParaRPr lang="en-US" sz="750" dirty="0"/>
          </a:p>
        </p:txBody>
      </p:sp>
      <p:sp>
        <p:nvSpPr>
          <p:cNvPr id="30" name="Shape 28"/>
          <p:cNvSpPr/>
          <p:nvPr/>
        </p:nvSpPr>
        <p:spPr>
          <a:xfrm>
            <a:off x="3410069" y="2189917"/>
            <a:ext cx="7810262" cy="193715"/>
          </a:xfrm>
          <a:prstGeom prst="rect">
            <a:avLst/>
          </a:prstGeom>
          <a:solidFill>
            <a:srgbClr val="000000">
              <a:alpha val="4000"/>
            </a:srgbClr>
          </a:solidFill>
          <a:ln/>
        </p:spPr>
        <p:txBody>
          <a:bodyPr/>
          <a:lstStyle/>
          <a:p>
            <a:endParaRPr lang="en-AU"/>
          </a:p>
        </p:txBody>
      </p:sp>
      <p:sp>
        <p:nvSpPr>
          <p:cNvPr id="31" name="Text 29"/>
          <p:cNvSpPr/>
          <p:nvPr/>
        </p:nvSpPr>
        <p:spPr>
          <a:xfrm>
            <a:off x="3509486" y="2227302"/>
            <a:ext cx="1359813"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Individual</a:t>
            </a:r>
            <a:endParaRPr lang="en-US" sz="750" dirty="0"/>
          </a:p>
        </p:txBody>
      </p:sp>
      <p:sp>
        <p:nvSpPr>
          <p:cNvPr id="32" name="Text 30"/>
          <p:cNvSpPr/>
          <p:nvPr/>
        </p:nvSpPr>
        <p:spPr>
          <a:xfrm>
            <a:off x="5075277" y="2227302"/>
            <a:ext cx="1356003"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Personality</a:t>
            </a:r>
            <a:endParaRPr lang="en-US" sz="750" dirty="0"/>
          </a:p>
        </p:txBody>
      </p:sp>
      <p:sp>
        <p:nvSpPr>
          <p:cNvPr id="33" name="Text 31"/>
          <p:cNvSpPr/>
          <p:nvPr/>
        </p:nvSpPr>
        <p:spPr>
          <a:xfrm>
            <a:off x="6637258" y="2227302"/>
            <a:ext cx="1746528"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Big Five (OCEAN)</a:t>
            </a:r>
            <a:endParaRPr lang="en-US" sz="750" dirty="0"/>
          </a:p>
        </p:txBody>
      </p:sp>
      <p:sp>
        <p:nvSpPr>
          <p:cNvPr id="34" name="Text 32"/>
          <p:cNvSpPr/>
          <p:nvPr/>
        </p:nvSpPr>
        <p:spPr>
          <a:xfrm>
            <a:off x="8589764" y="2227302"/>
            <a:ext cx="2531388"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Five stable trait dimensions predicting work behaviour</a:t>
            </a:r>
            <a:endParaRPr lang="en-US" sz="750" dirty="0"/>
          </a:p>
        </p:txBody>
      </p:sp>
      <p:sp>
        <p:nvSpPr>
          <p:cNvPr id="35" name="Shape 33"/>
          <p:cNvSpPr/>
          <p:nvPr/>
        </p:nvSpPr>
        <p:spPr>
          <a:xfrm>
            <a:off x="3410069" y="2383631"/>
            <a:ext cx="7810262" cy="312658"/>
          </a:xfrm>
          <a:prstGeom prst="rect">
            <a:avLst/>
          </a:prstGeom>
          <a:solidFill>
            <a:srgbClr val="FFFFFF">
              <a:alpha val="4000"/>
            </a:srgbClr>
          </a:solidFill>
          <a:ln/>
        </p:spPr>
        <p:txBody>
          <a:bodyPr/>
          <a:lstStyle/>
          <a:p>
            <a:endParaRPr lang="en-AU"/>
          </a:p>
        </p:txBody>
      </p:sp>
      <p:sp>
        <p:nvSpPr>
          <p:cNvPr id="36" name="Text 34"/>
          <p:cNvSpPr/>
          <p:nvPr/>
        </p:nvSpPr>
        <p:spPr>
          <a:xfrm>
            <a:off x="3509486" y="2421017"/>
            <a:ext cx="1359813"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Individual</a:t>
            </a:r>
            <a:endParaRPr lang="en-US" sz="750" dirty="0"/>
          </a:p>
        </p:txBody>
      </p:sp>
      <p:sp>
        <p:nvSpPr>
          <p:cNvPr id="37" name="Text 35"/>
          <p:cNvSpPr/>
          <p:nvPr/>
        </p:nvSpPr>
        <p:spPr>
          <a:xfrm>
            <a:off x="5075277" y="2421017"/>
            <a:ext cx="1356003"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Perception</a:t>
            </a:r>
            <a:endParaRPr lang="en-US" sz="750" dirty="0"/>
          </a:p>
        </p:txBody>
      </p:sp>
      <p:sp>
        <p:nvSpPr>
          <p:cNvPr id="38" name="Text 36"/>
          <p:cNvSpPr/>
          <p:nvPr/>
        </p:nvSpPr>
        <p:spPr>
          <a:xfrm>
            <a:off x="6637258" y="2421017"/>
            <a:ext cx="1746528"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Attribution Theory</a:t>
            </a:r>
            <a:endParaRPr lang="en-US" sz="750" dirty="0"/>
          </a:p>
        </p:txBody>
      </p:sp>
      <p:sp>
        <p:nvSpPr>
          <p:cNvPr id="39" name="Text 37"/>
          <p:cNvSpPr/>
          <p:nvPr/>
        </p:nvSpPr>
        <p:spPr>
          <a:xfrm>
            <a:off x="8589764" y="2421017"/>
            <a:ext cx="2531388" cy="237887"/>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Internal vs. external causes of behaviour; fundamental attribution error</a:t>
            </a:r>
            <a:endParaRPr lang="en-US" sz="750" dirty="0"/>
          </a:p>
        </p:txBody>
      </p:sp>
      <p:sp>
        <p:nvSpPr>
          <p:cNvPr id="40" name="Shape 38"/>
          <p:cNvSpPr/>
          <p:nvPr/>
        </p:nvSpPr>
        <p:spPr>
          <a:xfrm>
            <a:off x="3410069" y="2696289"/>
            <a:ext cx="7810262" cy="193715"/>
          </a:xfrm>
          <a:prstGeom prst="rect">
            <a:avLst/>
          </a:prstGeom>
          <a:solidFill>
            <a:srgbClr val="000000">
              <a:alpha val="4000"/>
            </a:srgbClr>
          </a:solidFill>
          <a:ln/>
        </p:spPr>
        <p:txBody>
          <a:bodyPr/>
          <a:lstStyle/>
          <a:p>
            <a:endParaRPr lang="en-AU"/>
          </a:p>
        </p:txBody>
      </p:sp>
      <p:sp>
        <p:nvSpPr>
          <p:cNvPr id="41" name="Text 39"/>
          <p:cNvSpPr/>
          <p:nvPr/>
        </p:nvSpPr>
        <p:spPr>
          <a:xfrm>
            <a:off x="3509486" y="2733675"/>
            <a:ext cx="1359813"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Individual</a:t>
            </a:r>
            <a:endParaRPr lang="en-US" sz="750" dirty="0"/>
          </a:p>
        </p:txBody>
      </p:sp>
      <p:sp>
        <p:nvSpPr>
          <p:cNvPr id="42" name="Text 40"/>
          <p:cNvSpPr/>
          <p:nvPr/>
        </p:nvSpPr>
        <p:spPr>
          <a:xfrm>
            <a:off x="5075277" y="2733675"/>
            <a:ext cx="1356003"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Learning</a:t>
            </a:r>
            <a:endParaRPr lang="en-US" sz="750" dirty="0"/>
          </a:p>
        </p:txBody>
      </p:sp>
      <p:sp>
        <p:nvSpPr>
          <p:cNvPr id="43" name="Text 41"/>
          <p:cNvSpPr/>
          <p:nvPr/>
        </p:nvSpPr>
        <p:spPr>
          <a:xfrm>
            <a:off x="6637258" y="2733675"/>
            <a:ext cx="1746528"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Bandura Social Learning</a:t>
            </a:r>
            <a:endParaRPr lang="en-US" sz="750" dirty="0"/>
          </a:p>
        </p:txBody>
      </p:sp>
      <p:sp>
        <p:nvSpPr>
          <p:cNvPr id="44" name="Text 42"/>
          <p:cNvSpPr/>
          <p:nvPr/>
        </p:nvSpPr>
        <p:spPr>
          <a:xfrm>
            <a:off x="8589764" y="2733675"/>
            <a:ext cx="2531388"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People learn by observing and modelling others</a:t>
            </a:r>
            <a:endParaRPr lang="en-US" sz="750" dirty="0"/>
          </a:p>
        </p:txBody>
      </p:sp>
      <p:sp>
        <p:nvSpPr>
          <p:cNvPr id="45" name="Shape 43"/>
          <p:cNvSpPr/>
          <p:nvPr/>
        </p:nvSpPr>
        <p:spPr>
          <a:xfrm>
            <a:off x="3410069" y="2890004"/>
            <a:ext cx="7810262" cy="312658"/>
          </a:xfrm>
          <a:prstGeom prst="rect">
            <a:avLst/>
          </a:prstGeom>
          <a:solidFill>
            <a:srgbClr val="FFFFFF">
              <a:alpha val="4000"/>
            </a:srgbClr>
          </a:solidFill>
          <a:ln/>
        </p:spPr>
        <p:txBody>
          <a:bodyPr/>
          <a:lstStyle/>
          <a:p>
            <a:endParaRPr lang="en-AU"/>
          </a:p>
        </p:txBody>
      </p:sp>
      <p:sp>
        <p:nvSpPr>
          <p:cNvPr id="46" name="Text 44"/>
          <p:cNvSpPr/>
          <p:nvPr/>
        </p:nvSpPr>
        <p:spPr>
          <a:xfrm>
            <a:off x="3509486" y="2927390"/>
            <a:ext cx="1359813"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Individual</a:t>
            </a:r>
            <a:endParaRPr lang="en-US" sz="750" dirty="0"/>
          </a:p>
        </p:txBody>
      </p:sp>
      <p:sp>
        <p:nvSpPr>
          <p:cNvPr id="47" name="Text 45"/>
          <p:cNvSpPr/>
          <p:nvPr/>
        </p:nvSpPr>
        <p:spPr>
          <a:xfrm>
            <a:off x="5075277" y="2927390"/>
            <a:ext cx="1356003"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Ethics</a:t>
            </a:r>
            <a:endParaRPr lang="en-US" sz="750" dirty="0"/>
          </a:p>
        </p:txBody>
      </p:sp>
      <p:sp>
        <p:nvSpPr>
          <p:cNvPr id="48" name="Text 46"/>
          <p:cNvSpPr/>
          <p:nvPr/>
        </p:nvSpPr>
        <p:spPr>
          <a:xfrm>
            <a:off x="6637258" y="2927390"/>
            <a:ext cx="1746528"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Kohlberg's Moral Development</a:t>
            </a:r>
            <a:endParaRPr lang="en-US" sz="750" dirty="0"/>
          </a:p>
        </p:txBody>
      </p:sp>
      <p:sp>
        <p:nvSpPr>
          <p:cNvPr id="49" name="Text 47"/>
          <p:cNvSpPr/>
          <p:nvPr/>
        </p:nvSpPr>
        <p:spPr>
          <a:xfrm>
            <a:off x="8589764" y="2927390"/>
            <a:ext cx="2531388" cy="237887"/>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Three levels of moral reasoning: Pre-conventional → Conventional → Post-conventional</a:t>
            </a:r>
            <a:endParaRPr lang="en-US" sz="750" dirty="0"/>
          </a:p>
        </p:txBody>
      </p:sp>
      <p:sp>
        <p:nvSpPr>
          <p:cNvPr id="50" name="Shape 48"/>
          <p:cNvSpPr/>
          <p:nvPr/>
        </p:nvSpPr>
        <p:spPr>
          <a:xfrm>
            <a:off x="3410069" y="3202662"/>
            <a:ext cx="7810262" cy="312658"/>
          </a:xfrm>
          <a:prstGeom prst="rect">
            <a:avLst/>
          </a:prstGeom>
          <a:solidFill>
            <a:srgbClr val="000000">
              <a:alpha val="4000"/>
            </a:srgbClr>
          </a:solidFill>
          <a:ln/>
        </p:spPr>
        <p:txBody>
          <a:bodyPr/>
          <a:lstStyle/>
          <a:p>
            <a:endParaRPr lang="en-AU"/>
          </a:p>
        </p:txBody>
      </p:sp>
      <p:sp>
        <p:nvSpPr>
          <p:cNvPr id="51" name="Text 49"/>
          <p:cNvSpPr/>
          <p:nvPr/>
        </p:nvSpPr>
        <p:spPr>
          <a:xfrm>
            <a:off x="3509486" y="3240048"/>
            <a:ext cx="1359813"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Individual</a:t>
            </a:r>
            <a:endParaRPr lang="en-US" sz="750" dirty="0"/>
          </a:p>
        </p:txBody>
      </p:sp>
      <p:sp>
        <p:nvSpPr>
          <p:cNvPr id="52" name="Text 50"/>
          <p:cNvSpPr/>
          <p:nvPr/>
        </p:nvSpPr>
        <p:spPr>
          <a:xfrm>
            <a:off x="5075277" y="3240048"/>
            <a:ext cx="1356003"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Ethics</a:t>
            </a:r>
            <a:endParaRPr lang="en-US" sz="750" dirty="0"/>
          </a:p>
        </p:txBody>
      </p:sp>
      <p:sp>
        <p:nvSpPr>
          <p:cNvPr id="53" name="Text 51"/>
          <p:cNvSpPr/>
          <p:nvPr/>
        </p:nvSpPr>
        <p:spPr>
          <a:xfrm>
            <a:off x="6637258" y="3240048"/>
            <a:ext cx="1746528"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Utilitarianism (Bentham &amp; Mill)</a:t>
            </a:r>
            <a:endParaRPr lang="en-US" sz="750" dirty="0"/>
          </a:p>
        </p:txBody>
      </p:sp>
      <p:sp>
        <p:nvSpPr>
          <p:cNvPr id="54" name="Text 52"/>
          <p:cNvSpPr/>
          <p:nvPr/>
        </p:nvSpPr>
        <p:spPr>
          <a:xfrm>
            <a:off x="8589764" y="3240048"/>
            <a:ext cx="2531388" cy="237887"/>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Greatest good for the greatest number — outcomes-based moral reasoning</a:t>
            </a:r>
            <a:endParaRPr lang="en-US" sz="750" dirty="0"/>
          </a:p>
        </p:txBody>
      </p:sp>
      <p:sp>
        <p:nvSpPr>
          <p:cNvPr id="55" name="Shape 53"/>
          <p:cNvSpPr/>
          <p:nvPr/>
        </p:nvSpPr>
        <p:spPr>
          <a:xfrm>
            <a:off x="3410069" y="3515320"/>
            <a:ext cx="7810262" cy="312658"/>
          </a:xfrm>
          <a:prstGeom prst="rect">
            <a:avLst/>
          </a:prstGeom>
          <a:solidFill>
            <a:srgbClr val="FFFFFF">
              <a:alpha val="4000"/>
            </a:srgbClr>
          </a:solidFill>
          <a:ln/>
        </p:spPr>
        <p:txBody>
          <a:bodyPr/>
          <a:lstStyle/>
          <a:p>
            <a:endParaRPr lang="en-AU"/>
          </a:p>
        </p:txBody>
      </p:sp>
      <p:sp>
        <p:nvSpPr>
          <p:cNvPr id="56" name="Text 54"/>
          <p:cNvSpPr/>
          <p:nvPr/>
        </p:nvSpPr>
        <p:spPr>
          <a:xfrm>
            <a:off x="3509486" y="3552706"/>
            <a:ext cx="1359813"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Individual</a:t>
            </a:r>
            <a:endParaRPr lang="en-US" sz="750" dirty="0"/>
          </a:p>
        </p:txBody>
      </p:sp>
      <p:sp>
        <p:nvSpPr>
          <p:cNvPr id="57" name="Text 55"/>
          <p:cNvSpPr/>
          <p:nvPr/>
        </p:nvSpPr>
        <p:spPr>
          <a:xfrm>
            <a:off x="5075277" y="3552706"/>
            <a:ext cx="1356003"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Ethics</a:t>
            </a:r>
            <a:endParaRPr lang="en-US" sz="750" dirty="0"/>
          </a:p>
        </p:txBody>
      </p:sp>
      <p:sp>
        <p:nvSpPr>
          <p:cNvPr id="58" name="Text 56"/>
          <p:cNvSpPr/>
          <p:nvPr/>
        </p:nvSpPr>
        <p:spPr>
          <a:xfrm>
            <a:off x="6637258" y="3552706"/>
            <a:ext cx="1746528"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Deontological Ethics (Kant)</a:t>
            </a:r>
            <a:endParaRPr lang="en-US" sz="750" dirty="0"/>
          </a:p>
        </p:txBody>
      </p:sp>
      <p:sp>
        <p:nvSpPr>
          <p:cNvPr id="59" name="Text 57"/>
          <p:cNvSpPr/>
          <p:nvPr/>
        </p:nvSpPr>
        <p:spPr>
          <a:xfrm>
            <a:off x="8589764" y="3552706"/>
            <a:ext cx="2531388" cy="237887"/>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Actions are intrinsically right/wrong; Categorical Imperative — treat people as ends, not means</a:t>
            </a:r>
            <a:endParaRPr lang="en-US" sz="750" dirty="0"/>
          </a:p>
        </p:txBody>
      </p:sp>
      <p:sp>
        <p:nvSpPr>
          <p:cNvPr id="60" name="Shape 58"/>
          <p:cNvSpPr/>
          <p:nvPr/>
        </p:nvSpPr>
        <p:spPr>
          <a:xfrm>
            <a:off x="3410069" y="3827978"/>
            <a:ext cx="7810262" cy="312658"/>
          </a:xfrm>
          <a:prstGeom prst="rect">
            <a:avLst/>
          </a:prstGeom>
          <a:solidFill>
            <a:srgbClr val="000000">
              <a:alpha val="4000"/>
            </a:srgbClr>
          </a:solidFill>
          <a:ln/>
        </p:spPr>
        <p:txBody>
          <a:bodyPr/>
          <a:lstStyle/>
          <a:p>
            <a:endParaRPr lang="en-AU"/>
          </a:p>
        </p:txBody>
      </p:sp>
      <p:sp>
        <p:nvSpPr>
          <p:cNvPr id="61" name="Text 59"/>
          <p:cNvSpPr/>
          <p:nvPr/>
        </p:nvSpPr>
        <p:spPr>
          <a:xfrm>
            <a:off x="3509486" y="3865364"/>
            <a:ext cx="1359813"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Individual</a:t>
            </a:r>
            <a:endParaRPr lang="en-US" sz="750" dirty="0"/>
          </a:p>
        </p:txBody>
      </p:sp>
      <p:sp>
        <p:nvSpPr>
          <p:cNvPr id="62" name="Text 60"/>
          <p:cNvSpPr/>
          <p:nvPr/>
        </p:nvSpPr>
        <p:spPr>
          <a:xfrm>
            <a:off x="5075277" y="3865364"/>
            <a:ext cx="1356003"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Ethics</a:t>
            </a:r>
            <a:endParaRPr lang="en-US" sz="750" dirty="0"/>
          </a:p>
        </p:txBody>
      </p:sp>
      <p:sp>
        <p:nvSpPr>
          <p:cNvPr id="63" name="Text 61"/>
          <p:cNvSpPr/>
          <p:nvPr/>
        </p:nvSpPr>
        <p:spPr>
          <a:xfrm>
            <a:off x="6637258" y="3865364"/>
            <a:ext cx="1746528"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Stakeholder Theory (Freeman)</a:t>
            </a:r>
            <a:endParaRPr lang="en-US" sz="750" dirty="0"/>
          </a:p>
        </p:txBody>
      </p:sp>
      <p:sp>
        <p:nvSpPr>
          <p:cNvPr id="64" name="Text 62"/>
          <p:cNvSpPr/>
          <p:nvPr/>
        </p:nvSpPr>
        <p:spPr>
          <a:xfrm>
            <a:off x="8589764" y="3865364"/>
            <a:ext cx="2531388" cy="237887"/>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Organisations owe ethical obligations to all affected parties, not just shareholders</a:t>
            </a:r>
            <a:endParaRPr lang="en-US" sz="750" dirty="0"/>
          </a:p>
        </p:txBody>
      </p:sp>
      <p:sp>
        <p:nvSpPr>
          <p:cNvPr id="65" name="Shape 63"/>
          <p:cNvSpPr/>
          <p:nvPr/>
        </p:nvSpPr>
        <p:spPr>
          <a:xfrm>
            <a:off x="3410069" y="4140637"/>
            <a:ext cx="7810262" cy="312658"/>
          </a:xfrm>
          <a:prstGeom prst="rect">
            <a:avLst/>
          </a:prstGeom>
          <a:solidFill>
            <a:srgbClr val="FFFFFF">
              <a:alpha val="4000"/>
            </a:srgbClr>
          </a:solidFill>
          <a:ln/>
        </p:spPr>
        <p:txBody>
          <a:bodyPr/>
          <a:lstStyle/>
          <a:p>
            <a:endParaRPr lang="en-AU"/>
          </a:p>
        </p:txBody>
      </p:sp>
      <p:sp>
        <p:nvSpPr>
          <p:cNvPr id="66" name="Text 64"/>
          <p:cNvSpPr/>
          <p:nvPr/>
        </p:nvSpPr>
        <p:spPr>
          <a:xfrm>
            <a:off x="3509486" y="4178022"/>
            <a:ext cx="1359813"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Individual</a:t>
            </a:r>
            <a:endParaRPr lang="en-US" sz="750" dirty="0"/>
          </a:p>
        </p:txBody>
      </p:sp>
      <p:sp>
        <p:nvSpPr>
          <p:cNvPr id="67" name="Text 65"/>
          <p:cNvSpPr/>
          <p:nvPr/>
        </p:nvSpPr>
        <p:spPr>
          <a:xfrm>
            <a:off x="5075277" y="4178022"/>
            <a:ext cx="1356003"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Ethics</a:t>
            </a:r>
            <a:endParaRPr lang="en-US" sz="750" dirty="0"/>
          </a:p>
        </p:txBody>
      </p:sp>
      <p:sp>
        <p:nvSpPr>
          <p:cNvPr id="68" name="Text 66"/>
          <p:cNvSpPr/>
          <p:nvPr/>
        </p:nvSpPr>
        <p:spPr>
          <a:xfrm>
            <a:off x="6637258" y="4178022"/>
            <a:ext cx="1746528"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Rest's Four-Component Model</a:t>
            </a:r>
            <a:endParaRPr lang="en-US" sz="750" dirty="0"/>
          </a:p>
        </p:txBody>
      </p:sp>
      <p:sp>
        <p:nvSpPr>
          <p:cNvPr id="69" name="Text 67"/>
          <p:cNvSpPr/>
          <p:nvPr/>
        </p:nvSpPr>
        <p:spPr>
          <a:xfrm>
            <a:off x="8589764" y="4178022"/>
            <a:ext cx="2531388" cy="237887"/>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Moral Sensitivity → Judgement → Motivation → Character: four steps to ethical action</a:t>
            </a:r>
            <a:endParaRPr lang="en-US" sz="750" dirty="0"/>
          </a:p>
        </p:txBody>
      </p:sp>
      <p:sp>
        <p:nvSpPr>
          <p:cNvPr id="70" name="Shape 68"/>
          <p:cNvSpPr/>
          <p:nvPr/>
        </p:nvSpPr>
        <p:spPr>
          <a:xfrm>
            <a:off x="3410069" y="4453295"/>
            <a:ext cx="7810262" cy="312658"/>
          </a:xfrm>
          <a:prstGeom prst="rect">
            <a:avLst/>
          </a:prstGeom>
          <a:solidFill>
            <a:srgbClr val="000000">
              <a:alpha val="4000"/>
            </a:srgbClr>
          </a:solidFill>
          <a:ln/>
        </p:spPr>
        <p:txBody>
          <a:bodyPr/>
          <a:lstStyle/>
          <a:p>
            <a:endParaRPr lang="en-AU"/>
          </a:p>
        </p:txBody>
      </p:sp>
      <p:sp>
        <p:nvSpPr>
          <p:cNvPr id="71" name="Text 69"/>
          <p:cNvSpPr/>
          <p:nvPr/>
        </p:nvSpPr>
        <p:spPr>
          <a:xfrm>
            <a:off x="3509486" y="4490680"/>
            <a:ext cx="1359813"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Individual</a:t>
            </a:r>
            <a:endParaRPr lang="en-US" sz="750" dirty="0"/>
          </a:p>
        </p:txBody>
      </p:sp>
      <p:sp>
        <p:nvSpPr>
          <p:cNvPr id="72" name="Text 70"/>
          <p:cNvSpPr/>
          <p:nvPr/>
        </p:nvSpPr>
        <p:spPr>
          <a:xfrm>
            <a:off x="5075277" y="4490680"/>
            <a:ext cx="1356003"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Ethics</a:t>
            </a:r>
            <a:endParaRPr lang="en-US" sz="750" dirty="0"/>
          </a:p>
        </p:txBody>
      </p:sp>
      <p:sp>
        <p:nvSpPr>
          <p:cNvPr id="73" name="Text 71"/>
          <p:cNvSpPr/>
          <p:nvPr/>
        </p:nvSpPr>
        <p:spPr>
          <a:xfrm>
            <a:off x="6637258" y="4490680"/>
            <a:ext cx="1746528" cy="237887"/>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Ethical Climate Theory (Victor &amp; Cullen)</a:t>
            </a:r>
            <a:endParaRPr lang="en-US" sz="750" dirty="0"/>
          </a:p>
        </p:txBody>
      </p:sp>
      <p:sp>
        <p:nvSpPr>
          <p:cNvPr id="74" name="Text 72"/>
          <p:cNvSpPr/>
          <p:nvPr/>
        </p:nvSpPr>
        <p:spPr>
          <a:xfrm>
            <a:off x="8589764" y="4490680"/>
            <a:ext cx="2531388" cy="237887"/>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Shared organisational perceptions of ethical norms shape individual moral behaviour</a:t>
            </a:r>
            <a:endParaRPr lang="en-US" sz="750" dirty="0"/>
          </a:p>
        </p:txBody>
      </p:sp>
      <p:sp>
        <p:nvSpPr>
          <p:cNvPr id="75" name="Shape 73"/>
          <p:cNvSpPr/>
          <p:nvPr/>
        </p:nvSpPr>
        <p:spPr>
          <a:xfrm>
            <a:off x="3410069" y="4765953"/>
            <a:ext cx="7810262" cy="193715"/>
          </a:xfrm>
          <a:prstGeom prst="rect">
            <a:avLst/>
          </a:prstGeom>
          <a:solidFill>
            <a:srgbClr val="FFFFFF">
              <a:alpha val="4000"/>
            </a:srgbClr>
          </a:solidFill>
          <a:ln/>
        </p:spPr>
        <p:txBody>
          <a:bodyPr/>
          <a:lstStyle/>
          <a:p>
            <a:endParaRPr lang="en-AU"/>
          </a:p>
        </p:txBody>
      </p:sp>
      <p:sp>
        <p:nvSpPr>
          <p:cNvPr id="76" name="Text 74"/>
          <p:cNvSpPr/>
          <p:nvPr/>
        </p:nvSpPr>
        <p:spPr>
          <a:xfrm>
            <a:off x="3509486" y="4803338"/>
            <a:ext cx="1359813"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Group</a:t>
            </a:r>
            <a:endParaRPr lang="en-US" sz="750" dirty="0"/>
          </a:p>
        </p:txBody>
      </p:sp>
      <p:sp>
        <p:nvSpPr>
          <p:cNvPr id="77" name="Text 75"/>
          <p:cNvSpPr/>
          <p:nvPr/>
        </p:nvSpPr>
        <p:spPr>
          <a:xfrm>
            <a:off x="5075277" y="4803338"/>
            <a:ext cx="1356003"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Team Dynamics</a:t>
            </a:r>
            <a:endParaRPr lang="en-US" sz="750" dirty="0"/>
          </a:p>
        </p:txBody>
      </p:sp>
      <p:sp>
        <p:nvSpPr>
          <p:cNvPr id="78" name="Text 76"/>
          <p:cNvSpPr/>
          <p:nvPr/>
        </p:nvSpPr>
        <p:spPr>
          <a:xfrm>
            <a:off x="6637258" y="4803338"/>
            <a:ext cx="1746528"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Tuckman's Stages</a:t>
            </a:r>
            <a:endParaRPr lang="en-US" sz="750" dirty="0"/>
          </a:p>
        </p:txBody>
      </p:sp>
      <p:sp>
        <p:nvSpPr>
          <p:cNvPr id="79" name="Text 77"/>
          <p:cNvSpPr/>
          <p:nvPr/>
        </p:nvSpPr>
        <p:spPr>
          <a:xfrm>
            <a:off x="8589764" y="4803338"/>
            <a:ext cx="2531388"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Forming–Storming–Norming–Performing–Adjourning</a:t>
            </a:r>
            <a:endParaRPr lang="en-US" sz="750" dirty="0"/>
          </a:p>
        </p:txBody>
      </p:sp>
      <p:sp>
        <p:nvSpPr>
          <p:cNvPr id="80" name="Shape 78"/>
          <p:cNvSpPr/>
          <p:nvPr/>
        </p:nvSpPr>
        <p:spPr>
          <a:xfrm>
            <a:off x="3410069" y="4959668"/>
            <a:ext cx="7810262" cy="312658"/>
          </a:xfrm>
          <a:prstGeom prst="rect">
            <a:avLst/>
          </a:prstGeom>
          <a:solidFill>
            <a:srgbClr val="000000">
              <a:alpha val="4000"/>
            </a:srgbClr>
          </a:solidFill>
          <a:ln/>
        </p:spPr>
        <p:txBody>
          <a:bodyPr/>
          <a:lstStyle/>
          <a:p>
            <a:endParaRPr lang="en-AU"/>
          </a:p>
        </p:txBody>
      </p:sp>
      <p:sp>
        <p:nvSpPr>
          <p:cNvPr id="81" name="Text 79"/>
          <p:cNvSpPr/>
          <p:nvPr/>
        </p:nvSpPr>
        <p:spPr>
          <a:xfrm>
            <a:off x="3509486" y="4997053"/>
            <a:ext cx="1359813"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Group</a:t>
            </a:r>
            <a:endParaRPr lang="en-US" sz="750" dirty="0"/>
          </a:p>
        </p:txBody>
      </p:sp>
      <p:sp>
        <p:nvSpPr>
          <p:cNvPr id="82" name="Text 80"/>
          <p:cNvSpPr/>
          <p:nvPr/>
        </p:nvSpPr>
        <p:spPr>
          <a:xfrm>
            <a:off x="5075277" y="4997053"/>
            <a:ext cx="1356003"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Leadership</a:t>
            </a:r>
            <a:endParaRPr lang="en-US" sz="750" dirty="0"/>
          </a:p>
        </p:txBody>
      </p:sp>
      <p:sp>
        <p:nvSpPr>
          <p:cNvPr id="83" name="Text 81"/>
          <p:cNvSpPr/>
          <p:nvPr/>
        </p:nvSpPr>
        <p:spPr>
          <a:xfrm>
            <a:off x="6637258" y="4997053"/>
            <a:ext cx="1746528"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Transformational</a:t>
            </a:r>
            <a:endParaRPr lang="en-US" sz="750" dirty="0"/>
          </a:p>
        </p:txBody>
      </p:sp>
      <p:sp>
        <p:nvSpPr>
          <p:cNvPr id="84" name="Text 82"/>
          <p:cNvSpPr/>
          <p:nvPr/>
        </p:nvSpPr>
        <p:spPr>
          <a:xfrm>
            <a:off x="8589764" y="4997053"/>
            <a:ext cx="2531388" cy="237887"/>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Leaders inspire change through vision, charisma, intellectual stimulation</a:t>
            </a:r>
            <a:endParaRPr lang="en-US" sz="750" dirty="0"/>
          </a:p>
        </p:txBody>
      </p:sp>
      <p:sp>
        <p:nvSpPr>
          <p:cNvPr id="85" name="Shape 83"/>
          <p:cNvSpPr/>
          <p:nvPr/>
        </p:nvSpPr>
        <p:spPr>
          <a:xfrm>
            <a:off x="3410069" y="5272326"/>
            <a:ext cx="7810262" cy="312658"/>
          </a:xfrm>
          <a:prstGeom prst="rect">
            <a:avLst/>
          </a:prstGeom>
          <a:solidFill>
            <a:srgbClr val="FFFFFF">
              <a:alpha val="4000"/>
            </a:srgbClr>
          </a:solidFill>
          <a:ln/>
        </p:spPr>
        <p:txBody>
          <a:bodyPr/>
          <a:lstStyle/>
          <a:p>
            <a:endParaRPr lang="en-AU"/>
          </a:p>
        </p:txBody>
      </p:sp>
      <p:sp>
        <p:nvSpPr>
          <p:cNvPr id="86" name="Text 84"/>
          <p:cNvSpPr/>
          <p:nvPr/>
        </p:nvSpPr>
        <p:spPr>
          <a:xfrm>
            <a:off x="3509486" y="5309711"/>
            <a:ext cx="1359813"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Group</a:t>
            </a:r>
            <a:endParaRPr lang="en-US" sz="750" dirty="0"/>
          </a:p>
        </p:txBody>
      </p:sp>
      <p:sp>
        <p:nvSpPr>
          <p:cNvPr id="87" name="Text 85"/>
          <p:cNvSpPr/>
          <p:nvPr/>
        </p:nvSpPr>
        <p:spPr>
          <a:xfrm>
            <a:off x="5075277" y="5309711"/>
            <a:ext cx="1356003"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Leadership</a:t>
            </a:r>
            <a:endParaRPr lang="en-US" sz="750" dirty="0"/>
          </a:p>
        </p:txBody>
      </p:sp>
      <p:sp>
        <p:nvSpPr>
          <p:cNvPr id="88" name="Text 86"/>
          <p:cNvSpPr/>
          <p:nvPr/>
        </p:nvSpPr>
        <p:spPr>
          <a:xfrm>
            <a:off x="6637258" y="5309711"/>
            <a:ext cx="1746528"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Path-Goal Theory</a:t>
            </a:r>
            <a:endParaRPr lang="en-US" sz="750" dirty="0"/>
          </a:p>
        </p:txBody>
      </p:sp>
      <p:sp>
        <p:nvSpPr>
          <p:cNvPr id="89" name="Text 87"/>
          <p:cNvSpPr/>
          <p:nvPr/>
        </p:nvSpPr>
        <p:spPr>
          <a:xfrm>
            <a:off x="8589764" y="5309711"/>
            <a:ext cx="2531388" cy="237887"/>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Leaders adapt style to remove obstacles and motivate followers</a:t>
            </a:r>
            <a:endParaRPr lang="en-US" sz="750" dirty="0"/>
          </a:p>
        </p:txBody>
      </p:sp>
      <p:sp>
        <p:nvSpPr>
          <p:cNvPr id="90" name="Shape 88"/>
          <p:cNvSpPr/>
          <p:nvPr/>
        </p:nvSpPr>
        <p:spPr>
          <a:xfrm>
            <a:off x="3410069" y="5584984"/>
            <a:ext cx="7810262" cy="312658"/>
          </a:xfrm>
          <a:prstGeom prst="rect">
            <a:avLst/>
          </a:prstGeom>
          <a:solidFill>
            <a:srgbClr val="000000">
              <a:alpha val="4000"/>
            </a:srgbClr>
          </a:solidFill>
          <a:ln/>
        </p:spPr>
        <p:txBody>
          <a:bodyPr/>
          <a:lstStyle/>
          <a:p>
            <a:endParaRPr lang="en-AU"/>
          </a:p>
        </p:txBody>
      </p:sp>
      <p:sp>
        <p:nvSpPr>
          <p:cNvPr id="91" name="Text 89"/>
          <p:cNvSpPr/>
          <p:nvPr/>
        </p:nvSpPr>
        <p:spPr>
          <a:xfrm>
            <a:off x="3509486" y="5622369"/>
            <a:ext cx="1359813"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Group</a:t>
            </a:r>
            <a:endParaRPr lang="en-US" sz="750" dirty="0"/>
          </a:p>
        </p:txBody>
      </p:sp>
      <p:sp>
        <p:nvSpPr>
          <p:cNvPr id="92" name="Text 90"/>
          <p:cNvSpPr/>
          <p:nvPr/>
        </p:nvSpPr>
        <p:spPr>
          <a:xfrm>
            <a:off x="5075277" y="5622369"/>
            <a:ext cx="1356003"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Power</a:t>
            </a:r>
            <a:endParaRPr lang="en-US" sz="750" dirty="0"/>
          </a:p>
        </p:txBody>
      </p:sp>
      <p:sp>
        <p:nvSpPr>
          <p:cNvPr id="93" name="Text 91"/>
          <p:cNvSpPr/>
          <p:nvPr/>
        </p:nvSpPr>
        <p:spPr>
          <a:xfrm>
            <a:off x="6637258" y="5622369"/>
            <a:ext cx="1746528"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French &amp; Raven</a:t>
            </a:r>
            <a:endParaRPr lang="en-US" sz="750" dirty="0"/>
          </a:p>
        </p:txBody>
      </p:sp>
      <p:sp>
        <p:nvSpPr>
          <p:cNvPr id="94" name="Text 92"/>
          <p:cNvSpPr/>
          <p:nvPr/>
        </p:nvSpPr>
        <p:spPr>
          <a:xfrm>
            <a:off x="8589764" y="5622369"/>
            <a:ext cx="2531388" cy="237887"/>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Five bases of power: Legitimate, Reward, Coercive, Expert, Referent</a:t>
            </a:r>
            <a:endParaRPr lang="en-US" sz="750" dirty="0"/>
          </a:p>
        </p:txBody>
      </p:sp>
      <p:sp>
        <p:nvSpPr>
          <p:cNvPr id="95" name="Shape 93"/>
          <p:cNvSpPr/>
          <p:nvPr/>
        </p:nvSpPr>
        <p:spPr>
          <a:xfrm>
            <a:off x="3410069" y="5897642"/>
            <a:ext cx="7810262" cy="312658"/>
          </a:xfrm>
          <a:prstGeom prst="rect">
            <a:avLst/>
          </a:prstGeom>
          <a:solidFill>
            <a:srgbClr val="FFFFFF">
              <a:alpha val="4000"/>
            </a:srgbClr>
          </a:solidFill>
          <a:ln/>
        </p:spPr>
        <p:txBody>
          <a:bodyPr/>
          <a:lstStyle/>
          <a:p>
            <a:endParaRPr lang="en-AU"/>
          </a:p>
        </p:txBody>
      </p:sp>
      <p:sp>
        <p:nvSpPr>
          <p:cNvPr id="96" name="Text 94"/>
          <p:cNvSpPr/>
          <p:nvPr/>
        </p:nvSpPr>
        <p:spPr>
          <a:xfrm>
            <a:off x="3509486" y="5935028"/>
            <a:ext cx="1359813"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Group</a:t>
            </a:r>
            <a:endParaRPr lang="en-US" sz="750" dirty="0"/>
          </a:p>
        </p:txBody>
      </p:sp>
      <p:sp>
        <p:nvSpPr>
          <p:cNvPr id="97" name="Text 95"/>
          <p:cNvSpPr/>
          <p:nvPr/>
        </p:nvSpPr>
        <p:spPr>
          <a:xfrm>
            <a:off x="5075277" y="5935028"/>
            <a:ext cx="1356003"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Conflict</a:t>
            </a:r>
            <a:endParaRPr lang="en-US" sz="750" dirty="0"/>
          </a:p>
        </p:txBody>
      </p:sp>
      <p:sp>
        <p:nvSpPr>
          <p:cNvPr id="98" name="Text 96"/>
          <p:cNvSpPr/>
          <p:nvPr/>
        </p:nvSpPr>
        <p:spPr>
          <a:xfrm>
            <a:off x="6637258" y="5935028"/>
            <a:ext cx="1746528"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Thomas-Kilmann TKI</a:t>
            </a:r>
            <a:endParaRPr lang="en-US" sz="750" dirty="0"/>
          </a:p>
        </p:txBody>
      </p:sp>
      <p:sp>
        <p:nvSpPr>
          <p:cNvPr id="99" name="Text 97"/>
          <p:cNvSpPr/>
          <p:nvPr/>
        </p:nvSpPr>
        <p:spPr>
          <a:xfrm>
            <a:off x="8589764" y="5935028"/>
            <a:ext cx="2531388" cy="237887"/>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Five conflict styles mapped on assertiveness and cooperativeness</a:t>
            </a:r>
            <a:endParaRPr lang="en-US" sz="750" dirty="0"/>
          </a:p>
        </p:txBody>
      </p:sp>
      <p:sp>
        <p:nvSpPr>
          <p:cNvPr id="100" name="Shape 98"/>
          <p:cNvSpPr/>
          <p:nvPr/>
        </p:nvSpPr>
        <p:spPr>
          <a:xfrm>
            <a:off x="3410069" y="6210300"/>
            <a:ext cx="7810262" cy="312658"/>
          </a:xfrm>
          <a:prstGeom prst="rect">
            <a:avLst/>
          </a:prstGeom>
          <a:solidFill>
            <a:srgbClr val="000000">
              <a:alpha val="4000"/>
            </a:srgbClr>
          </a:solidFill>
          <a:ln/>
        </p:spPr>
        <p:txBody>
          <a:bodyPr/>
          <a:lstStyle/>
          <a:p>
            <a:endParaRPr lang="en-AU"/>
          </a:p>
        </p:txBody>
      </p:sp>
      <p:sp>
        <p:nvSpPr>
          <p:cNvPr id="101" name="Text 99"/>
          <p:cNvSpPr/>
          <p:nvPr/>
        </p:nvSpPr>
        <p:spPr>
          <a:xfrm>
            <a:off x="3509486" y="6247686"/>
            <a:ext cx="1359813"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Organisational</a:t>
            </a:r>
            <a:endParaRPr lang="en-US" sz="750" dirty="0"/>
          </a:p>
        </p:txBody>
      </p:sp>
      <p:sp>
        <p:nvSpPr>
          <p:cNvPr id="102" name="Text 100"/>
          <p:cNvSpPr/>
          <p:nvPr/>
        </p:nvSpPr>
        <p:spPr>
          <a:xfrm>
            <a:off x="5075277" y="6247686"/>
            <a:ext cx="1356003"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Structure</a:t>
            </a:r>
            <a:endParaRPr lang="en-US" sz="750" dirty="0"/>
          </a:p>
        </p:txBody>
      </p:sp>
      <p:sp>
        <p:nvSpPr>
          <p:cNvPr id="103" name="Text 101"/>
          <p:cNvSpPr/>
          <p:nvPr/>
        </p:nvSpPr>
        <p:spPr>
          <a:xfrm>
            <a:off x="6637258" y="6247686"/>
            <a:ext cx="1746528"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Weber's Bureaucracy</a:t>
            </a:r>
            <a:endParaRPr lang="en-US" sz="750" dirty="0"/>
          </a:p>
        </p:txBody>
      </p:sp>
      <p:sp>
        <p:nvSpPr>
          <p:cNvPr id="104" name="Text 102"/>
          <p:cNvSpPr/>
          <p:nvPr/>
        </p:nvSpPr>
        <p:spPr>
          <a:xfrm>
            <a:off x="8589764" y="6247686"/>
            <a:ext cx="2531388" cy="237887"/>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Rational, rule-governed hierarchy as most efficient organisational form</a:t>
            </a:r>
            <a:endParaRPr lang="en-US" sz="750" dirty="0"/>
          </a:p>
        </p:txBody>
      </p:sp>
      <p:sp>
        <p:nvSpPr>
          <p:cNvPr id="105" name="Shape 103"/>
          <p:cNvSpPr/>
          <p:nvPr/>
        </p:nvSpPr>
        <p:spPr>
          <a:xfrm>
            <a:off x="3410069" y="6522958"/>
            <a:ext cx="7810262" cy="312658"/>
          </a:xfrm>
          <a:prstGeom prst="rect">
            <a:avLst/>
          </a:prstGeom>
          <a:solidFill>
            <a:srgbClr val="FFFFFF">
              <a:alpha val="4000"/>
            </a:srgbClr>
          </a:solidFill>
          <a:ln/>
        </p:spPr>
        <p:txBody>
          <a:bodyPr/>
          <a:lstStyle/>
          <a:p>
            <a:endParaRPr lang="en-AU"/>
          </a:p>
        </p:txBody>
      </p:sp>
      <p:sp>
        <p:nvSpPr>
          <p:cNvPr id="106" name="Text 104"/>
          <p:cNvSpPr/>
          <p:nvPr/>
        </p:nvSpPr>
        <p:spPr>
          <a:xfrm>
            <a:off x="3509486" y="6560344"/>
            <a:ext cx="1359813"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Organisational</a:t>
            </a:r>
            <a:endParaRPr lang="en-US" sz="750" dirty="0"/>
          </a:p>
        </p:txBody>
      </p:sp>
      <p:sp>
        <p:nvSpPr>
          <p:cNvPr id="107" name="Text 105"/>
          <p:cNvSpPr/>
          <p:nvPr/>
        </p:nvSpPr>
        <p:spPr>
          <a:xfrm>
            <a:off x="5075277" y="6560344"/>
            <a:ext cx="1356003"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Culture</a:t>
            </a:r>
            <a:endParaRPr lang="en-US" sz="750" dirty="0"/>
          </a:p>
        </p:txBody>
      </p:sp>
      <p:sp>
        <p:nvSpPr>
          <p:cNvPr id="108" name="Text 106"/>
          <p:cNvSpPr/>
          <p:nvPr/>
        </p:nvSpPr>
        <p:spPr>
          <a:xfrm>
            <a:off x="6637258" y="6560344"/>
            <a:ext cx="1746528"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Schein's Three Levels</a:t>
            </a:r>
            <a:endParaRPr lang="en-US" sz="750" dirty="0"/>
          </a:p>
        </p:txBody>
      </p:sp>
      <p:sp>
        <p:nvSpPr>
          <p:cNvPr id="109" name="Text 107"/>
          <p:cNvSpPr/>
          <p:nvPr/>
        </p:nvSpPr>
        <p:spPr>
          <a:xfrm>
            <a:off x="8589764" y="6560344"/>
            <a:ext cx="2531388" cy="237887"/>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Artifacts → Values → Basic Assumptions; deep culture is invisible</a:t>
            </a:r>
            <a:endParaRPr lang="en-US" sz="750" dirty="0"/>
          </a:p>
        </p:txBody>
      </p:sp>
      <p:sp>
        <p:nvSpPr>
          <p:cNvPr id="110" name="Shape 108"/>
          <p:cNvSpPr/>
          <p:nvPr/>
        </p:nvSpPr>
        <p:spPr>
          <a:xfrm>
            <a:off x="3410069" y="6835616"/>
            <a:ext cx="7810262" cy="312658"/>
          </a:xfrm>
          <a:prstGeom prst="rect">
            <a:avLst/>
          </a:prstGeom>
          <a:solidFill>
            <a:srgbClr val="000000">
              <a:alpha val="4000"/>
            </a:srgbClr>
          </a:solidFill>
          <a:ln/>
        </p:spPr>
        <p:txBody>
          <a:bodyPr/>
          <a:lstStyle/>
          <a:p>
            <a:endParaRPr lang="en-AU"/>
          </a:p>
        </p:txBody>
      </p:sp>
      <p:sp>
        <p:nvSpPr>
          <p:cNvPr id="111" name="Text 109"/>
          <p:cNvSpPr/>
          <p:nvPr/>
        </p:nvSpPr>
        <p:spPr>
          <a:xfrm>
            <a:off x="3509486" y="6873002"/>
            <a:ext cx="1359813"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Organisational</a:t>
            </a:r>
            <a:endParaRPr lang="en-US" sz="750" dirty="0"/>
          </a:p>
        </p:txBody>
      </p:sp>
      <p:sp>
        <p:nvSpPr>
          <p:cNvPr id="112" name="Text 110"/>
          <p:cNvSpPr/>
          <p:nvPr/>
        </p:nvSpPr>
        <p:spPr>
          <a:xfrm>
            <a:off x="5075277" y="6873002"/>
            <a:ext cx="1356003"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Culture</a:t>
            </a:r>
            <a:endParaRPr lang="en-US" sz="750" dirty="0"/>
          </a:p>
        </p:txBody>
      </p:sp>
      <p:sp>
        <p:nvSpPr>
          <p:cNvPr id="113" name="Text 111"/>
          <p:cNvSpPr/>
          <p:nvPr/>
        </p:nvSpPr>
        <p:spPr>
          <a:xfrm>
            <a:off x="6637258" y="6873002"/>
            <a:ext cx="1746528"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Hofstede's Dimensions</a:t>
            </a:r>
            <a:endParaRPr lang="en-US" sz="750" dirty="0"/>
          </a:p>
        </p:txBody>
      </p:sp>
      <p:sp>
        <p:nvSpPr>
          <p:cNvPr id="114" name="Text 112"/>
          <p:cNvSpPr/>
          <p:nvPr/>
        </p:nvSpPr>
        <p:spPr>
          <a:xfrm>
            <a:off x="8589764" y="6873002"/>
            <a:ext cx="2531388" cy="237887"/>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Six cross-national cultural dimensions affecting management practice</a:t>
            </a:r>
            <a:endParaRPr lang="en-US" sz="750" dirty="0"/>
          </a:p>
        </p:txBody>
      </p:sp>
      <p:sp>
        <p:nvSpPr>
          <p:cNvPr id="115" name="Shape 113"/>
          <p:cNvSpPr/>
          <p:nvPr/>
        </p:nvSpPr>
        <p:spPr>
          <a:xfrm>
            <a:off x="3410069" y="7148274"/>
            <a:ext cx="7810262" cy="312658"/>
          </a:xfrm>
          <a:prstGeom prst="rect">
            <a:avLst/>
          </a:prstGeom>
          <a:solidFill>
            <a:srgbClr val="FFFFFF">
              <a:alpha val="4000"/>
            </a:srgbClr>
          </a:solidFill>
          <a:ln/>
        </p:spPr>
        <p:txBody>
          <a:bodyPr/>
          <a:lstStyle/>
          <a:p>
            <a:endParaRPr lang="en-AU"/>
          </a:p>
        </p:txBody>
      </p:sp>
      <p:sp>
        <p:nvSpPr>
          <p:cNvPr id="116" name="Text 114"/>
          <p:cNvSpPr/>
          <p:nvPr/>
        </p:nvSpPr>
        <p:spPr>
          <a:xfrm>
            <a:off x="3509486" y="7185660"/>
            <a:ext cx="1359813"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Organisational</a:t>
            </a:r>
            <a:endParaRPr lang="en-US" sz="750" dirty="0"/>
          </a:p>
        </p:txBody>
      </p:sp>
      <p:sp>
        <p:nvSpPr>
          <p:cNvPr id="117" name="Text 115"/>
          <p:cNvSpPr/>
          <p:nvPr/>
        </p:nvSpPr>
        <p:spPr>
          <a:xfrm>
            <a:off x="5075277" y="7185660"/>
            <a:ext cx="1356003"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Change</a:t>
            </a:r>
            <a:endParaRPr lang="en-US" sz="750" dirty="0"/>
          </a:p>
        </p:txBody>
      </p:sp>
      <p:sp>
        <p:nvSpPr>
          <p:cNvPr id="118" name="Text 116"/>
          <p:cNvSpPr/>
          <p:nvPr/>
        </p:nvSpPr>
        <p:spPr>
          <a:xfrm>
            <a:off x="6637258" y="7185660"/>
            <a:ext cx="1746528"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Lewin's Three-Step</a:t>
            </a:r>
            <a:endParaRPr lang="en-US" sz="750" dirty="0"/>
          </a:p>
        </p:txBody>
      </p:sp>
      <p:sp>
        <p:nvSpPr>
          <p:cNvPr id="119" name="Text 117"/>
          <p:cNvSpPr/>
          <p:nvPr/>
        </p:nvSpPr>
        <p:spPr>
          <a:xfrm>
            <a:off x="8589764" y="7185660"/>
            <a:ext cx="2531388" cy="237887"/>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Unfreeze – Change – Refreeze: managing transitions systematically</a:t>
            </a:r>
            <a:endParaRPr lang="en-US" sz="750" dirty="0"/>
          </a:p>
        </p:txBody>
      </p:sp>
      <p:sp>
        <p:nvSpPr>
          <p:cNvPr id="120" name="Shape 118"/>
          <p:cNvSpPr/>
          <p:nvPr/>
        </p:nvSpPr>
        <p:spPr>
          <a:xfrm>
            <a:off x="3410069" y="7460933"/>
            <a:ext cx="7810262" cy="312658"/>
          </a:xfrm>
          <a:prstGeom prst="rect">
            <a:avLst/>
          </a:prstGeom>
          <a:solidFill>
            <a:srgbClr val="000000">
              <a:alpha val="4000"/>
            </a:srgbClr>
          </a:solidFill>
          <a:ln/>
        </p:spPr>
        <p:txBody>
          <a:bodyPr/>
          <a:lstStyle/>
          <a:p>
            <a:endParaRPr lang="en-AU"/>
          </a:p>
        </p:txBody>
      </p:sp>
      <p:sp>
        <p:nvSpPr>
          <p:cNvPr id="121" name="Text 119"/>
          <p:cNvSpPr/>
          <p:nvPr/>
        </p:nvSpPr>
        <p:spPr>
          <a:xfrm>
            <a:off x="3509486" y="7498318"/>
            <a:ext cx="1359813"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Organisational</a:t>
            </a:r>
            <a:endParaRPr lang="en-US" sz="750" dirty="0"/>
          </a:p>
        </p:txBody>
      </p:sp>
      <p:sp>
        <p:nvSpPr>
          <p:cNvPr id="122" name="Text 120"/>
          <p:cNvSpPr/>
          <p:nvPr/>
        </p:nvSpPr>
        <p:spPr>
          <a:xfrm>
            <a:off x="5075277" y="7498318"/>
            <a:ext cx="1356003"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Change</a:t>
            </a:r>
            <a:endParaRPr lang="en-US" sz="750" dirty="0"/>
          </a:p>
        </p:txBody>
      </p:sp>
      <p:sp>
        <p:nvSpPr>
          <p:cNvPr id="123" name="Text 121"/>
          <p:cNvSpPr/>
          <p:nvPr/>
        </p:nvSpPr>
        <p:spPr>
          <a:xfrm>
            <a:off x="6637258" y="7498318"/>
            <a:ext cx="1746528"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Kotter's 8 Steps</a:t>
            </a:r>
            <a:endParaRPr lang="en-US" sz="750" dirty="0"/>
          </a:p>
        </p:txBody>
      </p:sp>
      <p:sp>
        <p:nvSpPr>
          <p:cNvPr id="124" name="Text 122"/>
          <p:cNvSpPr/>
          <p:nvPr/>
        </p:nvSpPr>
        <p:spPr>
          <a:xfrm>
            <a:off x="8589764" y="7498318"/>
            <a:ext cx="2531388" cy="237887"/>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Eight-stage roadmap for leading large-scale organisational transformation</a:t>
            </a:r>
            <a:endParaRPr lang="en-US" sz="750" dirty="0"/>
          </a:p>
        </p:txBody>
      </p:sp>
      <p:sp>
        <p:nvSpPr>
          <p:cNvPr id="125" name="Shape 123"/>
          <p:cNvSpPr/>
          <p:nvPr/>
        </p:nvSpPr>
        <p:spPr>
          <a:xfrm>
            <a:off x="3410069" y="7773591"/>
            <a:ext cx="7810262" cy="312658"/>
          </a:xfrm>
          <a:prstGeom prst="rect">
            <a:avLst/>
          </a:prstGeom>
          <a:solidFill>
            <a:srgbClr val="FFFFFF">
              <a:alpha val="4000"/>
            </a:srgbClr>
          </a:solidFill>
          <a:ln/>
        </p:spPr>
        <p:txBody>
          <a:bodyPr/>
          <a:lstStyle/>
          <a:p>
            <a:endParaRPr lang="en-AU"/>
          </a:p>
        </p:txBody>
      </p:sp>
      <p:sp>
        <p:nvSpPr>
          <p:cNvPr id="126" name="Text 124"/>
          <p:cNvSpPr/>
          <p:nvPr/>
        </p:nvSpPr>
        <p:spPr>
          <a:xfrm>
            <a:off x="3509486" y="7810976"/>
            <a:ext cx="1359813"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Organisational</a:t>
            </a:r>
            <a:endParaRPr lang="en-US" sz="750" dirty="0"/>
          </a:p>
        </p:txBody>
      </p:sp>
      <p:sp>
        <p:nvSpPr>
          <p:cNvPr id="127" name="Text 125"/>
          <p:cNvSpPr/>
          <p:nvPr/>
        </p:nvSpPr>
        <p:spPr>
          <a:xfrm>
            <a:off x="5075277" y="7810976"/>
            <a:ext cx="1356003"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Well-being</a:t>
            </a:r>
            <a:endParaRPr lang="en-US" sz="750" dirty="0"/>
          </a:p>
        </p:txBody>
      </p:sp>
      <p:sp>
        <p:nvSpPr>
          <p:cNvPr id="128" name="Text 126"/>
          <p:cNvSpPr/>
          <p:nvPr/>
        </p:nvSpPr>
        <p:spPr>
          <a:xfrm>
            <a:off x="6637258" y="7810976"/>
            <a:ext cx="1746528" cy="118943"/>
          </a:xfrm>
          <a:prstGeom prst="rect">
            <a:avLst/>
          </a:prstGeom>
          <a:noFill/>
          <a:ln/>
        </p:spPr>
        <p:txBody>
          <a:bodyPr wrap="non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JD-R Model</a:t>
            </a:r>
            <a:endParaRPr lang="en-US" sz="750" dirty="0"/>
          </a:p>
        </p:txBody>
      </p:sp>
      <p:sp>
        <p:nvSpPr>
          <p:cNvPr id="129" name="Text 127"/>
          <p:cNvSpPr/>
          <p:nvPr/>
        </p:nvSpPr>
        <p:spPr>
          <a:xfrm>
            <a:off x="8589764" y="7810976"/>
            <a:ext cx="2531388" cy="237887"/>
          </a:xfrm>
          <a:prstGeom prst="rect">
            <a:avLst/>
          </a:prstGeom>
          <a:noFill/>
          <a:ln/>
        </p:spPr>
        <p:txBody>
          <a:bodyPr wrap="square" lIns="0" tIns="0" rIns="0" bIns="0" rtlCol="0" anchor="t"/>
          <a:lstStyle/>
          <a:p>
            <a:pPr marL="0" indent="0" algn="l">
              <a:lnSpc>
                <a:spcPts val="900"/>
              </a:lnSpc>
              <a:buNone/>
            </a:pPr>
            <a:r>
              <a:rPr lang="en-US" sz="750" dirty="0">
                <a:solidFill>
                  <a:srgbClr val="443728"/>
                </a:solidFill>
                <a:latin typeface="Open Sans" pitchFamily="34" charset="0"/>
                <a:ea typeface="Open Sans" pitchFamily="34" charset="-122"/>
                <a:cs typeface="Open Sans" pitchFamily="34" charset="-120"/>
              </a:rPr>
              <a:t>Demands impair health; resources fuel engagement and buffer demands</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700445" y="817364"/>
            <a:ext cx="7699058" cy="547211"/>
          </a:xfrm>
          <a:prstGeom prst="rect">
            <a:avLst/>
          </a:prstGeom>
          <a:noFill/>
          <a:ln/>
        </p:spPr>
        <p:txBody>
          <a:bodyPr wrap="none" lIns="0" tIns="0" rIns="0" bIns="0" rtlCol="0" anchor="t"/>
          <a:lstStyle/>
          <a:p>
            <a:pPr marL="0" indent="0" algn="l">
              <a:lnSpc>
                <a:spcPts val="4300"/>
              </a:lnSpc>
              <a:buNone/>
            </a:pPr>
            <a:r>
              <a:rPr lang="en-US" sz="3400" b="1" dirty="0">
                <a:solidFill>
                  <a:srgbClr val="443728"/>
                </a:solidFill>
                <a:latin typeface="Crimson Pro Bold" pitchFamily="34" charset="0"/>
                <a:ea typeface="Crimson Pro Bold" pitchFamily="34" charset="-122"/>
                <a:cs typeface="Crimson Pro Bold" pitchFamily="34" charset="-120"/>
              </a:rPr>
              <a:t>Keep Exploring Organisational Behaviour</a:t>
            </a:r>
            <a:endParaRPr lang="en-US" sz="3400" dirty="0"/>
          </a:p>
        </p:txBody>
      </p:sp>
      <p:sp>
        <p:nvSpPr>
          <p:cNvPr id="3" name="Text 1"/>
          <p:cNvSpPr/>
          <p:nvPr/>
        </p:nvSpPr>
        <p:spPr>
          <a:xfrm>
            <a:off x="700445" y="1673543"/>
            <a:ext cx="13229511" cy="1054894"/>
          </a:xfrm>
          <a:prstGeom prst="rect">
            <a:avLst/>
          </a:prstGeom>
          <a:noFill/>
          <a:ln/>
        </p:spPr>
        <p:txBody>
          <a:bodyPr wrap="square" lIns="0" tIns="0" rIns="0" bIns="0" rtlCol="0" anchor="t"/>
          <a:lstStyle/>
          <a:p>
            <a:pPr marL="0" indent="0" algn="l">
              <a:lnSpc>
                <a:spcPts val="2050"/>
              </a:lnSpc>
              <a:buNone/>
            </a:pPr>
            <a:r>
              <a:rPr lang="en-US" sz="1350" dirty="0">
                <a:solidFill>
                  <a:srgbClr val="443728"/>
                </a:solidFill>
                <a:latin typeface="Open Sans" pitchFamily="34" charset="0"/>
                <a:ea typeface="Open Sans" pitchFamily="34" charset="-122"/>
                <a:cs typeface="Open Sans" pitchFamily="34" charset="-120"/>
              </a:rPr>
              <a:t>Organisational Behaviour is a living, evolving field — but more than that, it is a lens for understanding human life. The theories in this guide are your foundation. But the most profound learning happens not in a textbook or a lecture hall — it happens when you recognise a theory in a conversation with your family, a falling-out with a friend, a moment of personal change, or a group that finally clicks. You have been living Organisational Behaviour your entire life. This guide just gives you the language to see it clearly.</a:t>
            </a:r>
            <a:endParaRPr lang="en-US" sz="1350" dirty="0"/>
          </a:p>
        </p:txBody>
      </p:sp>
      <p:sp>
        <p:nvSpPr>
          <p:cNvPr id="4" name="Shape 2"/>
          <p:cNvSpPr/>
          <p:nvPr/>
        </p:nvSpPr>
        <p:spPr>
          <a:xfrm>
            <a:off x="700445" y="2902268"/>
            <a:ext cx="4306848" cy="2841308"/>
          </a:xfrm>
          <a:prstGeom prst="roundRect">
            <a:avLst>
              <a:gd name="adj" fmla="val 2589"/>
            </a:avLst>
          </a:prstGeom>
          <a:solidFill>
            <a:srgbClr val="EBE2E0"/>
          </a:solidFill>
          <a:ln w="7620">
            <a:solidFill>
              <a:srgbClr val="D1C8C6"/>
            </a:solidFill>
            <a:prstDash val="solid"/>
          </a:ln>
        </p:spPr>
        <p:txBody>
          <a:bodyPr/>
          <a:lstStyle/>
          <a:p>
            <a:endParaRPr lang="en-AU"/>
          </a:p>
        </p:txBody>
      </p:sp>
      <p:sp>
        <p:nvSpPr>
          <p:cNvPr id="5" name="Text 3"/>
          <p:cNvSpPr/>
          <p:nvPr/>
        </p:nvSpPr>
        <p:spPr>
          <a:xfrm>
            <a:off x="883087" y="3084909"/>
            <a:ext cx="2188964" cy="273606"/>
          </a:xfrm>
          <a:prstGeom prst="rect">
            <a:avLst/>
          </a:prstGeom>
          <a:noFill/>
          <a:ln/>
        </p:spPr>
        <p:txBody>
          <a:bodyPr wrap="none" lIns="0" tIns="0" rIns="0" bIns="0" rtlCol="0" anchor="t"/>
          <a:lstStyle/>
          <a:p>
            <a:pPr marL="0" indent="0" algn="l">
              <a:lnSpc>
                <a:spcPts val="2150"/>
              </a:lnSpc>
              <a:buNone/>
            </a:pPr>
            <a:r>
              <a:rPr lang="en-US" sz="1700" b="1" dirty="0">
                <a:solidFill>
                  <a:srgbClr val="000000"/>
                </a:solidFill>
                <a:latin typeface="Crimson Pro Bold" pitchFamily="34" charset="0"/>
                <a:ea typeface="Crimson Pro Bold" pitchFamily="34" charset="-122"/>
                <a:cs typeface="Crimson Pro Bold" pitchFamily="34" charset="-120"/>
              </a:rPr>
              <a:t>🎓</a:t>
            </a:r>
            <a:r>
              <a:rPr lang="en-US" sz="1700" b="1" dirty="0">
                <a:solidFill>
                  <a:srgbClr val="443728"/>
                </a:solidFill>
                <a:latin typeface="Crimson Pro Bold" pitchFamily="34" charset="0"/>
                <a:ea typeface="Crimson Pro Bold" pitchFamily="34" charset="-122"/>
                <a:cs typeface="Crimson Pro Bold" pitchFamily="34" charset="-120"/>
              </a:rPr>
              <a:t> For Students</a:t>
            </a:r>
            <a:endParaRPr lang="en-US" sz="1700" dirty="0"/>
          </a:p>
        </p:txBody>
      </p:sp>
      <p:sp>
        <p:nvSpPr>
          <p:cNvPr id="6" name="Text 4"/>
          <p:cNvSpPr/>
          <p:nvPr/>
        </p:nvSpPr>
        <p:spPr>
          <a:xfrm>
            <a:off x="883087" y="3451146"/>
            <a:ext cx="3941564" cy="2109787"/>
          </a:xfrm>
          <a:prstGeom prst="rect">
            <a:avLst/>
          </a:prstGeom>
          <a:noFill/>
          <a:ln/>
        </p:spPr>
        <p:txBody>
          <a:bodyPr wrap="square" lIns="0" tIns="0" rIns="0" bIns="0" rtlCol="0" anchor="t"/>
          <a:lstStyle/>
          <a:p>
            <a:pPr marL="0" indent="0" algn="l">
              <a:lnSpc>
                <a:spcPts val="2050"/>
              </a:lnSpc>
              <a:buNone/>
            </a:pPr>
            <a:r>
              <a:rPr lang="en-US" sz="1350" dirty="0">
                <a:solidFill>
                  <a:srgbClr val="443728"/>
                </a:solidFill>
                <a:latin typeface="Open Sans" pitchFamily="34" charset="0"/>
                <a:ea typeface="Open Sans" pitchFamily="34" charset="-122"/>
                <a:cs typeface="Open Sans" pitchFamily="34" charset="-120"/>
              </a:rPr>
              <a:t>Use this guide alongside your module textbook and lecture materials. Revisit sections before exams, and practise explaining each theory in your own words — this is the truest test of understanding. The Ethics section is especially important — it connects every other theory to the question of </a:t>
            </a:r>
            <a:r>
              <a:rPr lang="en-US" sz="1350" i="1" dirty="0">
                <a:solidFill>
                  <a:srgbClr val="443728"/>
                </a:solidFill>
                <a:latin typeface="Open Sans" pitchFamily="34" charset="0"/>
                <a:ea typeface="Open Sans" pitchFamily="34" charset="-122"/>
                <a:cs typeface="Open Sans" pitchFamily="34" charset="-120"/>
              </a:rPr>
              <a:t>how we should act</a:t>
            </a:r>
            <a:r>
              <a:rPr lang="en-US" sz="1350" dirty="0">
                <a:solidFill>
                  <a:srgbClr val="443728"/>
                </a:solidFill>
                <a:latin typeface="Open Sans" pitchFamily="34" charset="0"/>
                <a:ea typeface="Open Sans" pitchFamily="34" charset="-122"/>
                <a:cs typeface="Open Sans" pitchFamily="34" charset="-120"/>
              </a:rPr>
              <a:t>, not just how we do act.</a:t>
            </a:r>
            <a:endParaRPr lang="en-US" sz="1350" dirty="0"/>
          </a:p>
        </p:txBody>
      </p:sp>
      <p:sp>
        <p:nvSpPr>
          <p:cNvPr id="7" name="Shape 5"/>
          <p:cNvSpPr/>
          <p:nvPr/>
        </p:nvSpPr>
        <p:spPr>
          <a:xfrm>
            <a:off x="5161717" y="2902268"/>
            <a:ext cx="4306848" cy="2841308"/>
          </a:xfrm>
          <a:prstGeom prst="roundRect">
            <a:avLst>
              <a:gd name="adj" fmla="val 2589"/>
            </a:avLst>
          </a:prstGeom>
          <a:solidFill>
            <a:srgbClr val="EBE2E0"/>
          </a:solidFill>
          <a:ln w="7620">
            <a:solidFill>
              <a:srgbClr val="D1C8C6"/>
            </a:solidFill>
            <a:prstDash val="solid"/>
          </a:ln>
        </p:spPr>
        <p:txBody>
          <a:bodyPr/>
          <a:lstStyle/>
          <a:p>
            <a:endParaRPr lang="en-AU"/>
          </a:p>
        </p:txBody>
      </p:sp>
      <p:sp>
        <p:nvSpPr>
          <p:cNvPr id="8" name="Text 6"/>
          <p:cNvSpPr/>
          <p:nvPr/>
        </p:nvSpPr>
        <p:spPr>
          <a:xfrm>
            <a:off x="5344358" y="3084909"/>
            <a:ext cx="2188964" cy="273606"/>
          </a:xfrm>
          <a:prstGeom prst="rect">
            <a:avLst/>
          </a:prstGeom>
          <a:noFill/>
          <a:ln/>
        </p:spPr>
        <p:txBody>
          <a:bodyPr wrap="none" lIns="0" tIns="0" rIns="0" bIns="0" rtlCol="0" anchor="t"/>
          <a:lstStyle/>
          <a:p>
            <a:pPr marL="0" indent="0" algn="l">
              <a:lnSpc>
                <a:spcPts val="2150"/>
              </a:lnSpc>
              <a:buNone/>
            </a:pPr>
            <a:r>
              <a:rPr lang="en-US" sz="1700" b="1" dirty="0">
                <a:solidFill>
                  <a:srgbClr val="000000"/>
                </a:solidFill>
                <a:latin typeface="Crimson Pro Bold" pitchFamily="34" charset="0"/>
                <a:ea typeface="Crimson Pro Bold" pitchFamily="34" charset="-122"/>
                <a:cs typeface="Crimson Pro Bold" pitchFamily="34" charset="-120"/>
              </a:rPr>
              <a:t>💼</a:t>
            </a:r>
            <a:r>
              <a:rPr lang="en-US" sz="1700" b="1" dirty="0">
                <a:solidFill>
                  <a:srgbClr val="443728"/>
                </a:solidFill>
                <a:latin typeface="Crimson Pro Bold" pitchFamily="34" charset="0"/>
                <a:ea typeface="Crimson Pro Bold" pitchFamily="34" charset="-122"/>
                <a:cs typeface="Crimson Pro Bold" pitchFamily="34" charset="-120"/>
              </a:rPr>
              <a:t> For Practitioners</a:t>
            </a:r>
            <a:endParaRPr lang="en-US" sz="1700" dirty="0"/>
          </a:p>
        </p:txBody>
      </p:sp>
      <p:sp>
        <p:nvSpPr>
          <p:cNvPr id="9" name="Text 7"/>
          <p:cNvSpPr/>
          <p:nvPr/>
        </p:nvSpPr>
        <p:spPr>
          <a:xfrm>
            <a:off x="5344358" y="3451146"/>
            <a:ext cx="3941564" cy="1318617"/>
          </a:xfrm>
          <a:prstGeom prst="rect">
            <a:avLst/>
          </a:prstGeom>
          <a:noFill/>
          <a:ln/>
        </p:spPr>
        <p:txBody>
          <a:bodyPr wrap="square" lIns="0" tIns="0" rIns="0" bIns="0" rtlCol="0" anchor="t"/>
          <a:lstStyle/>
          <a:p>
            <a:pPr marL="0" indent="0" algn="l">
              <a:lnSpc>
                <a:spcPts val="2050"/>
              </a:lnSpc>
              <a:buNone/>
            </a:pPr>
            <a:r>
              <a:rPr lang="en-US" sz="1350" dirty="0">
                <a:solidFill>
                  <a:srgbClr val="443728"/>
                </a:solidFill>
                <a:latin typeface="Open Sans" pitchFamily="34" charset="0"/>
                <a:ea typeface="Open Sans" pitchFamily="34" charset="-122"/>
                <a:cs typeface="Open Sans" pitchFamily="34" charset="-120"/>
              </a:rPr>
              <a:t>Identify one theory per month and consciously apply it in your workplace — observe how your team forms (Tuckman), how motivation shifts (Herzberg), or how power operates (French &amp; Raven). Reflection turns theory into wisdom.</a:t>
            </a:r>
            <a:endParaRPr lang="en-US" sz="1350" dirty="0"/>
          </a:p>
        </p:txBody>
      </p:sp>
      <p:sp>
        <p:nvSpPr>
          <p:cNvPr id="10" name="Shape 8"/>
          <p:cNvSpPr/>
          <p:nvPr/>
        </p:nvSpPr>
        <p:spPr>
          <a:xfrm>
            <a:off x="9622988" y="2902268"/>
            <a:ext cx="4306967" cy="2841308"/>
          </a:xfrm>
          <a:prstGeom prst="roundRect">
            <a:avLst>
              <a:gd name="adj" fmla="val 2589"/>
            </a:avLst>
          </a:prstGeom>
          <a:solidFill>
            <a:srgbClr val="EBE2E0"/>
          </a:solidFill>
          <a:ln w="7620">
            <a:solidFill>
              <a:srgbClr val="D1C8C6"/>
            </a:solidFill>
            <a:prstDash val="solid"/>
          </a:ln>
        </p:spPr>
        <p:txBody>
          <a:bodyPr/>
          <a:lstStyle/>
          <a:p>
            <a:endParaRPr lang="en-AU"/>
          </a:p>
        </p:txBody>
      </p:sp>
      <p:sp>
        <p:nvSpPr>
          <p:cNvPr id="11" name="Text 9"/>
          <p:cNvSpPr/>
          <p:nvPr/>
        </p:nvSpPr>
        <p:spPr>
          <a:xfrm>
            <a:off x="9805630" y="3084909"/>
            <a:ext cx="2188964" cy="273606"/>
          </a:xfrm>
          <a:prstGeom prst="rect">
            <a:avLst/>
          </a:prstGeom>
          <a:noFill/>
          <a:ln/>
        </p:spPr>
        <p:txBody>
          <a:bodyPr wrap="none" lIns="0" tIns="0" rIns="0" bIns="0" rtlCol="0" anchor="t"/>
          <a:lstStyle/>
          <a:p>
            <a:pPr marL="0" indent="0" algn="l">
              <a:lnSpc>
                <a:spcPts val="2150"/>
              </a:lnSpc>
              <a:buNone/>
            </a:pPr>
            <a:r>
              <a:rPr lang="en-US" sz="1700" b="1" dirty="0">
                <a:solidFill>
                  <a:srgbClr val="000000"/>
                </a:solidFill>
                <a:latin typeface="Crimson Pro Bold" pitchFamily="34" charset="0"/>
                <a:ea typeface="Crimson Pro Bold" pitchFamily="34" charset="-122"/>
                <a:cs typeface="Crimson Pro Bold" pitchFamily="34" charset="-120"/>
              </a:rPr>
              <a:t>📚</a:t>
            </a:r>
            <a:r>
              <a:rPr lang="en-US" sz="1700" b="1" dirty="0">
                <a:solidFill>
                  <a:srgbClr val="443728"/>
                </a:solidFill>
                <a:latin typeface="Crimson Pro Bold" pitchFamily="34" charset="0"/>
                <a:ea typeface="Crimson Pro Bold" pitchFamily="34" charset="-122"/>
                <a:cs typeface="Crimson Pro Bold" pitchFamily="34" charset="-120"/>
              </a:rPr>
              <a:t> Go Deeper</a:t>
            </a:r>
            <a:endParaRPr lang="en-US" sz="1700" dirty="0"/>
          </a:p>
        </p:txBody>
      </p:sp>
      <p:sp>
        <p:nvSpPr>
          <p:cNvPr id="12" name="Text 10"/>
          <p:cNvSpPr/>
          <p:nvPr/>
        </p:nvSpPr>
        <p:spPr>
          <a:xfrm>
            <a:off x="9805630" y="3451146"/>
            <a:ext cx="3941683" cy="1582341"/>
          </a:xfrm>
          <a:prstGeom prst="rect">
            <a:avLst/>
          </a:prstGeom>
          <a:noFill/>
          <a:ln/>
        </p:spPr>
        <p:txBody>
          <a:bodyPr wrap="square" lIns="0" tIns="0" rIns="0" bIns="0" rtlCol="0" anchor="t"/>
          <a:lstStyle/>
          <a:p>
            <a:pPr marL="0" indent="0" algn="l">
              <a:lnSpc>
                <a:spcPts val="2050"/>
              </a:lnSpc>
              <a:buNone/>
            </a:pPr>
            <a:r>
              <a:rPr lang="en-US" sz="1350" dirty="0">
                <a:solidFill>
                  <a:srgbClr val="443728"/>
                </a:solidFill>
                <a:latin typeface="Open Sans" pitchFamily="34" charset="0"/>
                <a:ea typeface="Open Sans" pitchFamily="34" charset="-122"/>
                <a:cs typeface="Open Sans" pitchFamily="34" charset="-120"/>
              </a:rPr>
              <a:t>Explore original sources: Maslow's </a:t>
            </a:r>
            <a:r>
              <a:rPr lang="en-US" sz="1350" i="1" dirty="0">
                <a:solidFill>
                  <a:srgbClr val="443728"/>
                </a:solidFill>
                <a:latin typeface="Open Sans" pitchFamily="34" charset="0"/>
                <a:ea typeface="Open Sans" pitchFamily="34" charset="-122"/>
                <a:cs typeface="Open Sans" pitchFamily="34" charset="-120"/>
              </a:rPr>
              <a:t>Motivation and Personality</a:t>
            </a:r>
            <a:r>
              <a:rPr lang="en-US" sz="1350" dirty="0">
                <a:solidFill>
                  <a:srgbClr val="443728"/>
                </a:solidFill>
                <a:latin typeface="Open Sans" pitchFamily="34" charset="0"/>
                <a:ea typeface="Open Sans" pitchFamily="34" charset="-122"/>
                <a:cs typeface="Open Sans" pitchFamily="34" charset="-120"/>
              </a:rPr>
              <a:t>, Schein's </a:t>
            </a:r>
            <a:r>
              <a:rPr lang="en-US" sz="1350" i="1" dirty="0">
                <a:solidFill>
                  <a:srgbClr val="443728"/>
                </a:solidFill>
                <a:latin typeface="Open Sans" pitchFamily="34" charset="0"/>
                <a:ea typeface="Open Sans" pitchFamily="34" charset="-122"/>
                <a:cs typeface="Open Sans" pitchFamily="34" charset="-120"/>
              </a:rPr>
              <a:t>Organisational Culture and Leadership</a:t>
            </a:r>
            <a:r>
              <a:rPr lang="en-US" sz="1350" dirty="0">
                <a:solidFill>
                  <a:srgbClr val="443728"/>
                </a:solidFill>
                <a:latin typeface="Open Sans" pitchFamily="34" charset="0"/>
                <a:ea typeface="Open Sans" pitchFamily="34" charset="-122"/>
                <a:cs typeface="Open Sans" pitchFamily="34" charset="-120"/>
              </a:rPr>
              <a:t>, Kotter's </a:t>
            </a:r>
            <a:r>
              <a:rPr lang="en-US" sz="1350" i="1" dirty="0">
                <a:solidFill>
                  <a:srgbClr val="443728"/>
                </a:solidFill>
                <a:latin typeface="Open Sans" pitchFamily="34" charset="0"/>
                <a:ea typeface="Open Sans" pitchFamily="34" charset="-122"/>
                <a:cs typeface="Open Sans" pitchFamily="34" charset="-120"/>
              </a:rPr>
              <a:t>Leading Change</a:t>
            </a:r>
            <a:r>
              <a:rPr lang="en-US" sz="1350" dirty="0">
                <a:solidFill>
                  <a:srgbClr val="443728"/>
                </a:solidFill>
                <a:latin typeface="Open Sans" pitchFamily="34" charset="0"/>
                <a:ea typeface="Open Sans" pitchFamily="34" charset="-122"/>
                <a:cs typeface="Open Sans" pitchFamily="34" charset="-120"/>
              </a:rPr>
              <a:t>, and Fisher &amp; Ury's </a:t>
            </a:r>
            <a:r>
              <a:rPr lang="en-US" sz="1350" i="1" dirty="0">
                <a:solidFill>
                  <a:srgbClr val="443728"/>
                </a:solidFill>
                <a:latin typeface="Open Sans" pitchFamily="34" charset="0"/>
                <a:ea typeface="Open Sans" pitchFamily="34" charset="-122"/>
                <a:cs typeface="Open Sans" pitchFamily="34" charset="-120"/>
              </a:rPr>
              <a:t>Getting to Yes</a:t>
            </a:r>
            <a:r>
              <a:rPr lang="en-US" sz="1350" dirty="0">
                <a:solidFill>
                  <a:srgbClr val="443728"/>
                </a:solidFill>
                <a:latin typeface="Open Sans" pitchFamily="34" charset="0"/>
                <a:ea typeface="Open Sans" pitchFamily="34" charset="-122"/>
                <a:cs typeface="Open Sans" pitchFamily="34" charset="-120"/>
              </a:rPr>
              <a:t>. Primary texts reward careful reading with depth that no summary can replace.</a:t>
            </a:r>
            <a:endParaRPr lang="en-US" sz="1350" dirty="0"/>
          </a:p>
        </p:txBody>
      </p:sp>
      <p:sp>
        <p:nvSpPr>
          <p:cNvPr id="13" name="Shape 11"/>
          <p:cNvSpPr/>
          <p:nvPr/>
        </p:nvSpPr>
        <p:spPr>
          <a:xfrm>
            <a:off x="700445" y="5917406"/>
            <a:ext cx="13229511" cy="1494830"/>
          </a:xfrm>
          <a:prstGeom prst="roundRect">
            <a:avLst>
              <a:gd name="adj" fmla="val 4920"/>
            </a:avLst>
          </a:prstGeom>
          <a:solidFill>
            <a:srgbClr val="E1D4D0"/>
          </a:solidFill>
          <a:ln/>
        </p:spPr>
        <p:txBody>
          <a:bodyPr/>
          <a:lstStyle/>
          <a:p>
            <a:endParaRPr lang="en-AU"/>
          </a:p>
        </p:txBody>
      </p:sp>
      <p:pic>
        <p:nvPicPr>
          <p:cNvPr id="14" name="Image 0" descr="preencoded.png"/>
          <p:cNvPicPr>
            <a:picLocks noChangeAspect="1"/>
          </p:cNvPicPr>
          <p:nvPr/>
        </p:nvPicPr>
        <p:blipFill>
          <a:blip r:embed="rId3"/>
          <a:stretch>
            <a:fillRect/>
          </a:stretch>
        </p:blipFill>
        <p:spPr>
          <a:xfrm>
            <a:off x="875467" y="6181011"/>
            <a:ext cx="218837" cy="175022"/>
          </a:xfrm>
          <a:prstGeom prst="rect">
            <a:avLst/>
          </a:prstGeom>
        </p:spPr>
      </p:pic>
      <p:sp>
        <p:nvSpPr>
          <p:cNvPr id="15" name="Text 12"/>
          <p:cNvSpPr/>
          <p:nvPr/>
        </p:nvSpPr>
        <p:spPr>
          <a:xfrm>
            <a:off x="1269325" y="6115526"/>
            <a:ext cx="12485608" cy="1070134"/>
          </a:xfrm>
          <a:prstGeom prst="rect">
            <a:avLst/>
          </a:prstGeom>
          <a:noFill/>
          <a:ln/>
        </p:spPr>
        <p:txBody>
          <a:bodyPr wrap="square" lIns="0" tIns="0" rIns="0" bIns="0" rtlCol="0" anchor="t"/>
          <a:lstStyle/>
          <a:p>
            <a:pPr marL="0" indent="0" algn="l">
              <a:lnSpc>
                <a:spcPts val="2050"/>
              </a:lnSpc>
              <a:buNone/>
            </a:pPr>
            <a:r>
              <a:rPr lang="en-US" sz="1350" dirty="0">
                <a:solidFill>
                  <a:srgbClr val="000000"/>
                </a:solidFill>
                <a:latin typeface="Open Sans" pitchFamily="34" charset="0"/>
                <a:ea typeface="Open Sans" pitchFamily="34" charset="-122"/>
                <a:cs typeface="Open Sans" pitchFamily="34" charset="-120"/>
              </a:rPr>
              <a:t>✨ </a:t>
            </a:r>
            <a:r>
              <a:rPr lang="en-US" sz="1350" b="1" dirty="0">
                <a:solidFill>
                  <a:srgbClr val="000000"/>
                </a:solidFill>
                <a:latin typeface="Open Sans" pitchFamily="34" charset="0"/>
                <a:ea typeface="Open Sans" pitchFamily="34" charset="-122"/>
                <a:cs typeface="Open Sans" pitchFamily="34" charset="-120"/>
              </a:rPr>
              <a:t>Remember:</a:t>
            </a:r>
            <a:r>
              <a:rPr lang="en-US" sz="1350" dirty="0">
                <a:solidFill>
                  <a:srgbClr val="000000"/>
                </a:solidFill>
                <a:latin typeface="Open Sans" pitchFamily="34" charset="0"/>
                <a:ea typeface="Open Sans" pitchFamily="34" charset="-122"/>
                <a:cs typeface="Open Sans" pitchFamily="34" charset="-120"/>
              </a:rPr>
              <a:t> You don't need work experience to understand these theories. You need self-awareness. Every family is an organisation. Every friendship group has leadership, conflict, and culture. Every personal goal involves motivation, perception, and learning. The workplace is just one more arena where human behaviour plays out — and you've been studying human behaviour your whole life. Now you have the vocabulary to name what you've always known.</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8855</Words>
  <Application>Microsoft Office PowerPoint</Application>
  <PresentationFormat>Custom</PresentationFormat>
  <Paragraphs>399</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Crimson Pro Bold</vt:lpstr>
      <vt:lpstr>Arial</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Ankit Agarwal</dc:creator>
  <cp:lastModifiedBy>Ankit Agarwal</cp:lastModifiedBy>
  <cp:revision>2</cp:revision>
  <dcterms:created xsi:type="dcterms:W3CDTF">2026-04-06T05:50:47Z</dcterms:created>
  <dcterms:modified xsi:type="dcterms:W3CDTF">2026-04-06T05:52:18Z</dcterms:modified>
</cp:coreProperties>
</file>