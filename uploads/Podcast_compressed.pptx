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3.svg" ContentType="image/svg+xml"/>
  <Override PartName="/ppt/media/image15.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4630400" cy="8229600"/>
  <p:notesSz cx="8229600" cy="14630400"/>
  <p:embeddedFontLst>
    <p:embeddedFont>
      <p:font typeface="Open Sans" panose="020B0606030504020204" pitchFamily="34" charset="0"/>
      <p:regular r:id="rId26"/>
      <p:bold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686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txBody>
          <a:bodyPr/>
          <a:lstStyle/>
          <a:p>
            <a:endParaRPr lang="en-AU"/>
          </a:p>
        </p:txBody>
      </p:sp>
      <p:sp>
        <p:nvSpPr>
          <p:cNvPr id="3" name="Shape 1"/>
          <p:cNvSpPr/>
          <p:nvPr/>
        </p:nvSpPr>
        <p:spPr>
          <a:xfrm>
            <a:off x="0" y="0"/>
            <a:ext cx="14630400" cy="8229600"/>
          </a:xfrm>
          <a:prstGeom prst="rect">
            <a:avLst/>
          </a:prstGeom>
          <a:solidFill>
            <a:srgbClr val="FFFCFA"/>
          </a:solidFill>
          <a:ln/>
        </p:spPr>
        <p:txBody>
          <a:bodyPr/>
          <a:lstStyle/>
          <a:p>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image" Target="../media/image20.png"/><Relationship Id="rId7" Type="http://schemas.openxmlformats.org/officeDocument/2006/relationships/image" Target="../media/image21.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image" Target="../media/image24.png"/><Relationship Id="rId11" Type="http://schemas.openxmlformats.org/officeDocument/2006/relationships/image" Target="../media/image25.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image" Target="../media/image31.png"/><Relationship Id="rId7" Type="http://schemas.openxmlformats.org/officeDocument/2006/relationships/image" Target="../media/image32.svg"/><Relationship Id="rId8" Type="http://schemas.openxmlformats.org/officeDocument/2006/relationships/image" Target="../media/image33.png"/><Relationship Id="rId9" Type="http://schemas.openxmlformats.org/officeDocument/2006/relationships/image" Target="../media/image34.svg"/><Relationship Id="rId10" Type="http://schemas.openxmlformats.org/officeDocument/2006/relationships/image" Target="../media/image35.png"/><Relationship Id="rId11" Type="http://schemas.openxmlformats.org/officeDocument/2006/relationships/image" Target="../media/image3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 Id="rId3" Type="http://schemas.openxmlformats.org/officeDocument/2006/relationships/image" Target="../media/image37.png"/><Relationship Id="rId4" Type="http://schemas.openxmlformats.org/officeDocument/2006/relationships/image" Target="../media/image38.svg"/><Relationship Id="rId5" Type="http://schemas.openxmlformats.org/officeDocument/2006/relationships/image" Target="../media/image39.png"/><Relationship Id="rId6" Type="http://schemas.openxmlformats.org/officeDocument/2006/relationships/image" Target="../media/image40.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3.png"/><Relationship Id="rId10" Type="http://schemas.openxmlformats.org/officeDocument/2006/relationships/image" Target="../media/image44.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4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881432"/>
            <a:ext cx="5137785"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Breaking Mental Models</a:t>
            </a:r>
            <a:endParaRPr lang="en-US" sz="3900" dirty="0"/>
          </a:p>
        </p:txBody>
      </p:sp>
      <p:sp>
        <p:nvSpPr>
          <p:cNvPr id="4" name="Text 1"/>
          <p:cNvSpPr/>
          <p:nvPr/>
        </p:nvSpPr>
        <p:spPr>
          <a:xfrm>
            <a:off x="6280190" y="3799165"/>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 podcast that calls out the elephant in the room — honest, unfiltered conversations about the things that shape us, challenge us, and quietly run our lives.</a:t>
            </a:r>
            <a:endParaRPr lang="en-US" sz="1550" dirty="0"/>
          </a:p>
        </p:txBody>
      </p:sp>
      <p:sp>
        <p:nvSpPr>
          <p:cNvPr id="5" name="Shape 2"/>
          <p:cNvSpPr/>
          <p:nvPr/>
        </p:nvSpPr>
        <p:spPr>
          <a:xfrm>
            <a:off x="6280190" y="4975027"/>
            <a:ext cx="2111097" cy="373142"/>
          </a:xfrm>
          <a:prstGeom prst="roundRect">
            <a:avLst>
              <a:gd name="adj" fmla="val 17872"/>
            </a:avLst>
          </a:prstGeom>
          <a:solidFill>
            <a:srgbClr val="EBE2E0"/>
          </a:solidFill>
          <a:ln/>
        </p:spPr>
        <p:txBody>
          <a:bodyPr/>
          <a:lstStyle/>
          <a:p>
            <a:endParaRPr lang="en-AU"/>
          </a:p>
        </p:txBody>
      </p:sp>
      <p:sp>
        <p:nvSpPr>
          <p:cNvPr id="6" name="Text 3"/>
          <p:cNvSpPr/>
          <p:nvPr/>
        </p:nvSpPr>
        <p:spPr>
          <a:xfrm>
            <a:off x="6399252" y="5034558"/>
            <a:ext cx="1872972" cy="254079"/>
          </a:xfrm>
          <a:prstGeom prst="rect">
            <a:avLst/>
          </a:prstGeom>
          <a:noFill/>
          <a:ln/>
        </p:spPr>
        <p:txBody>
          <a:bodyPr wrap="none" lIns="0" tIns="0" rIns="0" bIns="0" rtlCol="0" anchor="t"/>
          <a:lstStyle/>
          <a:p>
            <a:pPr marL="0" indent="0" algn="l">
              <a:lnSpc>
                <a:spcPts val="2000"/>
              </a:lnSpc>
              <a:buNone/>
            </a:pPr>
            <a:r>
              <a:rPr lang="en-US" sz="1250" dirty="0">
                <a:solidFill>
                  <a:srgbClr val="443728"/>
                </a:solidFill>
                <a:latin typeface="Open Sans" pitchFamily="34" charset="0"/>
                <a:ea typeface="Open Sans" pitchFamily="34" charset="-122"/>
                <a:cs typeface="Open Sans" pitchFamily="34" charset="-120"/>
              </a:rPr>
              <a:t>YOUR PODCAST CHANNEL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8192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What This Is</a:t>
            </a:r>
            <a:endParaRPr lang="en-US" sz="1950" dirty="0"/>
          </a:p>
        </p:txBody>
      </p:sp>
      <p:sp>
        <p:nvSpPr>
          <p:cNvPr id="3" name="Text 1"/>
          <p:cNvSpPr/>
          <p:nvPr/>
        </p:nvSpPr>
        <p:spPr>
          <a:xfrm>
            <a:off x="793790" y="2471380"/>
            <a:ext cx="7320915"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We Say the Thing Nobody Else Will</a:t>
            </a:r>
            <a:endParaRPr lang="en-US" sz="3900" dirty="0"/>
          </a:p>
        </p:txBody>
      </p:sp>
      <p:sp>
        <p:nvSpPr>
          <p:cNvPr id="4" name="Shape 2"/>
          <p:cNvSpPr/>
          <p:nvPr/>
        </p:nvSpPr>
        <p:spPr>
          <a:xfrm>
            <a:off x="650915" y="3389114"/>
            <a:ext cx="6565106" cy="2758559"/>
          </a:xfrm>
          <a:prstGeom prst="roundRect">
            <a:avLst>
              <a:gd name="adj" fmla="val 5180"/>
            </a:avLst>
          </a:prstGeom>
          <a:solidFill>
            <a:srgbClr val="835E54"/>
          </a:solidFill>
          <a:ln/>
        </p:spPr>
        <p:txBody>
          <a:bodyPr/>
          <a:lstStyle/>
          <a:p>
            <a:endParaRPr lang="en-AU"/>
          </a:p>
        </p:txBody>
      </p:sp>
      <p:sp>
        <p:nvSpPr>
          <p:cNvPr id="5" name="Text 3"/>
          <p:cNvSpPr/>
          <p:nvPr/>
        </p:nvSpPr>
        <p:spPr>
          <a:xfrm>
            <a:off x="849273" y="3567708"/>
            <a:ext cx="6168390" cy="127015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Open Sans" pitchFamily="34" charset="0"/>
                <a:ea typeface="Open Sans" pitchFamily="34" charset="-122"/>
                <a:cs typeface="Open Sans" pitchFamily="34" charset="-120"/>
              </a:rPr>
              <a:t>Every room has one. The thing everyone notices but nobody names. The assumption everyone holds but nobody questions. The conversation that keeps getting postponed because it feels too uncomfortable, too risky, or too raw.</a:t>
            </a:r>
            <a:endParaRPr lang="en-US" sz="1550" dirty="0"/>
          </a:p>
        </p:txBody>
      </p:sp>
      <p:sp>
        <p:nvSpPr>
          <p:cNvPr id="6" name="Text 4"/>
          <p:cNvSpPr/>
          <p:nvPr/>
        </p:nvSpPr>
        <p:spPr>
          <a:xfrm>
            <a:off x="849273" y="5016460"/>
            <a:ext cx="6168390" cy="317540"/>
          </a:xfrm>
          <a:prstGeom prst="rect">
            <a:avLst/>
          </a:prstGeom>
          <a:noFill/>
          <a:ln/>
        </p:spPr>
        <p:txBody>
          <a:bodyPr wrap="none" lIns="0" tIns="0" rIns="0" bIns="0" rtlCol="0" anchor="t"/>
          <a:lstStyle/>
          <a:p>
            <a:pPr marL="0" indent="0" algn="l">
              <a:lnSpc>
                <a:spcPts val="2500"/>
              </a:lnSpc>
              <a:buNone/>
            </a:pPr>
            <a:r>
              <a:rPr lang="en-US" sz="1550" b="1" dirty="0">
                <a:solidFill>
                  <a:srgbClr val="FFFFFF"/>
                </a:solidFill>
                <a:latin typeface="Open Sans" pitchFamily="34" charset="0"/>
                <a:ea typeface="Open Sans" pitchFamily="34" charset="-122"/>
                <a:cs typeface="Open Sans" pitchFamily="34" charset="-120"/>
              </a:rPr>
              <a:t>Breaking Mental Models is where we finally have it.</a:t>
            </a:r>
            <a:endParaRPr lang="en-US" sz="1550" dirty="0"/>
          </a:p>
        </p:txBody>
      </p:sp>
      <p:sp>
        <p:nvSpPr>
          <p:cNvPr id="7" name="Text 5"/>
          <p:cNvSpPr/>
          <p:nvPr/>
        </p:nvSpPr>
        <p:spPr>
          <a:xfrm>
            <a:off x="7564874" y="356770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This isn't a polished talking-head show. There's no rigid script, no rehearsed answers, no safe corporate takes. Just two people sitting down and going somewhere real — wherever the conversation needs to go.</a:t>
            </a:r>
            <a:endParaRPr lang="en-US" sz="1550" dirty="0"/>
          </a:p>
        </p:txBody>
      </p:sp>
      <p:sp>
        <p:nvSpPr>
          <p:cNvPr id="8" name="Text 6"/>
          <p:cNvSpPr/>
          <p:nvPr/>
        </p:nvSpPr>
        <p:spPr>
          <a:xfrm>
            <a:off x="7564874" y="5016460"/>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Topics range from the deeply personal to the broadly social. From career and identity to education, relationships, mental health, and the invisible structures that quietly run our lives.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93559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The Philosophy</a:t>
            </a:r>
            <a:endParaRPr lang="en-US" sz="1950" dirty="0"/>
          </a:p>
        </p:txBody>
      </p:sp>
      <p:sp>
        <p:nvSpPr>
          <p:cNvPr id="4" name="Text 1"/>
          <p:cNvSpPr/>
          <p:nvPr/>
        </p:nvSpPr>
        <p:spPr>
          <a:xfrm>
            <a:off x="6280190" y="2325052"/>
            <a:ext cx="7556421" cy="1860233"/>
          </a:xfrm>
          <a:prstGeom prst="rect">
            <a:avLst/>
          </a:prstGeom>
          <a:noFill/>
          <a:ln/>
        </p:spPr>
        <p:txBody>
          <a:bodyPr wrap="squar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The Environment Shapes the Person — Is it also the Other Way Around?</a:t>
            </a:r>
            <a:endParaRPr lang="en-US" sz="3900" dirty="0"/>
          </a:p>
        </p:txBody>
      </p:sp>
      <p:sp>
        <p:nvSpPr>
          <p:cNvPr id="5" name="Text 2"/>
          <p:cNvSpPr/>
          <p:nvPr/>
        </p:nvSpPr>
        <p:spPr>
          <a:xfrm>
            <a:off x="6280190" y="4482941"/>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Most of us believe we control our outcomes through willpower and discipline. But what if the container matters more than the contents? What if changing your circumstances is the most powerful thing you can do — and everything else is just noise?</a:t>
            </a:r>
            <a:endParaRPr lang="en-US" sz="1550" dirty="0"/>
          </a:p>
        </p:txBody>
      </p:sp>
      <p:sp>
        <p:nvSpPr>
          <p:cNvPr id="6" name="Text 3"/>
          <p:cNvSpPr/>
          <p:nvPr/>
        </p:nvSpPr>
        <p:spPr>
          <a:xfrm>
            <a:off x="6280190" y="5976342"/>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That's the lens we bring to every conversation on this channel.</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5521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Featured Episode</a:t>
            </a:r>
            <a:endParaRPr lang="en-US" sz="1950" dirty="0"/>
          </a:p>
        </p:txBody>
      </p:sp>
      <p:sp>
        <p:nvSpPr>
          <p:cNvPr id="3" name="Text 1"/>
          <p:cNvSpPr/>
          <p:nvPr/>
        </p:nvSpPr>
        <p:spPr>
          <a:xfrm>
            <a:off x="793790" y="2144673"/>
            <a:ext cx="12148542"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Memoirs to Millions — A Conversation with Asher Wright</a:t>
            </a:r>
            <a:endParaRPr lang="en-US" sz="3900" dirty="0"/>
          </a:p>
        </p:txBody>
      </p:sp>
      <p:sp>
        <p:nvSpPr>
          <p:cNvPr id="4" name="Shape 2"/>
          <p:cNvSpPr/>
          <p:nvPr/>
        </p:nvSpPr>
        <p:spPr>
          <a:xfrm>
            <a:off x="793790" y="3062407"/>
            <a:ext cx="4215289" cy="3411974"/>
          </a:xfrm>
          <a:prstGeom prst="roundRect">
            <a:avLst>
              <a:gd name="adj" fmla="val 3216"/>
            </a:avLst>
          </a:prstGeom>
          <a:solidFill>
            <a:srgbClr val="FFFCFA"/>
          </a:solidFill>
          <a:ln w="22860">
            <a:solidFill>
              <a:srgbClr val="D1C8C6"/>
            </a:solidFill>
            <a:prstDash val="solid"/>
          </a:ln>
        </p:spPr>
        <p:txBody>
          <a:bodyPr/>
          <a:lstStyle/>
          <a:p>
            <a:endParaRPr lang="en-AU"/>
          </a:p>
        </p:txBody>
      </p:sp>
      <p:sp>
        <p:nvSpPr>
          <p:cNvPr id="5" name="Shape 3"/>
          <p:cNvSpPr/>
          <p:nvPr/>
        </p:nvSpPr>
        <p:spPr>
          <a:xfrm>
            <a:off x="770930" y="3062407"/>
            <a:ext cx="91440" cy="3411974"/>
          </a:xfrm>
          <a:prstGeom prst="roundRect">
            <a:avLst>
              <a:gd name="adj" fmla="val 91163"/>
            </a:avLst>
          </a:prstGeom>
          <a:solidFill>
            <a:srgbClr val="835E54"/>
          </a:solidFill>
          <a:ln/>
        </p:spPr>
        <p:txBody>
          <a:bodyPr/>
          <a:lstStyle/>
          <a:p>
            <a:endParaRPr lang="en-AU"/>
          </a:p>
        </p:txBody>
      </p:sp>
      <p:sp>
        <p:nvSpPr>
          <p:cNvPr id="6" name="Text 4"/>
          <p:cNvSpPr/>
          <p:nvPr/>
        </p:nvSpPr>
        <p:spPr>
          <a:xfrm>
            <a:off x="1083588" y="328362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The Setup</a:t>
            </a:r>
            <a:endParaRPr lang="en-US" sz="1950" dirty="0"/>
          </a:p>
        </p:txBody>
      </p:sp>
      <p:sp>
        <p:nvSpPr>
          <p:cNvPr id="7" name="Text 5"/>
          <p:cNvSpPr/>
          <p:nvPr/>
        </p:nvSpPr>
        <p:spPr>
          <a:xfrm>
            <a:off x="1083588" y="3712845"/>
            <a:ext cx="3704273" cy="222277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Two men who left home at 18. One joined the U.S. Army for 22 years. The other crossed four countries collecting degrees and building education systems. Both landed in the same place: </a:t>
            </a:r>
            <a:r>
              <a:rPr lang="en-US" sz="1550" b="1" dirty="0">
                <a:solidFill>
                  <a:srgbClr val="443728"/>
                </a:solidFill>
                <a:latin typeface="Open Sans" pitchFamily="34" charset="0"/>
                <a:ea typeface="Open Sans" pitchFamily="34" charset="-122"/>
                <a:cs typeface="Open Sans" pitchFamily="34" charset="-120"/>
              </a:rPr>
              <a:t>the environment shapes the person, not the other way around.</a:t>
            </a:r>
            <a:endParaRPr lang="en-US" sz="1550" dirty="0"/>
          </a:p>
        </p:txBody>
      </p:sp>
      <p:sp>
        <p:nvSpPr>
          <p:cNvPr id="8" name="Shape 6"/>
          <p:cNvSpPr/>
          <p:nvPr/>
        </p:nvSpPr>
        <p:spPr>
          <a:xfrm>
            <a:off x="5207437" y="3062407"/>
            <a:ext cx="4215408" cy="3411974"/>
          </a:xfrm>
          <a:prstGeom prst="roundRect">
            <a:avLst>
              <a:gd name="adj" fmla="val 3216"/>
            </a:avLst>
          </a:prstGeom>
          <a:solidFill>
            <a:srgbClr val="FFFCFA"/>
          </a:solidFill>
          <a:ln w="22860">
            <a:solidFill>
              <a:srgbClr val="D1C8C6"/>
            </a:solidFill>
            <a:prstDash val="solid"/>
          </a:ln>
        </p:spPr>
        <p:txBody>
          <a:bodyPr/>
          <a:lstStyle/>
          <a:p>
            <a:endParaRPr lang="en-AU"/>
          </a:p>
        </p:txBody>
      </p:sp>
      <p:sp>
        <p:nvSpPr>
          <p:cNvPr id="9" name="Shape 7"/>
          <p:cNvSpPr/>
          <p:nvPr/>
        </p:nvSpPr>
        <p:spPr>
          <a:xfrm>
            <a:off x="5184577" y="3062407"/>
            <a:ext cx="91440" cy="3411974"/>
          </a:xfrm>
          <a:prstGeom prst="roundRect">
            <a:avLst>
              <a:gd name="adj" fmla="val 91163"/>
            </a:avLst>
          </a:prstGeom>
          <a:solidFill>
            <a:srgbClr val="835E54"/>
          </a:solidFill>
          <a:ln/>
        </p:spPr>
        <p:txBody>
          <a:bodyPr/>
          <a:lstStyle/>
          <a:p>
            <a:endParaRPr lang="en-AU"/>
          </a:p>
        </p:txBody>
      </p:sp>
      <p:sp>
        <p:nvSpPr>
          <p:cNvPr id="10" name="Text 8"/>
          <p:cNvSpPr/>
          <p:nvPr/>
        </p:nvSpPr>
        <p:spPr>
          <a:xfrm>
            <a:off x="5497235" y="328362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The Guest</a:t>
            </a:r>
            <a:endParaRPr lang="en-US" sz="1950" dirty="0"/>
          </a:p>
        </p:txBody>
      </p:sp>
      <p:sp>
        <p:nvSpPr>
          <p:cNvPr id="11" name="Text 9"/>
          <p:cNvSpPr/>
          <p:nvPr/>
        </p:nvSpPr>
        <p:spPr>
          <a:xfrm>
            <a:off x="5497235" y="3712845"/>
            <a:ext cx="3704392" cy="254031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Asher Wright — Army veteran, educator, and host of the </a:t>
            </a:r>
            <a:r>
              <a:rPr lang="en-US" sz="1550" i="1" dirty="0">
                <a:solidFill>
                  <a:srgbClr val="443728"/>
                </a:solidFill>
                <a:latin typeface="Open Sans" pitchFamily="34" charset="0"/>
                <a:ea typeface="Open Sans" pitchFamily="34" charset="-122"/>
                <a:cs typeface="Open Sans" pitchFamily="34" charset="-120"/>
              </a:rPr>
              <a:t>Memoirs to Millions</a:t>
            </a:r>
            <a:r>
              <a:rPr lang="en-US" sz="1550" dirty="0">
                <a:solidFill>
                  <a:srgbClr val="443728"/>
                </a:solidFill>
                <a:latin typeface="Open Sans" pitchFamily="34" charset="0"/>
                <a:ea typeface="Open Sans" pitchFamily="34" charset="-122"/>
                <a:cs typeface="Open Sans" pitchFamily="34" charset="-120"/>
              </a:rPr>
              <a:t> podcast — invited me onto his show for a conversation about gap years, identity, structure, and what it means to truly live with awareness. This episode is now part of the Breaking Mental Models channel.</a:t>
            </a:r>
            <a:endParaRPr lang="en-US" sz="1550" dirty="0"/>
          </a:p>
        </p:txBody>
      </p:sp>
      <p:sp>
        <p:nvSpPr>
          <p:cNvPr id="12" name="Shape 10"/>
          <p:cNvSpPr/>
          <p:nvPr/>
        </p:nvSpPr>
        <p:spPr>
          <a:xfrm>
            <a:off x="9621203" y="3062407"/>
            <a:ext cx="4215289" cy="3411974"/>
          </a:xfrm>
          <a:prstGeom prst="roundRect">
            <a:avLst>
              <a:gd name="adj" fmla="val 3216"/>
            </a:avLst>
          </a:prstGeom>
          <a:solidFill>
            <a:srgbClr val="FFFCFA"/>
          </a:solidFill>
          <a:ln w="22860">
            <a:solidFill>
              <a:srgbClr val="D1C8C6"/>
            </a:solidFill>
            <a:prstDash val="solid"/>
          </a:ln>
        </p:spPr>
        <p:txBody>
          <a:bodyPr/>
          <a:lstStyle/>
          <a:p>
            <a:endParaRPr lang="en-AU"/>
          </a:p>
        </p:txBody>
      </p:sp>
      <p:sp>
        <p:nvSpPr>
          <p:cNvPr id="13" name="Shape 11"/>
          <p:cNvSpPr/>
          <p:nvPr/>
        </p:nvSpPr>
        <p:spPr>
          <a:xfrm>
            <a:off x="9598343" y="3062407"/>
            <a:ext cx="91440" cy="3411974"/>
          </a:xfrm>
          <a:prstGeom prst="roundRect">
            <a:avLst>
              <a:gd name="adj" fmla="val 91163"/>
            </a:avLst>
          </a:prstGeom>
          <a:solidFill>
            <a:srgbClr val="835E54"/>
          </a:solidFill>
          <a:ln/>
        </p:spPr>
        <p:txBody>
          <a:bodyPr/>
          <a:lstStyle/>
          <a:p>
            <a:endParaRPr lang="en-AU"/>
          </a:p>
        </p:txBody>
      </p:sp>
      <p:sp>
        <p:nvSpPr>
          <p:cNvPr id="14" name="Text 12"/>
          <p:cNvSpPr/>
          <p:nvPr/>
        </p:nvSpPr>
        <p:spPr>
          <a:xfrm>
            <a:off x="9911001" y="328362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Recorded</a:t>
            </a:r>
            <a:endParaRPr lang="en-US" sz="1950" dirty="0"/>
          </a:p>
        </p:txBody>
      </p:sp>
      <p:sp>
        <p:nvSpPr>
          <p:cNvPr id="15" name="Text 13"/>
          <p:cNvSpPr/>
          <p:nvPr/>
        </p:nvSpPr>
        <p:spPr>
          <a:xfrm>
            <a:off x="9911001" y="3712845"/>
            <a:ext cx="3704273" cy="158769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Thursday, 2 April 2026 | 4:30 PM ET — Originally broadcast on Memoirs to Millions. Shared here because the conversation was too important not to amplify.</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269683"/>
            <a:ext cx="4921448"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Memoirs to Millions × Breaking Mental Models</a:t>
            </a:r>
            <a:endParaRPr lang="en-US" sz="1950" dirty="0"/>
          </a:p>
        </p:txBody>
      </p:sp>
      <p:sp>
        <p:nvSpPr>
          <p:cNvPr id="3" name="Text 1"/>
          <p:cNvSpPr/>
          <p:nvPr/>
        </p:nvSpPr>
        <p:spPr>
          <a:xfrm>
            <a:off x="793790" y="1659136"/>
            <a:ext cx="8197929"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Three Anchors. One Real Conversation.</a:t>
            </a:r>
            <a:endParaRPr lang="en-US" sz="3900" dirty="0"/>
          </a:p>
        </p:txBody>
      </p:sp>
      <p:pic>
        <p:nvPicPr>
          <p:cNvPr id="4" name="Image 0" descr="preencoded.png"/>
          <p:cNvPicPr>
            <a:picLocks noChangeAspect="1"/>
          </p:cNvPicPr>
          <p:nvPr/>
        </p:nvPicPr>
        <p:blipFill>
          <a:blip r:embed="rId3"/>
          <a:stretch>
            <a:fillRect/>
          </a:stretch>
        </p:blipFill>
        <p:spPr>
          <a:xfrm>
            <a:off x="793790" y="2576870"/>
            <a:ext cx="992267" cy="1461016"/>
          </a:xfrm>
          <a:prstGeom prst="rect">
            <a:avLst/>
          </a:prstGeom>
        </p:spPr>
      </p:pic>
      <p:sp>
        <p:nvSpPr>
          <p:cNvPr id="5" name="Text 2"/>
          <p:cNvSpPr/>
          <p:nvPr/>
        </p:nvSpPr>
        <p:spPr>
          <a:xfrm>
            <a:off x="1984415" y="2775228"/>
            <a:ext cx="2486620"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Anchor 1 — Ice &amp; Water</a:t>
            </a:r>
            <a:endParaRPr lang="en-US" sz="1950" dirty="0"/>
          </a:p>
        </p:txBody>
      </p:sp>
      <p:sp>
        <p:nvSpPr>
          <p:cNvPr id="6" name="Text 3"/>
          <p:cNvSpPr/>
          <p:nvPr/>
        </p:nvSpPr>
        <p:spPr>
          <a:xfrm>
            <a:off x="1984415" y="3204448"/>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Neither ice nor water has agency. The environment creates the change. So what does a gap year need to look like to actually </a:t>
            </a:r>
            <a:r>
              <a:rPr lang="en-US" sz="1550" i="1" dirty="0">
                <a:solidFill>
                  <a:srgbClr val="443728"/>
                </a:solidFill>
                <a:latin typeface="Open Sans" pitchFamily="34" charset="0"/>
                <a:ea typeface="Open Sans" pitchFamily="34" charset="-122"/>
                <a:cs typeface="Open Sans" pitchFamily="34" charset="-120"/>
              </a:rPr>
              <a:t>shift</a:t>
            </a:r>
            <a:r>
              <a:rPr lang="en-US" sz="1550" dirty="0">
                <a:solidFill>
                  <a:srgbClr val="443728"/>
                </a:solidFill>
                <a:latin typeface="Open Sans" pitchFamily="34" charset="0"/>
                <a:ea typeface="Open Sans" pitchFamily="34" charset="-122"/>
                <a:cs typeface="Open Sans" pitchFamily="34" charset="-120"/>
              </a:rPr>
              <a:t> the environment — rather than just pause it?</a:t>
            </a:r>
            <a:endParaRPr lang="en-US" sz="1550" dirty="0"/>
          </a:p>
        </p:txBody>
      </p:sp>
      <p:pic>
        <p:nvPicPr>
          <p:cNvPr id="7" name="Image 1" descr="preencoded.png"/>
          <p:cNvPicPr>
            <a:picLocks noChangeAspect="1"/>
          </p:cNvPicPr>
          <p:nvPr/>
        </p:nvPicPr>
        <p:blipFill>
          <a:blip r:embed="rId4"/>
          <a:stretch>
            <a:fillRect/>
          </a:stretch>
        </p:blipFill>
        <p:spPr>
          <a:xfrm>
            <a:off x="793790" y="4037886"/>
            <a:ext cx="992267" cy="1461016"/>
          </a:xfrm>
          <a:prstGeom prst="rect">
            <a:avLst/>
          </a:prstGeom>
        </p:spPr>
      </p:pic>
      <p:sp>
        <p:nvSpPr>
          <p:cNvPr id="8" name="Text 4"/>
          <p:cNvSpPr/>
          <p:nvPr/>
        </p:nvSpPr>
        <p:spPr>
          <a:xfrm>
            <a:off x="1984415" y="4236244"/>
            <a:ext cx="418909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Anchor 2 — When Structure Disappears</a:t>
            </a:r>
            <a:endParaRPr lang="en-US" sz="1950" dirty="0"/>
          </a:p>
        </p:txBody>
      </p:sp>
      <p:sp>
        <p:nvSpPr>
          <p:cNvPr id="9" name="Text 5"/>
          <p:cNvSpPr/>
          <p:nvPr/>
        </p:nvSpPr>
        <p:spPr>
          <a:xfrm>
            <a:off x="1984415" y="4665464"/>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After 22 years in the military, Asher took a sabbatical — and the emotions he'd been outrunning for decades caught up. We explore what happens in that first moment when the scaffolding falls away.</a:t>
            </a:r>
            <a:endParaRPr lang="en-US" sz="1550" dirty="0"/>
          </a:p>
        </p:txBody>
      </p:sp>
      <p:pic>
        <p:nvPicPr>
          <p:cNvPr id="10" name="Image 2" descr="preencoded.png"/>
          <p:cNvPicPr>
            <a:picLocks noChangeAspect="1"/>
          </p:cNvPicPr>
          <p:nvPr/>
        </p:nvPicPr>
        <p:blipFill>
          <a:blip r:embed="rId5"/>
          <a:stretch>
            <a:fillRect/>
          </a:stretch>
        </p:blipFill>
        <p:spPr>
          <a:xfrm>
            <a:off x="793790" y="5498902"/>
            <a:ext cx="992267" cy="1461016"/>
          </a:xfrm>
          <a:prstGeom prst="rect">
            <a:avLst/>
          </a:prstGeom>
        </p:spPr>
      </p:pic>
      <p:sp>
        <p:nvSpPr>
          <p:cNvPr id="11" name="Text 6"/>
          <p:cNvSpPr/>
          <p:nvPr/>
        </p:nvSpPr>
        <p:spPr>
          <a:xfrm>
            <a:off x="1984415" y="5697260"/>
            <a:ext cx="3656767"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Anchor 3 — Time On, Not Time Off</a:t>
            </a:r>
            <a:endParaRPr lang="en-US" sz="1950" dirty="0"/>
          </a:p>
        </p:txBody>
      </p:sp>
      <p:sp>
        <p:nvSpPr>
          <p:cNvPr id="12" name="Text 7"/>
          <p:cNvSpPr/>
          <p:nvPr/>
        </p:nvSpPr>
        <p:spPr>
          <a:xfrm>
            <a:off x="1984415" y="6126480"/>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Awareness is the elixir of life. Most people treat a gap year as time off. We ask: how does it become time </a:t>
            </a:r>
            <a:r>
              <a:rPr lang="en-US" sz="1550" i="1" dirty="0">
                <a:solidFill>
                  <a:srgbClr val="443728"/>
                </a:solidFill>
                <a:latin typeface="Open Sans" pitchFamily="34" charset="0"/>
                <a:ea typeface="Open Sans" pitchFamily="34" charset="-122"/>
                <a:cs typeface="Open Sans" pitchFamily="34" charset="-120"/>
              </a:rPr>
              <a:t>on</a:t>
            </a:r>
            <a:r>
              <a:rPr lang="en-US" sz="1550" dirty="0">
                <a:solidFill>
                  <a:srgbClr val="443728"/>
                </a:solidFill>
                <a:latin typeface="Open Sans" pitchFamily="34" charset="0"/>
                <a:ea typeface="Open Sans" pitchFamily="34" charset="-122"/>
                <a:cs typeface="Open Sans" pitchFamily="34" charset="-120"/>
              </a:rPr>
              <a:t>? And what does that distinction cost you if you get it wrong?</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16963"/>
            <a:ext cx="4578548"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From the Memoirs to Millions Conversation</a:t>
            </a:r>
            <a:endParaRPr lang="en-US" sz="1950" dirty="0"/>
          </a:p>
        </p:txBody>
      </p:sp>
      <p:sp>
        <p:nvSpPr>
          <p:cNvPr id="4" name="Text 1"/>
          <p:cNvSpPr/>
          <p:nvPr/>
        </p:nvSpPr>
        <p:spPr>
          <a:xfrm>
            <a:off x="6280190" y="1806416"/>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The Questions That Went Somewhere Unexpected</a:t>
            </a:r>
            <a:endParaRPr lang="en-US" sz="3900" dirty="0"/>
          </a:p>
        </p:txBody>
      </p:sp>
      <p:sp>
        <p:nvSpPr>
          <p:cNvPr id="5" name="Shape 2"/>
          <p:cNvSpPr/>
          <p:nvPr/>
        </p:nvSpPr>
        <p:spPr>
          <a:xfrm>
            <a:off x="6280190" y="3344228"/>
            <a:ext cx="3679031" cy="1793796"/>
          </a:xfrm>
          <a:prstGeom prst="roundRect">
            <a:avLst>
              <a:gd name="adj" fmla="val 4647"/>
            </a:avLst>
          </a:prstGeom>
          <a:solidFill>
            <a:srgbClr val="EBE2E0"/>
          </a:solidFill>
          <a:ln w="7620">
            <a:solidFill>
              <a:srgbClr val="D1C8C6"/>
            </a:solidFill>
            <a:prstDash val="solid"/>
          </a:ln>
        </p:spPr>
        <p:txBody>
          <a:bodyPr/>
          <a:lstStyle/>
          <a:p>
            <a:endParaRPr lang="en-AU"/>
          </a:p>
        </p:txBody>
      </p:sp>
      <p:sp>
        <p:nvSpPr>
          <p:cNvPr id="6" name="Text 3"/>
          <p:cNvSpPr/>
          <p:nvPr/>
        </p:nvSpPr>
        <p:spPr>
          <a:xfrm>
            <a:off x="6486168" y="3550206"/>
            <a:ext cx="2575084"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Front Stage vs Backstage</a:t>
            </a:r>
            <a:endParaRPr lang="en-US" sz="1950" dirty="0"/>
          </a:p>
        </p:txBody>
      </p:sp>
      <p:sp>
        <p:nvSpPr>
          <p:cNvPr id="7" name="Text 4"/>
          <p:cNvSpPr/>
          <p:nvPr/>
        </p:nvSpPr>
        <p:spPr>
          <a:xfrm>
            <a:off x="6486168" y="3979426"/>
            <a:ext cx="3267075"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What do people see on the outside — and what is actually happening behind the scenes?</a:t>
            </a:r>
            <a:endParaRPr lang="en-US" sz="1550" dirty="0"/>
          </a:p>
        </p:txBody>
      </p:sp>
      <p:sp>
        <p:nvSpPr>
          <p:cNvPr id="8" name="Shape 5"/>
          <p:cNvSpPr/>
          <p:nvPr/>
        </p:nvSpPr>
        <p:spPr>
          <a:xfrm>
            <a:off x="10157579" y="3344228"/>
            <a:ext cx="3679031" cy="1793796"/>
          </a:xfrm>
          <a:prstGeom prst="roundRect">
            <a:avLst>
              <a:gd name="adj" fmla="val 4647"/>
            </a:avLst>
          </a:prstGeom>
          <a:solidFill>
            <a:srgbClr val="EBE2E0"/>
          </a:solidFill>
          <a:ln w="7620">
            <a:solidFill>
              <a:srgbClr val="D1C8C6"/>
            </a:solidFill>
            <a:prstDash val="solid"/>
          </a:ln>
        </p:spPr>
        <p:txBody>
          <a:bodyPr/>
          <a:lstStyle/>
          <a:p>
            <a:endParaRPr lang="en-AU"/>
          </a:p>
        </p:txBody>
      </p:sp>
      <p:sp>
        <p:nvSpPr>
          <p:cNvPr id="9" name="Text 6"/>
          <p:cNvSpPr/>
          <p:nvPr/>
        </p:nvSpPr>
        <p:spPr>
          <a:xfrm>
            <a:off x="10363557" y="3550206"/>
            <a:ext cx="3131106"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Who Are You Being a Hero To?</a:t>
            </a:r>
            <a:endParaRPr lang="en-US" sz="1950" dirty="0"/>
          </a:p>
        </p:txBody>
      </p:sp>
      <p:sp>
        <p:nvSpPr>
          <p:cNvPr id="10" name="Text 7"/>
          <p:cNvSpPr/>
          <p:nvPr/>
        </p:nvSpPr>
        <p:spPr>
          <a:xfrm>
            <a:off x="10363557" y="3979426"/>
            <a:ext cx="3267075"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Not in the abstract. Right now. Specifically. Who needs your best version — and are they getting it?</a:t>
            </a:r>
            <a:endParaRPr lang="en-US" sz="1550" dirty="0"/>
          </a:p>
        </p:txBody>
      </p:sp>
      <p:sp>
        <p:nvSpPr>
          <p:cNvPr id="11" name="Shape 8"/>
          <p:cNvSpPr/>
          <p:nvPr/>
        </p:nvSpPr>
        <p:spPr>
          <a:xfrm>
            <a:off x="6280190" y="5336381"/>
            <a:ext cx="7556421" cy="1476256"/>
          </a:xfrm>
          <a:prstGeom prst="roundRect">
            <a:avLst>
              <a:gd name="adj" fmla="val 5647"/>
            </a:avLst>
          </a:prstGeom>
          <a:solidFill>
            <a:srgbClr val="EBE2E0"/>
          </a:solidFill>
          <a:ln w="7620">
            <a:solidFill>
              <a:srgbClr val="D1C8C6"/>
            </a:solidFill>
            <a:prstDash val="solid"/>
          </a:ln>
        </p:spPr>
        <p:txBody>
          <a:bodyPr/>
          <a:lstStyle/>
          <a:p>
            <a:endParaRPr lang="en-AU"/>
          </a:p>
        </p:txBody>
      </p:sp>
      <p:sp>
        <p:nvSpPr>
          <p:cNvPr id="12" name="Text 9"/>
          <p:cNvSpPr/>
          <p:nvPr/>
        </p:nvSpPr>
        <p:spPr>
          <a:xfrm>
            <a:off x="6486168" y="554235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Two Versions of You</a:t>
            </a:r>
            <a:endParaRPr lang="en-US" sz="1950" dirty="0"/>
          </a:p>
        </p:txBody>
      </p:sp>
      <p:sp>
        <p:nvSpPr>
          <p:cNvPr id="13" name="Text 10"/>
          <p:cNvSpPr/>
          <p:nvPr/>
        </p:nvSpPr>
        <p:spPr>
          <a:xfrm>
            <a:off x="6486168" y="5971580"/>
            <a:ext cx="7144464"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The version of you that stayed after the hard parts — versus the version you built for other people. Which one shows up most?</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82533" y="1971080"/>
            <a:ext cx="1743432" cy="193715"/>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Crimson Pro Bold" pitchFamily="34" charset="0"/>
                <a:ea typeface="Crimson Pro Bold" pitchFamily="34" charset="-122"/>
                <a:cs typeface="Crimson Pro Bold" pitchFamily="34" charset="-120"/>
              </a:rPr>
              <a:t>🎙</a:t>
            </a:r>
            <a:r>
              <a:rPr lang="en-US" sz="1200" b="1" dirty="0">
                <a:solidFill>
                  <a:srgbClr val="443728"/>
                </a:solidFill>
                <a:latin typeface="Crimson Pro Bold" pitchFamily="34" charset="0"/>
                <a:ea typeface="Crimson Pro Bold" pitchFamily="34" charset="-122"/>
                <a:cs typeface="Crimson Pro Bold" pitchFamily="34" charset="-120"/>
              </a:rPr>
              <a:t> Episode 01 — Now Live</a:t>
            </a:r>
            <a:endParaRPr lang="en-US" sz="1200" dirty="0"/>
          </a:p>
        </p:txBody>
      </p:sp>
      <p:sp>
        <p:nvSpPr>
          <p:cNvPr id="4" name="Text 1"/>
          <p:cNvSpPr/>
          <p:nvPr/>
        </p:nvSpPr>
        <p:spPr>
          <a:xfrm>
            <a:off x="5982533" y="2195751"/>
            <a:ext cx="6152436" cy="387668"/>
          </a:xfrm>
          <a:prstGeom prst="rect">
            <a:avLst/>
          </a:prstGeom>
          <a:noFill/>
          <a:ln/>
        </p:spPr>
        <p:txBody>
          <a:bodyPr wrap="none" lIns="0" tIns="0" rIns="0" bIns="0" rtlCol="0" anchor="t"/>
          <a:lstStyle/>
          <a:p>
            <a:pPr marL="0" indent="0" algn="l">
              <a:lnSpc>
                <a:spcPts val="3050"/>
              </a:lnSpc>
              <a:buNone/>
            </a:pPr>
            <a:r>
              <a:rPr lang="en-US" sz="2400" b="1" dirty="0">
                <a:solidFill>
                  <a:srgbClr val="443728"/>
                </a:solidFill>
                <a:latin typeface="Crimson Pro Bold" pitchFamily="34" charset="0"/>
                <a:ea typeface="Crimson Pro Bold" pitchFamily="34" charset="-122"/>
                <a:cs typeface="Crimson Pro Bold" pitchFamily="34" charset="-120"/>
              </a:rPr>
              <a:t>Memoirs to Millions × Breaking Mental Models</a:t>
            </a:r>
            <a:endParaRPr lang="en-US" sz="2400" dirty="0"/>
          </a:p>
        </p:txBody>
      </p:sp>
      <p:sp>
        <p:nvSpPr>
          <p:cNvPr id="5" name="Text 2"/>
          <p:cNvSpPr/>
          <p:nvPr/>
        </p:nvSpPr>
        <p:spPr>
          <a:xfrm>
            <a:off x="5982533" y="2699623"/>
            <a:ext cx="8151733" cy="161211"/>
          </a:xfrm>
          <a:prstGeom prst="rect">
            <a:avLst/>
          </a:prstGeom>
          <a:noFill/>
          <a:ln/>
        </p:spPr>
        <p:txBody>
          <a:bodyPr wrap="none" lIns="0" tIns="0" rIns="0" bIns="0" rtlCol="0" anchor="t"/>
          <a:lstStyle/>
          <a:p>
            <a:pPr marL="0" indent="0" algn="l">
              <a:lnSpc>
                <a:spcPts val="1250"/>
              </a:lnSpc>
              <a:buNone/>
            </a:pPr>
            <a:r>
              <a:rPr lang="en-US" sz="950" b="1" dirty="0">
                <a:solidFill>
                  <a:srgbClr val="000000"/>
                </a:solidFill>
                <a:latin typeface="Open Sans" pitchFamily="34" charset="0"/>
                <a:ea typeface="Open Sans" pitchFamily="34" charset="-122"/>
                <a:cs typeface="Open Sans" pitchFamily="34" charset="-120"/>
              </a:rPr>
              <a:t>▶</a:t>
            </a:r>
            <a:r>
              <a:rPr lang="en-US" sz="950" dirty="0">
                <a:solidFill>
                  <a:srgbClr val="443728"/>
                </a:solidFill>
                <a:latin typeface="Open Sans" pitchFamily="34" charset="0"/>
                <a:ea typeface="Open Sans" pitchFamily="34" charset="-122"/>
                <a:cs typeface="Open Sans" pitchFamily="34" charset="-120"/>
              </a:rPr>
              <a:t> Listen to the Full Episode</a:t>
            </a:r>
            <a:endParaRPr lang="en-US" sz="950" dirty="0"/>
          </a:p>
        </p:txBody>
      </p:sp>
      <p:sp>
        <p:nvSpPr>
          <p:cNvPr id="6" name="Text 3"/>
          <p:cNvSpPr/>
          <p:nvPr/>
        </p:nvSpPr>
        <p:spPr>
          <a:xfrm>
            <a:off x="5982533" y="2947988"/>
            <a:ext cx="8151733" cy="161211"/>
          </a:xfrm>
          <a:prstGeom prst="rect">
            <a:avLst/>
          </a:prstGeom>
          <a:noFill/>
          <a:ln/>
        </p:spPr>
        <p:txBody>
          <a:bodyPr wrap="none" lIns="0" tIns="0" rIns="0" bIns="0" rtlCol="0" anchor="t"/>
          <a:lstStyle/>
          <a:p>
            <a:pPr marL="0" indent="0" algn="l">
              <a:lnSpc>
                <a:spcPts val="1250"/>
              </a:lnSpc>
              <a:buNone/>
            </a:pPr>
            <a:r>
              <a:rPr lang="en-US" sz="950" dirty="0">
                <a:solidFill>
                  <a:srgbClr val="443728"/>
                </a:solidFill>
                <a:latin typeface="Open Sans" pitchFamily="34" charset="0"/>
                <a:ea typeface="Open Sans" pitchFamily="34" charset="-122"/>
                <a:cs typeface="Open Sans" pitchFamily="34" charset="-120"/>
              </a:rPr>
              <a:t>[Link coming — paste your episode URL here]</a:t>
            </a:r>
            <a:endParaRPr lang="en-US" sz="950" dirty="0"/>
          </a:p>
        </p:txBody>
      </p:sp>
      <p:sp>
        <p:nvSpPr>
          <p:cNvPr id="7" name="Text 4"/>
          <p:cNvSpPr/>
          <p:nvPr/>
        </p:nvSpPr>
        <p:spPr>
          <a:xfrm>
            <a:off x="5982533" y="3196352"/>
            <a:ext cx="8151733" cy="161211"/>
          </a:xfrm>
          <a:prstGeom prst="rect">
            <a:avLst/>
          </a:prstGeom>
          <a:noFill/>
          <a:ln/>
        </p:spPr>
        <p:txBody>
          <a:bodyPr wrap="none" lIns="0" tIns="0" rIns="0" bIns="0" rtlCol="0" anchor="t"/>
          <a:lstStyle/>
          <a:p>
            <a:pPr marL="0" indent="0" algn="l">
              <a:lnSpc>
                <a:spcPts val="1250"/>
              </a:lnSpc>
              <a:buNone/>
            </a:pPr>
            <a:r>
              <a:rPr lang="en-US" sz="950" dirty="0">
                <a:solidFill>
                  <a:srgbClr val="443728"/>
                </a:solidFill>
                <a:latin typeface="Open Sans" pitchFamily="34" charset="0"/>
                <a:ea typeface="Open Sans" pitchFamily="34" charset="-122"/>
                <a:cs typeface="Open Sans" pitchFamily="34" charset="-120"/>
              </a:rPr>
              <a:t>Recorded: Thursday, 2 April 2026 | 4:30 PM ET</a:t>
            </a:r>
            <a:endParaRPr lang="en-US" sz="950" dirty="0"/>
          </a:p>
        </p:txBody>
      </p:sp>
      <p:sp>
        <p:nvSpPr>
          <p:cNvPr id="8" name="Shape 5"/>
          <p:cNvSpPr/>
          <p:nvPr/>
        </p:nvSpPr>
        <p:spPr>
          <a:xfrm>
            <a:off x="5982533" y="3444716"/>
            <a:ext cx="4037052" cy="1163360"/>
          </a:xfrm>
          <a:prstGeom prst="roundRect">
            <a:avLst>
              <a:gd name="adj" fmla="val 6288"/>
            </a:avLst>
          </a:prstGeom>
          <a:solidFill>
            <a:srgbClr val="FFFCFA"/>
          </a:solidFill>
          <a:ln w="15240">
            <a:solidFill>
              <a:srgbClr val="D1C8C6"/>
            </a:solidFill>
            <a:prstDash val="solid"/>
          </a:ln>
        </p:spPr>
        <p:txBody>
          <a:bodyPr/>
          <a:lstStyle/>
          <a:p>
            <a:endParaRPr lang="en-AU"/>
          </a:p>
        </p:txBody>
      </p:sp>
      <p:sp>
        <p:nvSpPr>
          <p:cNvPr id="9" name="Shape 6"/>
          <p:cNvSpPr/>
          <p:nvPr/>
        </p:nvSpPr>
        <p:spPr>
          <a:xfrm>
            <a:off x="5967293" y="3444716"/>
            <a:ext cx="60960" cy="1163360"/>
          </a:xfrm>
          <a:prstGeom prst="roundRect">
            <a:avLst>
              <a:gd name="adj" fmla="val 85465"/>
            </a:avLst>
          </a:prstGeom>
          <a:solidFill>
            <a:srgbClr val="835E54"/>
          </a:solidFill>
          <a:ln/>
        </p:spPr>
        <p:txBody>
          <a:bodyPr/>
          <a:lstStyle/>
          <a:p>
            <a:endParaRPr lang="en-AU"/>
          </a:p>
        </p:txBody>
      </p:sp>
      <p:sp>
        <p:nvSpPr>
          <p:cNvPr id="10" name="Text 7"/>
          <p:cNvSpPr/>
          <p:nvPr/>
        </p:nvSpPr>
        <p:spPr>
          <a:xfrm>
            <a:off x="6167437" y="3583900"/>
            <a:ext cx="1550551" cy="193715"/>
          </a:xfrm>
          <a:prstGeom prst="rect">
            <a:avLst/>
          </a:prstGeom>
          <a:noFill/>
          <a:ln/>
        </p:spPr>
        <p:txBody>
          <a:bodyPr wrap="none" lIns="0" tIns="0" rIns="0" bIns="0" rtlCol="0" anchor="t"/>
          <a:lstStyle/>
          <a:p>
            <a:pPr marL="0" indent="0" algn="l">
              <a:lnSpc>
                <a:spcPts val="1500"/>
              </a:lnSpc>
              <a:buNone/>
            </a:pPr>
            <a:r>
              <a:rPr lang="en-US" sz="1200" b="1" dirty="0">
                <a:solidFill>
                  <a:srgbClr val="443728"/>
                </a:solidFill>
                <a:latin typeface="Crimson Pro Bold" pitchFamily="34" charset="0"/>
                <a:ea typeface="Crimson Pro Bold" pitchFamily="34" charset="-122"/>
                <a:cs typeface="Crimson Pro Bold" pitchFamily="34" charset="-120"/>
              </a:rPr>
              <a:t>Item 1 — The Guest</a:t>
            </a:r>
            <a:endParaRPr lang="en-US" sz="1200" dirty="0"/>
          </a:p>
        </p:txBody>
      </p:sp>
      <p:sp>
        <p:nvSpPr>
          <p:cNvPr id="11" name="Text 8"/>
          <p:cNvSpPr/>
          <p:nvPr/>
        </p:nvSpPr>
        <p:spPr>
          <a:xfrm>
            <a:off x="6167437" y="3824049"/>
            <a:ext cx="3712964" cy="644843"/>
          </a:xfrm>
          <a:prstGeom prst="rect">
            <a:avLst/>
          </a:prstGeom>
          <a:noFill/>
          <a:ln/>
        </p:spPr>
        <p:txBody>
          <a:bodyPr wrap="square" lIns="0" tIns="0" rIns="0" bIns="0" rtlCol="0" anchor="t"/>
          <a:lstStyle/>
          <a:p>
            <a:pPr marL="0" indent="0" algn="l">
              <a:lnSpc>
                <a:spcPts val="1250"/>
              </a:lnSpc>
              <a:buNone/>
            </a:pPr>
            <a:r>
              <a:rPr lang="en-US" sz="950" dirty="0">
                <a:solidFill>
                  <a:srgbClr val="443728"/>
                </a:solidFill>
                <a:latin typeface="Open Sans" pitchFamily="34" charset="0"/>
                <a:ea typeface="Open Sans" pitchFamily="34" charset="-122"/>
                <a:cs typeface="Open Sans" pitchFamily="34" charset="-120"/>
              </a:rPr>
              <a:t>Asher Wright — Army veteran, educator, and host of the Memoirs to Millions podcast. 22 years of military service. A man who knows what it means when the structure that defined you suddenly disappears.</a:t>
            </a:r>
            <a:endParaRPr lang="en-US" sz="950" dirty="0"/>
          </a:p>
        </p:txBody>
      </p:sp>
      <p:sp>
        <p:nvSpPr>
          <p:cNvPr id="12" name="Shape 9"/>
          <p:cNvSpPr/>
          <p:nvPr/>
        </p:nvSpPr>
        <p:spPr>
          <a:xfrm>
            <a:off x="10097095" y="3444716"/>
            <a:ext cx="4037171" cy="1163360"/>
          </a:xfrm>
          <a:prstGeom prst="roundRect">
            <a:avLst>
              <a:gd name="adj" fmla="val 6288"/>
            </a:avLst>
          </a:prstGeom>
          <a:solidFill>
            <a:srgbClr val="FFFCFA"/>
          </a:solidFill>
          <a:ln w="15240">
            <a:solidFill>
              <a:srgbClr val="D1C8C6"/>
            </a:solidFill>
            <a:prstDash val="solid"/>
          </a:ln>
        </p:spPr>
        <p:txBody>
          <a:bodyPr/>
          <a:lstStyle/>
          <a:p>
            <a:endParaRPr lang="en-AU"/>
          </a:p>
        </p:txBody>
      </p:sp>
      <p:sp>
        <p:nvSpPr>
          <p:cNvPr id="13" name="Shape 10"/>
          <p:cNvSpPr/>
          <p:nvPr/>
        </p:nvSpPr>
        <p:spPr>
          <a:xfrm>
            <a:off x="10081855" y="3444716"/>
            <a:ext cx="60960" cy="1163360"/>
          </a:xfrm>
          <a:prstGeom prst="roundRect">
            <a:avLst>
              <a:gd name="adj" fmla="val 85465"/>
            </a:avLst>
          </a:prstGeom>
          <a:solidFill>
            <a:srgbClr val="835E54"/>
          </a:solidFill>
          <a:ln/>
        </p:spPr>
        <p:txBody>
          <a:bodyPr/>
          <a:lstStyle/>
          <a:p>
            <a:endParaRPr lang="en-AU"/>
          </a:p>
        </p:txBody>
      </p:sp>
      <p:sp>
        <p:nvSpPr>
          <p:cNvPr id="14" name="Text 11"/>
          <p:cNvSpPr/>
          <p:nvPr/>
        </p:nvSpPr>
        <p:spPr>
          <a:xfrm>
            <a:off x="10281999" y="3583900"/>
            <a:ext cx="1550551" cy="193715"/>
          </a:xfrm>
          <a:prstGeom prst="rect">
            <a:avLst/>
          </a:prstGeom>
          <a:noFill/>
          <a:ln/>
        </p:spPr>
        <p:txBody>
          <a:bodyPr wrap="none" lIns="0" tIns="0" rIns="0" bIns="0" rtlCol="0" anchor="t"/>
          <a:lstStyle/>
          <a:p>
            <a:pPr marL="0" indent="0" algn="l">
              <a:lnSpc>
                <a:spcPts val="1500"/>
              </a:lnSpc>
              <a:buNone/>
            </a:pPr>
            <a:r>
              <a:rPr lang="en-US" sz="1200" b="1" dirty="0">
                <a:solidFill>
                  <a:srgbClr val="443728"/>
                </a:solidFill>
                <a:latin typeface="Crimson Pro Bold" pitchFamily="34" charset="0"/>
                <a:ea typeface="Crimson Pro Bold" pitchFamily="34" charset="-122"/>
                <a:cs typeface="Crimson Pro Bold" pitchFamily="34" charset="-120"/>
              </a:rPr>
              <a:t>Item 2 — The Setup</a:t>
            </a:r>
            <a:endParaRPr lang="en-US" sz="1200" dirty="0"/>
          </a:p>
        </p:txBody>
      </p:sp>
      <p:sp>
        <p:nvSpPr>
          <p:cNvPr id="15" name="Text 12"/>
          <p:cNvSpPr/>
          <p:nvPr/>
        </p:nvSpPr>
        <p:spPr>
          <a:xfrm>
            <a:off x="10281999" y="3824049"/>
            <a:ext cx="3713083" cy="644843"/>
          </a:xfrm>
          <a:prstGeom prst="rect">
            <a:avLst/>
          </a:prstGeom>
          <a:noFill/>
          <a:ln/>
        </p:spPr>
        <p:txBody>
          <a:bodyPr wrap="square" lIns="0" tIns="0" rIns="0" bIns="0" rtlCol="0" anchor="t"/>
          <a:lstStyle/>
          <a:p>
            <a:pPr marL="0" indent="0" algn="l">
              <a:lnSpc>
                <a:spcPts val="1250"/>
              </a:lnSpc>
              <a:buNone/>
            </a:pPr>
            <a:r>
              <a:rPr lang="en-US" sz="950" dirty="0">
                <a:solidFill>
                  <a:srgbClr val="443728"/>
                </a:solidFill>
                <a:latin typeface="Open Sans" pitchFamily="34" charset="0"/>
                <a:ea typeface="Open Sans" pitchFamily="34" charset="-122"/>
                <a:cs typeface="Open Sans" pitchFamily="34" charset="-120"/>
              </a:rPr>
              <a:t>Two men who left home at 18. One joined the U.S. Army. The other crossed four countries collecting degrees and building education systems. Both arrived at the same conclusion: the environment shapes the person — not the other way around.</a:t>
            </a:r>
            <a:endParaRPr lang="en-US" sz="950" dirty="0"/>
          </a:p>
        </p:txBody>
      </p:sp>
      <p:sp>
        <p:nvSpPr>
          <p:cNvPr id="16" name="Shape 13"/>
          <p:cNvSpPr/>
          <p:nvPr/>
        </p:nvSpPr>
        <p:spPr>
          <a:xfrm>
            <a:off x="5982533" y="4685586"/>
            <a:ext cx="4037052" cy="1324570"/>
          </a:xfrm>
          <a:prstGeom prst="roundRect">
            <a:avLst>
              <a:gd name="adj" fmla="val 5523"/>
            </a:avLst>
          </a:prstGeom>
          <a:solidFill>
            <a:srgbClr val="FFFCFA"/>
          </a:solidFill>
          <a:ln w="15240">
            <a:solidFill>
              <a:srgbClr val="D1C8C6"/>
            </a:solidFill>
            <a:prstDash val="solid"/>
          </a:ln>
        </p:spPr>
        <p:txBody>
          <a:bodyPr/>
          <a:lstStyle/>
          <a:p>
            <a:endParaRPr lang="en-AU"/>
          </a:p>
        </p:txBody>
      </p:sp>
      <p:sp>
        <p:nvSpPr>
          <p:cNvPr id="17" name="Shape 14"/>
          <p:cNvSpPr/>
          <p:nvPr/>
        </p:nvSpPr>
        <p:spPr>
          <a:xfrm>
            <a:off x="5967293" y="4685586"/>
            <a:ext cx="60960" cy="1324570"/>
          </a:xfrm>
          <a:prstGeom prst="roundRect">
            <a:avLst>
              <a:gd name="adj" fmla="val 85465"/>
            </a:avLst>
          </a:prstGeom>
          <a:solidFill>
            <a:srgbClr val="835E54"/>
          </a:solidFill>
          <a:ln/>
        </p:spPr>
        <p:txBody>
          <a:bodyPr/>
          <a:lstStyle/>
          <a:p>
            <a:endParaRPr lang="en-AU"/>
          </a:p>
        </p:txBody>
      </p:sp>
      <p:sp>
        <p:nvSpPr>
          <p:cNvPr id="18" name="Text 15"/>
          <p:cNvSpPr/>
          <p:nvPr/>
        </p:nvSpPr>
        <p:spPr>
          <a:xfrm>
            <a:off x="6167437" y="4824770"/>
            <a:ext cx="1854041" cy="193715"/>
          </a:xfrm>
          <a:prstGeom prst="rect">
            <a:avLst/>
          </a:prstGeom>
          <a:noFill/>
          <a:ln/>
        </p:spPr>
        <p:txBody>
          <a:bodyPr wrap="none" lIns="0" tIns="0" rIns="0" bIns="0" rtlCol="0" anchor="t"/>
          <a:lstStyle/>
          <a:p>
            <a:pPr marL="0" indent="0" algn="l">
              <a:lnSpc>
                <a:spcPts val="1500"/>
              </a:lnSpc>
              <a:buNone/>
            </a:pPr>
            <a:r>
              <a:rPr lang="en-US" sz="1200" b="1" dirty="0">
                <a:solidFill>
                  <a:srgbClr val="443728"/>
                </a:solidFill>
                <a:latin typeface="Crimson Pro Bold" pitchFamily="34" charset="0"/>
                <a:ea typeface="Crimson Pro Bold" pitchFamily="34" charset="-122"/>
                <a:cs typeface="Crimson Pro Bold" pitchFamily="34" charset="-120"/>
              </a:rPr>
              <a:t>Item 3 — What We Explored</a:t>
            </a:r>
            <a:endParaRPr lang="en-US" sz="1200" dirty="0"/>
          </a:p>
        </p:txBody>
      </p:sp>
      <p:sp>
        <p:nvSpPr>
          <p:cNvPr id="19" name="Text 16"/>
          <p:cNvSpPr/>
          <p:nvPr/>
        </p:nvSpPr>
        <p:spPr>
          <a:xfrm>
            <a:off x="6167437" y="5064919"/>
            <a:ext cx="3712964" cy="806053"/>
          </a:xfrm>
          <a:prstGeom prst="rect">
            <a:avLst/>
          </a:prstGeom>
          <a:noFill/>
          <a:ln/>
        </p:spPr>
        <p:txBody>
          <a:bodyPr wrap="square" lIns="0" tIns="0" rIns="0" bIns="0" rtlCol="0" anchor="t"/>
          <a:lstStyle/>
          <a:p>
            <a:pPr marL="0" indent="0" algn="l">
              <a:lnSpc>
                <a:spcPts val="1250"/>
              </a:lnSpc>
              <a:buNone/>
            </a:pPr>
            <a:r>
              <a:rPr lang="en-US" sz="950" dirty="0">
                <a:solidFill>
                  <a:srgbClr val="443728"/>
                </a:solidFill>
                <a:latin typeface="Open Sans" pitchFamily="34" charset="0"/>
                <a:ea typeface="Open Sans" pitchFamily="34" charset="-122"/>
                <a:cs typeface="Open Sans" pitchFamily="34" charset="-120"/>
              </a:rPr>
              <a:t>Ice &amp; Water — neither has agency; the environment creates the change. What a gap year really needs to look like to shift the environment, not just pause it. What happens when the scaffolding of 22 years falls away overnight. Awareness as the elixir of life — and what it costs you to miss it.</a:t>
            </a:r>
            <a:endParaRPr lang="en-US" sz="950" dirty="0"/>
          </a:p>
        </p:txBody>
      </p:sp>
      <p:sp>
        <p:nvSpPr>
          <p:cNvPr id="20" name="Shape 17"/>
          <p:cNvSpPr/>
          <p:nvPr/>
        </p:nvSpPr>
        <p:spPr>
          <a:xfrm>
            <a:off x="10097095" y="4685586"/>
            <a:ext cx="4037171" cy="1324570"/>
          </a:xfrm>
          <a:prstGeom prst="roundRect">
            <a:avLst>
              <a:gd name="adj" fmla="val 5523"/>
            </a:avLst>
          </a:prstGeom>
          <a:solidFill>
            <a:srgbClr val="FFFCFA"/>
          </a:solidFill>
          <a:ln w="15240">
            <a:solidFill>
              <a:srgbClr val="D1C8C6"/>
            </a:solidFill>
            <a:prstDash val="solid"/>
          </a:ln>
        </p:spPr>
        <p:txBody>
          <a:bodyPr/>
          <a:lstStyle/>
          <a:p>
            <a:endParaRPr lang="en-AU"/>
          </a:p>
        </p:txBody>
      </p:sp>
      <p:sp>
        <p:nvSpPr>
          <p:cNvPr id="21" name="Shape 18"/>
          <p:cNvSpPr/>
          <p:nvPr/>
        </p:nvSpPr>
        <p:spPr>
          <a:xfrm>
            <a:off x="10081855" y="4685586"/>
            <a:ext cx="60960" cy="1324570"/>
          </a:xfrm>
          <a:prstGeom prst="roundRect">
            <a:avLst>
              <a:gd name="adj" fmla="val 85465"/>
            </a:avLst>
          </a:prstGeom>
          <a:solidFill>
            <a:srgbClr val="835E54"/>
          </a:solidFill>
          <a:ln/>
        </p:spPr>
        <p:txBody>
          <a:bodyPr/>
          <a:lstStyle/>
          <a:p>
            <a:endParaRPr lang="en-AU"/>
          </a:p>
        </p:txBody>
      </p:sp>
      <p:sp>
        <p:nvSpPr>
          <p:cNvPr id="22" name="Text 19"/>
          <p:cNvSpPr/>
          <p:nvPr/>
        </p:nvSpPr>
        <p:spPr>
          <a:xfrm>
            <a:off x="10281999" y="4824770"/>
            <a:ext cx="3113127" cy="193715"/>
          </a:xfrm>
          <a:prstGeom prst="rect">
            <a:avLst/>
          </a:prstGeom>
          <a:noFill/>
          <a:ln/>
        </p:spPr>
        <p:txBody>
          <a:bodyPr wrap="none" lIns="0" tIns="0" rIns="0" bIns="0" rtlCol="0" anchor="t"/>
          <a:lstStyle/>
          <a:p>
            <a:pPr marL="0" indent="0" algn="l">
              <a:lnSpc>
                <a:spcPts val="1500"/>
              </a:lnSpc>
              <a:buNone/>
            </a:pPr>
            <a:r>
              <a:rPr lang="en-US" sz="1200" b="1" dirty="0">
                <a:solidFill>
                  <a:srgbClr val="443728"/>
                </a:solidFill>
                <a:latin typeface="Crimson Pro Bold" pitchFamily="34" charset="0"/>
                <a:ea typeface="Crimson Pro Bold" pitchFamily="34" charset="-122"/>
                <a:cs typeface="Crimson Pro Bold" pitchFamily="34" charset="-120"/>
              </a:rPr>
              <a:t>Item 4 — The Questions That Went Somewhere</a:t>
            </a:r>
            <a:endParaRPr lang="en-US" sz="1200" dirty="0"/>
          </a:p>
        </p:txBody>
      </p:sp>
      <p:sp>
        <p:nvSpPr>
          <p:cNvPr id="23" name="Text 20"/>
          <p:cNvSpPr/>
          <p:nvPr/>
        </p:nvSpPr>
        <p:spPr>
          <a:xfrm>
            <a:off x="10281999" y="5064919"/>
            <a:ext cx="3713083" cy="644843"/>
          </a:xfrm>
          <a:prstGeom prst="rect">
            <a:avLst/>
          </a:prstGeom>
          <a:noFill/>
          <a:ln/>
        </p:spPr>
        <p:txBody>
          <a:bodyPr wrap="square" lIns="0" tIns="0" rIns="0" bIns="0" rtlCol="0" anchor="t"/>
          <a:lstStyle/>
          <a:p>
            <a:pPr marL="0" indent="0" algn="l">
              <a:lnSpc>
                <a:spcPts val="1250"/>
              </a:lnSpc>
              <a:buNone/>
            </a:pPr>
            <a:r>
              <a:rPr lang="en-US" sz="950" dirty="0">
                <a:solidFill>
                  <a:srgbClr val="443728"/>
                </a:solidFill>
                <a:latin typeface="Open Sans" pitchFamily="34" charset="0"/>
                <a:ea typeface="Open Sans" pitchFamily="34" charset="-122"/>
                <a:cs typeface="Open Sans" pitchFamily="34" charset="-120"/>
              </a:rPr>
              <a:t>Front Stage vs Backstage — what people see vs what's actually happening. Who are you being a hero to — right now, specifically? The version of you that stayed after the hard parts vs the version built for other people.</a:t>
            </a:r>
            <a:endParaRPr lang="en-US" sz="950" dirty="0"/>
          </a:p>
        </p:txBody>
      </p:sp>
      <p:sp>
        <p:nvSpPr>
          <p:cNvPr id="24" name="Text 21"/>
          <p:cNvSpPr/>
          <p:nvPr/>
        </p:nvSpPr>
        <p:spPr>
          <a:xfrm>
            <a:off x="5982533" y="6097310"/>
            <a:ext cx="8151733" cy="161211"/>
          </a:xfrm>
          <a:prstGeom prst="rect">
            <a:avLst/>
          </a:prstGeom>
          <a:noFill/>
          <a:ln/>
        </p:spPr>
        <p:txBody>
          <a:bodyPr wrap="none" lIns="0" tIns="0" rIns="0" bIns="0" rtlCol="0" anchor="t"/>
          <a:lstStyle/>
          <a:p>
            <a:pPr marL="0" indent="0" algn="l">
              <a:lnSpc>
                <a:spcPts val="1250"/>
              </a:lnSpc>
              <a:buNone/>
            </a:pPr>
            <a:r>
              <a:rPr lang="en-US" sz="950" i="1" dirty="0">
                <a:solidFill>
                  <a:srgbClr val="443728"/>
                </a:solidFill>
                <a:latin typeface="Open Sans" pitchFamily="34" charset="0"/>
                <a:ea typeface="Open Sans" pitchFamily="34" charset="-122"/>
                <a:cs typeface="Open Sans" pitchFamily="34" charset="-120"/>
              </a:rPr>
              <a:t>Originally broadcast on Memoirs to Millions. Shared here because the conversation was too important not to amplify.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6280" y="784027"/>
            <a:ext cx="2238375" cy="279797"/>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Crimson Pro Bold" pitchFamily="34" charset="0"/>
                <a:ea typeface="Crimson Pro Bold" pitchFamily="34" charset="-122"/>
                <a:cs typeface="Crimson Pro Bold" pitchFamily="34" charset="-120"/>
              </a:rPr>
              <a:t>🎧</a:t>
            </a:r>
            <a:r>
              <a:rPr lang="en-US" sz="1750" b="1" dirty="0">
                <a:solidFill>
                  <a:srgbClr val="443728"/>
                </a:solidFill>
                <a:latin typeface="Crimson Pro Bold" pitchFamily="34" charset="0"/>
                <a:ea typeface="Crimson Pro Bold" pitchFamily="34" charset="-122"/>
                <a:cs typeface="Crimson Pro Bold" pitchFamily="34" charset="-120"/>
              </a:rPr>
              <a:t> All Episodes</a:t>
            </a:r>
            <a:endParaRPr lang="en-US" sz="1750" dirty="0"/>
          </a:p>
        </p:txBody>
      </p:sp>
      <p:sp>
        <p:nvSpPr>
          <p:cNvPr id="3" name="Text 1"/>
          <p:cNvSpPr/>
          <p:nvPr/>
        </p:nvSpPr>
        <p:spPr>
          <a:xfrm>
            <a:off x="716280" y="1128355"/>
            <a:ext cx="8529042" cy="559594"/>
          </a:xfrm>
          <a:prstGeom prst="rect">
            <a:avLst/>
          </a:prstGeom>
          <a:noFill/>
          <a:ln/>
        </p:spPr>
        <p:txBody>
          <a:bodyPr wrap="none" lIns="0" tIns="0" rIns="0" bIns="0" rtlCol="0" anchor="t"/>
          <a:lstStyle/>
          <a:p>
            <a:pPr marL="0" indent="0" algn="l">
              <a:lnSpc>
                <a:spcPts val="4400"/>
              </a:lnSpc>
              <a:buNone/>
            </a:pPr>
            <a:r>
              <a:rPr lang="en-US" sz="3500" b="1" dirty="0">
                <a:solidFill>
                  <a:srgbClr val="443728"/>
                </a:solidFill>
                <a:latin typeface="Crimson Pro Bold" pitchFamily="34" charset="0"/>
                <a:ea typeface="Crimson Pro Bold" pitchFamily="34" charset="-122"/>
                <a:cs typeface="Crimson Pro Bold" pitchFamily="34" charset="-120"/>
              </a:rPr>
              <a:t>The Breaking Mental Models Episode Library</a:t>
            </a:r>
            <a:endParaRPr lang="en-US" sz="3500" dirty="0"/>
          </a:p>
        </p:txBody>
      </p:sp>
      <p:sp>
        <p:nvSpPr>
          <p:cNvPr id="4" name="Text 2"/>
          <p:cNvSpPr/>
          <p:nvPr/>
        </p:nvSpPr>
        <p:spPr>
          <a:xfrm>
            <a:off x="716280" y="1930241"/>
            <a:ext cx="13197840" cy="544830"/>
          </a:xfrm>
          <a:prstGeom prst="rect">
            <a:avLst/>
          </a:prstGeom>
          <a:noFill/>
          <a:ln/>
        </p:spPr>
        <p:txBody>
          <a:bodyPr wrap="squar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Every conversation lives here. One completed, more on the way. Each episode is a different question, a different guest, a different model waiting to be broken. Bookmark this page — it grows.</a:t>
            </a:r>
            <a:endParaRPr lang="en-US" sz="1400" dirty="0"/>
          </a:p>
        </p:txBody>
      </p:sp>
      <p:sp>
        <p:nvSpPr>
          <p:cNvPr id="5" name="Shape 3"/>
          <p:cNvSpPr/>
          <p:nvPr/>
        </p:nvSpPr>
        <p:spPr>
          <a:xfrm>
            <a:off x="716280" y="2656761"/>
            <a:ext cx="4291489" cy="2313623"/>
          </a:xfrm>
          <a:prstGeom prst="roundRect">
            <a:avLst>
              <a:gd name="adj" fmla="val 3251"/>
            </a:avLst>
          </a:prstGeom>
          <a:solidFill>
            <a:srgbClr val="EBE2E0"/>
          </a:solidFill>
          <a:ln w="7620">
            <a:solidFill>
              <a:srgbClr val="D1C8C6"/>
            </a:solidFill>
            <a:prstDash val="solid"/>
          </a:ln>
        </p:spPr>
        <p:txBody>
          <a:bodyPr/>
          <a:lstStyle/>
          <a:p>
            <a:endParaRPr lang="en-AU"/>
          </a:p>
        </p:txBody>
      </p:sp>
      <p:sp>
        <p:nvSpPr>
          <p:cNvPr id="6" name="Text 4"/>
          <p:cNvSpPr/>
          <p:nvPr/>
        </p:nvSpPr>
        <p:spPr>
          <a:xfrm>
            <a:off x="902970" y="2843451"/>
            <a:ext cx="3058716" cy="279797"/>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Crimson Pro Bold" pitchFamily="34" charset="0"/>
                <a:ea typeface="Crimson Pro Bold" pitchFamily="34" charset="-122"/>
                <a:cs typeface="Crimson Pro Bold" pitchFamily="34" charset="-120"/>
              </a:rPr>
              <a:t>✅</a:t>
            </a:r>
            <a:r>
              <a:rPr lang="en-US" sz="1750" b="1" dirty="0">
                <a:solidFill>
                  <a:srgbClr val="443728"/>
                </a:solidFill>
                <a:latin typeface="Crimson Pro Bold" pitchFamily="34" charset="0"/>
                <a:ea typeface="Crimson Pro Bold" pitchFamily="34" charset="-122"/>
                <a:cs typeface="Crimson Pro Bold" pitchFamily="34" charset="-120"/>
              </a:rPr>
              <a:t> EP 01 — Memoirs to Millions</a:t>
            </a:r>
            <a:endParaRPr lang="en-US" sz="1750" dirty="0"/>
          </a:p>
        </p:txBody>
      </p:sp>
      <p:sp>
        <p:nvSpPr>
          <p:cNvPr id="7" name="Text 5"/>
          <p:cNvSpPr/>
          <p:nvPr/>
        </p:nvSpPr>
        <p:spPr>
          <a:xfrm>
            <a:off x="902970" y="3220164"/>
            <a:ext cx="3918109" cy="272415"/>
          </a:xfrm>
          <a:prstGeom prst="rect">
            <a:avLst/>
          </a:prstGeom>
          <a:noFill/>
          <a:ln/>
        </p:spPr>
        <p:txBody>
          <a:bodyPr wrap="non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Guest: Asher Wright | Recorded: 2 April 2026</a:t>
            </a:r>
            <a:endParaRPr lang="en-US" sz="1400" dirty="0"/>
          </a:p>
        </p:txBody>
      </p:sp>
      <p:sp>
        <p:nvSpPr>
          <p:cNvPr id="8" name="Text 6"/>
          <p:cNvSpPr/>
          <p:nvPr/>
        </p:nvSpPr>
        <p:spPr>
          <a:xfrm>
            <a:off x="902970" y="3589496"/>
            <a:ext cx="3918109" cy="817245"/>
          </a:xfrm>
          <a:prstGeom prst="rect">
            <a:avLst/>
          </a:prstGeom>
          <a:noFill/>
          <a:ln/>
        </p:spPr>
        <p:txBody>
          <a:bodyPr wrap="squar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Ice, water, and the environments that shape us. 22 years of military structure meets a lifetime of crossing worlds.</a:t>
            </a:r>
            <a:endParaRPr lang="en-US" sz="1400" dirty="0"/>
          </a:p>
        </p:txBody>
      </p:sp>
      <p:sp>
        <p:nvSpPr>
          <p:cNvPr id="9" name="Text 7"/>
          <p:cNvSpPr/>
          <p:nvPr/>
        </p:nvSpPr>
        <p:spPr>
          <a:xfrm>
            <a:off x="902970" y="4503658"/>
            <a:ext cx="3918109" cy="280035"/>
          </a:xfrm>
          <a:prstGeom prst="rect">
            <a:avLst/>
          </a:prstGeom>
          <a:noFill/>
          <a:ln/>
        </p:spPr>
        <p:txBody>
          <a:bodyPr wrap="none" lIns="0" tIns="0" rIns="0" bIns="0" rtlCol="0" anchor="t"/>
          <a:lstStyle/>
          <a:p>
            <a:pPr marL="0" indent="0" algn="l">
              <a:lnSpc>
                <a:spcPts val="2100"/>
              </a:lnSpc>
              <a:buNone/>
            </a:pPr>
            <a:r>
              <a:rPr lang="en-US" sz="1400" dirty="0">
                <a:solidFill>
                  <a:srgbClr val="000000"/>
                </a:solidFill>
                <a:latin typeface="Open Sans" pitchFamily="34" charset="0"/>
                <a:ea typeface="Open Sans" pitchFamily="34" charset="-122"/>
                <a:cs typeface="Open Sans" pitchFamily="34" charset="-120"/>
              </a:rPr>
              <a:t>▶</a:t>
            </a:r>
            <a:r>
              <a:rPr lang="en-US" sz="1400" dirty="0">
                <a:solidFill>
                  <a:srgbClr val="443728"/>
                </a:solidFill>
                <a:latin typeface="Open Sans" pitchFamily="34" charset="0"/>
                <a:ea typeface="Open Sans" pitchFamily="34" charset="-122"/>
                <a:cs typeface="Open Sans" pitchFamily="34" charset="-120"/>
              </a:rPr>
              <a:t> [Paste episode link here]</a:t>
            </a:r>
            <a:endParaRPr lang="en-US" sz="1400" dirty="0"/>
          </a:p>
        </p:txBody>
      </p:sp>
      <p:sp>
        <p:nvSpPr>
          <p:cNvPr id="10" name="Shape 8"/>
          <p:cNvSpPr/>
          <p:nvPr/>
        </p:nvSpPr>
        <p:spPr>
          <a:xfrm>
            <a:off x="5169337" y="2656761"/>
            <a:ext cx="4291608" cy="2313623"/>
          </a:xfrm>
          <a:prstGeom prst="roundRect">
            <a:avLst>
              <a:gd name="adj" fmla="val 3251"/>
            </a:avLst>
          </a:prstGeom>
          <a:solidFill>
            <a:srgbClr val="EBE2E0"/>
          </a:solidFill>
          <a:ln w="7620">
            <a:solidFill>
              <a:srgbClr val="D1C8C6"/>
            </a:solidFill>
            <a:prstDash val="solid"/>
          </a:ln>
        </p:spPr>
        <p:txBody>
          <a:bodyPr/>
          <a:lstStyle/>
          <a:p>
            <a:endParaRPr lang="en-AU"/>
          </a:p>
        </p:txBody>
      </p:sp>
      <p:sp>
        <p:nvSpPr>
          <p:cNvPr id="11" name="Text 9"/>
          <p:cNvSpPr/>
          <p:nvPr/>
        </p:nvSpPr>
        <p:spPr>
          <a:xfrm>
            <a:off x="5356027" y="2843451"/>
            <a:ext cx="3202543" cy="279797"/>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Crimson Pro Bold" pitchFamily="34" charset="0"/>
                <a:ea typeface="Crimson Pro Bold" pitchFamily="34" charset="-122"/>
                <a:cs typeface="Crimson Pro Bold" pitchFamily="34" charset="-120"/>
              </a:rPr>
              <a:t>🔜</a:t>
            </a:r>
            <a:r>
              <a:rPr lang="en-US" sz="1750" b="1" dirty="0">
                <a:solidFill>
                  <a:srgbClr val="443728"/>
                </a:solidFill>
                <a:latin typeface="Crimson Pro Bold" pitchFamily="34" charset="0"/>
                <a:ea typeface="Crimson Pro Bold" pitchFamily="34" charset="-122"/>
                <a:cs typeface="Crimson Pro Bold" pitchFamily="34" charset="-120"/>
              </a:rPr>
              <a:t> EP 02 — The Gap Year Episode</a:t>
            </a:r>
            <a:endParaRPr lang="en-US" sz="1750" dirty="0"/>
          </a:p>
        </p:txBody>
      </p:sp>
      <p:sp>
        <p:nvSpPr>
          <p:cNvPr id="12" name="Text 10"/>
          <p:cNvSpPr/>
          <p:nvPr/>
        </p:nvSpPr>
        <p:spPr>
          <a:xfrm>
            <a:off x="5356027" y="3220164"/>
            <a:ext cx="3918228" cy="272415"/>
          </a:xfrm>
          <a:prstGeom prst="rect">
            <a:avLst/>
          </a:prstGeom>
          <a:noFill/>
          <a:ln/>
        </p:spPr>
        <p:txBody>
          <a:bodyPr wrap="non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Guest: TBC | Coming Soon</a:t>
            </a:r>
            <a:endParaRPr lang="en-US" sz="1400" dirty="0"/>
          </a:p>
        </p:txBody>
      </p:sp>
      <p:sp>
        <p:nvSpPr>
          <p:cNvPr id="13" name="Text 11"/>
          <p:cNvSpPr/>
          <p:nvPr/>
        </p:nvSpPr>
        <p:spPr>
          <a:xfrm>
            <a:off x="5356027" y="3589496"/>
            <a:ext cx="3918228" cy="817245"/>
          </a:xfrm>
          <a:prstGeom prst="rect">
            <a:avLst/>
          </a:prstGeom>
          <a:noFill/>
          <a:ln/>
        </p:spPr>
        <p:txBody>
          <a:bodyPr wrap="squar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What 10,000 students taught me about the moment structure disappears — and what you build, or don't, in its place.</a:t>
            </a:r>
            <a:endParaRPr lang="en-US" sz="1400" dirty="0"/>
          </a:p>
        </p:txBody>
      </p:sp>
      <p:sp>
        <p:nvSpPr>
          <p:cNvPr id="14" name="Text 12"/>
          <p:cNvSpPr/>
          <p:nvPr/>
        </p:nvSpPr>
        <p:spPr>
          <a:xfrm>
            <a:off x="5356027" y="4503658"/>
            <a:ext cx="3918228" cy="280035"/>
          </a:xfrm>
          <a:prstGeom prst="rect">
            <a:avLst/>
          </a:prstGeom>
          <a:noFill/>
          <a:ln/>
        </p:spPr>
        <p:txBody>
          <a:bodyPr wrap="none" lIns="0" tIns="0" rIns="0" bIns="0" rtlCol="0" anchor="t"/>
          <a:lstStyle/>
          <a:p>
            <a:pPr marL="0" indent="0" algn="l">
              <a:lnSpc>
                <a:spcPts val="2100"/>
              </a:lnSpc>
              <a:buNone/>
            </a:pPr>
            <a:r>
              <a:rPr lang="en-US" sz="1400" dirty="0">
                <a:solidFill>
                  <a:srgbClr val="000000"/>
                </a:solidFill>
                <a:latin typeface="Open Sans" pitchFamily="34" charset="0"/>
                <a:ea typeface="Open Sans" pitchFamily="34" charset="-122"/>
                <a:cs typeface="Open Sans" pitchFamily="34" charset="-120"/>
              </a:rPr>
              <a:t>🔗</a:t>
            </a:r>
            <a:r>
              <a:rPr lang="en-US" sz="1400" dirty="0">
                <a:solidFill>
                  <a:srgbClr val="443728"/>
                </a:solidFill>
                <a:latin typeface="Open Sans" pitchFamily="34" charset="0"/>
                <a:ea typeface="Open Sans" pitchFamily="34" charset="-122"/>
                <a:cs typeface="Open Sans" pitchFamily="34" charset="-120"/>
              </a:rPr>
              <a:t> [Link will appear when live]</a:t>
            </a:r>
            <a:endParaRPr lang="en-US" sz="1400" dirty="0"/>
          </a:p>
        </p:txBody>
      </p:sp>
      <p:sp>
        <p:nvSpPr>
          <p:cNvPr id="15" name="Shape 13"/>
          <p:cNvSpPr/>
          <p:nvPr/>
        </p:nvSpPr>
        <p:spPr>
          <a:xfrm>
            <a:off x="9622512" y="2656761"/>
            <a:ext cx="4291608" cy="2313623"/>
          </a:xfrm>
          <a:prstGeom prst="roundRect">
            <a:avLst>
              <a:gd name="adj" fmla="val 3251"/>
            </a:avLst>
          </a:prstGeom>
          <a:solidFill>
            <a:srgbClr val="EBE2E0"/>
          </a:solidFill>
          <a:ln w="7620">
            <a:solidFill>
              <a:srgbClr val="D1C8C6"/>
            </a:solidFill>
            <a:prstDash val="solid"/>
          </a:ln>
        </p:spPr>
        <p:txBody>
          <a:bodyPr/>
          <a:lstStyle/>
          <a:p>
            <a:endParaRPr lang="en-AU"/>
          </a:p>
        </p:txBody>
      </p:sp>
      <p:sp>
        <p:nvSpPr>
          <p:cNvPr id="16" name="Text 14"/>
          <p:cNvSpPr/>
          <p:nvPr/>
        </p:nvSpPr>
        <p:spPr>
          <a:xfrm>
            <a:off x="9809202" y="2843451"/>
            <a:ext cx="2980373" cy="279797"/>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Crimson Pro Bold" pitchFamily="34" charset="0"/>
                <a:ea typeface="Crimson Pro Bold" pitchFamily="34" charset="-122"/>
                <a:cs typeface="Crimson Pro Bold" pitchFamily="34" charset="-120"/>
              </a:rPr>
              <a:t>🔜</a:t>
            </a:r>
            <a:r>
              <a:rPr lang="en-US" sz="1750" b="1" dirty="0">
                <a:solidFill>
                  <a:srgbClr val="443728"/>
                </a:solidFill>
                <a:latin typeface="Crimson Pro Bold" pitchFamily="34" charset="0"/>
                <a:ea typeface="Crimson Pro Bold" pitchFamily="34" charset="-122"/>
                <a:cs typeface="Crimson Pro Bold" pitchFamily="34" charset="-120"/>
              </a:rPr>
              <a:t> EP 03 — Open Conversation</a:t>
            </a:r>
            <a:endParaRPr lang="en-US" sz="1750" dirty="0"/>
          </a:p>
        </p:txBody>
      </p:sp>
      <p:sp>
        <p:nvSpPr>
          <p:cNvPr id="17" name="Text 15"/>
          <p:cNvSpPr/>
          <p:nvPr/>
        </p:nvSpPr>
        <p:spPr>
          <a:xfrm>
            <a:off x="9809202" y="3220164"/>
            <a:ext cx="3918228" cy="272415"/>
          </a:xfrm>
          <a:prstGeom prst="rect">
            <a:avLst/>
          </a:prstGeom>
          <a:noFill/>
          <a:ln/>
        </p:spPr>
        <p:txBody>
          <a:bodyPr wrap="non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Guest: TBC | In Planning</a:t>
            </a:r>
            <a:endParaRPr lang="en-US" sz="1400" dirty="0"/>
          </a:p>
        </p:txBody>
      </p:sp>
      <p:sp>
        <p:nvSpPr>
          <p:cNvPr id="18" name="Text 16"/>
          <p:cNvSpPr/>
          <p:nvPr/>
        </p:nvSpPr>
        <p:spPr>
          <a:xfrm>
            <a:off x="9809202" y="3589496"/>
            <a:ext cx="3918228" cy="817245"/>
          </a:xfrm>
          <a:prstGeom prst="rect">
            <a:avLst/>
          </a:prstGeom>
          <a:noFill/>
          <a:ln/>
        </p:spPr>
        <p:txBody>
          <a:bodyPr wrap="squar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A guest from a completely different world. Real topic. No agenda. Just the conversation that needed to happen.</a:t>
            </a:r>
            <a:endParaRPr lang="en-US" sz="1400" dirty="0"/>
          </a:p>
        </p:txBody>
      </p:sp>
      <p:sp>
        <p:nvSpPr>
          <p:cNvPr id="19" name="Text 17"/>
          <p:cNvSpPr/>
          <p:nvPr/>
        </p:nvSpPr>
        <p:spPr>
          <a:xfrm>
            <a:off x="9809202" y="4503658"/>
            <a:ext cx="3918228" cy="280035"/>
          </a:xfrm>
          <a:prstGeom prst="rect">
            <a:avLst/>
          </a:prstGeom>
          <a:noFill/>
          <a:ln/>
        </p:spPr>
        <p:txBody>
          <a:bodyPr wrap="none" lIns="0" tIns="0" rIns="0" bIns="0" rtlCol="0" anchor="t"/>
          <a:lstStyle/>
          <a:p>
            <a:pPr marL="0" indent="0" algn="l">
              <a:lnSpc>
                <a:spcPts val="2100"/>
              </a:lnSpc>
              <a:buNone/>
            </a:pPr>
            <a:r>
              <a:rPr lang="en-US" sz="1400" dirty="0">
                <a:solidFill>
                  <a:srgbClr val="000000"/>
                </a:solidFill>
                <a:latin typeface="Open Sans" pitchFamily="34" charset="0"/>
                <a:ea typeface="Open Sans" pitchFamily="34" charset="-122"/>
                <a:cs typeface="Open Sans" pitchFamily="34" charset="-120"/>
              </a:rPr>
              <a:t>🔗</a:t>
            </a:r>
            <a:r>
              <a:rPr lang="en-US" sz="1400" dirty="0">
                <a:solidFill>
                  <a:srgbClr val="443728"/>
                </a:solidFill>
                <a:latin typeface="Open Sans" pitchFamily="34" charset="0"/>
                <a:ea typeface="Open Sans" pitchFamily="34" charset="-122"/>
                <a:cs typeface="Open Sans" pitchFamily="34" charset="-120"/>
              </a:rPr>
              <a:t> [Link will appear when live]</a:t>
            </a:r>
            <a:endParaRPr lang="en-US" sz="1400" dirty="0"/>
          </a:p>
        </p:txBody>
      </p:sp>
      <p:sp>
        <p:nvSpPr>
          <p:cNvPr id="20" name="Shape 18"/>
          <p:cNvSpPr/>
          <p:nvPr/>
        </p:nvSpPr>
        <p:spPr>
          <a:xfrm>
            <a:off x="716280" y="5131951"/>
            <a:ext cx="4291489" cy="2313623"/>
          </a:xfrm>
          <a:prstGeom prst="roundRect">
            <a:avLst>
              <a:gd name="adj" fmla="val 3251"/>
            </a:avLst>
          </a:prstGeom>
          <a:solidFill>
            <a:srgbClr val="EBE2E0"/>
          </a:solidFill>
          <a:ln w="7620">
            <a:solidFill>
              <a:srgbClr val="D1C8C6"/>
            </a:solidFill>
            <a:prstDash val="solid"/>
          </a:ln>
        </p:spPr>
        <p:txBody>
          <a:bodyPr/>
          <a:lstStyle/>
          <a:p>
            <a:endParaRPr lang="en-AU"/>
          </a:p>
        </p:txBody>
      </p:sp>
      <p:sp>
        <p:nvSpPr>
          <p:cNvPr id="21" name="Text 19"/>
          <p:cNvSpPr/>
          <p:nvPr/>
        </p:nvSpPr>
        <p:spPr>
          <a:xfrm>
            <a:off x="902970" y="5318641"/>
            <a:ext cx="2748082" cy="279797"/>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Crimson Pro Bold" pitchFamily="34" charset="0"/>
                <a:ea typeface="Crimson Pro Bold" pitchFamily="34" charset="-122"/>
                <a:cs typeface="Crimson Pro Bold" pitchFamily="34" charset="-120"/>
              </a:rPr>
              <a:t>🔜</a:t>
            </a:r>
            <a:r>
              <a:rPr lang="en-US" sz="1750" b="1" dirty="0">
                <a:solidFill>
                  <a:srgbClr val="443728"/>
                </a:solidFill>
                <a:latin typeface="Crimson Pro Bold" pitchFamily="34" charset="0"/>
                <a:ea typeface="Crimson Pro Bold" pitchFamily="34" charset="-122"/>
                <a:cs typeface="Crimson Pro Bold" pitchFamily="34" charset="-120"/>
              </a:rPr>
              <a:t> EP 04 — [Your Title Here]</a:t>
            </a:r>
            <a:endParaRPr lang="en-US" sz="1750" dirty="0"/>
          </a:p>
        </p:txBody>
      </p:sp>
      <p:sp>
        <p:nvSpPr>
          <p:cNvPr id="22" name="Text 20"/>
          <p:cNvSpPr/>
          <p:nvPr/>
        </p:nvSpPr>
        <p:spPr>
          <a:xfrm>
            <a:off x="902970" y="5695355"/>
            <a:ext cx="3918109" cy="272415"/>
          </a:xfrm>
          <a:prstGeom prst="rect">
            <a:avLst/>
          </a:prstGeom>
          <a:noFill/>
          <a:ln/>
        </p:spPr>
        <p:txBody>
          <a:bodyPr wrap="non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Guest: TBC | In Planning</a:t>
            </a:r>
            <a:endParaRPr lang="en-US" sz="1400" dirty="0"/>
          </a:p>
        </p:txBody>
      </p:sp>
      <p:sp>
        <p:nvSpPr>
          <p:cNvPr id="23" name="Text 21"/>
          <p:cNvSpPr/>
          <p:nvPr/>
        </p:nvSpPr>
        <p:spPr>
          <a:xfrm>
            <a:off x="902970" y="6064687"/>
            <a:ext cx="3918109" cy="817245"/>
          </a:xfrm>
          <a:prstGeom prst="rect">
            <a:avLst/>
          </a:prstGeom>
          <a:noFill/>
          <a:ln/>
        </p:spPr>
        <p:txBody>
          <a:bodyPr wrap="squar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The question we haven't named yet. The guest we haven't met yet. The model we haven't broken yet.</a:t>
            </a:r>
            <a:endParaRPr lang="en-US" sz="1400" dirty="0"/>
          </a:p>
        </p:txBody>
      </p:sp>
      <p:sp>
        <p:nvSpPr>
          <p:cNvPr id="24" name="Text 22"/>
          <p:cNvSpPr/>
          <p:nvPr/>
        </p:nvSpPr>
        <p:spPr>
          <a:xfrm>
            <a:off x="902970" y="6978848"/>
            <a:ext cx="3918109" cy="280035"/>
          </a:xfrm>
          <a:prstGeom prst="rect">
            <a:avLst/>
          </a:prstGeom>
          <a:noFill/>
          <a:ln/>
        </p:spPr>
        <p:txBody>
          <a:bodyPr wrap="none" lIns="0" tIns="0" rIns="0" bIns="0" rtlCol="0" anchor="t"/>
          <a:lstStyle/>
          <a:p>
            <a:pPr marL="0" indent="0" algn="l">
              <a:lnSpc>
                <a:spcPts val="2100"/>
              </a:lnSpc>
              <a:buNone/>
            </a:pPr>
            <a:r>
              <a:rPr lang="en-US" sz="1400" dirty="0">
                <a:solidFill>
                  <a:srgbClr val="000000"/>
                </a:solidFill>
                <a:latin typeface="Open Sans" pitchFamily="34" charset="0"/>
                <a:ea typeface="Open Sans" pitchFamily="34" charset="-122"/>
                <a:cs typeface="Open Sans" pitchFamily="34" charset="-120"/>
              </a:rPr>
              <a:t>🔗</a:t>
            </a:r>
            <a:r>
              <a:rPr lang="en-US" sz="1400" dirty="0">
                <a:solidFill>
                  <a:srgbClr val="443728"/>
                </a:solidFill>
                <a:latin typeface="Open Sans" pitchFamily="34" charset="0"/>
                <a:ea typeface="Open Sans" pitchFamily="34" charset="-122"/>
                <a:cs typeface="Open Sans" pitchFamily="34" charset="-120"/>
              </a:rPr>
              <a:t> [Link will appear when live]</a:t>
            </a:r>
            <a:endParaRPr lang="en-US" sz="1400" dirty="0"/>
          </a:p>
        </p:txBody>
      </p:sp>
      <p:sp>
        <p:nvSpPr>
          <p:cNvPr id="25" name="Shape 23"/>
          <p:cNvSpPr/>
          <p:nvPr/>
        </p:nvSpPr>
        <p:spPr>
          <a:xfrm>
            <a:off x="5169337" y="5131951"/>
            <a:ext cx="4291608" cy="2313623"/>
          </a:xfrm>
          <a:prstGeom prst="roundRect">
            <a:avLst>
              <a:gd name="adj" fmla="val 3251"/>
            </a:avLst>
          </a:prstGeom>
          <a:solidFill>
            <a:srgbClr val="EBE2E0"/>
          </a:solidFill>
          <a:ln w="7620">
            <a:solidFill>
              <a:srgbClr val="D1C8C6"/>
            </a:solidFill>
            <a:prstDash val="solid"/>
          </a:ln>
        </p:spPr>
        <p:txBody>
          <a:bodyPr/>
          <a:lstStyle/>
          <a:p>
            <a:endParaRPr lang="en-AU"/>
          </a:p>
        </p:txBody>
      </p:sp>
      <p:sp>
        <p:nvSpPr>
          <p:cNvPr id="26" name="Text 24"/>
          <p:cNvSpPr/>
          <p:nvPr/>
        </p:nvSpPr>
        <p:spPr>
          <a:xfrm>
            <a:off x="5356027" y="5318641"/>
            <a:ext cx="2737128" cy="279797"/>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Crimson Pro Bold" pitchFamily="34" charset="0"/>
                <a:ea typeface="Crimson Pro Bold" pitchFamily="34" charset="-122"/>
                <a:cs typeface="Crimson Pro Bold" pitchFamily="34" charset="-120"/>
              </a:rPr>
              <a:t>🔜</a:t>
            </a:r>
            <a:r>
              <a:rPr lang="en-US" sz="1750" b="1" dirty="0">
                <a:solidFill>
                  <a:srgbClr val="443728"/>
                </a:solidFill>
                <a:latin typeface="Crimson Pro Bold" pitchFamily="34" charset="0"/>
                <a:ea typeface="Crimson Pro Bold" pitchFamily="34" charset="-122"/>
                <a:cs typeface="Crimson Pro Bold" pitchFamily="34" charset="-120"/>
              </a:rPr>
              <a:t> EP 05 — [Your Title Here]</a:t>
            </a:r>
            <a:endParaRPr lang="en-US" sz="1750" dirty="0"/>
          </a:p>
        </p:txBody>
      </p:sp>
      <p:sp>
        <p:nvSpPr>
          <p:cNvPr id="27" name="Text 25"/>
          <p:cNvSpPr/>
          <p:nvPr/>
        </p:nvSpPr>
        <p:spPr>
          <a:xfrm>
            <a:off x="5356027" y="5695355"/>
            <a:ext cx="3918228" cy="272415"/>
          </a:xfrm>
          <a:prstGeom prst="rect">
            <a:avLst/>
          </a:prstGeom>
          <a:noFill/>
          <a:ln/>
        </p:spPr>
        <p:txBody>
          <a:bodyPr wrap="non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Guest: TBC | In Planning</a:t>
            </a:r>
            <a:endParaRPr lang="en-US" sz="1400" dirty="0"/>
          </a:p>
        </p:txBody>
      </p:sp>
      <p:sp>
        <p:nvSpPr>
          <p:cNvPr id="28" name="Text 26"/>
          <p:cNvSpPr/>
          <p:nvPr/>
        </p:nvSpPr>
        <p:spPr>
          <a:xfrm>
            <a:off x="5356027" y="6064687"/>
            <a:ext cx="3918228" cy="544830"/>
          </a:xfrm>
          <a:prstGeom prst="rect">
            <a:avLst/>
          </a:prstGeom>
          <a:noFill/>
          <a:ln/>
        </p:spPr>
        <p:txBody>
          <a:bodyPr wrap="squar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Another seat at the table. Another assumption up for examination.</a:t>
            </a:r>
            <a:endParaRPr lang="en-US" sz="1400" dirty="0"/>
          </a:p>
        </p:txBody>
      </p:sp>
      <p:sp>
        <p:nvSpPr>
          <p:cNvPr id="29" name="Text 27"/>
          <p:cNvSpPr/>
          <p:nvPr/>
        </p:nvSpPr>
        <p:spPr>
          <a:xfrm>
            <a:off x="5356027" y="6706433"/>
            <a:ext cx="3918228" cy="280035"/>
          </a:xfrm>
          <a:prstGeom prst="rect">
            <a:avLst/>
          </a:prstGeom>
          <a:noFill/>
          <a:ln/>
        </p:spPr>
        <p:txBody>
          <a:bodyPr wrap="none" lIns="0" tIns="0" rIns="0" bIns="0" rtlCol="0" anchor="t"/>
          <a:lstStyle/>
          <a:p>
            <a:pPr marL="0" indent="0" algn="l">
              <a:lnSpc>
                <a:spcPts val="2100"/>
              </a:lnSpc>
              <a:buNone/>
            </a:pPr>
            <a:r>
              <a:rPr lang="en-US" sz="1400" dirty="0">
                <a:solidFill>
                  <a:srgbClr val="000000"/>
                </a:solidFill>
                <a:latin typeface="Open Sans" pitchFamily="34" charset="0"/>
                <a:ea typeface="Open Sans" pitchFamily="34" charset="-122"/>
                <a:cs typeface="Open Sans" pitchFamily="34" charset="-120"/>
              </a:rPr>
              <a:t>🔗</a:t>
            </a:r>
            <a:r>
              <a:rPr lang="en-US" sz="1400" dirty="0">
                <a:solidFill>
                  <a:srgbClr val="443728"/>
                </a:solidFill>
                <a:latin typeface="Open Sans" pitchFamily="34" charset="0"/>
                <a:ea typeface="Open Sans" pitchFamily="34" charset="-122"/>
                <a:cs typeface="Open Sans" pitchFamily="34" charset="-120"/>
              </a:rPr>
              <a:t> [Link will appear when live]</a:t>
            </a:r>
            <a:endParaRPr lang="en-US" sz="1400" dirty="0"/>
          </a:p>
        </p:txBody>
      </p:sp>
      <p:sp>
        <p:nvSpPr>
          <p:cNvPr id="30" name="Shape 28"/>
          <p:cNvSpPr/>
          <p:nvPr/>
        </p:nvSpPr>
        <p:spPr>
          <a:xfrm>
            <a:off x="9622512" y="5131951"/>
            <a:ext cx="4291608" cy="2313623"/>
          </a:xfrm>
          <a:prstGeom prst="roundRect">
            <a:avLst>
              <a:gd name="adj" fmla="val 3251"/>
            </a:avLst>
          </a:prstGeom>
          <a:solidFill>
            <a:srgbClr val="EBE2E0"/>
          </a:solidFill>
          <a:ln w="7620">
            <a:solidFill>
              <a:srgbClr val="D1C8C6"/>
            </a:solidFill>
            <a:prstDash val="solid"/>
          </a:ln>
        </p:spPr>
        <p:txBody>
          <a:bodyPr/>
          <a:lstStyle/>
          <a:p>
            <a:endParaRPr lang="en-AU"/>
          </a:p>
        </p:txBody>
      </p:sp>
      <p:sp>
        <p:nvSpPr>
          <p:cNvPr id="31" name="Text 29"/>
          <p:cNvSpPr/>
          <p:nvPr/>
        </p:nvSpPr>
        <p:spPr>
          <a:xfrm>
            <a:off x="9809202" y="5318641"/>
            <a:ext cx="2238375" cy="279797"/>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Crimson Pro Bold" pitchFamily="34" charset="0"/>
                <a:ea typeface="Crimson Pro Bold" pitchFamily="34" charset="-122"/>
                <a:cs typeface="Crimson Pro Bold" pitchFamily="34" charset="-120"/>
              </a:rPr>
              <a:t>🎙</a:t>
            </a:r>
            <a:r>
              <a:rPr lang="en-US" sz="1750" b="1" dirty="0">
                <a:solidFill>
                  <a:srgbClr val="443728"/>
                </a:solidFill>
                <a:latin typeface="Crimson Pro Bold" pitchFamily="34" charset="0"/>
                <a:ea typeface="Crimson Pro Bold" pitchFamily="34" charset="-122"/>
                <a:cs typeface="Crimson Pro Bold" pitchFamily="34" charset="-120"/>
              </a:rPr>
              <a:t> Your Episode</a:t>
            </a:r>
            <a:endParaRPr lang="en-US" sz="1750" dirty="0"/>
          </a:p>
        </p:txBody>
      </p:sp>
      <p:sp>
        <p:nvSpPr>
          <p:cNvPr id="32" name="Text 30"/>
          <p:cNvSpPr/>
          <p:nvPr/>
        </p:nvSpPr>
        <p:spPr>
          <a:xfrm>
            <a:off x="9809202" y="5695355"/>
            <a:ext cx="3918228" cy="817245"/>
          </a:xfrm>
          <a:prstGeom prst="rect">
            <a:avLst/>
          </a:prstGeom>
          <a:noFill/>
          <a:ln/>
        </p:spPr>
        <p:txBody>
          <a:bodyPr wrap="squar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Got something worth saying? A question you can't stop circling? A belief you're not sure you believe anymore?</a:t>
            </a:r>
            <a:endParaRPr lang="en-US" sz="1400" dirty="0"/>
          </a:p>
        </p:txBody>
      </p:sp>
      <p:sp>
        <p:nvSpPr>
          <p:cNvPr id="33" name="Text 31"/>
          <p:cNvSpPr/>
          <p:nvPr/>
        </p:nvSpPr>
        <p:spPr>
          <a:xfrm>
            <a:off x="9809202" y="6609517"/>
            <a:ext cx="3918228" cy="272415"/>
          </a:xfrm>
          <a:prstGeom prst="rect">
            <a:avLst/>
          </a:prstGeom>
          <a:noFill/>
          <a:ln/>
        </p:spPr>
        <p:txBody>
          <a:bodyPr wrap="none" lIns="0" tIns="0" rIns="0" bIns="0" rtlCol="0" anchor="t"/>
          <a:lstStyle/>
          <a:p>
            <a:pPr marL="0" indent="0" algn="l">
              <a:lnSpc>
                <a:spcPts val="2100"/>
              </a:lnSpc>
              <a:buNone/>
            </a:pPr>
            <a:r>
              <a:rPr lang="en-US" sz="1400" dirty="0">
                <a:solidFill>
                  <a:srgbClr val="443728"/>
                </a:solidFill>
                <a:latin typeface="Open Sans" pitchFamily="34" charset="0"/>
                <a:ea typeface="Open Sans" pitchFamily="34" charset="-122"/>
                <a:cs typeface="Open Sans" pitchFamily="34" charset="-120"/>
              </a:rPr>
              <a:t>→ Get in touch and let's build it together.</a:t>
            </a:r>
            <a:endParaRPr lang="en-US" sz="1400" dirty="0"/>
          </a:p>
        </p:txBody>
      </p:sp>
      <p:sp>
        <p:nvSpPr>
          <p:cNvPr id="34" name="Text 32"/>
          <p:cNvSpPr/>
          <p:nvPr/>
        </p:nvSpPr>
        <p:spPr>
          <a:xfrm>
            <a:off x="9809202" y="6978848"/>
            <a:ext cx="3918228" cy="280035"/>
          </a:xfrm>
          <a:prstGeom prst="rect">
            <a:avLst/>
          </a:prstGeom>
          <a:noFill/>
          <a:ln/>
        </p:spPr>
        <p:txBody>
          <a:bodyPr wrap="none" lIns="0" tIns="0" rIns="0" bIns="0" rtlCol="0" anchor="t"/>
          <a:lstStyle/>
          <a:p>
            <a:pPr marL="0" indent="0" algn="l">
              <a:lnSpc>
                <a:spcPts val="2100"/>
              </a:lnSpc>
              <a:buNone/>
            </a:pPr>
            <a:r>
              <a:rPr lang="en-US" sz="1400" dirty="0">
                <a:solidFill>
                  <a:srgbClr val="000000"/>
                </a:solidFill>
                <a:latin typeface="Open Sans" pitchFamily="34" charset="0"/>
                <a:ea typeface="Open Sans" pitchFamily="34" charset="-122"/>
                <a:cs typeface="Open Sans" pitchFamily="34" charset="-120"/>
              </a:rPr>
              <a:t>🔗</a:t>
            </a:r>
            <a:r>
              <a:rPr lang="en-US" sz="1400" dirty="0">
                <a:solidFill>
                  <a:srgbClr val="443728"/>
                </a:solidFill>
                <a:latin typeface="Open Sans" pitchFamily="34" charset="0"/>
                <a:ea typeface="Open Sans" pitchFamily="34" charset="-122"/>
                <a:cs typeface="Open Sans" pitchFamily="34" charset="-120"/>
              </a:rPr>
              <a:t> [Contact/booking link here]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2512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What's Coming</a:t>
            </a:r>
            <a:endParaRPr lang="en-US" sz="1950" dirty="0"/>
          </a:p>
        </p:txBody>
      </p:sp>
      <p:sp>
        <p:nvSpPr>
          <p:cNvPr id="3" name="Text 1"/>
          <p:cNvSpPr/>
          <p:nvPr/>
        </p:nvSpPr>
        <p:spPr>
          <a:xfrm>
            <a:off x="793790" y="1414582"/>
            <a:ext cx="8913971"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The Conversations We're Planning to Have</a:t>
            </a:r>
            <a:endParaRPr lang="en-US" sz="3900" dirty="0"/>
          </a:p>
        </p:txBody>
      </p:sp>
      <p:sp>
        <p:nvSpPr>
          <p:cNvPr id="4" name="Text 2"/>
          <p:cNvSpPr/>
          <p:nvPr/>
        </p:nvSpPr>
        <p:spPr>
          <a:xfrm>
            <a:off x="793790" y="233231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Breaking Mental Models isn't a niche show. It's a broad, honest exploration of the patterns, pressures, and pivots that define modern life. Here's a taste of the territory we'll be covering.</a:t>
            </a:r>
            <a:endParaRPr lang="en-US" sz="15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190637"/>
            <a:ext cx="496133" cy="496133"/>
          </a:xfrm>
          <a:prstGeom prst="rect">
            <a:avLst/>
          </a:prstGeom>
        </p:spPr>
      </p:pic>
      <p:sp>
        <p:nvSpPr>
          <p:cNvPr id="6" name="Text 3"/>
          <p:cNvSpPr/>
          <p:nvPr/>
        </p:nvSpPr>
        <p:spPr>
          <a:xfrm>
            <a:off x="793790" y="3934778"/>
            <a:ext cx="264092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Mental Health &amp; Identity</a:t>
            </a:r>
            <a:endParaRPr lang="en-US" sz="1950" dirty="0"/>
          </a:p>
        </p:txBody>
      </p:sp>
      <p:sp>
        <p:nvSpPr>
          <p:cNvPr id="7" name="Text 4"/>
          <p:cNvSpPr/>
          <p:nvPr/>
        </p:nvSpPr>
        <p:spPr>
          <a:xfrm>
            <a:off x="793790" y="4363998"/>
            <a:ext cx="6397347"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The stories we tell ourselves about who we are — and what it takes to rewrite them without losing the plot entirely.</a:t>
            </a:r>
            <a:endParaRPr lang="en-US" sz="155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9144" y="3190637"/>
            <a:ext cx="496133" cy="496133"/>
          </a:xfrm>
          <a:prstGeom prst="rect">
            <a:avLst/>
          </a:prstGeom>
        </p:spPr>
      </p:pic>
      <p:sp>
        <p:nvSpPr>
          <p:cNvPr id="9" name="Text 5"/>
          <p:cNvSpPr/>
          <p:nvPr/>
        </p:nvSpPr>
        <p:spPr>
          <a:xfrm>
            <a:off x="7439144" y="393477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Education &amp; Transition</a:t>
            </a:r>
            <a:endParaRPr lang="en-US" sz="1950" dirty="0"/>
          </a:p>
        </p:txBody>
      </p:sp>
      <p:sp>
        <p:nvSpPr>
          <p:cNvPr id="10" name="Text 6"/>
          <p:cNvSpPr/>
          <p:nvPr/>
        </p:nvSpPr>
        <p:spPr>
          <a:xfrm>
            <a:off x="7439144" y="4363998"/>
            <a:ext cx="6397466"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From school to university, career to sabbatical — what happens when the structure you relied on suddenly vanishes?</a:t>
            </a:r>
            <a:endParaRPr lang="en-US" sz="1550" dirty="0"/>
          </a:p>
        </p:txBody>
      </p:sp>
      <p:pic>
        <p:nvPicPr>
          <p:cNvPr id="1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5395913"/>
            <a:ext cx="496133" cy="496133"/>
          </a:xfrm>
          <a:prstGeom prst="rect">
            <a:avLst/>
          </a:prstGeom>
        </p:spPr>
      </p:pic>
      <p:sp>
        <p:nvSpPr>
          <p:cNvPr id="12" name="Text 7"/>
          <p:cNvSpPr/>
          <p:nvPr/>
        </p:nvSpPr>
        <p:spPr>
          <a:xfrm>
            <a:off x="793790" y="6140053"/>
            <a:ext cx="2794278"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Relationships &amp; Belonging</a:t>
            </a:r>
            <a:endParaRPr lang="en-US" sz="1950" dirty="0"/>
          </a:p>
        </p:txBody>
      </p:sp>
      <p:sp>
        <p:nvSpPr>
          <p:cNvPr id="13" name="Text 8"/>
          <p:cNvSpPr/>
          <p:nvPr/>
        </p:nvSpPr>
        <p:spPr>
          <a:xfrm>
            <a:off x="793790" y="6569273"/>
            <a:ext cx="6397347"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The conversations couples, families, and friends avoid. The things left unsaid that quietly do the most damage.</a:t>
            </a:r>
            <a:endParaRPr lang="en-US" sz="1550" dirty="0"/>
          </a:p>
        </p:txBody>
      </p:sp>
      <p:pic>
        <p:nvPicPr>
          <p:cNvPr id="1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39144" y="5395913"/>
            <a:ext cx="496133" cy="496133"/>
          </a:xfrm>
          <a:prstGeom prst="rect">
            <a:avLst/>
          </a:prstGeom>
        </p:spPr>
      </p:pic>
      <p:sp>
        <p:nvSpPr>
          <p:cNvPr id="15" name="Text 9"/>
          <p:cNvSpPr/>
          <p:nvPr/>
        </p:nvSpPr>
        <p:spPr>
          <a:xfrm>
            <a:off x="7439144" y="614005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Purpose &amp; Work</a:t>
            </a:r>
            <a:endParaRPr lang="en-US" sz="1950" dirty="0"/>
          </a:p>
        </p:txBody>
      </p:sp>
      <p:sp>
        <p:nvSpPr>
          <p:cNvPr id="16" name="Text 10"/>
          <p:cNvSpPr/>
          <p:nvPr/>
        </p:nvSpPr>
        <p:spPr>
          <a:xfrm>
            <a:off x="7439144" y="6569273"/>
            <a:ext cx="6397466"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What does it actually mean to add value to the world — and how do you know when you've found your lane?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08692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Who We Talk To</a:t>
            </a:r>
            <a:endParaRPr lang="en-US" sz="1950" dirty="0"/>
          </a:p>
        </p:txBody>
      </p:sp>
      <p:sp>
        <p:nvSpPr>
          <p:cNvPr id="4" name="Text 1"/>
          <p:cNvSpPr/>
          <p:nvPr/>
        </p:nvSpPr>
        <p:spPr>
          <a:xfrm>
            <a:off x="6280190" y="2476381"/>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Interesting People With Something Real to Say</a:t>
            </a:r>
            <a:endParaRPr lang="en-US" sz="3900" dirty="0"/>
          </a:p>
        </p:txBody>
      </p:sp>
      <p:sp>
        <p:nvSpPr>
          <p:cNvPr id="5" name="Text 2"/>
          <p:cNvSpPr/>
          <p:nvPr/>
        </p:nvSpPr>
        <p:spPr>
          <a:xfrm>
            <a:off x="6280190" y="4014192"/>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No requirement for a blue tick or a bestselling book. The only qualification is that you've lived something, learned something, or questioned something — and you're willing to say it out loud without the safety net of a rehearsed answer.</a:t>
            </a:r>
            <a:endParaRPr lang="en-US" sz="1550" dirty="0"/>
          </a:p>
        </p:txBody>
      </p:sp>
      <p:sp>
        <p:nvSpPr>
          <p:cNvPr id="6" name="Text 3"/>
          <p:cNvSpPr/>
          <p:nvPr/>
        </p:nvSpPr>
        <p:spPr>
          <a:xfrm>
            <a:off x="6280190" y="5190053"/>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Guests come from all walks of life: educators, veterans, entrepreneurs, parents, artists, change-makers, and people who've simply been through it and come out the other side with something worth sharing.</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976557"/>
            <a:ext cx="2923580"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Not a Niche — A Philosophy</a:t>
            </a:r>
            <a:endParaRPr lang="en-US" sz="1950" dirty="0"/>
          </a:p>
        </p:txBody>
      </p:sp>
      <p:sp>
        <p:nvSpPr>
          <p:cNvPr id="3" name="Text 1"/>
          <p:cNvSpPr/>
          <p:nvPr/>
        </p:nvSpPr>
        <p:spPr>
          <a:xfrm>
            <a:off x="793790" y="2366010"/>
            <a:ext cx="7237571"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Exclusive to Everyone. Open to All.</a:t>
            </a:r>
            <a:endParaRPr lang="en-US" sz="3900" dirty="0"/>
          </a:p>
        </p:txBody>
      </p:sp>
      <p:sp>
        <p:nvSpPr>
          <p:cNvPr id="4" name="Shape 2"/>
          <p:cNvSpPr/>
          <p:nvPr/>
        </p:nvSpPr>
        <p:spPr>
          <a:xfrm>
            <a:off x="650915" y="3283744"/>
            <a:ext cx="6565106" cy="2969300"/>
          </a:xfrm>
          <a:prstGeom prst="roundRect">
            <a:avLst>
              <a:gd name="adj" fmla="val 4813"/>
            </a:avLst>
          </a:prstGeom>
          <a:solidFill>
            <a:srgbClr val="835E54"/>
          </a:solidFill>
          <a:ln/>
        </p:spPr>
        <p:txBody>
          <a:bodyPr/>
          <a:lstStyle/>
          <a:p>
            <a:endParaRPr lang="en-AU"/>
          </a:p>
        </p:txBody>
      </p:sp>
      <p:sp>
        <p:nvSpPr>
          <p:cNvPr id="5" name="Text 3"/>
          <p:cNvSpPr/>
          <p:nvPr/>
        </p:nvSpPr>
        <p:spPr>
          <a:xfrm>
            <a:off x="849273" y="3482102"/>
            <a:ext cx="4206002"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Crimson Pro Bold" pitchFamily="34" charset="0"/>
                <a:ea typeface="Crimson Pro Bold" pitchFamily="34" charset="-122"/>
                <a:cs typeface="Crimson Pro Bold" pitchFamily="34" charset="-120"/>
              </a:rPr>
              <a:t>What "Breaking Mental Models" Means</a:t>
            </a:r>
            <a:endParaRPr lang="en-US" sz="1950" dirty="0"/>
          </a:p>
        </p:txBody>
      </p:sp>
      <p:sp>
        <p:nvSpPr>
          <p:cNvPr id="6" name="Text 4"/>
          <p:cNvSpPr/>
          <p:nvPr/>
        </p:nvSpPr>
        <p:spPr>
          <a:xfrm>
            <a:off x="849273" y="3990618"/>
            <a:ext cx="6168390"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Open Sans" pitchFamily="34" charset="0"/>
                <a:ea typeface="Open Sans" pitchFamily="34" charset="-122"/>
                <a:cs typeface="Open Sans" pitchFamily="34" charset="-120"/>
              </a:rPr>
              <a:t>A mental model is the invisible framework you use to interpret the world. Most of us inherited ours — from family, school, culture, trauma. We rarely chose them consciously.</a:t>
            </a:r>
            <a:endParaRPr lang="en-US" sz="1550" dirty="0"/>
          </a:p>
        </p:txBody>
      </p:sp>
      <p:sp>
        <p:nvSpPr>
          <p:cNvPr id="7" name="Text 5"/>
          <p:cNvSpPr/>
          <p:nvPr/>
        </p:nvSpPr>
        <p:spPr>
          <a:xfrm>
            <a:off x="849273" y="5121831"/>
            <a:ext cx="6168390"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Open Sans" pitchFamily="34" charset="0"/>
                <a:ea typeface="Open Sans" pitchFamily="34" charset="-122"/>
                <a:cs typeface="Open Sans" pitchFamily="34" charset="-120"/>
              </a:rPr>
              <a:t>Breaking one isn't destruction. It's renovation. It's the work of deciding which maps still serve you — and which ones have been leading you somewhere you never actually wanted to go.</a:t>
            </a:r>
            <a:endParaRPr lang="en-US" sz="1550" dirty="0"/>
          </a:p>
        </p:txBody>
      </p:sp>
      <p:sp>
        <p:nvSpPr>
          <p:cNvPr id="8" name="Text 6"/>
          <p:cNvSpPr/>
          <p:nvPr/>
        </p:nvSpPr>
        <p:spPr>
          <a:xfrm>
            <a:off x="7564874" y="348210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Why This Matters Now</a:t>
            </a:r>
            <a:endParaRPr lang="en-US" sz="1950" dirty="0"/>
          </a:p>
        </p:txBody>
      </p:sp>
      <p:sp>
        <p:nvSpPr>
          <p:cNvPr id="9" name="Text 7"/>
          <p:cNvSpPr/>
          <p:nvPr/>
        </p:nvSpPr>
        <p:spPr>
          <a:xfrm>
            <a:off x="7564874" y="399061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We live in an era of relentless certainty — everyone broadcasting their answers. This podcast asks different questions instead. It slows down. It sits with the discomfort. It names the thing in the room that everyone else is quietly stepping around.</a:t>
            </a:r>
            <a:endParaRPr lang="en-US" sz="1550" dirty="0"/>
          </a:p>
        </p:txBody>
      </p:sp>
      <p:sp>
        <p:nvSpPr>
          <p:cNvPr id="10" name="Text 8"/>
          <p:cNvSpPr/>
          <p:nvPr/>
        </p:nvSpPr>
        <p:spPr>
          <a:xfrm>
            <a:off x="7564874" y="5439370"/>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Because that's where the real conversation lives. And that's where change actually starts.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096447" y="434697"/>
            <a:ext cx="1971437" cy="246459"/>
          </a:xfrm>
          <a:prstGeom prst="rect">
            <a:avLst/>
          </a:prstGeom>
          <a:noFill/>
          <a:ln/>
        </p:spPr>
        <p:txBody>
          <a:bodyPr wrap="none" lIns="0" tIns="0" rIns="0" bIns="0" rtlCol="0" anchor="t"/>
          <a:lstStyle/>
          <a:p>
            <a:pPr marL="0" indent="0" algn="l">
              <a:lnSpc>
                <a:spcPts val="1900"/>
              </a:lnSpc>
              <a:buNone/>
            </a:pPr>
            <a:r>
              <a:rPr lang="en-US" sz="1550" b="1" dirty="0">
                <a:solidFill>
                  <a:srgbClr val="443728"/>
                </a:solidFill>
                <a:latin typeface="Crimson Pro Bold" pitchFamily="34" charset="0"/>
                <a:ea typeface="Crimson Pro Bold" pitchFamily="34" charset="-122"/>
                <a:cs typeface="Crimson Pro Bold" pitchFamily="34" charset="-120"/>
              </a:rPr>
              <a:t>The Format</a:t>
            </a:r>
            <a:endParaRPr lang="en-US" sz="1550" dirty="0"/>
          </a:p>
        </p:txBody>
      </p:sp>
      <p:sp>
        <p:nvSpPr>
          <p:cNvPr id="3" name="Text 1"/>
          <p:cNvSpPr/>
          <p:nvPr/>
        </p:nvSpPr>
        <p:spPr>
          <a:xfrm>
            <a:off x="1096447" y="731282"/>
            <a:ext cx="4463891" cy="492919"/>
          </a:xfrm>
          <a:prstGeom prst="rect">
            <a:avLst/>
          </a:prstGeom>
          <a:noFill/>
          <a:ln/>
        </p:spPr>
        <p:txBody>
          <a:bodyPr wrap="none" lIns="0" tIns="0" rIns="0" bIns="0" rtlCol="0" anchor="t"/>
          <a:lstStyle/>
          <a:p>
            <a:pPr marL="0" indent="0" algn="l">
              <a:lnSpc>
                <a:spcPts val="3850"/>
              </a:lnSpc>
              <a:buNone/>
            </a:pPr>
            <a:r>
              <a:rPr lang="en-US" sz="3100" b="1" dirty="0">
                <a:solidFill>
                  <a:srgbClr val="443728"/>
                </a:solidFill>
                <a:latin typeface="Crimson Pro Bold" pitchFamily="34" charset="0"/>
                <a:ea typeface="Crimson Pro Bold" pitchFamily="34" charset="-122"/>
                <a:cs typeface="Crimson Pro Bold" pitchFamily="34" charset="-120"/>
              </a:rPr>
              <a:t>How Every Episode Is Built</a:t>
            </a:r>
            <a:endParaRPr lang="en-US" sz="3100" dirty="0"/>
          </a:p>
        </p:txBody>
      </p:sp>
      <p:pic>
        <p:nvPicPr>
          <p:cNvPr id="4" name="Image 0" descr="preencoded.png"/>
          <p:cNvPicPr>
            <a:picLocks noChangeAspect="1"/>
          </p:cNvPicPr>
          <p:nvPr/>
        </p:nvPicPr>
        <p:blipFill>
          <a:blip r:embed="rId3"/>
          <a:stretch>
            <a:fillRect/>
          </a:stretch>
        </p:blipFill>
        <p:spPr>
          <a:xfrm>
            <a:off x="1196935" y="1412200"/>
            <a:ext cx="12236529" cy="6015276"/>
          </a:xfrm>
          <a:prstGeom prst="rect">
            <a:avLst/>
          </a:prstGeom>
        </p:spPr>
      </p:pic>
      <p:sp>
        <p:nvSpPr>
          <p:cNvPr id="5" name="Text 2"/>
          <p:cNvSpPr/>
          <p:nvPr/>
        </p:nvSpPr>
        <p:spPr>
          <a:xfrm>
            <a:off x="7184584" y="1955532"/>
            <a:ext cx="2798390" cy="349799"/>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Walk Away Changed</a:t>
            </a:r>
            <a:endParaRPr lang="en-US" sz="2200" dirty="0"/>
          </a:p>
        </p:txBody>
      </p:sp>
      <p:sp>
        <p:nvSpPr>
          <p:cNvPr id="6" name="Text 3"/>
          <p:cNvSpPr/>
          <p:nvPr/>
        </p:nvSpPr>
        <p:spPr>
          <a:xfrm>
            <a:off x="7184584" y="2404829"/>
            <a:ext cx="5658965" cy="251078"/>
          </a:xfrm>
          <a:prstGeom prst="rect">
            <a:avLst/>
          </a:prstGeom>
          <a:noFill/>
          <a:ln/>
        </p:spPr>
        <p:txBody>
          <a:bodyPr wrap="none" lIns="0" tIns="0" rIns="0" bIns="0" rtlCol="0" anchor="t"/>
          <a:lstStyle/>
          <a:p>
            <a:pPr marL="0" indent="0" algn="l">
              <a:lnSpc>
                <a:spcPts val="1950"/>
              </a:lnSpc>
              <a:buNone/>
            </a:pPr>
            <a:r>
              <a:rPr lang="en-US" sz="1750" dirty="0">
                <a:solidFill>
                  <a:srgbClr val="443728"/>
                </a:solidFill>
                <a:latin typeface="Open Sans" pitchFamily="34" charset="0"/>
                <a:ea typeface="Open Sans" pitchFamily="34" charset="-122"/>
                <a:cs typeface="Open Sans" pitchFamily="34" charset="-120"/>
              </a:rPr>
              <a:t>Note shifts after the talk</a:t>
            </a:r>
            <a:endParaRPr lang="en-US" sz="1750" dirty="0"/>
          </a:p>
        </p:txBody>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94420" y="2106722"/>
            <a:ext cx="397993" cy="397993"/>
          </a:xfrm>
          <a:prstGeom prst="rect">
            <a:avLst/>
          </a:prstGeom>
        </p:spPr>
      </p:pic>
      <p:sp>
        <p:nvSpPr>
          <p:cNvPr id="8" name="Text 4"/>
          <p:cNvSpPr/>
          <p:nvPr/>
        </p:nvSpPr>
        <p:spPr>
          <a:xfrm>
            <a:off x="7184584" y="3360945"/>
            <a:ext cx="2798390" cy="349799"/>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Sit in Discomfort</a:t>
            </a:r>
            <a:endParaRPr lang="en-US" sz="2200" dirty="0"/>
          </a:p>
        </p:txBody>
      </p:sp>
      <p:sp>
        <p:nvSpPr>
          <p:cNvPr id="9" name="Text 5"/>
          <p:cNvSpPr/>
          <p:nvPr/>
        </p:nvSpPr>
        <p:spPr>
          <a:xfrm>
            <a:off x="7184584" y="3810242"/>
            <a:ext cx="5658965" cy="251077"/>
          </a:xfrm>
          <a:prstGeom prst="rect">
            <a:avLst/>
          </a:prstGeom>
          <a:noFill/>
          <a:ln/>
        </p:spPr>
        <p:txBody>
          <a:bodyPr wrap="none" lIns="0" tIns="0" rIns="0" bIns="0" rtlCol="0" anchor="t"/>
          <a:lstStyle/>
          <a:p>
            <a:pPr marL="0" indent="0" algn="l">
              <a:lnSpc>
                <a:spcPts val="1950"/>
              </a:lnSpc>
              <a:buNone/>
            </a:pPr>
            <a:r>
              <a:rPr lang="en-US" sz="1750" dirty="0">
                <a:solidFill>
                  <a:srgbClr val="443728"/>
                </a:solidFill>
                <a:latin typeface="Open Sans" pitchFamily="34" charset="0"/>
                <a:ea typeface="Open Sans" pitchFamily="34" charset="-122"/>
                <a:cs typeface="Open Sans" pitchFamily="34" charset="-120"/>
              </a:rPr>
              <a:t>Explore what’s beneath the surface</a:t>
            </a:r>
            <a:endParaRPr lang="en-US" sz="1750" dirty="0"/>
          </a:p>
        </p:txBody>
      </p:sp>
      <p:pic>
        <p:nvPicPr>
          <p:cNvPr id="10"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94420" y="3325577"/>
            <a:ext cx="397993" cy="397993"/>
          </a:xfrm>
          <a:prstGeom prst="rect">
            <a:avLst/>
          </a:prstGeom>
        </p:spPr>
      </p:pic>
      <p:sp>
        <p:nvSpPr>
          <p:cNvPr id="11" name="Text 6"/>
          <p:cNvSpPr/>
          <p:nvPr/>
        </p:nvSpPr>
        <p:spPr>
          <a:xfrm>
            <a:off x="7184584" y="4766358"/>
            <a:ext cx="2798390" cy="349799"/>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Break the Model</a:t>
            </a:r>
            <a:endParaRPr lang="en-US" sz="2200" dirty="0"/>
          </a:p>
        </p:txBody>
      </p:sp>
      <p:sp>
        <p:nvSpPr>
          <p:cNvPr id="12" name="Text 7"/>
          <p:cNvSpPr/>
          <p:nvPr/>
        </p:nvSpPr>
        <p:spPr>
          <a:xfrm>
            <a:off x="7184584" y="5215656"/>
            <a:ext cx="5658965" cy="251077"/>
          </a:xfrm>
          <a:prstGeom prst="rect">
            <a:avLst/>
          </a:prstGeom>
          <a:noFill/>
          <a:ln/>
        </p:spPr>
        <p:txBody>
          <a:bodyPr wrap="none" lIns="0" tIns="0" rIns="0" bIns="0" rtlCol="0" anchor="t"/>
          <a:lstStyle/>
          <a:p>
            <a:pPr marL="0" indent="0" algn="l">
              <a:lnSpc>
                <a:spcPts val="1950"/>
              </a:lnSpc>
              <a:buNone/>
            </a:pPr>
            <a:r>
              <a:rPr lang="en-US" sz="1750" dirty="0">
                <a:solidFill>
                  <a:srgbClr val="443728"/>
                </a:solidFill>
                <a:latin typeface="Open Sans" pitchFamily="34" charset="0"/>
                <a:ea typeface="Open Sans" pitchFamily="34" charset="-122"/>
                <a:cs typeface="Open Sans" pitchFamily="34" charset="-120"/>
              </a:rPr>
              <a:t>Challenge the usual assumptions</a:t>
            </a:r>
            <a:endParaRPr lang="en-US" sz="1750" dirty="0"/>
          </a:p>
        </p:txBody>
      </p:sp>
      <p:pic>
        <p:nvPicPr>
          <p:cNvPr id="13"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94420" y="4531993"/>
            <a:ext cx="397993" cy="397993"/>
          </a:xfrm>
          <a:prstGeom prst="rect">
            <a:avLst/>
          </a:prstGeom>
        </p:spPr>
      </p:pic>
      <p:sp>
        <p:nvSpPr>
          <p:cNvPr id="14" name="Text 8"/>
          <p:cNvSpPr/>
          <p:nvPr/>
        </p:nvSpPr>
        <p:spPr>
          <a:xfrm>
            <a:off x="7197022" y="6171772"/>
            <a:ext cx="2798390" cy="349799"/>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Set the Stage</a:t>
            </a:r>
            <a:endParaRPr lang="en-US" sz="2200" dirty="0"/>
          </a:p>
        </p:txBody>
      </p:sp>
      <p:sp>
        <p:nvSpPr>
          <p:cNvPr id="15" name="Text 9"/>
          <p:cNvSpPr/>
          <p:nvPr/>
        </p:nvSpPr>
        <p:spPr>
          <a:xfrm>
            <a:off x="7197022" y="6621069"/>
            <a:ext cx="5658965" cy="251078"/>
          </a:xfrm>
          <a:prstGeom prst="rect">
            <a:avLst/>
          </a:prstGeom>
          <a:noFill/>
          <a:ln/>
        </p:spPr>
        <p:txBody>
          <a:bodyPr wrap="none" lIns="0" tIns="0" rIns="0" bIns="0" rtlCol="0" anchor="t"/>
          <a:lstStyle/>
          <a:p>
            <a:pPr marL="0" indent="0" algn="l">
              <a:lnSpc>
                <a:spcPts val="1950"/>
              </a:lnSpc>
              <a:buNone/>
            </a:pPr>
            <a:r>
              <a:rPr lang="en-US" sz="1750" dirty="0">
                <a:solidFill>
                  <a:srgbClr val="443728"/>
                </a:solidFill>
                <a:latin typeface="Open Sans" pitchFamily="34" charset="0"/>
                <a:ea typeface="Open Sans" pitchFamily="34" charset="-122"/>
                <a:cs typeface="Open Sans" pitchFamily="34" charset="-120"/>
              </a:rPr>
              <a:t>Provide context and background</a:t>
            </a:r>
            <a:endParaRPr lang="en-US" sz="1750" dirty="0"/>
          </a:p>
        </p:txBody>
      </p:sp>
      <p:pic>
        <p:nvPicPr>
          <p:cNvPr id="16"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94420" y="5937406"/>
            <a:ext cx="397993" cy="397993"/>
          </a:xfrm>
          <a:prstGeom prst="rect">
            <a:avLst/>
          </a:prstGeom>
        </p:spPr>
      </p:pic>
      <p:sp>
        <p:nvSpPr>
          <p:cNvPr id="17" name="Text 10"/>
          <p:cNvSpPr/>
          <p:nvPr/>
        </p:nvSpPr>
        <p:spPr>
          <a:xfrm>
            <a:off x="1096447" y="7568446"/>
            <a:ext cx="12437507" cy="226457"/>
          </a:xfrm>
          <a:prstGeom prst="rect">
            <a:avLst/>
          </a:prstGeom>
          <a:noFill/>
          <a:ln/>
        </p:spPr>
        <p:txBody>
          <a:bodyPr wrap="none" lIns="0" tIns="0" rIns="0" bIns="0" rtlCol="0" anchor="t"/>
          <a:lstStyle/>
          <a:p>
            <a:pPr marL="0" indent="0" algn="l">
              <a:lnSpc>
                <a:spcPts val="1750"/>
              </a:lnSpc>
              <a:buNone/>
            </a:pPr>
            <a:r>
              <a:rPr lang="en-US" sz="1200" dirty="0">
                <a:solidFill>
                  <a:srgbClr val="443728"/>
                </a:solidFill>
                <a:latin typeface="Open Sans" pitchFamily="34" charset="0"/>
                <a:ea typeface="Open Sans" pitchFamily="34" charset="-122"/>
                <a:cs typeface="Open Sans" pitchFamily="34" charset="-120"/>
              </a:rPr>
              <a:t>Each episode follows a loose but intentional arc — not a script, but a rhythm. We arrive somewhere real because we're willing to not know exactly where we're going.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87833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For Prospective Guests</a:t>
            </a:r>
            <a:endParaRPr lang="en-US" sz="1950" dirty="0"/>
          </a:p>
        </p:txBody>
      </p:sp>
      <p:sp>
        <p:nvSpPr>
          <p:cNvPr id="3" name="Text 1"/>
          <p:cNvSpPr/>
          <p:nvPr/>
        </p:nvSpPr>
        <p:spPr>
          <a:xfrm>
            <a:off x="793790" y="2267783"/>
            <a:ext cx="5873710"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Want to Come on the Show?</a:t>
            </a:r>
            <a:endParaRPr lang="en-US" sz="3900" dirty="0"/>
          </a:p>
        </p:txBody>
      </p:sp>
      <p:sp>
        <p:nvSpPr>
          <p:cNvPr id="4" name="Text 2"/>
          <p:cNvSpPr/>
          <p:nvPr/>
        </p:nvSpPr>
        <p:spPr>
          <a:xfrm>
            <a:off x="793790" y="318551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If something is bothering you — a question you can't stop circling, a conversation you wish someone would finally have, a belief you're not sure you believe anymore — this might be your seat at the table.</a:t>
            </a:r>
            <a:endParaRPr lang="en-US" sz="1550" dirty="0"/>
          </a:p>
        </p:txBody>
      </p:sp>
      <p:sp>
        <p:nvSpPr>
          <p:cNvPr id="5" name="Text 3"/>
          <p:cNvSpPr/>
          <p:nvPr/>
        </p:nvSpPr>
        <p:spPr>
          <a:xfrm>
            <a:off x="793790" y="4043839"/>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43728"/>
                </a:solidFill>
                <a:latin typeface="Crimson Pro Light" pitchFamily="34" charset="0"/>
                <a:ea typeface="Crimson Pro Light" pitchFamily="34" charset="-122"/>
                <a:cs typeface="Crimson Pro Light" pitchFamily="34" charset="-120"/>
              </a:rPr>
              <a:t>01</a:t>
            </a:r>
            <a:endParaRPr lang="en-US" sz="1550" dirty="0"/>
          </a:p>
        </p:txBody>
      </p:sp>
      <p:sp>
        <p:nvSpPr>
          <p:cNvPr id="6" name="Shape 4"/>
          <p:cNvSpPr/>
          <p:nvPr/>
        </p:nvSpPr>
        <p:spPr>
          <a:xfrm>
            <a:off x="793790" y="4358164"/>
            <a:ext cx="4215289" cy="22860"/>
          </a:xfrm>
          <a:prstGeom prst="rect">
            <a:avLst/>
          </a:prstGeom>
          <a:solidFill>
            <a:srgbClr val="835E54"/>
          </a:solidFill>
          <a:ln/>
        </p:spPr>
        <p:txBody>
          <a:bodyPr/>
          <a:lstStyle/>
          <a:p>
            <a:endParaRPr lang="en-AU"/>
          </a:p>
        </p:txBody>
      </p:sp>
      <p:sp>
        <p:nvSpPr>
          <p:cNvPr id="7" name="Text 5"/>
          <p:cNvSpPr/>
          <p:nvPr/>
        </p:nvSpPr>
        <p:spPr>
          <a:xfrm>
            <a:off x="793790" y="450306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Reach Out</a:t>
            </a:r>
            <a:endParaRPr lang="en-US" sz="1950" dirty="0"/>
          </a:p>
        </p:txBody>
      </p:sp>
      <p:sp>
        <p:nvSpPr>
          <p:cNvPr id="8" name="Text 6"/>
          <p:cNvSpPr/>
          <p:nvPr/>
        </p:nvSpPr>
        <p:spPr>
          <a:xfrm>
            <a:off x="793790" y="4932283"/>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Drop a message sharing what's on your mind. No formal pitch required — just tell us what you'd want to talk about and why it matters to you right now.</a:t>
            </a:r>
            <a:endParaRPr lang="en-US" sz="1550" dirty="0"/>
          </a:p>
        </p:txBody>
      </p:sp>
      <p:sp>
        <p:nvSpPr>
          <p:cNvPr id="9" name="Text 7"/>
          <p:cNvSpPr/>
          <p:nvPr/>
        </p:nvSpPr>
        <p:spPr>
          <a:xfrm>
            <a:off x="5207437" y="4043839"/>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43728"/>
                </a:solidFill>
                <a:latin typeface="Crimson Pro Light" pitchFamily="34" charset="0"/>
                <a:ea typeface="Crimson Pro Light" pitchFamily="34" charset="-122"/>
                <a:cs typeface="Crimson Pro Light" pitchFamily="34" charset="-120"/>
              </a:rPr>
              <a:t>02</a:t>
            </a:r>
            <a:endParaRPr lang="en-US" sz="1550" dirty="0"/>
          </a:p>
        </p:txBody>
      </p:sp>
      <p:sp>
        <p:nvSpPr>
          <p:cNvPr id="10" name="Shape 8"/>
          <p:cNvSpPr/>
          <p:nvPr/>
        </p:nvSpPr>
        <p:spPr>
          <a:xfrm>
            <a:off x="5207437" y="4358164"/>
            <a:ext cx="4215408" cy="22860"/>
          </a:xfrm>
          <a:prstGeom prst="rect">
            <a:avLst/>
          </a:prstGeom>
          <a:solidFill>
            <a:srgbClr val="835E54"/>
          </a:solidFill>
          <a:ln/>
        </p:spPr>
        <p:txBody>
          <a:bodyPr/>
          <a:lstStyle/>
          <a:p>
            <a:endParaRPr lang="en-AU"/>
          </a:p>
        </p:txBody>
      </p:sp>
      <p:sp>
        <p:nvSpPr>
          <p:cNvPr id="11" name="Text 9"/>
          <p:cNvSpPr/>
          <p:nvPr/>
        </p:nvSpPr>
        <p:spPr>
          <a:xfrm>
            <a:off x="5207437" y="450306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Pre-Chat</a:t>
            </a:r>
            <a:endParaRPr lang="en-US" sz="1950" dirty="0"/>
          </a:p>
        </p:txBody>
      </p:sp>
      <p:sp>
        <p:nvSpPr>
          <p:cNvPr id="12" name="Text 10"/>
          <p:cNvSpPr/>
          <p:nvPr/>
        </p:nvSpPr>
        <p:spPr>
          <a:xfrm>
            <a:off x="5207437" y="4932283"/>
            <a:ext cx="4215408"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We'll have a brief, informal conversation to get a feel for the territory. No prep needed — in fact, the less polished, the better.</a:t>
            </a:r>
            <a:endParaRPr lang="en-US" sz="1550" dirty="0"/>
          </a:p>
        </p:txBody>
      </p:sp>
      <p:sp>
        <p:nvSpPr>
          <p:cNvPr id="13" name="Text 11"/>
          <p:cNvSpPr/>
          <p:nvPr/>
        </p:nvSpPr>
        <p:spPr>
          <a:xfrm>
            <a:off x="9621203" y="4043839"/>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43728"/>
                </a:solidFill>
                <a:latin typeface="Crimson Pro Light" pitchFamily="34" charset="0"/>
                <a:ea typeface="Crimson Pro Light" pitchFamily="34" charset="-122"/>
                <a:cs typeface="Crimson Pro Light" pitchFamily="34" charset="-120"/>
              </a:rPr>
              <a:t>03</a:t>
            </a:r>
            <a:endParaRPr lang="en-US" sz="1550" dirty="0"/>
          </a:p>
        </p:txBody>
      </p:sp>
      <p:sp>
        <p:nvSpPr>
          <p:cNvPr id="14" name="Shape 12"/>
          <p:cNvSpPr/>
          <p:nvPr/>
        </p:nvSpPr>
        <p:spPr>
          <a:xfrm>
            <a:off x="9621203" y="4358164"/>
            <a:ext cx="4215289" cy="22860"/>
          </a:xfrm>
          <a:prstGeom prst="rect">
            <a:avLst/>
          </a:prstGeom>
          <a:solidFill>
            <a:srgbClr val="835E54"/>
          </a:solidFill>
          <a:ln/>
        </p:spPr>
        <p:txBody>
          <a:bodyPr/>
          <a:lstStyle/>
          <a:p>
            <a:endParaRPr lang="en-AU"/>
          </a:p>
        </p:txBody>
      </p:sp>
      <p:sp>
        <p:nvSpPr>
          <p:cNvPr id="15" name="Text 13"/>
          <p:cNvSpPr/>
          <p:nvPr/>
        </p:nvSpPr>
        <p:spPr>
          <a:xfrm>
            <a:off x="9621203" y="450306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Show Up &amp; Talk</a:t>
            </a:r>
            <a:endParaRPr lang="en-US" sz="1950" dirty="0"/>
          </a:p>
        </p:txBody>
      </p:sp>
      <p:sp>
        <p:nvSpPr>
          <p:cNvPr id="16" name="Text 14"/>
          <p:cNvSpPr/>
          <p:nvPr/>
        </p:nvSpPr>
        <p:spPr>
          <a:xfrm>
            <a:off x="9621203" y="4932283"/>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We record. No rigid agenda. Three loose anchors and a real conversation. You don't need to have all the answers — you just need to be willing to be honest.</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291655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The One Rule</a:t>
            </a:r>
            <a:endParaRPr lang="en-US" sz="1950" dirty="0"/>
          </a:p>
        </p:txBody>
      </p:sp>
      <p:sp>
        <p:nvSpPr>
          <p:cNvPr id="3" name="Text 1"/>
          <p:cNvSpPr/>
          <p:nvPr/>
        </p:nvSpPr>
        <p:spPr>
          <a:xfrm>
            <a:off x="793790" y="3524369"/>
            <a:ext cx="7564874" cy="855821"/>
          </a:xfrm>
          <a:prstGeom prst="rect">
            <a:avLst/>
          </a:prstGeom>
          <a:noFill/>
          <a:ln/>
        </p:spPr>
        <p:txBody>
          <a:bodyPr wrap="none" lIns="0" tIns="0" rIns="0" bIns="0" rtlCol="0" anchor="t"/>
          <a:lstStyle/>
          <a:p>
            <a:pPr marL="0" indent="0" algn="l">
              <a:lnSpc>
                <a:spcPts val="6700"/>
              </a:lnSpc>
              <a:buNone/>
            </a:pPr>
            <a:r>
              <a:rPr lang="en-US" sz="5350" b="1" dirty="0">
                <a:solidFill>
                  <a:srgbClr val="443728"/>
                </a:solidFill>
                <a:latin typeface="Crimson Pro Bold" pitchFamily="34" charset="0"/>
                <a:ea typeface="Crimson Pro Bold" pitchFamily="34" charset="-122"/>
                <a:cs typeface="Crimson Pro Bold" pitchFamily="34" charset="-120"/>
              </a:rPr>
              <a:t>Be honest or don't bother.</a:t>
            </a:r>
            <a:endParaRPr lang="en-US" sz="5350" dirty="0"/>
          </a:p>
        </p:txBody>
      </p:sp>
      <p:sp>
        <p:nvSpPr>
          <p:cNvPr id="4" name="Text 2"/>
          <p:cNvSpPr/>
          <p:nvPr/>
        </p:nvSpPr>
        <p:spPr>
          <a:xfrm>
            <a:off x="793790" y="467784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That's it. That's the whole brief. No brand management. No messaging. No staying on script. Just two humans sitting with a hard question and refusing to take the easy exit.</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694730"/>
            <a:ext cx="3435310"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Topics That Need a Conversation</a:t>
            </a:r>
            <a:endParaRPr lang="en-US" sz="1950" dirty="0"/>
          </a:p>
        </p:txBody>
      </p:sp>
      <p:sp>
        <p:nvSpPr>
          <p:cNvPr id="3" name="Text 1"/>
          <p:cNvSpPr/>
          <p:nvPr/>
        </p:nvSpPr>
        <p:spPr>
          <a:xfrm>
            <a:off x="793790" y="1084183"/>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The Elephant List</a:t>
            </a:r>
            <a:endParaRPr lang="en-US" sz="3900" dirty="0"/>
          </a:p>
        </p:txBody>
      </p:sp>
      <p:sp>
        <p:nvSpPr>
          <p:cNvPr id="4" name="Text 2"/>
          <p:cNvSpPr/>
          <p:nvPr/>
        </p:nvSpPr>
        <p:spPr>
          <a:xfrm>
            <a:off x="793790" y="200191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These are the kinds of conversations Breaking Mental Models was built for. The ones that keep getting postponed, politely sidestepped, or dressed up in language that softens the edges too much.</a:t>
            </a:r>
            <a:endParaRPr lang="en-US" sz="1550" dirty="0"/>
          </a:p>
        </p:txBody>
      </p:sp>
      <p:sp>
        <p:nvSpPr>
          <p:cNvPr id="5" name="Shape 3"/>
          <p:cNvSpPr/>
          <p:nvPr/>
        </p:nvSpPr>
        <p:spPr>
          <a:xfrm>
            <a:off x="793790" y="3157895"/>
            <a:ext cx="6422231" cy="1781651"/>
          </a:xfrm>
          <a:prstGeom prst="roundRect">
            <a:avLst>
              <a:gd name="adj" fmla="val 6159"/>
            </a:avLst>
          </a:prstGeom>
          <a:solidFill>
            <a:srgbClr val="FFFCFA"/>
          </a:solidFill>
          <a:ln/>
        </p:spPr>
        <p:txBody>
          <a:bodyPr/>
          <a:lstStyle/>
          <a:p>
            <a:endParaRPr lang="en-AU"/>
          </a:p>
        </p:txBody>
      </p:sp>
      <p:sp>
        <p:nvSpPr>
          <p:cNvPr id="6" name="Shape 4"/>
          <p:cNvSpPr/>
          <p:nvPr/>
        </p:nvSpPr>
        <p:spPr>
          <a:xfrm>
            <a:off x="793790" y="3135035"/>
            <a:ext cx="6422231" cy="91440"/>
          </a:xfrm>
          <a:prstGeom prst="roundRect">
            <a:avLst>
              <a:gd name="adj" fmla="val 91163"/>
            </a:avLst>
          </a:prstGeom>
          <a:solidFill>
            <a:srgbClr val="835E54"/>
          </a:solidFill>
          <a:ln/>
        </p:spPr>
        <p:txBody>
          <a:bodyPr/>
          <a:lstStyle/>
          <a:p>
            <a:endParaRPr lang="en-AU"/>
          </a:p>
        </p:txBody>
      </p:sp>
      <p:sp>
        <p:nvSpPr>
          <p:cNvPr id="7" name="Shape 5"/>
          <p:cNvSpPr/>
          <p:nvPr/>
        </p:nvSpPr>
        <p:spPr>
          <a:xfrm>
            <a:off x="3707249" y="2860238"/>
            <a:ext cx="595313" cy="595313"/>
          </a:xfrm>
          <a:prstGeom prst="roundRect">
            <a:avLst>
              <a:gd name="adj" fmla="val 153600"/>
            </a:avLst>
          </a:prstGeom>
          <a:solidFill>
            <a:srgbClr val="835E54"/>
          </a:solidFill>
          <a:ln/>
        </p:spPr>
        <p:txBody>
          <a:bodyPr/>
          <a:lstStyle/>
          <a:p>
            <a:endParaRPr lang="en-AU"/>
          </a:p>
        </p:txBody>
      </p:sp>
      <p:sp>
        <p:nvSpPr>
          <p:cNvPr id="8" name="Text 6"/>
          <p:cNvSpPr/>
          <p:nvPr/>
        </p:nvSpPr>
        <p:spPr>
          <a:xfrm>
            <a:off x="3885843" y="3009067"/>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Crimson Pro Bold" pitchFamily="34" charset="0"/>
                <a:ea typeface="Crimson Pro Bold" pitchFamily="34" charset="-122"/>
                <a:cs typeface="Crimson Pro Bold" pitchFamily="34" charset="-120"/>
              </a:rPr>
              <a:t>1</a:t>
            </a:r>
            <a:endParaRPr lang="en-US" sz="1850" dirty="0"/>
          </a:p>
        </p:txBody>
      </p:sp>
      <p:sp>
        <p:nvSpPr>
          <p:cNvPr id="9" name="Text 7"/>
          <p:cNvSpPr/>
          <p:nvPr/>
        </p:nvSpPr>
        <p:spPr>
          <a:xfrm>
            <a:off x="1015008" y="365402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Parenting &amp; Pressure</a:t>
            </a:r>
            <a:endParaRPr lang="en-US" sz="1950" dirty="0"/>
          </a:p>
        </p:txBody>
      </p:sp>
      <p:sp>
        <p:nvSpPr>
          <p:cNvPr id="10" name="Text 8"/>
          <p:cNvSpPr/>
          <p:nvPr/>
        </p:nvSpPr>
        <p:spPr>
          <a:xfrm>
            <a:off x="1015008" y="4083248"/>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Are we raising children or managing our own anxiety? What we never say about how hard it actually is.</a:t>
            </a:r>
            <a:endParaRPr lang="en-US" sz="1550" dirty="0"/>
          </a:p>
        </p:txBody>
      </p:sp>
      <p:sp>
        <p:nvSpPr>
          <p:cNvPr id="11" name="Shape 9"/>
          <p:cNvSpPr/>
          <p:nvPr/>
        </p:nvSpPr>
        <p:spPr>
          <a:xfrm>
            <a:off x="7414379" y="3157895"/>
            <a:ext cx="6422231" cy="1781651"/>
          </a:xfrm>
          <a:prstGeom prst="roundRect">
            <a:avLst>
              <a:gd name="adj" fmla="val 6159"/>
            </a:avLst>
          </a:prstGeom>
          <a:solidFill>
            <a:srgbClr val="FFFCFA"/>
          </a:solidFill>
          <a:ln/>
        </p:spPr>
        <p:txBody>
          <a:bodyPr/>
          <a:lstStyle/>
          <a:p>
            <a:endParaRPr lang="en-AU"/>
          </a:p>
        </p:txBody>
      </p:sp>
      <p:sp>
        <p:nvSpPr>
          <p:cNvPr id="12" name="Shape 10"/>
          <p:cNvSpPr/>
          <p:nvPr/>
        </p:nvSpPr>
        <p:spPr>
          <a:xfrm>
            <a:off x="7414379" y="3135035"/>
            <a:ext cx="6422231" cy="91440"/>
          </a:xfrm>
          <a:prstGeom prst="roundRect">
            <a:avLst>
              <a:gd name="adj" fmla="val 91163"/>
            </a:avLst>
          </a:prstGeom>
          <a:solidFill>
            <a:srgbClr val="835E54"/>
          </a:solidFill>
          <a:ln/>
        </p:spPr>
        <p:txBody>
          <a:bodyPr/>
          <a:lstStyle/>
          <a:p>
            <a:endParaRPr lang="en-AU"/>
          </a:p>
        </p:txBody>
      </p:sp>
      <p:sp>
        <p:nvSpPr>
          <p:cNvPr id="13" name="Shape 11"/>
          <p:cNvSpPr/>
          <p:nvPr/>
        </p:nvSpPr>
        <p:spPr>
          <a:xfrm>
            <a:off x="10327838" y="2860238"/>
            <a:ext cx="595313" cy="595313"/>
          </a:xfrm>
          <a:prstGeom prst="roundRect">
            <a:avLst>
              <a:gd name="adj" fmla="val 153600"/>
            </a:avLst>
          </a:prstGeom>
          <a:solidFill>
            <a:srgbClr val="835E54"/>
          </a:solidFill>
          <a:ln/>
        </p:spPr>
        <p:txBody>
          <a:bodyPr/>
          <a:lstStyle/>
          <a:p>
            <a:endParaRPr lang="en-AU"/>
          </a:p>
        </p:txBody>
      </p:sp>
      <p:sp>
        <p:nvSpPr>
          <p:cNvPr id="14" name="Text 12"/>
          <p:cNvSpPr/>
          <p:nvPr/>
        </p:nvSpPr>
        <p:spPr>
          <a:xfrm>
            <a:off x="10506432" y="3009067"/>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Crimson Pro Bold" pitchFamily="34" charset="0"/>
                <a:ea typeface="Crimson Pro Bold" pitchFamily="34" charset="-122"/>
                <a:cs typeface="Crimson Pro Bold" pitchFamily="34" charset="-120"/>
              </a:rPr>
              <a:t>2</a:t>
            </a:r>
            <a:endParaRPr lang="en-US" sz="1850" dirty="0"/>
          </a:p>
        </p:txBody>
      </p:sp>
      <p:sp>
        <p:nvSpPr>
          <p:cNvPr id="15" name="Text 13"/>
          <p:cNvSpPr/>
          <p:nvPr/>
        </p:nvSpPr>
        <p:spPr>
          <a:xfrm>
            <a:off x="7635597" y="365402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Success &amp; Emptiness</a:t>
            </a:r>
            <a:endParaRPr lang="en-US" sz="1950" dirty="0"/>
          </a:p>
        </p:txBody>
      </p:sp>
      <p:sp>
        <p:nvSpPr>
          <p:cNvPr id="16" name="Text 14"/>
          <p:cNvSpPr/>
          <p:nvPr/>
        </p:nvSpPr>
        <p:spPr>
          <a:xfrm>
            <a:off x="7635597" y="4083248"/>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You did everything right. Got the job, the house, the title. So why does something still feel hollow?</a:t>
            </a:r>
            <a:endParaRPr lang="en-US" sz="1550" dirty="0"/>
          </a:p>
        </p:txBody>
      </p:sp>
      <p:sp>
        <p:nvSpPr>
          <p:cNvPr id="17" name="Shape 15"/>
          <p:cNvSpPr/>
          <p:nvPr/>
        </p:nvSpPr>
        <p:spPr>
          <a:xfrm>
            <a:off x="793790" y="5435560"/>
            <a:ext cx="6422231" cy="2099191"/>
          </a:xfrm>
          <a:prstGeom prst="roundRect">
            <a:avLst>
              <a:gd name="adj" fmla="val 5227"/>
            </a:avLst>
          </a:prstGeom>
          <a:solidFill>
            <a:srgbClr val="FFFCFA"/>
          </a:solidFill>
          <a:ln/>
        </p:spPr>
        <p:txBody>
          <a:bodyPr/>
          <a:lstStyle/>
          <a:p>
            <a:endParaRPr lang="en-AU"/>
          </a:p>
        </p:txBody>
      </p:sp>
      <p:sp>
        <p:nvSpPr>
          <p:cNvPr id="18" name="Shape 16"/>
          <p:cNvSpPr/>
          <p:nvPr/>
        </p:nvSpPr>
        <p:spPr>
          <a:xfrm>
            <a:off x="793790" y="5412700"/>
            <a:ext cx="6422231" cy="91440"/>
          </a:xfrm>
          <a:prstGeom prst="roundRect">
            <a:avLst>
              <a:gd name="adj" fmla="val 91163"/>
            </a:avLst>
          </a:prstGeom>
          <a:solidFill>
            <a:srgbClr val="835E54"/>
          </a:solidFill>
          <a:ln/>
        </p:spPr>
        <p:txBody>
          <a:bodyPr/>
          <a:lstStyle/>
          <a:p>
            <a:endParaRPr lang="en-AU"/>
          </a:p>
        </p:txBody>
      </p:sp>
      <p:sp>
        <p:nvSpPr>
          <p:cNvPr id="19" name="Shape 17"/>
          <p:cNvSpPr/>
          <p:nvPr/>
        </p:nvSpPr>
        <p:spPr>
          <a:xfrm>
            <a:off x="3707249" y="5137904"/>
            <a:ext cx="595313" cy="595313"/>
          </a:xfrm>
          <a:prstGeom prst="roundRect">
            <a:avLst>
              <a:gd name="adj" fmla="val 153600"/>
            </a:avLst>
          </a:prstGeom>
          <a:solidFill>
            <a:srgbClr val="835E54"/>
          </a:solidFill>
          <a:ln/>
        </p:spPr>
        <p:txBody>
          <a:bodyPr/>
          <a:lstStyle/>
          <a:p>
            <a:endParaRPr lang="en-AU"/>
          </a:p>
        </p:txBody>
      </p:sp>
      <p:sp>
        <p:nvSpPr>
          <p:cNvPr id="20" name="Text 18"/>
          <p:cNvSpPr/>
          <p:nvPr/>
        </p:nvSpPr>
        <p:spPr>
          <a:xfrm>
            <a:off x="3885843" y="5286732"/>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Crimson Pro Bold" pitchFamily="34" charset="0"/>
                <a:ea typeface="Crimson Pro Bold" pitchFamily="34" charset="-122"/>
                <a:cs typeface="Crimson Pro Bold" pitchFamily="34" charset="-120"/>
              </a:rPr>
              <a:t>3</a:t>
            </a:r>
            <a:endParaRPr lang="en-US" sz="1850" dirty="0"/>
          </a:p>
        </p:txBody>
      </p:sp>
      <p:sp>
        <p:nvSpPr>
          <p:cNvPr id="21" name="Text 19"/>
          <p:cNvSpPr/>
          <p:nvPr/>
        </p:nvSpPr>
        <p:spPr>
          <a:xfrm>
            <a:off x="1015008" y="5931694"/>
            <a:ext cx="2714387"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Belonging vs Assimilation</a:t>
            </a:r>
            <a:endParaRPr lang="en-US" sz="1950" dirty="0"/>
          </a:p>
        </p:txBody>
      </p:sp>
      <p:sp>
        <p:nvSpPr>
          <p:cNvPr id="22" name="Text 20"/>
          <p:cNvSpPr/>
          <p:nvPr/>
        </p:nvSpPr>
        <p:spPr>
          <a:xfrm>
            <a:off x="1015008" y="6360914"/>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How much of yourself do you quietly edit to fit in — and what does that cost you over time?</a:t>
            </a:r>
            <a:endParaRPr lang="en-US" sz="1550" dirty="0"/>
          </a:p>
        </p:txBody>
      </p:sp>
      <p:sp>
        <p:nvSpPr>
          <p:cNvPr id="23" name="Shape 21"/>
          <p:cNvSpPr/>
          <p:nvPr/>
        </p:nvSpPr>
        <p:spPr>
          <a:xfrm>
            <a:off x="7414379" y="5435560"/>
            <a:ext cx="6422231" cy="2099191"/>
          </a:xfrm>
          <a:prstGeom prst="roundRect">
            <a:avLst>
              <a:gd name="adj" fmla="val 5227"/>
            </a:avLst>
          </a:prstGeom>
          <a:solidFill>
            <a:srgbClr val="FFFCFA"/>
          </a:solidFill>
          <a:ln/>
        </p:spPr>
        <p:txBody>
          <a:bodyPr/>
          <a:lstStyle/>
          <a:p>
            <a:endParaRPr lang="en-AU"/>
          </a:p>
        </p:txBody>
      </p:sp>
      <p:sp>
        <p:nvSpPr>
          <p:cNvPr id="24" name="Shape 22"/>
          <p:cNvSpPr/>
          <p:nvPr/>
        </p:nvSpPr>
        <p:spPr>
          <a:xfrm>
            <a:off x="7414379" y="5412700"/>
            <a:ext cx="6422231" cy="91440"/>
          </a:xfrm>
          <a:prstGeom prst="roundRect">
            <a:avLst>
              <a:gd name="adj" fmla="val 91163"/>
            </a:avLst>
          </a:prstGeom>
          <a:solidFill>
            <a:srgbClr val="835E54"/>
          </a:solidFill>
          <a:ln/>
        </p:spPr>
        <p:txBody>
          <a:bodyPr/>
          <a:lstStyle/>
          <a:p>
            <a:endParaRPr lang="en-AU"/>
          </a:p>
        </p:txBody>
      </p:sp>
      <p:sp>
        <p:nvSpPr>
          <p:cNvPr id="25" name="Shape 23"/>
          <p:cNvSpPr/>
          <p:nvPr/>
        </p:nvSpPr>
        <p:spPr>
          <a:xfrm>
            <a:off x="10327838" y="5137904"/>
            <a:ext cx="595313" cy="595313"/>
          </a:xfrm>
          <a:prstGeom prst="roundRect">
            <a:avLst>
              <a:gd name="adj" fmla="val 153600"/>
            </a:avLst>
          </a:prstGeom>
          <a:solidFill>
            <a:srgbClr val="835E54"/>
          </a:solidFill>
          <a:ln/>
        </p:spPr>
        <p:txBody>
          <a:bodyPr/>
          <a:lstStyle/>
          <a:p>
            <a:endParaRPr lang="en-AU"/>
          </a:p>
        </p:txBody>
      </p:sp>
      <p:sp>
        <p:nvSpPr>
          <p:cNvPr id="26" name="Text 24"/>
          <p:cNvSpPr/>
          <p:nvPr/>
        </p:nvSpPr>
        <p:spPr>
          <a:xfrm>
            <a:off x="10506432" y="5286732"/>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Crimson Pro Bold" pitchFamily="34" charset="0"/>
                <a:ea typeface="Crimson Pro Bold" pitchFamily="34" charset="-122"/>
                <a:cs typeface="Crimson Pro Bold" pitchFamily="34" charset="-120"/>
              </a:rPr>
              <a:t>4</a:t>
            </a:r>
            <a:endParaRPr lang="en-US" sz="1850" dirty="0"/>
          </a:p>
        </p:txBody>
      </p:sp>
      <p:sp>
        <p:nvSpPr>
          <p:cNvPr id="27" name="Text 25"/>
          <p:cNvSpPr/>
          <p:nvPr/>
        </p:nvSpPr>
        <p:spPr>
          <a:xfrm>
            <a:off x="7635597" y="5931694"/>
            <a:ext cx="2517219"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Grief That Has No Name</a:t>
            </a:r>
            <a:endParaRPr lang="en-US" sz="1950" dirty="0"/>
          </a:p>
        </p:txBody>
      </p:sp>
      <p:sp>
        <p:nvSpPr>
          <p:cNvPr id="28" name="Text 26"/>
          <p:cNvSpPr/>
          <p:nvPr/>
        </p:nvSpPr>
        <p:spPr>
          <a:xfrm>
            <a:off x="7635597" y="6360914"/>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The losses that don't come with a funeral. A version of yourself. A future you had planned. A relationship that ended without closure.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68212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On Awareness</a:t>
            </a:r>
            <a:endParaRPr lang="en-US" sz="1950" dirty="0"/>
          </a:p>
        </p:txBody>
      </p:sp>
      <p:sp>
        <p:nvSpPr>
          <p:cNvPr id="4" name="Text 1"/>
          <p:cNvSpPr/>
          <p:nvPr/>
        </p:nvSpPr>
        <p:spPr>
          <a:xfrm>
            <a:off x="1091446" y="3513177"/>
            <a:ext cx="7258764"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"Awareness is the elixir of life. Most people treat a gap year as time off. The question is — how does it become time </a:t>
            </a:r>
            <a:r>
              <a:rPr lang="en-US" sz="1550" i="1" dirty="0">
                <a:solidFill>
                  <a:srgbClr val="443728"/>
                </a:solidFill>
                <a:latin typeface="Open Sans" pitchFamily="34" charset="0"/>
                <a:ea typeface="Open Sans" pitchFamily="34" charset="-122"/>
                <a:cs typeface="Open Sans" pitchFamily="34" charset="-120"/>
              </a:rPr>
              <a:t>on</a:t>
            </a:r>
            <a:r>
              <a:rPr lang="en-US" sz="1550" dirty="0">
                <a:solidFill>
                  <a:srgbClr val="443728"/>
                </a:solidFill>
                <a:latin typeface="Open Sans" pitchFamily="34" charset="0"/>
                <a:ea typeface="Open Sans" pitchFamily="34" charset="-122"/>
                <a:cs typeface="Open Sans" pitchFamily="34" charset="-120"/>
              </a:rPr>
              <a:t>?"</a:t>
            </a:r>
            <a:endParaRPr lang="en-US" sz="1550" dirty="0"/>
          </a:p>
        </p:txBody>
      </p:sp>
      <p:sp>
        <p:nvSpPr>
          <p:cNvPr id="5" name="Shape 2"/>
          <p:cNvSpPr/>
          <p:nvPr/>
        </p:nvSpPr>
        <p:spPr>
          <a:xfrm>
            <a:off x="793790" y="3289935"/>
            <a:ext cx="22860" cy="1081564"/>
          </a:xfrm>
          <a:prstGeom prst="rect">
            <a:avLst/>
          </a:prstGeom>
          <a:solidFill>
            <a:srgbClr val="835E54"/>
          </a:solidFill>
          <a:ln/>
        </p:spPr>
        <p:txBody>
          <a:bodyPr/>
          <a:lstStyle/>
          <a:p>
            <a:endParaRPr lang="en-AU"/>
          </a:p>
        </p:txBody>
      </p:sp>
      <p:sp>
        <p:nvSpPr>
          <p:cNvPr id="6" name="Text 3"/>
          <p:cNvSpPr/>
          <p:nvPr/>
        </p:nvSpPr>
        <p:spPr>
          <a:xfrm>
            <a:off x="793790" y="4594741"/>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This question — from the Memoirs to Millions conversation — captures everything this podcast is trying to do. Slow down enough to notice. Notice enough to choose. Choose enough to actually change.</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3427" y="896898"/>
            <a:ext cx="3782020" cy="294323"/>
          </a:xfrm>
          <a:prstGeom prst="rect">
            <a:avLst/>
          </a:prstGeom>
          <a:noFill/>
          <a:ln/>
        </p:spPr>
        <p:txBody>
          <a:bodyPr wrap="none" lIns="0" tIns="0" rIns="0" bIns="0" rtlCol="0" anchor="t"/>
          <a:lstStyle/>
          <a:p>
            <a:pPr marL="0" indent="0" algn="l">
              <a:lnSpc>
                <a:spcPts val="2300"/>
              </a:lnSpc>
              <a:buNone/>
            </a:pPr>
            <a:r>
              <a:rPr lang="en-US" sz="1850" b="1" dirty="0">
                <a:solidFill>
                  <a:srgbClr val="443728"/>
                </a:solidFill>
                <a:latin typeface="Crimson Pro Bold" pitchFamily="34" charset="0"/>
                <a:ea typeface="Crimson Pro Bold" pitchFamily="34" charset="-122"/>
                <a:cs typeface="Crimson Pro Bold" pitchFamily="34" charset="-120"/>
              </a:rPr>
              <a:t>Why Breaking Mental Models Matters</a:t>
            </a:r>
            <a:endParaRPr lang="en-US" sz="1850" dirty="0"/>
          </a:p>
        </p:txBody>
      </p:sp>
      <p:sp>
        <p:nvSpPr>
          <p:cNvPr id="4" name="Text 1"/>
          <p:cNvSpPr/>
          <p:nvPr/>
        </p:nvSpPr>
        <p:spPr>
          <a:xfrm>
            <a:off x="753427" y="1262658"/>
            <a:ext cx="7482364" cy="588526"/>
          </a:xfrm>
          <a:prstGeom prst="rect">
            <a:avLst/>
          </a:prstGeom>
          <a:noFill/>
          <a:ln/>
        </p:spPr>
        <p:txBody>
          <a:bodyPr wrap="none" lIns="0" tIns="0" rIns="0" bIns="0" rtlCol="0" anchor="t"/>
          <a:lstStyle/>
          <a:p>
            <a:pPr marL="0" indent="0" algn="l">
              <a:lnSpc>
                <a:spcPts val="4600"/>
              </a:lnSpc>
              <a:buNone/>
            </a:pPr>
            <a:r>
              <a:rPr lang="en-US" sz="3700" b="1" dirty="0">
                <a:solidFill>
                  <a:srgbClr val="443728"/>
                </a:solidFill>
                <a:latin typeface="Crimson Pro Bold" pitchFamily="34" charset="0"/>
                <a:ea typeface="Crimson Pro Bold" pitchFamily="34" charset="-122"/>
                <a:cs typeface="Crimson Pro Bold" pitchFamily="34" charset="-120"/>
              </a:rPr>
              <a:t>This Isn't Just a Podcast. It's a Mirror.</a:t>
            </a:r>
            <a:endParaRPr lang="en-US" sz="3700" dirty="0"/>
          </a:p>
        </p:txBody>
      </p:sp>
      <p:sp>
        <p:nvSpPr>
          <p:cNvPr id="5" name="Text 2"/>
          <p:cNvSpPr/>
          <p:nvPr/>
        </p:nvSpPr>
        <p:spPr>
          <a:xfrm>
            <a:off x="753427" y="2119313"/>
            <a:ext cx="7637145" cy="1174433"/>
          </a:xfrm>
          <a:prstGeom prst="rect">
            <a:avLst/>
          </a:prstGeom>
          <a:noFill/>
          <a:ln/>
        </p:spPr>
        <p:txBody>
          <a:bodyPr wrap="square" lIns="0" tIns="0" rIns="0" bIns="0" rtlCol="0" anchor="t"/>
          <a:lstStyle/>
          <a:p>
            <a:pPr marL="0" indent="0" algn="l">
              <a:lnSpc>
                <a:spcPts val="2300"/>
              </a:lnSpc>
              <a:buNone/>
            </a:pPr>
            <a:r>
              <a:rPr lang="en-US" sz="1450" dirty="0">
                <a:solidFill>
                  <a:srgbClr val="443728"/>
                </a:solidFill>
                <a:latin typeface="Open Sans" pitchFamily="34" charset="0"/>
                <a:ea typeface="Open Sans" pitchFamily="34" charset="-122"/>
                <a:cs typeface="Open Sans" pitchFamily="34" charset="-120"/>
              </a:rPr>
              <a:t>Most of us are living inside frameworks we never chose. The beliefs handed to us by family, culture, institutions, and circumstance. We don't question them — not because they're right, but because questioning them is uncomfortable. Breaking Mental Models exists to make that discomfort productive.</a:t>
            </a:r>
            <a:endParaRPr lang="en-US" sz="1450" dirty="0"/>
          </a:p>
        </p:txBody>
      </p:sp>
      <p:sp>
        <p:nvSpPr>
          <p:cNvPr id="6" name="Text 3"/>
          <p:cNvSpPr/>
          <p:nvPr/>
        </p:nvSpPr>
        <p:spPr>
          <a:xfrm>
            <a:off x="753427" y="3655695"/>
            <a:ext cx="3993594" cy="2055257"/>
          </a:xfrm>
          <a:prstGeom prst="rect">
            <a:avLst/>
          </a:prstGeom>
          <a:noFill/>
          <a:ln/>
        </p:spPr>
        <p:txBody>
          <a:bodyPr wrap="square" lIns="0" tIns="0" rIns="0" bIns="0" rtlCol="0" anchor="t"/>
          <a:lstStyle/>
          <a:p>
            <a:pPr marL="0" indent="0" algn="l">
              <a:lnSpc>
                <a:spcPts val="2300"/>
              </a:lnSpc>
              <a:buNone/>
            </a:pPr>
            <a:r>
              <a:rPr lang="en-US" sz="1450" dirty="0">
                <a:solidFill>
                  <a:srgbClr val="443728"/>
                </a:solidFill>
                <a:latin typeface="Open Sans" pitchFamily="34" charset="0"/>
                <a:ea typeface="Open Sans" pitchFamily="34" charset="-122"/>
                <a:cs typeface="Open Sans" pitchFamily="34" charset="-120"/>
              </a:rPr>
              <a:t>This is not a talk show. It's not an interview. It's a conversation designed to do one thing: help you hear yourself think. When you listen to someone else wrestle with a belief they've held for decades — and watch them crack it open in real time — something shifts in you too.</a:t>
            </a:r>
            <a:endParaRPr lang="en-US" sz="1450" dirty="0"/>
          </a:p>
        </p:txBody>
      </p:sp>
      <p:sp>
        <p:nvSpPr>
          <p:cNvPr id="7" name="Shape 4"/>
          <p:cNvSpPr/>
          <p:nvPr/>
        </p:nvSpPr>
        <p:spPr>
          <a:xfrm>
            <a:off x="5078611" y="3494842"/>
            <a:ext cx="3455075" cy="3837861"/>
          </a:xfrm>
          <a:prstGeom prst="roundRect">
            <a:avLst>
              <a:gd name="adj" fmla="val 3925"/>
            </a:avLst>
          </a:prstGeom>
          <a:solidFill>
            <a:srgbClr val="C9907C"/>
          </a:solidFill>
          <a:ln/>
        </p:spPr>
        <p:txBody>
          <a:bodyPr/>
          <a:lstStyle/>
          <a:p>
            <a:endParaRPr lang="en-AU"/>
          </a:p>
        </p:txBody>
      </p:sp>
      <p:sp>
        <p:nvSpPr>
          <p:cNvPr id="8" name="Text 5"/>
          <p:cNvSpPr/>
          <p:nvPr/>
        </p:nvSpPr>
        <p:spPr>
          <a:xfrm>
            <a:off x="5266968" y="3673554"/>
            <a:ext cx="2691408" cy="294323"/>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Crimson Pro Bold" pitchFamily="34" charset="0"/>
                <a:ea typeface="Crimson Pro Bold" pitchFamily="34" charset="-122"/>
                <a:cs typeface="Crimson Pro Bold" pitchFamily="34" charset="-120"/>
              </a:rPr>
              <a:t>What Makes This Different</a:t>
            </a:r>
            <a:endParaRPr lang="en-US" sz="1850" dirty="0"/>
          </a:p>
        </p:txBody>
      </p:sp>
      <p:sp>
        <p:nvSpPr>
          <p:cNvPr id="9" name="Text 6"/>
          <p:cNvSpPr/>
          <p:nvPr/>
        </p:nvSpPr>
        <p:spPr>
          <a:xfrm>
            <a:off x="5266968" y="4146590"/>
            <a:ext cx="3078361" cy="3123605"/>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000000"/>
                </a:solidFill>
                <a:latin typeface="Open Sans" pitchFamily="34" charset="0"/>
                <a:ea typeface="Open Sans" pitchFamily="34" charset="-122"/>
                <a:cs typeface="Open Sans" pitchFamily="34" charset="-120"/>
              </a:rPr>
              <a:t>We don't come with answers. We come with questions.</a:t>
            </a:r>
            <a:endParaRPr lang="en-US" sz="1450" dirty="0"/>
          </a:p>
          <a:p>
            <a:pPr marL="342900" indent="-342900" algn="l">
              <a:lnSpc>
                <a:spcPts val="2300"/>
              </a:lnSpc>
              <a:buSzPct val="100000"/>
              <a:buChar char="•"/>
            </a:pPr>
            <a:r>
              <a:rPr lang="en-US" sz="1450" dirty="0">
                <a:solidFill>
                  <a:srgbClr val="000000"/>
                </a:solidFill>
                <a:latin typeface="Open Sans" pitchFamily="34" charset="0"/>
                <a:ea typeface="Open Sans" pitchFamily="34" charset="-122"/>
                <a:cs typeface="Open Sans" pitchFamily="34" charset="-120"/>
              </a:rPr>
              <a:t>We don't perform certainty. We sit with doubt.</a:t>
            </a:r>
            <a:endParaRPr lang="en-US" sz="1450" dirty="0"/>
          </a:p>
          <a:p>
            <a:pPr marL="342900" indent="-342900" algn="l">
              <a:lnSpc>
                <a:spcPts val="2300"/>
              </a:lnSpc>
              <a:buSzPct val="100000"/>
              <a:buChar char="•"/>
            </a:pPr>
            <a:r>
              <a:rPr lang="en-US" sz="1450" dirty="0">
                <a:solidFill>
                  <a:srgbClr val="000000"/>
                </a:solidFill>
                <a:latin typeface="Open Sans" pitchFamily="34" charset="0"/>
                <a:ea typeface="Open Sans" pitchFamily="34" charset="-122"/>
                <a:cs typeface="Open Sans" pitchFamily="34" charset="-120"/>
              </a:rPr>
              <a:t>We don't stay on script. We follow the truth wherever it leads.</a:t>
            </a:r>
            <a:endParaRPr lang="en-US" sz="1450" dirty="0"/>
          </a:p>
          <a:p>
            <a:pPr marL="342900" indent="-342900" algn="l">
              <a:lnSpc>
                <a:spcPts val="2300"/>
              </a:lnSpc>
              <a:buSzPct val="100000"/>
              <a:buChar char="•"/>
            </a:pPr>
            <a:r>
              <a:rPr lang="en-US" sz="1450" dirty="0">
                <a:solidFill>
                  <a:srgbClr val="000000"/>
                </a:solidFill>
                <a:latin typeface="Open Sans" pitchFamily="34" charset="0"/>
                <a:ea typeface="Open Sans" pitchFamily="34" charset="-122"/>
                <a:cs typeface="Open Sans" pitchFamily="34" charset="-120"/>
              </a:rPr>
              <a:t>Every episode is an invitation to question one thing you've stopped questioning.</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20898" y="1370528"/>
            <a:ext cx="2212419" cy="203359"/>
          </a:xfrm>
          <a:prstGeom prst="rect">
            <a:avLst/>
          </a:prstGeom>
          <a:noFill/>
          <a:ln/>
        </p:spPr>
        <p:txBody>
          <a:bodyPr wrap="none" lIns="0" tIns="0" rIns="0" bIns="0" rtlCol="0" anchor="t"/>
          <a:lstStyle/>
          <a:p>
            <a:pPr marL="0" indent="0" algn="l">
              <a:lnSpc>
                <a:spcPts val="1600"/>
              </a:lnSpc>
              <a:buNone/>
            </a:pPr>
            <a:r>
              <a:rPr lang="en-US" sz="1250" b="1" dirty="0">
                <a:solidFill>
                  <a:srgbClr val="443728"/>
                </a:solidFill>
                <a:latin typeface="Crimson Pro Bold" pitchFamily="34" charset="0"/>
                <a:ea typeface="Crimson Pro Bold" pitchFamily="34" charset="-122"/>
                <a:cs typeface="Crimson Pro Bold" pitchFamily="34" charset="-120"/>
              </a:rPr>
              <a:t>What This Podcast Does For You</a:t>
            </a:r>
            <a:endParaRPr lang="en-US" sz="1250" dirty="0"/>
          </a:p>
        </p:txBody>
      </p:sp>
      <p:sp>
        <p:nvSpPr>
          <p:cNvPr id="4" name="Text 1"/>
          <p:cNvSpPr/>
          <p:nvPr/>
        </p:nvSpPr>
        <p:spPr>
          <a:xfrm>
            <a:off x="520898" y="1608058"/>
            <a:ext cx="8102203" cy="813673"/>
          </a:xfrm>
          <a:prstGeom prst="rect">
            <a:avLst/>
          </a:prstGeom>
          <a:noFill/>
          <a:ln/>
        </p:spPr>
        <p:txBody>
          <a:bodyPr wrap="square" lIns="0" tIns="0" rIns="0" bIns="0" rtlCol="0" anchor="t"/>
          <a:lstStyle/>
          <a:p>
            <a:pPr marL="0" indent="0" algn="l">
              <a:lnSpc>
                <a:spcPts val="3200"/>
              </a:lnSpc>
              <a:buNone/>
            </a:pPr>
            <a:r>
              <a:rPr lang="en-US" sz="2550" b="1" dirty="0">
                <a:solidFill>
                  <a:srgbClr val="443728"/>
                </a:solidFill>
                <a:latin typeface="Crimson Pro Bold" pitchFamily="34" charset="0"/>
                <a:ea typeface="Crimson Pro Bold" pitchFamily="34" charset="-122"/>
                <a:cs typeface="Crimson Pro Bold" pitchFamily="34" charset="-120"/>
              </a:rPr>
              <a:t>You Don't Know What You Think Until You Say It Out Loud.</a:t>
            </a:r>
            <a:endParaRPr lang="en-US" sz="2550" dirty="0"/>
          </a:p>
        </p:txBody>
      </p:sp>
      <p:sp>
        <p:nvSpPr>
          <p:cNvPr id="5" name="Text 2"/>
          <p:cNvSpPr/>
          <p:nvPr/>
        </p:nvSpPr>
        <p:spPr>
          <a:xfrm>
            <a:off x="520898" y="2549843"/>
            <a:ext cx="8102203" cy="517565"/>
          </a:xfrm>
          <a:prstGeom prst="rect">
            <a:avLst/>
          </a:prstGeom>
          <a:noFill/>
          <a:ln/>
        </p:spPr>
        <p:txBody>
          <a:bodyPr wrap="square" lIns="0" tIns="0" rIns="0" bIns="0" rtlCol="0" anchor="t"/>
          <a:lstStyle/>
          <a:p>
            <a:pPr marL="0" indent="0" algn="l">
              <a:lnSpc>
                <a:spcPts val="1350"/>
              </a:lnSpc>
              <a:buNone/>
            </a:pPr>
            <a:r>
              <a:rPr lang="en-US" sz="1000" dirty="0">
                <a:solidFill>
                  <a:srgbClr val="443728"/>
                </a:solidFill>
                <a:latin typeface="Open Sans" pitchFamily="34" charset="0"/>
                <a:ea typeface="Open Sans" pitchFamily="34" charset="-122"/>
                <a:cs typeface="Open Sans" pitchFamily="34" charset="-120"/>
              </a:rPr>
              <a:t>Most of us have never been given permission to question the assumptions we live by. Not the big philosophical ones — the quiet, everyday ones. The ones that decide how you treat yourself, what you believe you deserve, what you think is possible. Breaking Mental Models is a space to do exactly that.</a:t>
            </a:r>
            <a:endParaRPr lang="en-US" sz="1000" dirty="0"/>
          </a:p>
        </p:txBody>
      </p:sp>
      <p:sp>
        <p:nvSpPr>
          <p:cNvPr id="6" name="Shape 3"/>
          <p:cNvSpPr/>
          <p:nvPr/>
        </p:nvSpPr>
        <p:spPr>
          <a:xfrm>
            <a:off x="651153" y="3358753"/>
            <a:ext cx="130135" cy="664488"/>
          </a:xfrm>
          <a:prstGeom prst="roundRect">
            <a:avLst>
              <a:gd name="adj" fmla="val 42029"/>
            </a:avLst>
          </a:prstGeom>
          <a:solidFill>
            <a:srgbClr val="EBE2E0"/>
          </a:solidFill>
          <a:ln w="7620">
            <a:solidFill>
              <a:srgbClr val="D1C8C6"/>
            </a:solidFill>
            <a:prstDash val="solid"/>
          </a:ln>
        </p:spPr>
        <p:txBody>
          <a:bodyPr/>
          <a:lstStyle/>
          <a:p>
            <a:endParaRPr lang="en-AU"/>
          </a:p>
        </p:txBody>
      </p:sp>
      <p:sp>
        <p:nvSpPr>
          <p:cNvPr id="7" name="Shape 4"/>
          <p:cNvSpPr/>
          <p:nvPr/>
        </p:nvSpPr>
        <p:spPr>
          <a:xfrm>
            <a:off x="520898" y="3273266"/>
            <a:ext cx="390644" cy="390644"/>
          </a:xfrm>
          <a:prstGeom prst="roundRect">
            <a:avLst>
              <a:gd name="adj" fmla="val 117038"/>
            </a:avLst>
          </a:prstGeom>
          <a:solidFill>
            <a:srgbClr val="EBE2E0"/>
          </a:solidFill>
          <a:ln w="7620">
            <a:solidFill>
              <a:srgbClr val="D1C8C6"/>
            </a:solidFill>
            <a:prstDash val="solid"/>
          </a:ln>
        </p:spPr>
        <p:txBody>
          <a:bodyPr/>
          <a:lstStyle/>
          <a:p>
            <a:endParaRPr lang="en-AU"/>
          </a:p>
        </p:txBody>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8530" y="3371017"/>
            <a:ext cx="195263" cy="195262"/>
          </a:xfrm>
          <a:prstGeom prst="rect">
            <a:avLst/>
          </a:prstGeom>
        </p:spPr>
      </p:pic>
      <p:sp>
        <p:nvSpPr>
          <p:cNvPr id="9" name="Text 5"/>
          <p:cNvSpPr/>
          <p:nvPr/>
        </p:nvSpPr>
        <p:spPr>
          <a:xfrm>
            <a:off x="996910" y="3293626"/>
            <a:ext cx="1665684" cy="203359"/>
          </a:xfrm>
          <a:prstGeom prst="rect">
            <a:avLst/>
          </a:prstGeom>
          <a:noFill/>
          <a:ln/>
        </p:spPr>
        <p:txBody>
          <a:bodyPr wrap="none" lIns="0" tIns="0" rIns="0" bIns="0" rtlCol="0" anchor="t"/>
          <a:lstStyle/>
          <a:p>
            <a:pPr marL="0" indent="0" algn="l">
              <a:lnSpc>
                <a:spcPts val="1600"/>
              </a:lnSpc>
              <a:buNone/>
            </a:pPr>
            <a:r>
              <a:rPr lang="en-US" sz="1250" b="1" dirty="0">
                <a:solidFill>
                  <a:srgbClr val="443728"/>
                </a:solidFill>
                <a:latin typeface="Crimson Pro Bold" pitchFamily="34" charset="0"/>
                <a:ea typeface="Crimson Pro Bold" pitchFamily="34" charset="-122"/>
                <a:cs typeface="Crimson Pro Bold" pitchFamily="34" charset="-120"/>
              </a:rPr>
              <a:t>You Hear Yourself Think</a:t>
            </a:r>
            <a:endParaRPr lang="en-US" sz="1250" dirty="0"/>
          </a:p>
        </p:txBody>
      </p:sp>
      <p:sp>
        <p:nvSpPr>
          <p:cNvPr id="10" name="Text 6"/>
          <p:cNvSpPr/>
          <p:nvPr/>
        </p:nvSpPr>
        <p:spPr>
          <a:xfrm>
            <a:off x="996910" y="3548182"/>
            <a:ext cx="7626191" cy="345043"/>
          </a:xfrm>
          <a:prstGeom prst="rect">
            <a:avLst/>
          </a:prstGeom>
          <a:noFill/>
          <a:ln/>
        </p:spPr>
        <p:txBody>
          <a:bodyPr wrap="square" lIns="0" tIns="0" rIns="0" bIns="0" rtlCol="0" anchor="t"/>
          <a:lstStyle/>
          <a:p>
            <a:pPr marL="0" indent="0" algn="l">
              <a:lnSpc>
                <a:spcPts val="1350"/>
              </a:lnSpc>
              <a:buNone/>
            </a:pPr>
            <a:r>
              <a:rPr lang="en-US" sz="1000" dirty="0">
                <a:solidFill>
                  <a:srgbClr val="443728"/>
                </a:solidFill>
                <a:latin typeface="Open Sans" pitchFamily="34" charset="0"/>
                <a:ea typeface="Open Sans" pitchFamily="34" charset="-122"/>
                <a:cs typeface="Open Sans" pitchFamily="34" charset="-120"/>
              </a:rPr>
              <a:t>Most of us don't know what we actually believe until we're forced to articulate it. This podcast creates that moment — not for the guest alone, but for you, listening. When someone else names the thing you've been circling, something unlocks.</a:t>
            </a:r>
            <a:endParaRPr lang="en-US" sz="1000" dirty="0"/>
          </a:p>
        </p:txBody>
      </p:sp>
      <p:sp>
        <p:nvSpPr>
          <p:cNvPr id="11" name="Shape 7"/>
          <p:cNvSpPr/>
          <p:nvPr/>
        </p:nvSpPr>
        <p:spPr>
          <a:xfrm>
            <a:off x="846415" y="4303990"/>
            <a:ext cx="130135" cy="664488"/>
          </a:xfrm>
          <a:prstGeom prst="roundRect">
            <a:avLst>
              <a:gd name="adj" fmla="val 42029"/>
            </a:avLst>
          </a:prstGeom>
          <a:solidFill>
            <a:srgbClr val="EBE2E0"/>
          </a:solidFill>
          <a:ln w="7620">
            <a:solidFill>
              <a:srgbClr val="D1C8C6"/>
            </a:solidFill>
            <a:prstDash val="solid"/>
          </a:ln>
        </p:spPr>
        <p:txBody>
          <a:bodyPr/>
          <a:lstStyle/>
          <a:p>
            <a:endParaRPr lang="en-AU"/>
          </a:p>
        </p:txBody>
      </p:sp>
      <p:sp>
        <p:nvSpPr>
          <p:cNvPr id="12" name="Shape 8"/>
          <p:cNvSpPr/>
          <p:nvPr/>
        </p:nvSpPr>
        <p:spPr>
          <a:xfrm>
            <a:off x="716161" y="4218503"/>
            <a:ext cx="390644" cy="390644"/>
          </a:xfrm>
          <a:prstGeom prst="roundRect">
            <a:avLst>
              <a:gd name="adj" fmla="val 117038"/>
            </a:avLst>
          </a:prstGeom>
          <a:solidFill>
            <a:srgbClr val="EBE2E0"/>
          </a:solidFill>
          <a:ln w="7620">
            <a:solidFill>
              <a:srgbClr val="D1C8C6"/>
            </a:solidFill>
            <a:prstDash val="solid"/>
          </a:ln>
        </p:spPr>
        <p:txBody>
          <a:bodyPr/>
          <a:lstStyle/>
          <a:p>
            <a:endParaRPr lang="en-AU"/>
          </a:p>
        </p:txBody>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3792" y="4316254"/>
            <a:ext cx="195263" cy="195262"/>
          </a:xfrm>
          <a:prstGeom prst="rect">
            <a:avLst/>
          </a:prstGeom>
        </p:spPr>
      </p:pic>
      <p:sp>
        <p:nvSpPr>
          <p:cNvPr id="14" name="Text 9"/>
          <p:cNvSpPr/>
          <p:nvPr/>
        </p:nvSpPr>
        <p:spPr>
          <a:xfrm>
            <a:off x="1192173" y="4238863"/>
            <a:ext cx="2603183" cy="203359"/>
          </a:xfrm>
          <a:prstGeom prst="rect">
            <a:avLst/>
          </a:prstGeom>
          <a:noFill/>
          <a:ln/>
        </p:spPr>
        <p:txBody>
          <a:bodyPr wrap="none" lIns="0" tIns="0" rIns="0" bIns="0" rtlCol="0" anchor="t"/>
          <a:lstStyle/>
          <a:p>
            <a:pPr marL="0" indent="0" algn="l">
              <a:lnSpc>
                <a:spcPts val="1600"/>
              </a:lnSpc>
              <a:buNone/>
            </a:pPr>
            <a:r>
              <a:rPr lang="en-US" sz="1250" b="1" dirty="0">
                <a:solidFill>
                  <a:srgbClr val="443728"/>
                </a:solidFill>
                <a:latin typeface="Crimson Pro Bold" pitchFamily="34" charset="0"/>
                <a:ea typeface="Crimson Pro Bold" pitchFamily="34" charset="-122"/>
                <a:cs typeface="Crimson Pro Bold" pitchFamily="34" charset="-120"/>
              </a:rPr>
              <a:t>You Question What You've Settled For</a:t>
            </a:r>
            <a:endParaRPr lang="en-US" sz="1250" dirty="0"/>
          </a:p>
        </p:txBody>
      </p:sp>
      <p:sp>
        <p:nvSpPr>
          <p:cNvPr id="15" name="Text 10"/>
          <p:cNvSpPr/>
          <p:nvPr/>
        </p:nvSpPr>
        <p:spPr>
          <a:xfrm>
            <a:off x="1192173" y="4493419"/>
            <a:ext cx="7430929" cy="345043"/>
          </a:xfrm>
          <a:prstGeom prst="rect">
            <a:avLst/>
          </a:prstGeom>
          <a:noFill/>
          <a:ln/>
        </p:spPr>
        <p:txBody>
          <a:bodyPr wrap="square" lIns="0" tIns="0" rIns="0" bIns="0" rtlCol="0" anchor="t"/>
          <a:lstStyle/>
          <a:p>
            <a:pPr marL="0" indent="0" algn="l">
              <a:lnSpc>
                <a:spcPts val="1350"/>
              </a:lnSpc>
              <a:buNone/>
            </a:pPr>
            <a:r>
              <a:rPr lang="en-US" sz="1000" dirty="0">
                <a:solidFill>
                  <a:srgbClr val="443728"/>
                </a:solidFill>
                <a:latin typeface="Open Sans" pitchFamily="34" charset="0"/>
                <a:ea typeface="Open Sans" pitchFamily="34" charset="-122"/>
                <a:cs typeface="Open Sans" pitchFamily="34" charset="-120"/>
              </a:rPr>
              <a:t>We all have barriers we've stopped fighting. Not because they're right — but because we got tired. This show asks: what if you hadn't? What if you picked that question back up and actually looked at it?</a:t>
            </a:r>
            <a:endParaRPr lang="en-US" sz="1000" dirty="0"/>
          </a:p>
        </p:txBody>
      </p:sp>
      <p:sp>
        <p:nvSpPr>
          <p:cNvPr id="16" name="Shape 11"/>
          <p:cNvSpPr/>
          <p:nvPr/>
        </p:nvSpPr>
        <p:spPr>
          <a:xfrm>
            <a:off x="1041797" y="5249228"/>
            <a:ext cx="130135" cy="664488"/>
          </a:xfrm>
          <a:prstGeom prst="roundRect">
            <a:avLst>
              <a:gd name="adj" fmla="val 42029"/>
            </a:avLst>
          </a:prstGeom>
          <a:solidFill>
            <a:srgbClr val="EBE2E0"/>
          </a:solidFill>
          <a:ln w="7620">
            <a:solidFill>
              <a:srgbClr val="D1C8C6"/>
            </a:solidFill>
            <a:prstDash val="solid"/>
          </a:ln>
        </p:spPr>
        <p:txBody>
          <a:bodyPr/>
          <a:lstStyle/>
          <a:p>
            <a:endParaRPr lang="en-AU"/>
          </a:p>
        </p:txBody>
      </p:sp>
      <p:sp>
        <p:nvSpPr>
          <p:cNvPr id="17" name="Shape 12"/>
          <p:cNvSpPr/>
          <p:nvPr/>
        </p:nvSpPr>
        <p:spPr>
          <a:xfrm>
            <a:off x="911543" y="5163741"/>
            <a:ext cx="390644" cy="390644"/>
          </a:xfrm>
          <a:prstGeom prst="roundRect">
            <a:avLst>
              <a:gd name="adj" fmla="val 117038"/>
            </a:avLst>
          </a:prstGeom>
          <a:solidFill>
            <a:srgbClr val="EBE2E0"/>
          </a:solidFill>
          <a:ln w="7620">
            <a:solidFill>
              <a:srgbClr val="D1C8C6"/>
            </a:solidFill>
            <a:prstDash val="solid"/>
          </a:ln>
        </p:spPr>
        <p:txBody>
          <a:bodyPr/>
          <a:lstStyle/>
          <a:p>
            <a:endParaRPr lang="en-AU"/>
          </a:p>
        </p:txBody>
      </p:sp>
      <p:pic>
        <p:nvPicPr>
          <p:cNvPr id="1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9174" y="5261491"/>
            <a:ext cx="195263" cy="195262"/>
          </a:xfrm>
          <a:prstGeom prst="rect">
            <a:avLst/>
          </a:prstGeom>
        </p:spPr>
      </p:pic>
      <p:sp>
        <p:nvSpPr>
          <p:cNvPr id="19" name="Text 13"/>
          <p:cNvSpPr/>
          <p:nvPr/>
        </p:nvSpPr>
        <p:spPr>
          <a:xfrm>
            <a:off x="1387554" y="5184100"/>
            <a:ext cx="1627823" cy="203359"/>
          </a:xfrm>
          <a:prstGeom prst="rect">
            <a:avLst/>
          </a:prstGeom>
          <a:noFill/>
          <a:ln/>
        </p:spPr>
        <p:txBody>
          <a:bodyPr wrap="none" lIns="0" tIns="0" rIns="0" bIns="0" rtlCol="0" anchor="t"/>
          <a:lstStyle/>
          <a:p>
            <a:pPr marL="0" indent="0" algn="l">
              <a:lnSpc>
                <a:spcPts val="1600"/>
              </a:lnSpc>
              <a:buNone/>
            </a:pPr>
            <a:r>
              <a:rPr lang="en-US" sz="1250" b="1" dirty="0">
                <a:solidFill>
                  <a:srgbClr val="443728"/>
                </a:solidFill>
                <a:latin typeface="Crimson Pro Bold" pitchFamily="34" charset="0"/>
                <a:ea typeface="Crimson Pro Bold" pitchFamily="34" charset="-122"/>
                <a:cs typeface="Crimson Pro Bold" pitchFamily="34" charset="-120"/>
              </a:rPr>
              <a:t>You Break the Model</a:t>
            </a:r>
            <a:endParaRPr lang="en-US" sz="1250" dirty="0"/>
          </a:p>
        </p:txBody>
      </p:sp>
      <p:sp>
        <p:nvSpPr>
          <p:cNvPr id="20" name="Text 14"/>
          <p:cNvSpPr/>
          <p:nvPr/>
        </p:nvSpPr>
        <p:spPr>
          <a:xfrm>
            <a:off x="1387554" y="5438656"/>
            <a:ext cx="7235547" cy="345043"/>
          </a:xfrm>
          <a:prstGeom prst="rect">
            <a:avLst/>
          </a:prstGeom>
          <a:noFill/>
          <a:ln/>
        </p:spPr>
        <p:txBody>
          <a:bodyPr wrap="square" lIns="0" tIns="0" rIns="0" bIns="0" rtlCol="0" anchor="t"/>
          <a:lstStyle/>
          <a:p>
            <a:pPr marL="0" indent="0" algn="l">
              <a:lnSpc>
                <a:spcPts val="1350"/>
              </a:lnSpc>
              <a:buNone/>
            </a:pPr>
            <a:r>
              <a:rPr lang="en-US" sz="1000" dirty="0">
                <a:solidFill>
                  <a:srgbClr val="443728"/>
                </a:solidFill>
                <a:latin typeface="Open Sans" pitchFamily="34" charset="0"/>
                <a:ea typeface="Open Sans" pitchFamily="34" charset="-122"/>
                <a:cs typeface="Open Sans" pitchFamily="34" charset="-120"/>
              </a:rPr>
              <a:t>A mental model isn't broken by argument. It's broken by a better question. Every episode is built around the question nobody asked — and what happens when someone finally does.</a:t>
            </a:r>
            <a:endParaRPr lang="en-US" sz="1000" dirty="0"/>
          </a:p>
        </p:txBody>
      </p:sp>
      <p:sp>
        <p:nvSpPr>
          <p:cNvPr id="21" name="Shape 15"/>
          <p:cNvSpPr/>
          <p:nvPr/>
        </p:nvSpPr>
        <p:spPr>
          <a:xfrm>
            <a:off x="1237059" y="6194465"/>
            <a:ext cx="130135" cy="664488"/>
          </a:xfrm>
          <a:prstGeom prst="roundRect">
            <a:avLst>
              <a:gd name="adj" fmla="val 42029"/>
            </a:avLst>
          </a:prstGeom>
          <a:solidFill>
            <a:srgbClr val="EBE2E0"/>
          </a:solidFill>
          <a:ln w="7620">
            <a:solidFill>
              <a:srgbClr val="D1C8C6"/>
            </a:solidFill>
            <a:prstDash val="solid"/>
          </a:ln>
        </p:spPr>
        <p:txBody>
          <a:bodyPr/>
          <a:lstStyle/>
          <a:p>
            <a:endParaRPr lang="en-AU"/>
          </a:p>
        </p:txBody>
      </p:sp>
      <p:sp>
        <p:nvSpPr>
          <p:cNvPr id="22" name="Shape 16"/>
          <p:cNvSpPr/>
          <p:nvPr/>
        </p:nvSpPr>
        <p:spPr>
          <a:xfrm>
            <a:off x="1106805" y="6108978"/>
            <a:ext cx="390644" cy="390644"/>
          </a:xfrm>
          <a:prstGeom prst="roundRect">
            <a:avLst>
              <a:gd name="adj" fmla="val 117038"/>
            </a:avLst>
          </a:prstGeom>
          <a:solidFill>
            <a:srgbClr val="EBE2E0"/>
          </a:solidFill>
          <a:ln w="7620">
            <a:solidFill>
              <a:srgbClr val="D1C8C6"/>
            </a:solidFill>
            <a:prstDash val="solid"/>
          </a:ln>
        </p:spPr>
        <p:txBody>
          <a:bodyPr/>
          <a:lstStyle/>
          <a:p>
            <a:endParaRPr lang="en-AU"/>
          </a:p>
        </p:txBody>
      </p:sp>
      <p:pic>
        <p:nvPicPr>
          <p:cNvPr id="23"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04436" y="6206728"/>
            <a:ext cx="195263" cy="195262"/>
          </a:xfrm>
          <a:prstGeom prst="rect">
            <a:avLst/>
          </a:prstGeom>
        </p:spPr>
      </p:pic>
      <p:sp>
        <p:nvSpPr>
          <p:cNvPr id="24" name="Text 17"/>
          <p:cNvSpPr/>
          <p:nvPr/>
        </p:nvSpPr>
        <p:spPr>
          <a:xfrm>
            <a:off x="1582817" y="6129338"/>
            <a:ext cx="1711047" cy="203359"/>
          </a:xfrm>
          <a:prstGeom prst="rect">
            <a:avLst/>
          </a:prstGeom>
          <a:noFill/>
          <a:ln/>
        </p:spPr>
        <p:txBody>
          <a:bodyPr wrap="none" lIns="0" tIns="0" rIns="0" bIns="0" rtlCol="0" anchor="t"/>
          <a:lstStyle/>
          <a:p>
            <a:pPr marL="0" indent="0" algn="l">
              <a:lnSpc>
                <a:spcPts val="1600"/>
              </a:lnSpc>
              <a:buNone/>
            </a:pPr>
            <a:r>
              <a:rPr lang="en-US" sz="1250" b="1" dirty="0">
                <a:solidFill>
                  <a:srgbClr val="443728"/>
                </a:solidFill>
                <a:latin typeface="Crimson Pro Bold" pitchFamily="34" charset="0"/>
                <a:ea typeface="Crimson Pro Bold" pitchFamily="34" charset="-122"/>
                <a:cs typeface="Crimson Pro Bold" pitchFamily="34" charset="-120"/>
              </a:rPr>
              <a:t>You Come Back Different</a:t>
            </a:r>
            <a:endParaRPr lang="en-US" sz="1250" dirty="0"/>
          </a:p>
        </p:txBody>
      </p:sp>
      <p:sp>
        <p:nvSpPr>
          <p:cNvPr id="25" name="Text 18"/>
          <p:cNvSpPr/>
          <p:nvPr/>
        </p:nvSpPr>
        <p:spPr>
          <a:xfrm>
            <a:off x="1582817" y="6383893"/>
            <a:ext cx="7040285" cy="345043"/>
          </a:xfrm>
          <a:prstGeom prst="rect">
            <a:avLst/>
          </a:prstGeom>
          <a:noFill/>
          <a:ln/>
        </p:spPr>
        <p:txBody>
          <a:bodyPr wrap="square" lIns="0" tIns="0" rIns="0" bIns="0" rtlCol="0" anchor="t"/>
          <a:lstStyle/>
          <a:p>
            <a:pPr marL="0" indent="0" algn="l">
              <a:lnSpc>
                <a:spcPts val="1350"/>
              </a:lnSpc>
              <a:buNone/>
            </a:pPr>
            <a:r>
              <a:rPr lang="en-US" sz="1000" dirty="0">
                <a:solidFill>
                  <a:srgbClr val="443728"/>
                </a:solidFill>
                <a:latin typeface="Open Sans" pitchFamily="34" charset="0"/>
                <a:ea typeface="Open Sans" pitchFamily="34" charset="-122"/>
                <a:cs typeface="Open Sans" pitchFamily="34" charset="-120"/>
              </a:rPr>
              <a:t>Not fixed. Not resolved. But different. With one thing shifted. One assumption loosened. One conversation you're now ready to have — with someone else, or with yourself.</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93333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Episode Themes</a:t>
            </a:r>
            <a:endParaRPr lang="en-US" sz="1950" dirty="0"/>
          </a:p>
        </p:txBody>
      </p:sp>
      <p:sp>
        <p:nvSpPr>
          <p:cNvPr id="3" name="Text 1"/>
          <p:cNvSpPr/>
          <p:nvPr/>
        </p:nvSpPr>
        <p:spPr>
          <a:xfrm>
            <a:off x="793790" y="1322784"/>
            <a:ext cx="7019568"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What We'll Keep Coming Back To</a:t>
            </a:r>
            <a:endParaRPr lang="en-US" sz="3900" dirty="0"/>
          </a:p>
        </p:txBody>
      </p:sp>
      <p:sp>
        <p:nvSpPr>
          <p:cNvPr id="4" name="Shape 2"/>
          <p:cNvSpPr/>
          <p:nvPr/>
        </p:nvSpPr>
        <p:spPr>
          <a:xfrm>
            <a:off x="793790" y="2240518"/>
            <a:ext cx="6422231" cy="2269927"/>
          </a:xfrm>
          <a:prstGeom prst="roundRect">
            <a:avLst>
              <a:gd name="adj" fmla="val 3672"/>
            </a:avLst>
          </a:prstGeom>
          <a:solidFill>
            <a:srgbClr val="EBE2E0"/>
          </a:solidFill>
          <a:ln w="7620">
            <a:solidFill>
              <a:srgbClr val="D1C8C6"/>
            </a:solidFill>
            <a:prstDash val="solid"/>
          </a:ln>
        </p:spPr>
        <p:txBody>
          <a:bodyPr/>
          <a:lstStyle/>
          <a:p>
            <a:endParaRPr lang="en-AU"/>
          </a:p>
        </p:txBody>
      </p:sp>
      <p:sp>
        <p:nvSpPr>
          <p:cNvPr id="5" name="Shape 3"/>
          <p:cNvSpPr/>
          <p:nvPr/>
        </p:nvSpPr>
        <p:spPr>
          <a:xfrm>
            <a:off x="999768" y="2446496"/>
            <a:ext cx="595313" cy="595313"/>
          </a:xfrm>
          <a:prstGeom prst="roundRect">
            <a:avLst>
              <a:gd name="adj" fmla="val 15358451"/>
            </a:avLst>
          </a:prstGeom>
          <a:solidFill>
            <a:srgbClr val="835E54"/>
          </a:solidFill>
          <a:ln/>
        </p:spPr>
        <p:txBody>
          <a:bodyPr/>
          <a:lstStyle/>
          <a:p>
            <a:endParaRPr lang="en-AU"/>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3479" y="2610088"/>
            <a:ext cx="267891" cy="267891"/>
          </a:xfrm>
          <a:prstGeom prst="rect">
            <a:avLst/>
          </a:prstGeom>
        </p:spPr>
      </p:pic>
      <p:sp>
        <p:nvSpPr>
          <p:cNvPr id="7" name="Text 4"/>
          <p:cNvSpPr/>
          <p:nvPr/>
        </p:nvSpPr>
        <p:spPr>
          <a:xfrm>
            <a:off x="999768" y="324016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Structure &amp; Freedom</a:t>
            </a:r>
            <a:endParaRPr lang="en-US" sz="1950" dirty="0"/>
          </a:p>
        </p:txBody>
      </p:sp>
      <p:sp>
        <p:nvSpPr>
          <p:cNvPr id="8" name="Text 5"/>
          <p:cNvSpPr/>
          <p:nvPr/>
        </p:nvSpPr>
        <p:spPr>
          <a:xfrm>
            <a:off x="999768" y="3669387"/>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What happens when the container that defined you — an institution, a career, a relationship — suddenly disappears?</a:t>
            </a:r>
            <a:endParaRPr lang="en-US" sz="1550" dirty="0"/>
          </a:p>
        </p:txBody>
      </p:sp>
      <p:sp>
        <p:nvSpPr>
          <p:cNvPr id="9" name="Shape 6"/>
          <p:cNvSpPr/>
          <p:nvPr/>
        </p:nvSpPr>
        <p:spPr>
          <a:xfrm>
            <a:off x="7414379" y="2240518"/>
            <a:ext cx="6422231" cy="2269927"/>
          </a:xfrm>
          <a:prstGeom prst="roundRect">
            <a:avLst>
              <a:gd name="adj" fmla="val 3672"/>
            </a:avLst>
          </a:prstGeom>
          <a:solidFill>
            <a:srgbClr val="EBE2E0"/>
          </a:solidFill>
          <a:ln w="7620">
            <a:solidFill>
              <a:srgbClr val="D1C8C6"/>
            </a:solidFill>
            <a:prstDash val="solid"/>
          </a:ln>
        </p:spPr>
        <p:txBody>
          <a:bodyPr/>
          <a:lstStyle/>
          <a:p>
            <a:endParaRPr lang="en-AU"/>
          </a:p>
        </p:txBody>
      </p:sp>
      <p:sp>
        <p:nvSpPr>
          <p:cNvPr id="10" name="Shape 7"/>
          <p:cNvSpPr/>
          <p:nvPr/>
        </p:nvSpPr>
        <p:spPr>
          <a:xfrm>
            <a:off x="7620357" y="2446496"/>
            <a:ext cx="595313" cy="595313"/>
          </a:xfrm>
          <a:prstGeom prst="roundRect">
            <a:avLst>
              <a:gd name="adj" fmla="val 15358451"/>
            </a:avLst>
          </a:prstGeom>
          <a:solidFill>
            <a:srgbClr val="835E54"/>
          </a:solidFill>
          <a:ln/>
        </p:spPr>
        <p:txBody>
          <a:bodyPr/>
          <a:lstStyle/>
          <a:p>
            <a:endParaRPr lang="en-AU"/>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84068" y="2610088"/>
            <a:ext cx="267891" cy="267891"/>
          </a:xfrm>
          <a:prstGeom prst="rect">
            <a:avLst/>
          </a:prstGeom>
        </p:spPr>
      </p:pic>
      <p:sp>
        <p:nvSpPr>
          <p:cNvPr id="12" name="Text 8"/>
          <p:cNvSpPr/>
          <p:nvPr/>
        </p:nvSpPr>
        <p:spPr>
          <a:xfrm>
            <a:off x="7620357" y="324016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Crossing Worlds</a:t>
            </a:r>
            <a:endParaRPr lang="en-US" sz="1950" dirty="0"/>
          </a:p>
        </p:txBody>
      </p:sp>
      <p:sp>
        <p:nvSpPr>
          <p:cNvPr id="13" name="Text 9"/>
          <p:cNvSpPr/>
          <p:nvPr/>
        </p:nvSpPr>
        <p:spPr>
          <a:xfrm>
            <a:off x="7620357" y="3669387"/>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Moving countries, changing careers, switching identities. The cost of becoming someone new while carrying who you were.</a:t>
            </a:r>
            <a:endParaRPr lang="en-US" sz="1550" dirty="0"/>
          </a:p>
        </p:txBody>
      </p:sp>
      <p:sp>
        <p:nvSpPr>
          <p:cNvPr id="14" name="Shape 10"/>
          <p:cNvSpPr/>
          <p:nvPr/>
        </p:nvSpPr>
        <p:spPr>
          <a:xfrm>
            <a:off x="793790" y="4708803"/>
            <a:ext cx="6422231" cy="2587466"/>
          </a:xfrm>
          <a:prstGeom prst="roundRect">
            <a:avLst>
              <a:gd name="adj" fmla="val 3222"/>
            </a:avLst>
          </a:prstGeom>
          <a:solidFill>
            <a:srgbClr val="EBE2E0"/>
          </a:solidFill>
          <a:ln w="7620">
            <a:solidFill>
              <a:srgbClr val="D1C8C6"/>
            </a:solidFill>
            <a:prstDash val="solid"/>
          </a:ln>
        </p:spPr>
        <p:txBody>
          <a:bodyPr/>
          <a:lstStyle/>
          <a:p>
            <a:endParaRPr lang="en-AU"/>
          </a:p>
        </p:txBody>
      </p:sp>
      <p:sp>
        <p:nvSpPr>
          <p:cNvPr id="15" name="Shape 11"/>
          <p:cNvSpPr/>
          <p:nvPr/>
        </p:nvSpPr>
        <p:spPr>
          <a:xfrm>
            <a:off x="999768" y="4914781"/>
            <a:ext cx="595313" cy="595313"/>
          </a:xfrm>
          <a:prstGeom prst="roundRect">
            <a:avLst>
              <a:gd name="adj" fmla="val 15358451"/>
            </a:avLst>
          </a:prstGeom>
          <a:solidFill>
            <a:srgbClr val="835E54"/>
          </a:solidFill>
          <a:ln/>
        </p:spPr>
        <p:txBody>
          <a:bodyPr/>
          <a:lstStyle/>
          <a:p>
            <a:endParaRPr lang="en-AU"/>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3479" y="5078373"/>
            <a:ext cx="267891" cy="267891"/>
          </a:xfrm>
          <a:prstGeom prst="rect">
            <a:avLst/>
          </a:prstGeom>
        </p:spPr>
      </p:pic>
      <p:sp>
        <p:nvSpPr>
          <p:cNvPr id="17" name="Text 12"/>
          <p:cNvSpPr/>
          <p:nvPr/>
        </p:nvSpPr>
        <p:spPr>
          <a:xfrm>
            <a:off x="999768" y="570845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Inherited Beliefs</a:t>
            </a:r>
            <a:endParaRPr lang="en-US" sz="1950" dirty="0"/>
          </a:p>
        </p:txBody>
      </p:sp>
      <p:sp>
        <p:nvSpPr>
          <p:cNvPr id="18" name="Text 13"/>
          <p:cNvSpPr/>
          <p:nvPr/>
        </p:nvSpPr>
        <p:spPr>
          <a:xfrm>
            <a:off x="999768" y="6137672"/>
            <a:ext cx="6010275"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The models you didn't choose but live by anyway. Where they came from. Whether they still serve you. What replacing them actually feels like.</a:t>
            </a:r>
            <a:endParaRPr lang="en-US" sz="1550" dirty="0"/>
          </a:p>
        </p:txBody>
      </p:sp>
      <p:sp>
        <p:nvSpPr>
          <p:cNvPr id="19" name="Shape 14"/>
          <p:cNvSpPr/>
          <p:nvPr/>
        </p:nvSpPr>
        <p:spPr>
          <a:xfrm>
            <a:off x="7414379" y="4708803"/>
            <a:ext cx="6422231" cy="2587466"/>
          </a:xfrm>
          <a:prstGeom prst="roundRect">
            <a:avLst>
              <a:gd name="adj" fmla="val 3222"/>
            </a:avLst>
          </a:prstGeom>
          <a:solidFill>
            <a:srgbClr val="EBE2E0"/>
          </a:solidFill>
          <a:ln w="7620">
            <a:solidFill>
              <a:srgbClr val="D1C8C6"/>
            </a:solidFill>
            <a:prstDash val="solid"/>
          </a:ln>
        </p:spPr>
        <p:txBody>
          <a:bodyPr/>
          <a:lstStyle/>
          <a:p>
            <a:endParaRPr lang="en-AU"/>
          </a:p>
        </p:txBody>
      </p:sp>
      <p:sp>
        <p:nvSpPr>
          <p:cNvPr id="20" name="Shape 15"/>
          <p:cNvSpPr/>
          <p:nvPr/>
        </p:nvSpPr>
        <p:spPr>
          <a:xfrm>
            <a:off x="7620357" y="4914781"/>
            <a:ext cx="595313" cy="595313"/>
          </a:xfrm>
          <a:prstGeom prst="roundRect">
            <a:avLst>
              <a:gd name="adj" fmla="val 15358451"/>
            </a:avLst>
          </a:prstGeom>
          <a:solidFill>
            <a:srgbClr val="835E54"/>
          </a:solidFill>
          <a:ln/>
        </p:spPr>
        <p:txBody>
          <a:bodyPr/>
          <a:lstStyle/>
          <a:p>
            <a:endParaRPr lang="en-AU"/>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84068" y="5078373"/>
            <a:ext cx="267891" cy="267891"/>
          </a:xfrm>
          <a:prstGeom prst="rect">
            <a:avLst/>
          </a:prstGeom>
        </p:spPr>
      </p:pic>
      <p:sp>
        <p:nvSpPr>
          <p:cNvPr id="22" name="Text 16"/>
          <p:cNvSpPr/>
          <p:nvPr/>
        </p:nvSpPr>
        <p:spPr>
          <a:xfrm>
            <a:off x="7620357" y="5708452"/>
            <a:ext cx="2597348"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Performance vs Presence</a:t>
            </a:r>
            <a:endParaRPr lang="en-US" sz="1950" dirty="0"/>
          </a:p>
        </p:txBody>
      </p:sp>
      <p:sp>
        <p:nvSpPr>
          <p:cNvPr id="23" name="Text 17"/>
          <p:cNvSpPr/>
          <p:nvPr/>
        </p:nvSpPr>
        <p:spPr>
          <a:xfrm>
            <a:off x="7620357" y="6137672"/>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The gap between who you perform for the world and who actually shows up when nobody's watching.</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39696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The Community</a:t>
            </a:r>
            <a:endParaRPr lang="en-US" sz="1950" dirty="0"/>
          </a:p>
        </p:txBody>
      </p:sp>
      <p:sp>
        <p:nvSpPr>
          <p:cNvPr id="4" name="Text 1"/>
          <p:cNvSpPr/>
          <p:nvPr/>
        </p:nvSpPr>
        <p:spPr>
          <a:xfrm>
            <a:off x="793790" y="2786420"/>
            <a:ext cx="7166372"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Not a Broadcast — A Conversation</a:t>
            </a:r>
            <a:endParaRPr lang="en-US" sz="3900" dirty="0"/>
          </a:p>
        </p:txBody>
      </p:sp>
      <p:sp>
        <p:nvSpPr>
          <p:cNvPr id="5" name="Text 2"/>
          <p:cNvSpPr/>
          <p:nvPr/>
        </p:nvSpPr>
        <p:spPr>
          <a:xfrm>
            <a:off x="793790" y="3704153"/>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Breaking Mental Models is built on the belief that the listener isn't passive. If an episode sparks something in you — a question, a pushback, a story of your own — that's the point. Reach out. Challenge it. Build on it. Tell us what we missed or got wrong.</a:t>
            </a:r>
            <a:endParaRPr lang="en-US" sz="1550" dirty="0"/>
          </a:p>
        </p:txBody>
      </p:sp>
      <p:sp>
        <p:nvSpPr>
          <p:cNvPr id="6" name="Text 3"/>
          <p:cNvSpPr/>
          <p:nvPr/>
        </p:nvSpPr>
        <p:spPr>
          <a:xfrm>
            <a:off x="793790" y="5197554"/>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This channel belongs to everyone willing to engage honestly. That's the only membership requirement.</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101143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Coming Up</a:t>
            </a:r>
            <a:endParaRPr lang="en-US" sz="1950" dirty="0"/>
          </a:p>
        </p:txBody>
      </p:sp>
      <p:sp>
        <p:nvSpPr>
          <p:cNvPr id="3" name="Text 1"/>
          <p:cNvSpPr/>
          <p:nvPr/>
        </p:nvSpPr>
        <p:spPr>
          <a:xfrm>
            <a:off x="793790" y="1400889"/>
            <a:ext cx="4999673"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Episodes in the Pipeline</a:t>
            </a:r>
            <a:endParaRPr lang="en-US" sz="3900" dirty="0"/>
          </a:p>
        </p:txBody>
      </p:sp>
      <p:sp>
        <p:nvSpPr>
          <p:cNvPr id="4" name="Shape 2"/>
          <p:cNvSpPr/>
          <p:nvPr/>
        </p:nvSpPr>
        <p:spPr>
          <a:xfrm>
            <a:off x="7303770" y="2318623"/>
            <a:ext cx="22860" cy="4899422"/>
          </a:xfrm>
          <a:prstGeom prst="roundRect">
            <a:avLst>
              <a:gd name="adj" fmla="val 364651"/>
            </a:avLst>
          </a:prstGeom>
          <a:solidFill>
            <a:srgbClr val="D1C8C6"/>
          </a:solidFill>
          <a:ln/>
        </p:spPr>
        <p:txBody>
          <a:bodyPr/>
          <a:lstStyle/>
          <a:p>
            <a:endParaRPr lang="en-AU"/>
          </a:p>
        </p:txBody>
      </p:sp>
      <p:sp>
        <p:nvSpPr>
          <p:cNvPr id="5" name="Shape 3"/>
          <p:cNvSpPr/>
          <p:nvPr/>
        </p:nvSpPr>
        <p:spPr>
          <a:xfrm>
            <a:off x="6941225" y="2530435"/>
            <a:ext cx="396835" cy="22860"/>
          </a:xfrm>
          <a:prstGeom prst="roundRect">
            <a:avLst>
              <a:gd name="adj" fmla="val 364651"/>
            </a:avLst>
          </a:prstGeom>
          <a:solidFill>
            <a:srgbClr val="D1C8C6"/>
          </a:solidFill>
          <a:ln/>
        </p:spPr>
        <p:txBody>
          <a:bodyPr/>
          <a:lstStyle/>
          <a:p>
            <a:endParaRPr lang="en-AU"/>
          </a:p>
        </p:txBody>
      </p:sp>
      <p:sp>
        <p:nvSpPr>
          <p:cNvPr id="6" name="Shape 4"/>
          <p:cNvSpPr/>
          <p:nvPr/>
        </p:nvSpPr>
        <p:spPr>
          <a:xfrm>
            <a:off x="7240786" y="2467451"/>
            <a:ext cx="148828" cy="148828"/>
          </a:xfrm>
          <a:prstGeom prst="roundRect">
            <a:avLst>
              <a:gd name="adj" fmla="val 307200"/>
            </a:avLst>
          </a:prstGeom>
          <a:solidFill>
            <a:srgbClr val="835E54"/>
          </a:solidFill>
          <a:ln/>
        </p:spPr>
        <p:txBody>
          <a:bodyPr/>
          <a:lstStyle/>
          <a:p>
            <a:endParaRPr lang="en-AU"/>
          </a:p>
        </p:txBody>
      </p:sp>
      <p:sp>
        <p:nvSpPr>
          <p:cNvPr id="7" name="Text 5"/>
          <p:cNvSpPr/>
          <p:nvPr/>
        </p:nvSpPr>
        <p:spPr>
          <a:xfrm>
            <a:off x="4040505" y="2386846"/>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April 2026</a:t>
            </a:r>
            <a:endParaRPr lang="en-US" sz="1950" dirty="0"/>
          </a:p>
        </p:txBody>
      </p:sp>
      <p:sp>
        <p:nvSpPr>
          <p:cNvPr id="8" name="Text 6"/>
          <p:cNvSpPr/>
          <p:nvPr/>
        </p:nvSpPr>
        <p:spPr>
          <a:xfrm>
            <a:off x="793790" y="2816066"/>
            <a:ext cx="5727621" cy="952619"/>
          </a:xfrm>
          <a:prstGeom prst="rect">
            <a:avLst/>
          </a:prstGeom>
          <a:noFill/>
          <a:ln/>
        </p:spPr>
        <p:txBody>
          <a:bodyPr wrap="square" lIns="0" tIns="0" rIns="0" bIns="0" rtlCol="0" anchor="t"/>
          <a:lstStyle/>
          <a:p>
            <a:pPr marL="0" indent="0" algn="r">
              <a:lnSpc>
                <a:spcPts val="2500"/>
              </a:lnSpc>
              <a:buNone/>
            </a:pPr>
            <a:r>
              <a:rPr lang="en-US" sz="1550" b="1" dirty="0">
                <a:solidFill>
                  <a:srgbClr val="443728"/>
                </a:solidFill>
                <a:latin typeface="Open Sans" pitchFamily="34" charset="0"/>
                <a:ea typeface="Open Sans" pitchFamily="34" charset="-122"/>
                <a:cs typeface="Open Sans" pitchFamily="34" charset="-120"/>
              </a:rPr>
              <a:t>Memoirs to Millions</a:t>
            </a:r>
            <a:r>
              <a:rPr lang="en-US" sz="1550" dirty="0">
                <a:solidFill>
                  <a:srgbClr val="443728"/>
                </a:solidFill>
                <a:latin typeface="Open Sans" pitchFamily="34" charset="0"/>
                <a:ea typeface="Open Sans" pitchFamily="34" charset="-122"/>
                <a:cs typeface="Open Sans" pitchFamily="34" charset="-120"/>
              </a:rPr>
              <a:t> — The conversation with Asher Wright. Ice, water, and the environments that shape us. Now live on Breaking Mental Models.</a:t>
            </a:r>
            <a:endParaRPr lang="en-US" sz="1550" dirty="0"/>
          </a:p>
        </p:txBody>
      </p:sp>
      <p:sp>
        <p:nvSpPr>
          <p:cNvPr id="9" name="Shape 7"/>
          <p:cNvSpPr/>
          <p:nvPr/>
        </p:nvSpPr>
        <p:spPr>
          <a:xfrm>
            <a:off x="7292340" y="3721060"/>
            <a:ext cx="396835" cy="22860"/>
          </a:xfrm>
          <a:prstGeom prst="roundRect">
            <a:avLst>
              <a:gd name="adj" fmla="val 364651"/>
            </a:avLst>
          </a:prstGeom>
          <a:solidFill>
            <a:srgbClr val="D1C8C6"/>
          </a:solidFill>
          <a:ln/>
        </p:spPr>
        <p:txBody>
          <a:bodyPr/>
          <a:lstStyle/>
          <a:p>
            <a:endParaRPr lang="en-AU"/>
          </a:p>
        </p:txBody>
      </p:sp>
      <p:sp>
        <p:nvSpPr>
          <p:cNvPr id="10" name="Shape 8"/>
          <p:cNvSpPr/>
          <p:nvPr/>
        </p:nvSpPr>
        <p:spPr>
          <a:xfrm>
            <a:off x="7240786" y="3658076"/>
            <a:ext cx="148828" cy="148828"/>
          </a:xfrm>
          <a:prstGeom prst="roundRect">
            <a:avLst>
              <a:gd name="adj" fmla="val 307200"/>
            </a:avLst>
          </a:prstGeom>
          <a:solidFill>
            <a:srgbClr val="835E54"/>
          </a:solidFill>
          <a:ln/>
        </p:spPr>
        <p:txBody>
          <a:bodyPr/>
          <a:lstStyle/>
          <a:p>
            <a:endParaRPr lang="en-AU"/>
          </a:p>
        </p:txBody>
      </p:sp>
      <p:sp>
        <p:nvSpPr>
          <p:cNvPr id="11" name="Text 9"/>
          <p:cNvSpPr/>
          <p:nvPr/>
        </p:nvSpPr>
        <p:spPr>
          <a:xfrm>
            <a:off x="8108990" y="357747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Coming Soon</a:t>
            </a:r>
            <a:endParaRPr lang="en-US" sz="1950" dirty="0"/>
          </a:p>
        </p:txBody>
      </p:sp>
      <p:sp>
        <p:nvSpPr>
          <p:cNvPr id="12" name="Text 10"/>
          <p:cNvSpPr/>
          <p:nvPr/>
        </p:nvSpPr>
        <p:spPr>
          <a:xfrm>
            <a:off x="8108990" y="4006691"/>
            <a:ext cx="5727621" cy="952619"/>
          </a:xfrm>
          <a:prstGeom prst="rect">
            <a:avLst/>
          </a:prstGeom>
          <a:noFill/>
          <a:ln/>
        </p:spPr>
        <p:txBody>
          <a:bodyPr wrap="square" lIns="0" tIns="0" rIns="0" bIns="0" rtlCol="0" anchor="t"/>
          <a:lstStyle/>
          <a:p>
            <a:pPr marL="0" indent="0" algn="l">
              <a:lnSpc>
                <a:spcPts val="2500"/>
              </a:lnSpc>
              <a:buNone/>
            </a:pPr>
            <a:r>
              <a:rPr lang="en-US" sz="1550" b="1" dirty="0">
                <a:solidFill>
                  <a:srgbClr val="443728"/>
                </a:solidFill>
                <a:latin typeface="Open Sans" pitchFamily="34" charset="0"/>
                <a:ea typeface="Open Sans" pitchFamily="34" charset="-122"/>
                <a:cs typeface="Open Sans" pitchFamily="34" charset="-120"/>
              </a:rPr>
              <a:t>The Gap Year Episode</a:t>
            </a:r>
            <a:r>
              <a:rPr lang="en-US" sz="1550" dirty="0">
                <a:solidFill>
                  <a:srgbClr val="443728"/>
                </a:solidFill>
                <a:latin typeface="Open Sans" pitchFamily="34" charset="0"/>
                <a:ea typeface="Open Sans" pitchFamily="34" charset="-122"/>
                <a:cs typeface="Open Sans" pitchFamily="34" charset="-120"/>
              </a:rPr>
              <a:t> — What 10,000 students taught me about the moment structure disappears and what you build — or don't — in its place.</a:t>
            </a:r>
            <a:endParaRPr lang="en-US" sz="1550" dirty="0"/>
          </a:p>
        </p:txBody>
      </p:sp>
      <p:sp>
        <p:nvSpPr>
          <p:cNvPr id="13" name="Shape 11"/>
          <p:cNvSpPr/>
          <p:nvPr/>
        </p:nvSpPr>
        <p:spPr>
          <a:xfrm>
            <a:off x="6941225" y="4747379"/>
            <a:ext cx="396835" cy="22860"/>
          </a:xfrm>
          <a:prstGeom prst="roundRect">
            <a:avLst>
              <a:gd name="adj" fmla="val 364651"/>
            </a:avLst>
          </a:prstGeom>
          <a:solidFill>
            <a:srgbClr val="D1C8C6"/>
          </a:solidFill>
          <a:ln/>
        </p:spPr>
        <p:txBody>
          <a:bodyPr/>
          <a:lstStyle/>
          <a:p>
            <a:endParaRPr lang="en-AU"/>
          </a:p>
        </p:txBody>
      </p:sp>
      <p:sp>
        <p:nvSpPr>
          <p:cNvPr id="14" name="Shape 12"/>
          <p:cNvSpPr/>
          <p:nvPr/>
        </p:nvSpPr>
        <p:spPr>
          <a:xfrm>
            <a:off x="7240786" y="4684395"/>
            <a:ext cx="148828" cy="148828"/>
          </a:xfrm>
          <a:prstGeom prst="roundRect">
            <a:avLst>
              <a:gd name="adj" fmla="val 307200"/>
            </a:avLst>
          </a:prstGeom>
          <a:solidFill>
            <a:srgbClr val="835E54"/>
          </a:solidFill>
          <a:ln/>
        </p:spPr>
        <p:txBody>
          <a:bodyPr/>
          <a:lstStyle/>
          <a:p>
            <a:endParaRPr lang="en-AU"/>
          </a:p>
        </p:txBody>
      </p:sp>
      <p:sp>
        <p:nvSpPr>
          <p:cNvPr id="15" name="Text 13"/>
          <p:cNvSpPr/>
          <p:nvPr/>
        </p:nvSpPr>
        <p:spPr>
          <a:xfrm>
            <a:off x="4040505" y="4603790"/>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In Planning</a:t>
            </a:r>
            <a:endParaRPr lang="en-US" sz="1950" dirty="0"/>
          </a:p>
        </p:txBody>
      </p:sp>
      <p:sp>
        <p:nvSpPr>
          <p:cNvPr id="16" name="Text 14"/>
          <p:cNvSpPr/>
          <p:nvPr/>
        </p:nvSpPr>
        <p:spPr>
          <a:xfrm>
            <a:off x="793790" y="5033010"/>
            <a:ext cx="5727621" cy="952619"/>
          </a:xfrm>
          <a:prstGeom prst="rect">
            <a:avLst/>
          </a:prstGeom>
          <a:noFill/>
          <a:ln/>
        </p:spPr>
        <p:txBody>
          <a:bodyPr wrap="square" lIns="0" tIns="0" rIns="0" bIns="0" rtlCol="0" anchor="t"/>
          <a:lstStyle/>
          <a:p>
            <a:pPr marL="0" indent="0" algn="r">
              <a:lnSpc>
                <a:spcPts val="2500"/>
              </a:lnSpc>
              <a:buNone/>
            </a:pPr>
            <a:r>
              <a:rPr lang="en-US" sz="1550" b="1" dirty="0">
                <a:solidFill>
                  <a:srgbClr val="443728"/>
                </a:solidFill>
                <a:latin typeface="Open Sans" pitchFamily="34" charset="0"/>
                <a:ea typeface="Open Sans" pitchFamily="34" charset="-122"/>
                <a:cs typeface="Open Sans" pitchFamily="34" charset="-120"/>
              </a:rPr>
              <a:t>Open Conversations</a:t>
            </a:r>
            <a:r>
              <a:rPr lang="en-US" sz="1550" dirty="0">
                <a:solidFill>
                  <a:srgbClr val="443728"/>
                </a:solidFill>
                <a:latin typeface="Open Sans" pitchFamily="34" charset="0"/>
                <a:ea typeface="Open Sans" pitchFamily="34" charset="-122"/>
                <a:cs typeface="Open Sans" pitchFamily="34" charset="-120"/>
              </a:rPr>
              <a:t> — Episodes with guests from all walks of life. Real topics. No agenda. Just the conversation that needed to happen.</a:t>
            </a:r>
            <a:endParaRPr lang="en-US" sz="1550" dirty="0"/>
          </a:p>
        </p:txBody>
      </p:sp>
      <p:sp>
        <p:nvSpPr>
          <p:cNvPr id="17" name="Shape 15"/>
          <p:cNvSpPr/>
          <p:nvPr/>
        </p:nvSpPr>
        <p:spPr>
          <a:xfrm>
            <a:off x="7292340" y="5773817"/>
            <a:ext cx="396835" cy="22860"/>
          </a:xfrm>
          <a:prstGeom prst="roundRect">
            <a:avLst>
              <a:gd name="adj" fmla="val 364651"/>
            </a:avLst>
          </a:prstGeom>
          <a:solidFill>
            <a:srgbClr val="D1C8C6"/>
          </a:solidFill>
          <a:ln/>
        </p:spPr>
        <p:txBody>
          <a:bodyPr/>
          <a:lstStyle/>
          <a:p>
            <a:endParaRPr lang="en-AU"/>
          </a:p>
        </p:txBody>
      </p:sp>
      <p:sp>
        <p:nvSpPr>
          <p:cNvPr id="18" name="Shape 16"/>
          <p:cNvSpPr/>
          <p:nvPr/>
        </p:nvSpPr>
        <p:spPr>
          <a:xfrm>
            <a:off x="7240786" y="5710833"/>
            <a:ext cx="148828" cy="148828"/>
          </a:xfrm>
          <a:prstGeom prst="roundRect">
            <a:avLst>
              <a:gd name="adj" fmla="val 307200"/>
            </a:avLst>
          </a:prstGeom>
          <a:solidFill>
            <a:srgbClr val="835E54"/>
          </a:solidFill>
          <a:ln/>
        </p:spPr>
        <p:txBody>
          <a:bodyPr/>
          <a:lstStyle/>
          <a:p>
            <a:endParaRPr lang="en-AU"/>
          </a:p>
        </p:txBody>
      </p:sp>
      <p:sp>
        <p:nvSpPr>
          <p:cNvPr id="19" name="Text 17"/>
          <p:cNvSpPr/>
          <p:nvPr/>
        </p:nvSpPr>
        <p:spPr>
          <a:xfrm>
            <a:off x="8108990" y="563022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Your Episode</a:t>
            </a:r>
            <a:endParaRPr lang="en-US" sz="1950" dirty="0"/>
          </a:p>
        </p:txBody>
      </p:sp>
      <p:sp>
        <p:nvSpPr>
          <p:cNvPr id="20" name="Text 18"/>
          <p:cNvSpPr/>
          <p:nvPr/>
        </p:nvSpPr>
        <p:spPr>
          <a:xfrm>
            <a:off x="8108990" y="6059448"/>
            <a:ext cx="5727621" cy="952619"/>
          </a:xfrm>
          <a:prstGeom prst="rect">
            <a:avLst/>
          </a:prstGeom>
          <a:noFill/>
          <a:ln/>
        </p:spPr>
        <p:txBody>
          <a:bodyPr wrap="square" lIns="0" tIns="0" rIns="0" bIns="0" rtlCol="0" anchor="t"/>
          <a:lstStyle/>
          <a:p>
            <a:pPr marL="0" indent="0" algn="l">
              <a:lnSpc>
                <a:spcPts val="2500"/>
              </a:lnSpc>
              <a:buNone/>
            </a:pPr>
            <a:r>
              <a:rPr lang="en-US" sz="1550" b="1" dirty="0">
                <a:solidFill>
                  <a:srgbClr val="443728"/>
                </a:solidFill>
                <a:latin typeface="Open Sans" pitchFamily="34" charset="0"/>
                <a:ea typeface="Open Sans" pitchFamily="34" charset="-122"/>
                <a:cs typeface="Open Sans" pitchFamily="34" charset="-120"/>
              </a:rPr>
              <a:t>This could be yours.</a:t>
            </a:r>
            <a:r>
              <a:rPr lang="en-US" sz="1550" dirty="0">
                <a:solidFill>
                  <a:srgbClr val="443728"/>
                </a:solidFill>
                <a:latin typeface="Open Sans" pitchFamily="34" charset="0"/>
                <a:ea typeface="Open Sans" pitchFamily="34" charset="-122"/>
                <a:cs typeface="Open Sans" pitchFamily="34" charset="-120"/>
              </a:rPr>
              <a:t> If you've got something worth saying — or something that's been bothering you — get in touch and let's build it together.</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97655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Join the Conversation</a:t>
            </a:r>
            <a:endParaRPr lang="en-US" sz="1950" dirty="0"/>
          </a:p>
        </p:txBody>
      </p:sp>
      <p:sp>
        <p:nvSpPr>
          <p:cNvPr id="3" name="Text 1"/>
          <p:cNvSpPr/>
          <p:nvPr/>
        </p:nvSpPr>
        <p:spPr>
          <a:xfrm>
            <a:off x="793790" y="2366010"/>
            <a:ext cx="7602974"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The Seat Is Open. Come and Sit in It.</a:t>
            </a:r>
            <a:endParaRPr lang="en-US" sz="3900" dirty="0"/>
          </a:p>
        </p:txBody>
      </p:sp>
      <p:sp>
        <p:nvSpPr>
          <p:cNvPr id="4" name="Shape 2"/>
          <p:cNvSpPr/>
          <p:nvPr/>
        </p:nvSpPr>
        <p:spPr>
          <a:xfrm>
            <a:off x="650915" y="3283744"/>
            <a:ext cx="6565106" cy="2969300"/>
          </a:xfrm>
          <a:prstGeom prst="roundRect">
            <a:avLst>
              <a:gd name="adj" fmla="val 4813"/>
            </a:avLst>
          </a:prstGeom>
          <a:solidFill>
            <a:srgbClr val="835E54"/>
          </a:solidFill>
          <a:ln/>
        </p:spPr>
        <p:txBody>
          <a:bodyPr/>
          <a:lstStyle/>
          <a:p>
            <a:endParaRPr lang="en-AU"/>
          </a:p>
        </p:txBody>
      </p:sp>
      <p:sp>
        <p:nvSpPr>
          <p:cNvPr id="5" name="Text 3"/>
          <p:cNvSpPr/>
          <p:nvPr/>
        </p:nvSpPr>
        <p:spPr>
          <a:xfrm>
            <a:off x="849273" y="348210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Crimson Pro Bold" pitchFamily="34" charset="0"/>
                <a:ea typeface="Crimson Pro Bold" pitchFamily="34" charset="-122"/>
                <a:cs typeface="Crimson Pro Bold" pitchFamily="34" charset="-120"/>
              </a:rPr>
              <a:t>For Listeners</a:t>
            </a:r>
            <a:endParaRPr lang="en-US" sz="1950" dirty="0"/>
          </a:p>
        </p:txBody>
      </p:sp>
      <p:sp>
        <p:nvSpPr>
          <p:cNvPr id="6" name="Text 4"/>
          <p:cNvSpPr/>
          <p:nvPr/>
        </p:nvSpPr>
        <p:spPr>
          <a:xfrm>
            <a:off x="849273" y="3990618"/>
            <a:ext cx="6168390" cy="127015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Open Sans" pitchFamily="34" charset="0"/>
                <a:ea typeface="Open Sans" pitchFamily="34" charset="-122"/>
                <a:cs typeface="Open Sans" pitchFamily="34" charset="-120"/>
              </a:rPr>
              <a:t>Subscribe, follow, and share the episodes that hit close to home. Leave a review if something shifted for you. And if an episode makes you think of someone who needs to hear it — send it to them. That's how this grows.</a:t>
            </a:r>
            <a:endParaRPr lang="en-US" sz="1550" dirty="0"/>
          </a:p>
        </p:txBody>
      </p:sp>
      <p:sp>
        <p:nvSpPr>
          <p:cNvPr id="7" name="Text 5"/>
          <p:cNvSpPr/>
          <p:nvPr/>
        </p:nvSpPr>
        <p:spPr>
          <a:xfrm>
            <a:off x="7564874" y="348210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For Potential Guests</a:t>
            </a:r>
            <a:endParaRPr lang="en-US" sz="1950" dirty="0"/>
          </a:p>
        </p:txBody>
      </p:sp>
      <p:sp>
        <p:nvSpPr>
          <p:cNvPr id="8" name="Text 6"/>
          <p:cNvSpPr/>
          <p:nvPr/>
        </p:nvSpPr>
        <p:spPr>
          <a:xfrm>
            <a:off x="7564874" y="399061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You don't need credentials. You need a real question and the willingness to sit with it on record. If something is bothering you — personally, professionally, philosophically — that's a starting point. Reach out and let's figure out if there's an episode in it.</a:t>
            </a:r>
            <a:endParaRPr lang="en-US" sz="1550" dirty="0"/>
          </a:p>
        </p:txBody>
      </p:sp>
      <p:sp>
        <p:nvSpPr>
          <p:cNvPr id="9" name="Text 7"/>
          <p:cNvSpPr/>
          <p:nvPr/>
        </p:nvSpPr>
        <p:spPr>
          <a:xfrm>
            <a:off x="7564874" y="5439370"/>
            <a:ext cx="6279356" cy="635079"/>
          </a:xfrm>
          <a:prstGeom prst="rect">
            <a:avLst/>
          </a:prstGeom>
          <a:noFill/>
          <a:ln/>
        </p:spPr>
        <p:txBody>
          <a:bodyPr wrap="square" lIns="0" tIns="0" rIns="0" bIns="0" rtlCol="0" anchor="t"/>
          <a:lstStyle/>
          <a:p>
            <a:pPr marL="0" indent="0" algn="l">
              <a:lnSpc>
                <a:spcPts val="2500"/>
              </a:lnSpc>
              <a:buNone/>
            </a:pPr>
            <a:r>
              <a:rPr lang="en-US" sz="1550" b="1" dirty="0">
                <a:solidFill>
                  <a:srgbClr val="443728"/>
                </a:solidFill>
                <a:latin typeface="Open Sans" pitchFamily="34" charset="0"/>
                <a:ea typeface="Open Sans" pitchFamily="34" charset="-122"/>
                <a:cs typeface="Open Sans" pitchFamily="34" charset="-120"/>
              </a:rPr>
              <a:t>This podcast is not inclusive — it's exclusive to all. Meaning everyone's welcome, but comfort zones are not.</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872258"/>
            <a:ext cx="2568297"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Breaking Mental Models</a:t>
            </a:r>
            <a:endParaRPr lang="en-US" sz="1950" dirty="0"/>
          </a:p>
        </p:txBody>
      </p:sp>
      <p:sp>
        <p:nvSpPr>
          <p:cNvPr id="3" name="Text 1"/>
          <p:cNvSpPr/>
          <p:nvPr/>
        </p:nvSpPr>
        <p:spPr>
          <a:xfrm>
            <a:off x="793790" y="2261711"/>
            <a:ext cx="11646575"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Say the Thing. Have the Conversation. Break the Model.</a:t>
            </a:r>
            <a:endParaRPr lang="en-US" sz="3900" dirty="0"/>
          </a:p>
        </p:txBody>
      </p:sp>
      <p:sp>
        <p:nvSpPr>
          <p:cNvPr id="4" name="Shape 2"/>
          <p:cNvSpPr/>
          <p:nvPr/>
        </p:nvSpPr>
        <p:spPr>
          <a:xfrm>
            <a:off x="793790" y="3179445"/>
            <a:ext cx="13042821" cy="1793796"/>
          </a:xfrm>
          <a:prstGeom prst="roundRect">
            <a:avLst>
              <a:gd name="adj" fmla="val 4647"/>
            </a:avLst>
          </a:prstGeom>
          <a:solidFill>
            <a:srgbClr val="EBE2E0"/>
          </a:solidFill>
          <a:ln w="7620">
            <a:solidFill>
              <a:srgbClr val="D1C8C6"/>
            </a:solidFill>
            <a:prstDash val="solid"/>
          </a:ln>
        </p:spPr>
        <p:txBody>
          <a:bodyPr/>
          <a:lstStyle/>
          <a:p>
            <a:endParaRPr lang="en-AU"/>
          </a:p>
        </p:txBody>
      </p:sp>
      <p:sp>
        <p:nvSpPr>
          <p:cNvPr id="5" name="Shape 3"/>
          <p:cNvSpPr/>
          <p:nvPr/>
        </p:nvSpPr>
        <p:spPr>
          <a:xfrm>
            <a:off x="801410" y="3187065"/>
            <a:ext cx="4342448" cy="1778556"/>
          </a:xfrm>
          <a:prstGeom prst="roundRect">
            <a:avLst>
              <a:gd name="adj" fmla="val 4687"/>
            </a:avLst>
          </a:prstGeom>
          <a:solidFill>
            <a:srgbClr val="EBE2E0"/>
          </a:solidFill>
          <a:ln/>
        </p:spPr>
        <p:txBody>
          <a:bodyPr/>
          <a:lstStyle/>
          <a:p>
            <a:endParaRPr lang="en-AU"/>
          </a:p>
        </p:txBody>
      </p:sp>
      <p:sp>
        <p:nvSpPr>
          <p:cNvPr id="6" name="Text 4"/>
          <p:cNvSpPr/>
          <p:nvPr/>
        </p:nvSpPr>
        <p:spPr>
          <a:xfrm>
            <a:off x="999768" y="338542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Crimson Pro Bold" pitchFamily="34" charset="0"/>
                <a:ea typeface="Crimson Pro Bold" pitchFamily="34" charset="-122"/>
                <a:cs typeface="Crimson Pro Bold" pitchFamily="34" charset="-120"/>
              </a:rPr>
              <a:t>🎙</a:t>
            </a:r>
            <a:r>
              <a:rPr lang="en-US" sz="1950" b="1" dirty="0">
                <a:solidFill>
                  <a:srgbClr val="443728"/>
                </a:solidFill>
                <a:latin typeface="Crimson Pro Bold" pitchFamily="34" charset="0"/>
                <a:ea typeface="Crimson Pro Bold" pitchFamily="34" charset="-122"/>
                <a:cs typeface="Crimson Pro Bold" pitchFamily="34" charset="-120"/>
              </a:rPr>
              <a:t> Listen</a:t>
            </a:r>
            <a:endParaRPr lang="en-US" sz="1950" dirty="0"/>
          </a:p>
        </p:txBody>
      </p:sp>
      <p:sp>
        <p:nvSpPr>
          <p:cNvPr id="7" name="Text 5"/>
          <p:cNvSpPr/>
          <p:nvPr/>
        </p:nvSpPr>
        <p:spPr>
          <a:xfrm>
            <a:off x="999768" y="3814643"/>
            <a:ext cx="3945731"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Start with the Memoirs to Millions episode. Let it sit. Then come back for more.</a:t>
            </a:r>
            <a:endParaRPr lang="en-US" sz="1550" dirty="0"/>
          </a:p>
        </p:txBody>
      </p:sp>
      <p:sp>
        <p:nvSpPr>
          <p:cNvPr id="8" name="Shape 6"/>
          <p:cNvSpPr/>
          <p:nvPr/>
        </p:nvSpPr>
        <p:spPr>
          <a:xfrm>
            <a:off x="5143857" y="3187065"/>
            <a:ext cx="4342567" cy="1778556"/>
          </a:xfrm>
          <a:prstGeom prst="rect">
            <a:avLst/>
          </a:prstGeom>
          <a:solidFill>
            <a:srgbClr val="EBE2E0"/>
          </a:solidFill>
          <a:ln/>
        </p:spPr>
        <p:txBody>
          <a:bodyPr/>
          <a:lstStyle/>
          <a:p>
            <a:endParaRPr lang="en-AU"/>
          </a:p>
        </p:txBody>
      </p:sp>
      <p:sp>
        <p:nvSpPr>
          <p:cNvPr id="9" name="Shape 7"/>
          <p:cNvSpPr/>
          <p:nvPr/>
        </p:nvSpPr>
        <p:spPr>
          <a:xfrm>
            <a:off x="5143857" y="3187065"/>
            <a:ext cx="22860" cy="1778556"/>
          </a:xfrm>
          <a:prstGeom prst="roundRect">
            <a:avLst>
              <a:gd name="adj" fmla="val 364651"/>
            </a:avLst>
          </a:prstGeom>
          <a:solidFill>
            <a:srgbClr val="D1C8C6"/>
          </a:solidFill>
          <a:ln/>
        </p:spPr>
        <p:txBody>
          <a:bodyPr/>
          <a:lstStyle/>
          <a:p>
            <a:endParaRPr lang="en-AU"/>
          </a:p>
        </p:txBody>
      </p:sp>
      <p:sp>
        <p:nvSpPr>
          <p:cNvPr id="10" name="Text 8"/>
          <p:cNvSpPr/>
          <p:nvPr/>
        </p:nvSpPr>
        <p:spPr>
          <a:xfrm>
            <a:off x="5342215" y="3385423"/>
            <a:ext cx="2894290"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Crimson Pro Bold" pitchFamily="34" charset="0"/>
                <a:ea typeface="Crimson Pro Bold" pitchFamily="34" charset="-122"/>
                <a:cs typeface="Crimson Pro Bold" pitchFamily="34" charset="-120"/>
              </a:rPr>
              <a:t>📩</a:t>
            </a:r>
            <a:r>
              <a:rPr lang="en-US" sz="1950" b="1" dirty="0">
                <a:solidFill>
                  <a:srgbClr val="443728"/>
                </a:solidFill>
                <a:latin typeface="Crimson Pro Bold" pitchFamily="34" charset="0"/>
                <a:ea typeface="Crimson Pro Bold" pitchFamily="34" charset="-122"/>
                <a:cs typeface="Crimson Pro Bold" pitchFamily="34" charset="-120"/>
              </a:rPr>
              <a:t> Pitch Your Conversation</a:t>
            </a:r>
            <a:endParaRPr lang="en-US" sz="1950" dirty="0"/>
          </a:p>
        </p:txBody>
      </p:sp>
      <p:sp>
        <p:nvSpPr>
          <p:cNvPr id="11" name="Text 9"/>
          <p:cNvSpPr/>
          <p:nvPr/>
        </p:nvSpPr>
        <p:spPr>
          <a:xfrm>
            <a:off x="5342215" y="3814643"/>
            <a:ext cx="3945850"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Something bothering you? A question you can't stop asking? Reach out. Let's talk about it on record.</a:t>
            </a:r>
            <a:endParaRPr lang="en-US" sz="1550" dirty="0"/>
          </a:p>
        </p:txBody>
      </p:sp>
      <p:sp>
        <p:nvSpPr>
          <p:cNvPr id="12" name="Shape 10"/>
          <p:cNvSpPr/>
          <p:nvPr/>
        </p:nvSpPr>
        <p:spPr>
          <a:xfrm>
            <a:off x="9486424" y="3187065"/>
            <a:ext cx="4342567" cy="1778556"/>
          </a:xfrm>
          <a:prstGeom prst="rect">
            <a:avLst/>
          </a:prstGeom>
          <a:solidFill>
            <a:srgbClr val="EBE2E0"/>
          </a:solidFill>
          <a:ln/>
        </p:spPr>
        <p:txBody>
          <a:bodyPr/>
          <a:lstStyle/>
          <a:p>
            <a:endParaRPr lang="en-AU"/>
          </a:p>
        </p:txBody>
      </p:sp>
      <p:sp>
        <p:nvSpPr>
          <p:cNvPr id="13" name="Shape 11"/>
          <p:cNvSpPr/>
          <p:nvPr/>
        </p:nvSpPr>
        <p:spPr>
          <a:xfrm>
            <a:off x="9486424" y="3187065"/>
            <a:ext cx="22860" cy="1778556"/>
          </a:xfrm>
          <a:prstGeom prst="roundRect">
            <a:avLst>
              <a:gd name="adj" fmla="val 364651"/>
            </a:avLst>
          </a:prstGeom>
          <a:solidFill>
            <a:srgbClr val="D1C8C6"/>
          </a:solidFill>
          <a:ln/>
        </p:spPr>
        <p:txBody>
          <a:bodyPr/>
          <a:lstStyle/>
          <a:p>
            <a:endParaRPr lang="en-AU"/>
          </a:p>
        </p:txBody>
      </p:sp>
      <p:sp>
        <p:nvSpPr>
          <p:cNvPr id="14" name="Text 12"/>
          <p:cNvSpPr/>
          <p:nvPr/>
        </p:nvSpPr>
        <p:spPr>
          <a:xfrm>
            <a:off x="9684782" y="338542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Crimson Pro Bold" pitchFamily="34" charset="0"/>
                <a:ea typeface="Crimson Pro Bold" pitchFamily="34" charset="-122"/>
                <a:cs typeface="Crimson Pro Bold" pitchFamily="34" charset="-120"/>
              </a:rPr>
              <a:t>🔁</a:t>
            </a:r>
            <a:r>
              <a:rPr lang="en-US" sz="1950" b="1" dirty="0">
                <a:solidFill>
                  <a:srgbClr val="443728"/>
                </a:solidFill>
                <a:latin typeface="Crimson Pro Bold" pitchFamily="34" charset="0"/>
                <a:ea typeface="Crimson Pro Bold" pitchFamily="34" charset="-122"/>
                <a:cs typeface="Crimson Pro Bold" pitchFamily="34" charset="-120"/>
              </a:rPr>
              <a:t> Share</a:t>
            </a:r>
            <a:endParaRPr lang="en-US" sz="1950" dirty="0"/>
          </a:p>
        </p:txBody>
      </p:sp>
      <p:sp>
        <p:nvSpPr>
          <p:cNvPr id="15" name="Text 13"/>
          <p:cNvSpPr/>
          <p:nvPr/>
        </p:nvSpPr>
        <p:spPr>
          <a:xfrm>
            <a:off x="9684782" y="3814643"/>
            <a:ext cx="3945850"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If an episode resonates, send it to one person who needs it. That's the whole growth strategy.</a:t>
            </a:r>
            <a:endParaRPr lang="en-US" sz="1550" dirty="0"/>
          </a:p>
        </p:txBody>
      </p:sp>
      <p:sp>
        <p:nvSpPr>
          <p:cNvPr id="16" name="Shape 14"/>
          <p:cNvSpPr/>
          <p:nvPr/>
        </p:nvSpPr>
        <p:spPr>
          <a:xfrm>
            <a:off x="793790" y="5196483"/>
            <a:ext cx="13042821" cy="1160740"/>
          </a:xfrm>
          <a:prstGeom prst="roundRect">
            <a:avLst>
              <a:gd name="adj" fmla="val 7182"/>
            </a:avLst>
          </a:prstGeom>
          <a:solidFill>
            <a:srgbClr val="E1D4D0"/>
          </a:solidFill>
          <a:ln/>
        </p:spPr>
        <p:txBody>
          <a:bodyPr/>
          <a:lstStyle/>
          <a:p>
            <a:endParaRPr lang="en-AU"/>
          </a:p>
        </p:txBody>
      </p:sp>
      <p:pic>
        <p:nvPicPr>
          <p:cNvPr id="17" name="Image 0" descr="preencoded.png"/>
          <p:cNvPicPr>
            <a:picLocks noChangeAspect="1"/>
          </p:cNvPicPr>
          <p:nvPr/>
        </p:nvPicPr>
        <p:blipFill>
          <a:blip r:embed="rId3"/>
          <a:stretch>
            <a:fillRect/>
          </a:stretch>
        </p:blipFill>
        <p:spPr>
          <a:xfrm>
            <a:off x="992148" y="5499378"/>
            <a:ext cx="248007" cy="198358"/>
          </a:xfrm>
          <a:prstGeom prst="rect">
            <a:avLst/>
          </a:prstGeom>
        </p:spPr>
      </p:pic>
      <p:sp>
        <p:nvSpPr>
          <p:cNvPr id="18" name="Text 15"/>
          <p:cNvSpPr/>
          <p:nvPr/>
        </p:nvSpPr>
        <p:spPr>
          <a:xfrm>
            <a:off x="1438513" y="5444371"/>
            <a:ext cx="12199739"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Open Sans" pitchFamily="34" charset="0"/>
                <a:ea typeface="Open Sans" pitchFamily="34" charset="-122"/>
                <a:cs typeface="Open Sans" pitchFamily="34" charset="-120"/>
              </a:rPr>
              <a:t>Breaking Mental Models is open to guests, listeners, and anyone with a real question and the willingness to ask it out loud. No gatekeeping. No green rooms. Just honest conversation.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3112</Words>
  <Application>Microsoft Office PowerPoint</Application>
  <PresentationFormat>Custom</PresentationFormat>
  <Paragraphs>228</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Crimson Pro Bold</vt:lpstr>
      <vt:lpstr>Open Sans</vt:lpstr>
      <vt:lpstr>Crimson Pro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Ankit Agarwal</dc:creator>
  <cp:lastModifiedBy>Ankit Agarwal</cp:lastModifiedBy>
  <cp:revision>2</cp:revision>
  <dcterms:created xsi:type="dcterms:W3CDTF">2026-04-06T09:02:44Z</dcterms:created>
  <dcterms:modified xsi:type="dcterms:W3CDTF">2026-04-06T09:03:58Z</dcterms:modified>
</cp:coreProperties>
</file>