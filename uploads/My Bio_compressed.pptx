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Inter"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76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AU"/>
          </a:p>
        </p:txBody>
      </p:sp>
      <p:sp>
        <p:nvSpPr>
          <p:cNvPr id="3" name="Shape 1"/>
          <p:cNvSpPr/>
          <p:nvPr/>
        </p:nvSpPr>
        <p:spPr>
          <a:xfrm>
            <a:off x="0" y="0"/>
            <a:ext cx="14630400" cy="8229600"/>
          </a:xfrm>
          <a:prstGeom prst="rect">
            <a:avLst/>
          </a:prstGeom>
          <a:solidFill>
            <a:srgbClr val="FFFFFF"/>
          </a:solidFill>
          <a:ln/>
        </p:spPr>
        <p:txBody>
          <a:bodyPr/>
          <a:lstStyle/>
          <a:p>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5" Type="http://schemas.openxmlformats.org/officeDocument/2006/relationships/image" Target="../media/image2.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16.png"/><Relationship Id="rId6" Type="http://schemas.openxmlformats.org/officeDocument/2006/relationships/image" Target="../media/image17.svg"/><Relationship Id="rId7" Type="http://schemas.openxmlformats.org/officeDocument/2006/relationships/image" Target="../media/image18.png"/><Relationship Id="rId8" Type="http://schemas.openxmlformats.org/officeDocument/2006/relationships/image" Target="../media/image19.svg"/><Relationship Id="rId9" Type="http://schemas.openxmlformats.org/officeDocument/2006/relationships/image" Target="../media/image20.png"/><Relationship Id="rId10" Type="http://schemas.openxmlformats.org/officeDocument/2006/relationships/image" Target="../media/image21.svg"/><Relationship Id="rId11" Type="http://schemas.openxmlformats.org/officeDocument/2006/relationships/image" Target="../media/image22.png"/><Relationship Id="rId12" Type="http://schemas.openxmlformats.org/officeDocument/2006/relationships/image" Target="../media/image2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doi.org/10.1177/23220937241246325" TargetMode="External"/><Relationship Id="rId4" Type="http://schemas.openxmlformats.org/officeDocument/2006/relationships/hyperlink" Target="https://doi.org/10.1108/QROM-01-2020-1885" TargetMode="External"/><Relationship Id="rId5" Type="http://schemas.openxmlformats.org/officeDocument/2006/relationships/hyperlink" Target="https://www.adelaide.edu.au/study/postgraduate/advanced-learning-for-professional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doi.org/10.1007/978-3-031-35494-6_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hyperlink" Target="https://doi.org/10.1007/s10551-019-04382-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95111"/>
            <a:ext cx="584656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Breaking Mental Models</a:t>
            </a:r>
            <a:endParaRPr lang="en-US" sz="3900" dirty="0"/>
          </a:p>
        </p:txBody>
      </p:sp>
      <p:sp>
        <p:nvSpPr>
          <p:cNvPr id="4" name="Text 1"/>
          <p:cNvSpPr/>
          <p:nvPr/>
        </p:nvSpPr>
        <p:spPr>
          <a:xfrm>
            <a:off x="793790" y="3712845"/>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story of </a:t>
            </a:r>
            <a:r>
              <a:rPr lang="en-US" sz="1550" b="1" dirty="0">
                <a:solidFill>
                  <a:srgbClr val="272525"/>
                </a:solidFill>
                <a:latin typeface="Inter" pitchFamily="34" charset="0"/>
                <a:ea typeface="Inter" pitchFamily="34" charset="-122"/>
                <a:cs typeface="Inter" pitchFamily="34" charset="-120"/>
              </a:rPr>
              <a:t>Dr. Ankit Agarwal</a:t>
            </a:r>
            <a:r>
              <a:rPr lang="en-US" sz="1550" dirty="0">
                <a:solidFill>
                  <a:srgbClr val="272525"/>
                </a:solidFill>
                <a:latin typeface="Inter" pitchFamily="34" charset="0"/>
                <a:ea typeface="Inter" pitchFamily="34" charset="-122"/>
                <a:cs typeface="Inter" pitchFamily="34" charset="-120"/>
              </a:rPr>
              <a:t> — educator, researcher, and lifelong learner whose journey from India to the world stage is defined by resilience, curiosity, and the belief that every challenge presents an opportunity for growth.</a:t>
            </a:r>
            <a:endParaRPr lang="en-US" sz="1550" dirty="0"/>
          </a:p>
        </p:txBody>
      </p:sp>
      <p:pic>
        <p:nvPicPr>
          <p:cNvPr id="5" name="Image 1" descr="preencoded.png">
            <a:hlinkClick r:id="rId4"/>
          </p:cNvPr>
          <p:cNvPicPr>
            <a:picLocks noChangeAspect="1"/>
          </p:cNvPicPr>
          <p:nvPr/>
        </p:nvPicPr>
        <p:blipFill>
          <a:blip r:embed="rId5"/>
          <a:stretch>
            <a:fillRect/>
          </a:stretch>
        </p:blipFill>
        <p:spPr>
          <a:xfrm>
            <a:off x="793790" y="4888706"/>
            <a:ext cx="2308741" cy="545783"/>
          </a:xfrm>
          <a:prstGeom prst="rect">
            <a:avLst/>
          </a:prstGeom>
        </p:spPr>
      </p:pic>
      <p:pic>
        <p:nvPicPr>
          <p:cNvPr id="6" name="Image 2" descr="preencoded.png">
            <a:hlinkClick r:id="rId6"/>
          </p:cNvPr>
          <p:cNvPicPr>
            <a:picLocks noChangeAspect="1"/>
          </p:cNvPicPr>
          <p:nvPr/>
        </p:nvPicPr>
        <p:blipFill>
          <a:blip r:embed="rId7"/>
          <a:stretch>
            <a:fillRect/>
          </a:stretch>
        </p:blipFill>
        <p:spPr>
          <a:xfrm>
            <a:off x="3201710" y="4888706"/>
            <a:ext cx="1821418" cy="5457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402449" y="272891"/>
            <a:ext cx="277939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About Me — Biography</a:t>
            </a:r>
            <a:endParaRPr lang="en-US" sz="1950" dirty="0"/>
          </a:p>
        </p:txBody>
      </p:sp>
      <p:sp>
        <p:nvSpPr>
          <p:cNvPr id="3" name="Text 1"/>
          <p:cNvSpPr/>
          <p:nvPr/>
        </p:nvSpPr>
        <p:spPr>
          <a:xfrm>
            <a:off x="3402449" y="682228"/>
            <a:ext cx="7825502"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 am </a:t>
            </a:r>
            <a:r>
              <a:rPr lang="en-US" sz="750" b="1" dirty="0">
                <a:solidFill>
                  <a:srgbClr val="272525"/>
                </a:solidFill>
                <a:latin typeface="Inter" pitchFamily="34" charset="0"/>
                <a:ea typeface="Inter" pitchFamily="34" charset="-122"/>
                <a:cs typeface="Inter" pitchFamily="34" charset="-120"/>
              </a:rPr>
              <a:t>Dr. Ankit Agarwal</a:t>
            </a:r>
            <a:r>
              <a:rPr lang="en-US" sz="750" dirty="0">
                <a:solidFill>
                  <a:srgbClr val="272525"/>
                </a:solidFill>
                <a:latin typeface="Inter" pitchFamily="34" charset="0"/>
                <a:ea typeface="Inter" pitchFamily="34" charset="-122"/>
                <a:cs typeface="Inter" pitchFamily="34" charset="-120"/>
              </a:rPr>
              <a:t>, and my journey into education began at the tender age of five. Growing up in India, I was captivated by the titles held by my relatives—Doctors, Engineers, Advocates—and I found myself fascinated by the respect and admiration these titles commanded. At that young age, I dreamed of earning a title of my own, believing that education was the key to unlocking my future. However, like many children, I found traditional schooling a bit tedious and much preferred playing cricket. In the 1990s, I, like countless other children, idolised cricket legends such as Sachin Tendulkar and Don Bradman. Their humble demeanour and relentless passion for the game inspired me.</a:t>
            </a:r>
            <a:endParaRPr lang="en-US" sz="750" dirty="0"/>
          </a:p>
        </p:txBody>
      </p:sp>
      <p:sp>
        <p:nvSpPr>
          <p:cNvPr id="4" name="Text 2"/>
          <p:cNvSpPr/>
          <p:nvPr/>
        </p:nvSpPr>
        <p:spPr>
          <a:xfrm>
            <a:off x="3402449" y="1332667"/>
            <a:ext cx="7825502"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 wanted to emulate their success on the field, and while I considered myself above average, I never quite reached the heights I aspired to. This dream was further complicated by the passing of my grandparents, who were incredibly close to me. Their loss was profound and prompted me to leave India, feeling as though I was walking away from my dreams and the cricketing opportunities that once seemed within reach.</a:t>
            </a:r>
            <a:endParaRPr lang="en-US" sz="750" dirty="0"/>
          </a:p>
        </p:txBody>
      </p:sp>
      <p:sp>
        <p:nvSpPr>
          <p:cNvPr id="5" name="Text 3"/>
          <p:cNvSpPr/>
          <p:nvPr/>
        </p:nvSpPr>
        <p:spPr>
          <a:xfrm>
            <a:off x="3402449" y="1745218"/>
            <a:ext cx="7825502"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My journey took me to </a:t>
            </a:r>
            <a:r>
              <a:rPr lang="en-US" sz="750" b="1" dirty="0">
                <a:solidFill>
                  <a:srgbClr val="272525"/>
                </a:solidFill>
                <a:latin typeface="Inter" pitchFamily="34" charset="0"/>
                <a:ea typeface="Inter" pitchFamily="34" charset="-122"/>
                <a:cs typeface="Inter" pitchFamily="34" charset="-120"/>
              </a:rPr>
              <a:t>Dublin, Ireland</a:t>
            </a:r>
            <a:r>
              <a:rPr lang="en-US" sz="750" dirty="0">
                <a:solidFill>
                  <a:srgbClr val="272525"/>
                </a:solidFill>
                <a:latin typeface="Inter" pitchFamily="34" charset="0"/>
                <a:ea typeface="Inter" pitchFamily="34" charset="-122"/>
                <a:cs typeface="Inter" pitchFamily="34" charset="-120"/>
              </a:rPr>
              <a:t>, where I pursued a Diploma in Business Studies and later a Bachelor's in Management Information Systems and Management Accounting. Upon arriving in Ireland, I faced significant struggles, juggling multiple jobs to support myself. I transitioned from overnight security work to university classes, then to afternoon shifts at a petrol station, and even delivered food for local restaurants—all while maintaining a </a:t>
            </a:r>
            <a:r>
              <a:rPr lang="en-US" sz="750" b="1" dirty="0">
                <a:solidFill>
                  <a:srgbClr val="272525"/>
                </a:solidFill>
                <a:latin typeface="Inter" pitchFamily="34" charset="0"/>
                <a:ea typeface="Inter" pitchFamily="34" charset="-122"/>
                <a:cs typeface="Inter" pitchFamily="34" charset="-120"/>
              </a:rPr>
              <a:t>97% attendance record</a:t>
            </a:r>
            <a:r>
              <a:rPr lang="en-US" sz="750" dirty="0">
                <a:solidFill>
                  <a:srgbClr val="272525"/>
                </a:solidFill>
                <a:latin typeface="Inter" pitchFamily="34" charset="0"/>
                <a:ea typeface="Inter" pitchFamily="34" charset="-122"/>
                <a:cs typeface="Inter" pitchFamily="34" charset="-120"/>
              </a:rPr>
              <a:t> at university to keep my visa valid. The hustle was relentless, and I often changed clothes in the car between jobs, but I was determined to succeed.</a:t>
            </a:r>
            <a:endParaRPr lang="en-US" sz="750" dirty="0"/>
          </a:p>
        </p:txBody>
      </p:sp>
      <p:sp>
        <p:nvSpPr>
          <p:cNvPr id="6" name="Text 4"/>
          <p:cNvSpPr/>
          <p:nvPr/>
        </p:nvSpPr>
        <p:spPr>
          <a:xfrm>
            <a:off x="3402449" y="2276713"/>
            <a:ext cx="7825502"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After my time in Ireland, I moved to the </a:t>
            </a:r>
            <a:r>
              <a:rPr lang="en-US" sz="750" b="1" dirty="0">
                <a:solidFill>
                  <a:srgbClr val="272525"/>
                </a:solidFill>
                <a:latin typeface="Inter" pitchFamily="34" charset="0"/>
                <a:ea typeface="Inter" pitchFamily="34" charset="-122"/>
                <a:cs typeface="Inter" pitchFamily="34" charset="-120"/>
              </a:rPr>
              <a:t>UK</a:t>
            </a:r>
            <a:r>
              <a:rPr lang="en-US" sz="750" dirty="0">
                <a:solidFill>
                  <a:srgbClr val="272525"/>
                </a:solidFill>
                <a:latin typeface="Inter" pitchFamily="34" charset="0"/>
                <a:ea typeface="Inter" pitchFamily="34" charset="-122"/>
                <a:cs typeface="Inter" pitchFamily="34" charset="-120"/>
              </a:rPr>
              <a:t> to pursue a Master's in Computer Systems and Software Engineering. I landed my first full-time job at PC World in Maidstone, Kent, and eventually moved to the US on an H1B visa. Unfortunately, I was duped by a company there, which led me to sue them. I fought the case while providing depositions via Skype from India, ultimately winning and seeing the company closed down. While I had to give 80% of my winnings to my wonderful lawyers who fought for me, it was a significant victory that showcased my resilience.</a:t>
            </a:r>
            <a:endParaRPr lang="en-US" sz="750" dirty="0"/>
          </a:p>
        </p:txBody>
      </p:sp>
      <p:sp>
        <p:nvSpPr>
          <p:cNvPr id="7" name="Text 5"/>
          <p:cNvSpPr/>
          <p:nvPr/>
        </p:nvSpPr>
        <p:spPr>
          <a:xfrm>
            <a:off x="3402449" y="2808208"/>
            <a:ext cx="7825502"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In pursuit of a new direction, I applied for permanent residency in </a:t>
            </a:r>
            <a:r>
              <a:rPr lang="en-US" sz="750" b="1" dirty="0">
                <a:solidFill>
                  <a:srgbClr val="272525"/>
                </a:solidFill>
                <a:latin typeface="Inter" pitchFamily="34" charset="0"/>
                <a:ea typeface="Inter" pitchFamily="34" charset="-122"/>
                <a:cs typeface="Inter" pitchFamily="34" charset="-120"/>
              </a:rPr>
              <a:t>Australia</a:t>
            </a:r>
            <a:r>
              <a:rPr lang="en-US" sz="750" dirty="0">
                <a:solidFill>
                  <a:srgbClr val="272525"/>
                </a:solidFill>
                <a:latin typeface="Inter" pitchFamily="34" charset="0"/>
                <a:ea typeface="Inter" pitchFamily="34" charset="-122"/>
                <a:cs typeface="Inter" pitchFamily="34" charset="-120"/>
              </a:rPr>
              <a:t>, successfully securing it within six to nine months. This pivotal moment led me to reach out to Dr. Peter Sandiford at the University of Adelaide, hoping he would supervise my PhD thesis. After waiting over a year for a response, I decided to take matters into my own hands. I flew to Australia for a day, determined to meet him in person and discuss my aspirations. Although I ultimately realised I needed to complete another Master's degree, this experience ignited a passion for academia that I hadn't fully recognised before.</a:t>
            </a:r>
            <a:endParaRPr lang="en-US" sz="750" dirty="0"/>
          </a:p>
        </p:txBody>
      </p:sp>
      <p:sp>
        <p:nvSpPr>
          <p:cNvPr id="8" name="Text 6"/>
          <p:cNvSpPr/>
          <p:nvPr/>
        </p:nvSpPr>
        <p:spPr>
          <a:xfrm>
            <a:off x="3402449" y="3339703"/>
            <a:ext cx="7825502"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Upon arriving in Adelaide, I lived in a hostel called </a:t>
            </a:r>
            <a:r>
              <a:rPr lang="en-US" sz="750" b="1" dirty="0">
                <a:solidFill>
                  <a:srgbClr val="272525"/>
                </a:solidFill>
                <a:latin typeface="Inter" pitchFamily="34" charset="0"/>
                <a:ea typeface="Inter" pitchFamily="34" charset="-122"/>
                <a:cs typeface="Inter" pitchFamily="34" charset="-120"/>
              </a:rPr>
              <a:t>Blue Galah on King William Street</a:t>
            </a:r>
            <a:r>
              <a:rPr lang="en-US" sz="750" dirty="0">
                <a:solidFill>
                  <a:srgbClr val="272525"/>
                </a:solidFill>
                <a:latin typeface="Inter" pitchFamily="34" charset="0"/>
                <a:ea typeface="Inter" pitchFamily="34" charset="-122"/>
                <a:cs typeface="Inter" pitchFamily="34" charset="-120"/>
              </a:rPr>
              <a:t>, where I had little money as I searched for jobs. To cover my rent, I took on tasks like making beds and cleaning toilets, receiving just a bowl of rice in the evenings. Despite the hardships, I found joy in the camaraderie of fellow backpackers, who appreciated my cooking and shared in the experience of learning together. I applied for over </a:t>
            </a:r>
            <a:r>
              <a:rPr lang="en-US" sz="750" b="1" dirty="0">
                <a:solidFill>
                  <a:srgbClr val="272525"/>
                </a:solidFill>
                <a:latin typeface="Inter" pitchFamily="34" charset="0"/>
                <a:ea typeface="Inter" pitchFamily="34" charset="-122"/>
                <a:cs typeface="Inter" pitchFamily="34" charset="-120"/>
              </a:rPr>
              <a:t>350 jobs</a:t>
            </a:r>
            <a:r>
              <a:rPr lang="en-US" sz="750" dirty="0">
                <a:solidFill>
                  <a:srgbClr val="272525"/>
                </a:solidFill>
                <a:latin typeface="Inter" pitchFamily="34" charset="0"/>
                <a:ea typeface="Inter" pitchFamily="34" charset="-122"/>
                <a:cs typeface="Inter" pitchFamily="34" charset="-120"/>
              </a:rPr>
              <a:t>, securing only four interviews and facing numerous rejections. One setback included failing my driving test, which prevented me from securing a job I had hoped for. However, Matthew Giles offered me an alternative job in door-knocking, which marked the beginning of my career in Adelaide.</a:t>
            </a:r>
            <a:endParaRPr lang="en-US" sz="750" dirty="0"/>
          </a:p>
        </p:txBody>
      </p:sp>
      <p:sp>
        <p:nvSpPr>
          <p:cNvPr id="9" name="Text 7"/>
          <p:cNvSpPr/>
          <p:nvPr/>
        </p:nvSpPr>
        <p:spPr>
          <a:xfrm>
            <a:off x="3402449" y="3990142"/>
            <a:ext cx="7825502"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Throughout these struggles, I learned that each challenge was a small success step, shaping my resilience and determination. In hindsight, these experiences, while difficult, paved the way for my eventual achievements. In </a:t>
            </a:r>
            <a:r>
              <a:rPr lang="en-US" sz="750" b="1" dirty="0">
                <a:solidFill>
                  <a:srgbClr val="272525"/>
                </a:solidFill>
                <a:latin typeface="Inter" pitchFamily="34" charset="0"/>
                <a:ea typeface="Inter" pitchFamily="34" charset="-122"/>
                <a:cs typeface="Inter" pitchFamily="34" charset="-120"/>
              </a:rPr>
              <a:t>2021</a:t>
            </a:r>
            <a:r>
              <a:rPr lang="en-US" sz="750" dirty="0">
                <a:solidFill>
                  <a:srgbClr val="272525"/>
                </a:solidFill>
                <a:latin typeface="Inter" pitchFamily="34" charset="0"/>
                <a:ea typeface="Inter" pitchFamily="34" charset="-122"/>
                <a:cs typeface="Inter" pitchFamily="34" charset="-120"/>
              </a:rPr>
              <a:t>, I secured my first lecturing position at the University of Adelaide, marking the beginning of a new chapter in my career. My story is one of resilience, curiosity, and the belief that every challenge presents an opportunity for growth. Education is not just about acquiring knowledge; it's about connecting with others, sharing experiences, and growing together.</a:t>
            </a:r>
            <a:endParaRPr lang="en-US" sz="750" dirty="0"/>
          </a:p>
        </p:txBody>
      </p:sp>
      <p:sp>
        <p:nvSpPr>
          <p:cNvPr id="10" name="Shape 8"/>
          <p:cNvSpPr/>
          <p:nvPr/>
        </p:nvSpPr>
        <p:spPr>
          <a:xfrm>
            <a:off x="3402449" y="4571211"/>
            <a:ext cx="7825502" cy="20003"/>
          </a:xfrm>
          <a:prstGeom prst="rect">
            <a:avLst/>
          </a:prstGeom>
          <a:solidFill>
            <a:srgbClr val="272525">
              <a:alpha val="50000"/>
            </a:srgbClr>
          </a:solidFill>
          <a:ln/>
        </p:spPr>
        <p:txBody>
          <a:bodyPr/>
          <a:lstStyle/>
          <a:p>
            <a:endParaRPr lang="en-AU"/>
          </a:p>
        </p:txBody>
      </p:sp>
      <p:sp>
        <p:nvSpPr>
          <p:cNvPr id="11" name="Text 9"/>
          <p:cNvSpPr/>
          <p:nvPr/>
        </p:nvSpPr>
        <p:spPr>
          <a:xfrm>
            <a:off x="3402449" y="4665583"/>
            <a:ext cx="2370058"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Academic Qualifications</a:t>
            </a:r>
            <a:endParaRPr lang="en-US" sz="1550" dirty="0"/>
          </a:p>
        </p:txBody>
      </p:sp>
      <p:sp>
        <p:nvSpPr>
          <p:cNvPr id="12" name="Shape 10"/>
          <p:cNvSpPr/>
          <p:nvPr/>
        </p:nvSpPr>
        <p:spPr>
          <a:xfrm>
            <a:off x="3402449" y="4988004"/>
            <a:ext cx="2575441" cy="1193125"/>
          </a:xfrm>
          <a:prstGeom prst="roundRect">
            <a:avLst>
              <a:gd name="adj" fmla="val 6131"/>
            </a:avLst>
          </a:prstGeom>
          <a:solidFill>
            <a:srgbClr val="FFFFFF"/>
          </a:solidFill>
          <a:ln w="15240">
            <a:solidFill>
              <a:srgbClr val="C0C1D7"/>
            </a:solidFill>
            <a:prstDash val="solid"/>
          </a:ln>
        </p:spPr>
        <p:txBody>
          <a:bodyPr/>
          <a:lstStyle/>
          <a:p>
            <a:endParaRPr lang="en-AU"/>
          </a:p>
        </p:txBody>
      </p:sp>
      <p:sp>
        <p:nvSpPr>
          <p:cNvPr id="13" name="Shape 11"/>
          <p:cNvSpPr/>
          <p:nvPr/>
        </p:nvSpPr>
        <p:spPr>
          <a:xfrm>
            <a:off x="3387209" y="4988004"/>
            <a:ext cx="60960" cy="1193125"/>
          </a:xfrm>
          <a:prstGeom prst="roundRect">
            <a:avLst>
              <a:gd name="adj" fmla="val 68372"/>
            </a:avLst>
          </a:prstGeom>
          <a:solidFill>
            <a:srgbClr val="4950BC"/>
          </a:solidFill>
          <a:ln/>
        </p:spPr>
        <p:txBody>
          <a:bodyPr/>
          <a:lstStyle/>
          <a:p>
            <a:endParaRPr lang="en-AU"/>
          </a:p>
        </p:txBody>
      </p:sp>
      <p:sp>
        <p:nvSpPr>
          <p:cNvPr id="14" name="Text 12"/>
          <p:cNvSpPr/>
          <p:nvPr/>
        </p:nvSpPr>
        <p:spPr>
          <a:xfrm>
            <a:off x="3562588" y="5102423"/>
            <a:ext cx="2300883"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Doctor of Philosophy (Ph.D.) — Business &amp; Management</a:t>
            </a:r>
            <a:endParaRPr lang="en-US" sz="950" dirty="0"/>
          </a:p>
        </p:txBody>
      </p:sp>
      <p:sp>
        <p:nvSpPr>
          <p:cNvPr id="15" name="Text 13"/>
          <p:cNvSpPr/>
          <p:nvPr/>
        </p:nvSpPr>
        <p:spPr>
          <a:xfrm>
            <a:off x="3562588" y="5442228"/>
            <a:ext cx="2300883" cy="356830"/>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2017–2021</a:t>
            </a:r>
            <a:r>
              <a:rPr lang="en-US" sz="750" dirty="0">
                <a:solidFill>
                  <a:srgbClr val="272525"/>
                </a:solidFill>
                <a:latin typeface="Inter" pitchFamily="34" charset="0"/>
                <a:ea typeface="Inter" pitchFamily="34" charset="-122"/>
                <a:cs typeface="Inter" pitchFamily="34" charset="-120"/>
              </a:rPr>
              <a:t> | The University of Adelaide (Adelaide University since January 1, 2026), Australia</a:t>
            </a:r>
            <a:endParaRPr lang="en-US" sz="750" dirty="0"/>
          </a:p>
        </p:txBody>
      </p:sp>
      <p:sp>
        <p:nvSpPr>
          <p:cNvPr id="16" name="Shape 14"/>
          <p:cNvSpPr/>
          <p:nvPr/>
        </p:nvSpPr>
        <p:spPr>
          <a:xfrm>
            <a:off x="6027420" y="4988004"/>
            <a:ext cx="2575441" cy="1193125"/>
          </a:xfrm>
          <a:prstGeom prst="roundRect">
            <a:avLst>
              <a:gd name="adj" fmla="val 6131"/>
            </a:avLst>
          </a:prstGeom>
          <a:solidFill>
            <a:srgbClr val="FFFFFF"/>
          </a:solidFill>
          <a:ln w="15240">
            <a:solidFill>
              <a:srgbClr val="C0C1D7"/>
            </a:solidFill>
            <a:prstDash val="solid"/>
          </a:ln>
        </p:spPr>
        <p:txBody>
          <a:bodyPr/>
          <a:lstStyle/>
          <a:p>
            <a:endParaRPr lang="en-AU"/>
          </a:p>
        </p:txBody>
      </p:sp>
      <p:sp>
        <p:nvSpPr>
          <p:cNvPr id="17" name="Shape 15"/>
          <p:cNvSpPr/>
          <p:nvPr/>
        </p:nvSpPr>
        <p:spPr>
          <a:xfrm>
            <a:off x="6012180" y="4988004"/>
            <a:ext cx="60960" cy="1193125"/>
          </a:xfrm>
          <a:prstGeom prst="roundRect">
            <a:avLst>
              <a:gd name="adj" fmla="val 68372"/>
            </a:avLst>
          </a:prstGeom>
          <a:solidFill>
            <a:srgbClr val="4950BC"/>
          </a:solidFill>
          <a:ln/>
        </p:spPr>
        <p:txBody>
          <a:bodyPr/>
          <a:lstStyle/>
          <a:p>
            <a:endParaRPr lang="en-AU"/>
          </a:p>
        </p:txBody>
      </p:sp>
      <p:sp>
        <p:nvSpPr>
          <p:cNvPr id="18" name="Text 16"/>
          <p:cNvSpPr/>
          <p:nvPr/>
        </p:nvSpPr>
        <p:spPr>
          <a:xfrm>
            <a:off x="6187559" y="5102423"/>
            <a:ext cx="2300883"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Master in Business Research (MBR) — First-Class/Distinction</a:t>
            </a:r>
            <a:endParaRPr lang="en-US" sz="950" dirty="0"/>
          </a:p>
        </p:txBody>
      </p:sp>
      <p:sp>
        <p:nvSpPr>
          <p:cNvPr id="19" name="Text 17"/>
          <p:cNvSpPr/>
          <p:nvPr/>
        </p:nvSpPr>
        <p:spPr>
          <a:xfrm>
            <a:off x="6187559" y="5442228"/>
            <a:ext cx="2300883" cy="356830"/>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2015–2016</a:t>
            </a:r>
            <a:r>
              <a:rPr lang="en-US" sz="750" dirty="0">
                <a:solidFill>
                  <a:srgbClr val="272525"/>
                </a:solidFill>
                <a:latin typeface="Inter" pitchFamily="34" charset="0"/>
                <a:ea typeface="Inter" pitchFamily="34" charset="-122"/>
                <a:cs typeface="Inter" pitchFamily="34" charset="-120"/>
              </a:rPr>
              <a:t> | The University of Adelaide (Adelaide University since January 1, 2026), Australia</a:t>
            </a:r>
            <a:endParaRPr lang="en-US" sz="750" dirty="0"/>
          </a:p>
        </p:txBody>
      </p:sp>
      <p:sp>
        <p:nvSpPr>
          <p:cNvPr id="20" name="Text 18"/>
          <p:cNvSpPr/>
          <p:nvPr/>
        </p:nvSpPr>
        <p:spPr>
          <a:xfrm>
            <a:off x="6187559" y="5828824"/>
            <a:ext cx="2300883"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lifetime member of the Golden Key Honour Society</a:t>
            </a:r>
            <a:endParaRPr lang="en-US" sz="750" dirty="0"/>
          </a:p>
        </p:txBody>
      </p:sp>
      <p:sp>
        <p:nvSpPr>
          <p:cNvPr id="21" name="Shape 19"/>
          <p:cNvSpPr/>
          <p:nvPr/>
        </p:nvSpPr>
        <p:spPr>
          <a:xfrm>
            <a:off x="8652391" y="4988004"/>
            <a:ext cx="2575560" cy="1193125"/>
          </a:xfrm>
          <a:prstGeom prst="roundRect">
            <a:avLst>
              <a:gd name="adj" fmla="val 6131"/>
            </a:avLst>
          </a:prstGeom>
          <a:solidFill>
            <a:srgbClr val="FFFFFF"/>
          </a:solidFill>
          <a:ln w="15240">
            <a:solidFill>
              <a:srgbClr val="C0C1D7"/>
            </a:solidFill>
            <a:prstDash val="solid"/>
          </a:ln>
        </p:spPr>
        <p:txBody>
          <a:bodyPr/>
          <a:lstStyle/>
          <a:p>
            <a:endParaRPr lang="en-AU"/>
          </a:p>
        </p:txBody>
      </p:sp>
      <p:sp>
        <p:nvSpPr>
          <p:cNvPr id="22" name="Shape 20"/>
          <p:cNvSpPr/>
          <p:nvPr/>
        </p:nvSpPr>
        <p:spPr>
          <a:xfrm>
            <a:off x="8637151" y="4988004"/>
            <a:ext cx="60960" cy="1193125"/>
          </a:xfrm>
          <a:prstGeom prst="roundRect">
            <a:avLst>
              <a:gd name="adj" fmla="val 68372"/>
            </a:avLst>
          </a:prstGeom>
          <a:solidFill>
            <a:srgbClr val="4950BC"/>
          </a:solidFill>
          <a:ln/>
        </p:spPr>
        <p:txBody>
          <a:bodyPr/>
          <a:lstStyle/>
          <a:p>
            <a:endParaRPr lang="en-AU"/>
          </a:p>
        </p:txBody>
      </p:sp>
      <p:sp>
        <p:nvSpPr>
          <p:cNvPr id="23" name="Text 21"/>
          <p:cNvSpPr/>
          <p:nvPr/>
        </p:nvSpPr>
        <p:spPr>
          <a:xfrm>
            <a:off x="8812530" y="5102423"/>
            <a:ext cx="2301002" cy="465058"/>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Master in Science (MSc) — Computer Systems &amp; Software Engineering (Merit)</a:t>
            </a:r>
            <a:endParaRPr lang="en-US" sz="950" dirty="0"/>
          </a:p>
        </p:txBody>
      </p:sp>
      <p:sp>
        <p:nvSpPr>
          <p:cNvPr id="24" name="Text 22"/>
          <p:cNvSpPr/>
          <p:nvPr/>
        </p:nvSpPr>
        <p:spPr>
          <a:xfrm>
            <a:off x="8812530" y="5597247"/>
            <a:ext cx="2301002" cy="237887"/>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2005–2006</a:t>
            </a:r>
            <a:r>
              <a:rPr lang="en-US" sz="750" dirty="0">
                <a:solidFill>
                  <a:srgbClr val="272525"/>
                </a:solidFill>
                <a:latin typeface="Inter" pitchFamily="34" charset="0"/>
                <a:ea typeface="Inter" pitchFamily="34" charset="-122"/>
                <a:cs typeface="Inter" pitchFamily="34" charset="-120"/>
              </a:rPr>
              <a:t> | The University of Greenwich, London, U.K.</a:t>
            </a:r>
            <a:endParaRPr lang="en-US" sz="750" dirty="0"/>
          </a:p>
        </p:txBody>
      </p:sp>
      <p:sp>
        <p:nvSpPr>
          <p:cNvPr id="25" name="Shape 23"/>
          <p:cNvSpPr/>
          <p:nvPr/>
        </p:nvSpPr>
        <p:spPr>
          <a:xfrm>
            <a:off x="3402449" y="6230660"/>
            <a:ext cx="2575441" cy="1229201"/>
          </a:xfrm>
          <a:prstGeom prst="roundRect">
            <a:avLst>
              <a:gd name="adj" fmla="val 5951"/>
            </a:avLst>
          </a:prstGeom>
          <a:solidFill>
            <a:srgbClr val="FFFFFF"/>
          </a:solidFill>
          <a:ln w="15240">
            <a:solidFill>
              <a:srgbClr val="C0C1D7"/>
            </a:solidFill>
            <a:prstDash val="solid"/>
          </a:ln>
        </p:spPr>
        <p:txBody>
          <a:bodyPr/>
          <a:lstStyle/>
          <a:p>
            <a:endParaRPr lang="en-AU"/>
          </a:p>
        </p:txBody>
      </p:sp>
      <p:sp>
        <p:nvSpPr>
          <p:cNvPr id="26" name="Shape 24"/>
          <p:cNvSpPr/>
          <p:nvPr/>
        </p:nvSpPr>
        <p:spPr>
          <a:xfrm>
            <a:off x="3387209" y="6230660"/>
            <a:ext cx="60960" cy="1229201"/>
          </a:xfrm>
          <a:prstGeom prst="roundRect">
            <a:avLst>
              <a:gd name="adj" fmla="val 68372"/>
            </a:avLst>
          </a:prstGeom>
          <a:solidFill>
            <a:srgbClr val="4950BC"/>
          </a:solidFill>
          <a:ln/>
        </p:spPr>
        <p:txBody>
          <a:bodyPr/>
          <a:lstStyle/>
          <a:p>
            <a:endParaRPr lang="en-AU"/>
          </a:p>
        </p:txBody>
      </p:sp>
      <p:sp>
        <p:nvSpPr>
          <p:cNvPr id="27" name="Text 25"/>
          <p:cNvSpPr/>
          <p:nvPr/>
        </p:nvSpPr>
        <p:spPr>
          <a:xfrm>
            <a:off x="3562588" y="6345079"/>
            <a:ext cx="2300883" cy="465058"/>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Bachelor of Arts (BA. Hons) — Management &amp; Information Systems (Honours)</a:t>
            </a:r>
            <a:endParaRPr lang="en-US" sz="950" dirty="0"/>
          </a:p>
        </p:txBody>
      </p:sp>
      <p:sp>
        <p:nvSpPr>
          <p:cNvPr id="28" name="Text 26"/>
          <p:cNvSpPr/>
          <p:nvPr/>
        </p:nvSpPr>
        <p:spPr>
          <a:xfrm>
            <a:off x="3562588" y="6839903"/>
            <a:ext cx="2300883" cy="237887"/>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2003–2005</a:t>
            </a:r>
            <a:r>
              <a:rPr lang="en-US" sz="750" dirty="0">
                <a:solidFill>
                  <a:srgbClr val="272525"/>
                </a:solidFill>
                <a:latin typeface="Inter" pitchFamily="34" charset="0"/>
                <a:ea typeface="Inter" pitchFamily="34" charset="-122"/>
                <a:cs typeface="Inter" pitchFamily="34" charset="-120"/>
              </a:rPr>
              <a:t> | Dublin Business School, Dublin, Republic of Ireland</a:t>
            </a:r>
            <a:endParaRPr lang="en-US" sz="750" dirty="0"/>
          </a:p>
        </p:txBody>
      </p:sp>
      <p:sp>
        <p:nvSpPr>
          <p:cNvPr id="29" name="Text 27"/>
          <p:cNvSpPr/>
          <p:nvPr/>
        </p:nvSpPr>
        <p:spPr>
          <a:xfrm>
            <a:off x="3562588" y="7107555"/>
            <a:ext cx="2300883"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Liverpool John Moore's University (LJMU, UK) Degree</a:t>
            </a:r>
            <a:endParaRPr lang="en-US" sz="750" dirty="0"/>
          </a:p>
        </p:txBody>
      </p:sp>
      <p:sp>
        <p:nvSpPr>
          <p:cNvPr id="30" name="Shape 28"/>
          <p:cNvSpPr/>
          <p:nvPr/>
        </p:nvSpPr>
        <p:spPr>
          <a:xfrm>
            <a:off x="6027420" y="6230660"/>
            <a:ext cx="2575441" cy="1229201"/>
          </a:xfrm>
          <a:prstGeom prst="roundRect">
            <a:avLst>
              <a:gd name="adj" fmla="val 5951"/>
            </a:avLst>
          </a:prstGeom>
          <a:solidFill>
            <a:srgbClr val="FFFFFF"/>
          </a:solidFill>
          <a:ln w="15240">
            <a:solidFill>
              <a:srgbClr val="C0C1D7"/>
            </a:solidFill>
            <a:prstDash val="solid"/>
          </a:ln>
        </p:spPr>
        <p:txBody>
          <a:bodyPr/>
          <a:lstStyle/>
          <a:p>
            <a:endParaRPr lang="en-AU"/>
          </a:p>
        </p:txBody>
      </p:sp>
      <p:sp>
        <p:nvSpPr>
          <p:cNvPr id="31" name="Shape 29"/>
          <p:cNvSpPr/>
          <p:nvPr/>
        </p:nvSpPr>
        <p:spPr>
          <a:xfrm>
            <a:off x="6012180" y="6230660"/>
            <a:ext cx="60960" cy="1229201"/>
          </a:xfrm>
          <a:prstGeom prst="roundRect">
            <a:avLst>
              <a:gd name="adj" fmla="val 68372"/>
            </a:avLst>
          </a:prstGeom>
          <a:solidFill>
            <a:srgbClr val="4950BC"/>
          </a:solidFill>
          <a:ln/>
        </p:spPr>
        <p:txBody>
          <a:bodyPr/>
          <a:lstStyle/>
          <a:p>
            <a:endParaRPr lang="en-AU"/>
          </a:p>
        </p:txBody>
      </p:sp>
      <p:sp>
        <p:nvSpPr>
          <p:cNvPr id="32" name="Text 30"/>
          <p:cNvSpPr/>
          <p:nvPr/>
        </p:nvSpPr>
        <p:spPr>
          <a:xfrm>
            <a:off x="6187559" y="6345079"/>
            <a:ext cx="1705451"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Diploma in Business Studies</a:t>
            </a:r>
            <a:endParaRPr lang="en-US" sz="950" dirty="0"/>
          </a:p>
        </p:txBody>
      </p:sp>
      <p:sp>
        <p:nvSpPr>
          <p:cNvPr id="33" name="Text 31"/>
          <p:cNvSpPr/>
          <p:nvPr/>
        </p:nvSpPr>
        <p:spPr>
          <a:xfrm>
            <a:off x="6187559" y="6529864"/>
            <a:ext cx="2300883" cy="237887"/>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2003</a:t>
            </a:r>
            <a:r>
              <a:rPr lang="en-US" sz="750" dirty="0">
                <a:solidFill>
                  <a:srgbClr val="272525"/>
                </a:solidFill>
                <a:latin typeface="Inter" pitchFamily="34" charset="0"/>
                <a:ea typeface="Inter" pitchFamily="34" charset="-122"/>
                <a:cs typeface="Inter" pitchFamily="34" charset="-120"/>
              </a:rPr>
              <a:t> | Dublin Business School, Dublin, Republic of Ireland</a:t>
            </a:r>
            <a:endParaRPr lang="en-US" sz="750" dirty="0"/>
          </a:p>
        </p:txBody>
      </p:sp>
      <p:sp>
        <p:nvSpPr>
          <p:cNvPr id="34" name="Shape 32"/>
          <p:cNvSpPr/>
          <p:nvPr/>
        </p:nvSpPr>
        <p:spPr>
          <a:xfrm>
            <a:off x="3402449" y="7565156"/>
            <a:ext cx="7825502" cy="20003"/>
          </a:xfrm>
          <a:prstGeom prst="rect">
            <a:avLst/>
          </a:prstGeom>
          <a:solidFill>
            <a:srgbClr val="272525">
              <a:alpha val="50000"/>
            </a:srgbClr>
          </a:solidFill>
          <a:ln/>
        </p:spPr>
        <p:txBody>
          <a:bodyPr/>
          <a:lstStyle/>
          <a:p>
            <a:endParaRPr lang="en-AU"/>
          </a:p>
        </p:txBody>
      </p:sp>
      <p:sp>
        <p:nvSpPr>
          <p:cNvPr id="35" name="Text 33"/>
          <p:cNvSpPr/>
          <p:nvPr/>
        </p:nvSpPr>
        <p:spPr>
          <a:xfrm>
            <a:off x="3402449" y="7659529"/>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Certifications</a:t>
            </a:r>
            <a:endParaRPr lang="en-US" sz="1550" dirty="0"/>
          </a:p>
        </p:txBody>
      </p:sp>
      <p:sp>
        <p:nvSpPr>
          <p:cNvPr id="36" name="Text 34"/>
          <p:cNvSpPr/>
          <p:nvPr/>
        </p:nvSpPr>
        <p:spPr>
          <a:xfrm>
            <a:off x="3402449" y="7981950"/>
            <a:ext cx="7825502" cy="3098244"/>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Leadership Accelerator Program (LAP), the University of Adelaide Executive Education (2024–2025)</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Professional Development Certificate — Enhancing learning with digital strategies in Australia and New Zealand, Tiddle, 17–20 March 2025</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Psychosocial Safety (2024)</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PhD Oral Examination (2024)</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Encouraging HDR Industry Engagement (2024)</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Working with Integrity, Australia (2024)</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Cyber Security Mandatory Learning, Australia (2024)</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Understanding Power Dynamics and Close Personal Relationships, Australia (2024)</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Real Response Certificate for First Aid, Basic Emergency Life Support &amp; Cardiopulmonary Resuscitation, Australia (2023)</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Sexual Harassment &amp; Sexual Assault – What are the drivers and how can staff respond (2023)</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Conflict of Interest (2023)</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Management Education and Learning Writers Workshop, MED Division, @ Academy of Management Conference (2023)</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Statement of Attainment (2023): HLTAID009 Provide cardiopulmonary resuscitation; HLTAID010 Provide basic emergency life support; HLTAID011 Provide First Aid</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Corporate Cup – Certificate of Merit (2023)</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Session Chair — Curriculum Design of an Inter-disciplinary Hands-on Social Innovation Program @ Academy of Management Conference, Seattle, United States, 5–9 August (2022)</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Corporate Cup – Certificate of Merit (2022)</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Professional Development of Emerging Teacher-Scholar, MED Division, @ Academy of Management Conference (2022)</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ADEPT – Designing Blended Learning (2022)</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Life Saver – Basic Life Support, India (2012)</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CISCO Certified Network Associate (CCNA), Cisco, USA (2009–2012)</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Computer Language – C, C++, Oracle, Java, J2EE, India (2002–2008)</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Computer Knowledge, Institute of Electronics, India (1994–1996)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402449" y="272891"/>
            <a:ext cx="5074563"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Research Interests &amp; Teaching Philosophy</a:t>
            </a:r>
            <a:endParaRPr lang="en-US" sz="1950" dirty="0"/>
          </a:p>
        </p:txBody>
      </p:sp>
      <p:sp>
        <p:nvSpPr>
          <p:cNvPr id="3" name="Shape 1"/>
          <p:cNvSpPr/>
          <p:nvPr/>
        </p:nvSpPr>
        <p:spPr>
          <a:xfrm>
            <a:off x="3402449" y="682228"/>
            <a:ext cx="3887986" cy="1493758"/>
          </a:xfrm>
          <a:prstGeom prst="roundRect">
            <a:avLst>
              <a:gd name="adj" fmla="val 2790"/>
            </a:avLst>
          </a:prstGeom>
          <a:solidFill>
            <a:srgbClr val="DADBF1"/>
          </a:solidFill>
          <a:ln w="7620">
            <a:solidFill>
              <a:srgbClr val="C0C1D7"/>
            </a:solidFill>
            <a:prstDash val="solid"/>
          </a:ln>
        </p:spPr>
        <p:txBody>
          <a:bodyPr/>
          <a:lstStyle/>
          <a:p>
            <a:endParaRPr lang="en-AU"/>
          </a:p>
        </p:txBody>
      </p:sp>
      <p:sp>
        <p:nvSpPr>
          <p:cNvPr id="4" name="Shape 2"/>
          <p:cNvSpPr/>
          <p:nvPr/>
        </p:nvSpPr>
        <p:spPr>
          <a:xfrm>
            <a:off x="3509248" y="789027"/>
            <a:ext cx="297656" cy="297656"/>
          </a:xfrm>
          <a:prstGeom prst="roundRect">
            <a:avLst>
              <a:gd name="adj" fmla="val 30716954"/>
            </a:avLst>
          </a:prstGeom>
          <a:solidFill>
            <a:srgbClr val="4950BC"/>
          </a:solidFill>
          <a:ln/>
        </p:spPr>
        <p:txBody>
          <a:bodyPr/>
          <a:lstStyle/>
          <a:p>
            <a:endParaRPr lang="en-AU"/>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1044" y="870823"/>
            <a:ext cx="133945" cy="133945"/>
          </a:xfrm>
          <a:prstGeom prst="rect">
            <a:avLst/>
          </a:prstGeom>
        </p:spPr>
      </p:pic>
      <p:sp>
        <p:nvSpPr>
          <p:cNvPr id="6" name="Text 3"/>
          <p:cNvSpPr/>
          <p:nvPr/>
        </p:nvSpPr>
        <p:spPr>
          <a:xfrm>
            <a:off x="3509248" y="1136213"/>
            <a:ext cx="1351836"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1. Psychosocial Safety</a:t>
            </a:r>
            <a:endParaRPr lang="en-US" sz="950" dirty="0"/>
          </a:p>
        </p:txBody>
      </p:sp>
      <p:sp>
        <p:nvSpPr>
          <p:cNvPr id="7" name="Text 4"/>
          <p:cNvSpPr/>
          <p:nvPr/>
        </p:nvSpPr>
        <p:spPr>
          <a:xfrm>
            <a:off x="3509248" y="1320998"/>
            <a:ext cx="3674388" cy="74818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Exploring challenges individuals face in voicing their opinions in environments where psychological safety is crucial.</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Investigating how social environments foster psychological safety, allowing for open expression without fear of criticism.</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Emphasizing the importance of participation in conversations, contributing to a sense of belonging.</a:t>
            </a:r>
            <a:endParaRPr lang="en-US" sz="750" dirty="0"/>
          </a:p>
        </p:txBody>
      </p:sp>
      <p:sp>
        <p:nvSpPr>
          <p:cNvPr id="8" name="Shape 5"/>
          <p:cNvSpPr/>
          <p:nvPr/>
        </p:nvSpPr>
        <p:spPr>
          <a:xfrm>
            <a:off x="7339965" y="682228"/>
            <a:ext cx="3887986" cy="1493758"/>
          </a:xfrm>
          <a:prstGeom prst="roundRect">
            <a:avLst>
              <a:gd name="adj" fmla="val 2790"/>
            </a:avLst>
          </a:prstGeom>
          <a:solidFill>
            <a:srgbClr val="DADBF1"/>
          </a:solidFill>
          <a:ln w="7620">
            <a:solidFill>
              <a:srgbClr val="C0C1D7"/>
            </a:solidFill>
            <a:prstDash val="solid"/>
          </a:ln>
        </p:spPr>
        <p:txBody>
          <a:bodyPr/>
          <a:lstStyle/>
          <a:p>
            <a:endParaRPr lang="en-AU"/>
          </a:p>
        </p:txBody>
      </p:sp>
      <p:sp>
        <p:nvSpPr>
          <p:cNvPr id="9" name="Shape 6"/>
          <p:cNvSpPr/>
          <p:nvPr/>
        </p:nvSpPr>
        <p:spPr>
          <a:xfrm>
            <a:off x="7446764" y="789027"/>
            <a:ext cx="297656" cy="297656"/>
          </a:xfrm>
          <a:prstGeom prst="roundRect">
            <a:avLst>
              <a:gd name="adj" fmla="val 30716954"/>
            </a:avLst>
          </a:prstGeom>
          <a:solidFill>
            <a:srgbClr val="4950BC"/>
          </a:solidFill>
          <a:ln/>
        </p:spPr>
        <p:txBody>
          <a:bodyPr/>
          <a:lstStyle/>
          <a:p>
            <a:endParaRPr lang="en-AU"/>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28560" y="870823"/>
            <a:ext cx="133945" cy="133945"/>
          </a:xfrm>
          <a:prstGeom prst="rect">
            <a:avLst/>
          </a:prstGeom>
        </p:spPr>
      </p:pic>
      <p:sp>
        <p:nvSpPr>
          <p:cNvPr id="11" name="Text 7"/>
          <p:cNvSpPr/>
          <p:nvPr/>
        </p:nvSpPr>
        <p:spPr>
          <a:xfrm>
            <a:off x="7446764" y="1136213"/>
            <a:ext cx="2551986"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2. Student-Centered Experiential Learning</a:t>
            </a:r>
            <a:endParaRPr lang="en-US" sz="950" dirty="0"/>
          </a:p>
        </p:txBody>
      </p:sp>
      <p:sp>
        <p:nvSpPr>
          <p:cNvPr id="12" name="Text 8"/>
          <p:cNvSpPr/>
          <p:nvPr/>
        </p:nvSpPr>
        <p:spPr>
          <a:xfrm>
            <a:off x="7446764" y="1320998"/>
            <a:ext cx="3674388" cy="74818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Examining the transition students face from school to university, particularly those without prior work or managerial experience.</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Analyzing cultural shock during this transition and its effects on mental health.</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Utilizing personal and family experiences to help students relate organizational behaviors to familiar relationships.</a:t>
            </a:r>
            <a:endParaRPr lang="en-US" sz="750" dirty="0"/>
          </a:p>
        </p:txBody>
      </p:sp>
      <p:sp>
        <p:nvSpPr>
          <p:cNvPr id="13" name="Shape 9"/>
          <p:cNvSpPr/>
          <p:nvPr/>
        </p:nvSpPr>
        <p:spPr>
          <a:xfrm>
            <a:off x="3402449" y="2225516"/>
            <a:ext cx="3887986" cy="1493758"/>
          </a:xfrm>
          <a:prstGeom prst="roundRect">
            <a:avLst>
              <a:gd name="adj" fmla="val 2790"/>
            </a:avLst>
          </a:prstGeom>
          <a:solidFill>
            <a:srgbClr val="DADBF1"/>
          </a:solidFill>
          <a:ln w="7620">
            <a:solidFill>
              <a:srgbClr val="C0C1D7"/>
            </a:solidFill>
            <a:prstDash val="solid"/>
          </a:ln>
        </p:spPr>
        <p:txBody>
          <a:bodyPr/>
          <a:lstStyle/>
          <a:p>
            <a:endParaRPr lang="en-AU"/>
          </a:p>
        </p:txBody>
      </p:sp>
      <p:sp>
        <p:nvSpPr>
          <p:cNvPr id="14" name="Shape 10"/>
          <p:cNvSpPr/>
          <p:nvPr/>
        </p:nvSpPr>
        <p:spPr>
          <a:xfrm>
            <a:off x="3509248" y="2332315"/>
            <a:ext cx="297656" cy="297656"/>
          </a:xfrm>
          <a:prstGeom prst="roundRect">
            <a:avLst>
              <a:gd name="adj" fmla="val 30716954"/>
            </a:avLst>
          </a:prstGeom>
          <a:solidFill>
            <a:srgbClr val="4950BC"/>
          </a:solidFill>
          <a:ln/>
        </p:spPr>
        <p:txBody>
          <a:bodyPr/>
          <a:lstStyle/>
          <a:p>
            <a:endParaRPr lang="en-AU"/>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91044" y="2414111"/>
            <a:ext cx="133945" cy="133945"/>
          </a:xfrm>
          <a:prstGeom prst="rect">
            <a:avLst/>
          </a:prstGeom>
        </p:spPr>
      </p:pic>
      <p:sp>
        <p:nvSpPr>
          <p:cNvPr id="16" name="Text 11"/>
          <p:cNvSpPr/>
          <p:nvPr/>
        </p:nvSpPr>
        <p:spPr>
          <a:xfrm>
            <a:off x="3509248" y="2679502"/>
            <a:ext cx="1987987"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3. Dialogical Method of Research</a:t>
            </a:r>
            <a:endParaRPr lang="en-US" sz="950" dirty="0"/>
          </a:p>
        </p:txBody>
      </p:sp>
      <p:sp>
        <p:nvSpPr>
          <p:cNvPr id="17" name="Text 12"/>
          <p:cNvSpPr/>
          <p:nvPr/>
        </p:nvSpPr>
        <p:spPr>
          <a:xfrm>
            <a:off x="3509248" y="2864287"/>
            <a:ext cx="3674388" cy="74818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Advocating for engaging approaches in presenting research findings, moving away from traditional literature reviews.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Introducing the Imaginative Integrated Dialogical Approach (IIDA) to create dynamic narratives using direct quotes.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Enhancing understanding and encouraging deeper engagement with research material.</a:t>
            </a:r>
            <a:endParaRPr lang="en-US" sz="750" dirty="0"/>
          </a:p>
        </p:txBody>
      </p:sp>
      <p:sp>
        <p:nvSpPr>
          <p:cNvPr id="18" name="Shape 13"/>
          <p:cNvSpPr/>
          <p:nvPr/>
        </p:nvSpPr>
        <p:spPr>
          <a:xfrm>
            <a:off x="7339965" y="2225516"/>
            <a:ext cx="3887986" cy="1493758"/>
          </a:xfrm>
          <a:prstGeom prst="roundRect">
            <a:avLst>
              <a:gd name="adj" fmla="val 2790"/>
            </a:avLst>
          </a:prstGeom>
          <a:solidFill>
            <a:srgbClr val="DADBF1"/>
          </a:solidFill>
          <a:ln w="7620">
            <a:solidFill>
              <a:srgbClr val="C0C1D7"/>
            </a:solidFill>
            <a:prstDash val="solid"/>
          </a:ln>
        </p:spPr>
        <p:txBody>
          <a:bodyPr/>
          <a:lstStyle/>
          <a:p>
            <a:endParaRPr lang="en-AU"/>
          </a:p>
        </p:txBody>
      </p:sp>
      <p:sp>
        <p:nvSpPr>
          <p:cNvPr id="19" name="Shape 14"/>
          <p:cNvSpPr/>
          <p:nvPr/>
        </p:nvSpPr>
        <p:spPr>
          <a:xfrm>
            <a:off x="7446764" y="2332315"/>
            <a:ext cx="297656" cy="297656"/>
          </a:xfrm>
          <a:prstGeom prst="roundRect">
            <a:avLst>
              <a:gd name="adj" fmla="val 30716954"/>
            </a:avLst>
          </a:prstGeom>
          <a:solidFill>
            <a:srgbClr val="4950BC"/>
          </a:solidFill>
          <a:ln/>
        </p:spPr>
        <p:txBody>
          <a:bodyPr/>
          <a:lstStyle/>
          <a:p>
            <a:endParaRPr lang="en-AU"/>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28560" y="2414111"/>
            <a:ext cx="133945" cy="133945"/>
          </a:xfrm>
          <a:prstGeom prst="rect">
            <a:avLst/>
          </a:prstGeom>
        </p:spPr>
      </p:pic>
      <p:sp>
        <p:nvSpPr>
          <p:cNvPr id="21" name="Text 15"/>
          <p:cNvSpPr/>
          <p:nvPr/>
        </p:nvSpPr>
        <p:spPr>
          <a:xfrm>
            <a:off x="7446764" y="2679502"/>
            <a:ext cx="2686764"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4. Creative Writing and Theory Development</a:t>
            </a:r>
            <a:endParaRPr lang="en-US" sz="950" dirty="0"/>
          </a:p>
        </p:txBody>
      </p:sp>
      <p:sp>
        <p:nvSpPr>
          <p:cNvPr id="22" name="Text 16"/>
          <p:cNvSpPr/>
          <p:nvPr/>
        </p:nvSpPr>
        <p:spPr>
          <a:xfrm>
            <a:off x="7446764" y="2864287"/>
            <a:ext cx="3674388" cy="493038"/>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Fostering a keen interest in creative writing, including poetry, to extend current theories related to leadership, teamwork, and culture.</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Seeking to explore new topics and innovative approaches within the fields of family business, HR, and AI.</a:t>
            </a:r>
            <a:endParaRPr lang="en-US" sz="750" dirty="0"/>
          </a:p>
        </p:txBody>
      </p:sp>
      <p:sp>
        <p:nvSpPr>
          <p:cNvPr id="23" name="Shape 17"/>
          <p:cNvSpPr/>
          <p:nvPr/>
        </p:nvSpPr>
        <p:spPr>
          <a:xfrm>
            <a:off x="3402449" y="3824570"/>
            <a:ext cx="7825502" cy="20003"/>
          </a:xfrm>
          <a:prstGeom prst="rect">
            <a:avLst/>
          </a:prstGeom>
          <a:solidFill>
            <a:srgbClr val="272525">
              <a:alpha val="50000"/>
            </a:srgbClr>
          </a:solidFill>
          <a:ln/>
        </p:spPr>
        <p:txBody>
          <a:bodyPr/>
          <a:lstStyle/>
          <a:p>
            <a:endParaRPr lang="en-AU"/>
          </a:p>
        </p:txBody>
      </p:sp>
      <p:sp>
        <p:nvSpPr>
          <p:cNvPr id="24" name="Text 18"/>
          <p:cNvSpPr/>
          <p:nvPr/>
        </p:nvSpPr>
        <p:spPr>
          <a:xfrm>
            <a:off x="3402449" y="3918942"/>
            <a:ext cx="2616398"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Future Research Directions</a:t>
            </a:r>
            <a:endParaRPr lang="en-US" sz="1550" dirty="0"/>
          </a:p>
        </p:txBody>
      </p:sp>
      <p:sp>
        <p:nvSpPr>
          <p:cNvPr id="25" name="Shape 19"/>
          <p:cNvSpPr/>
          <p:nvPr/>
        </p:nvSpPr>
        <p:spPr>
          <a:xfrm>
            <a:off x="3331012" y="4241363"/>
            <a:ext cx="3934658" cy="1696403"/>
          </a:xfrm>
          <a:prstGeom prst="roundRect">
            <a:avLst>
              <a:gd name="adj" fmla="val 4212"/>
            </a:avLst>
          </a:prstGeom>
          <a:solidFill>
            <a:srgbClr val="835E54"/>
          </a:solidFill>
          <a:ln/>
        </p:spPr>
        <p:txBody>
          <a:bodyPr/>
          <a:lstStyle/>
          <a:p>
            <a:endParaRPr lang="en-AU"/>
          </a:p>
        </p:txBody>
      </p:sp>
      <p:sp>
        <p:nvSpPr>
          <p:cNvPr id="26" name="Text 20"/>
          <p:cNvSpPr/>
          <p:nvPr/>
        </p:nvSpPr>
        <p:spPr>
          <a:xfrm>
            <a:off x="3430191" y="4290893"/>
            <a:ext cx="2788325"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Inter Bold" pitchFamily="34" charset="0"/>
                <a:ea typeface="Inter Bold" pitchFamily="34" charset="-122"/>
                <a:cs typeface="Inter Bold" pitchFamily="34" charset="-120"/>
              </a:rPr>
              <a:t>Psychosocial Safety and Employee Motivation</a:t>
            </a:r>
            <a:endParaRPr lang="en-US" sz="950" dirty="0"/>
          </a:p>
        </p:txBody>
      </p:sp>
      <p:sp>
        <p:nvSpPr>
          <p:cNvPr id="27" name="Text 21"/>
          <p:cNvSpPr/>
          <p:nvPr/>
        </p:nvSpPr>
        <p:spPr>
          <a:xfrm>
            <a:off x="3430191" y="4495443"/>
            <a:ext cx="3736300" cy="356830"/>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Inter" pitchFamily="34" charset="0"/>
                <a:ea typeface="Inter" pitchFamily="34" charset="-122"/>
                <a:cs typeface="Inter" pitchFamily="34" charset="-120"/>
              </a:rPr>
              <a:t>Focus Area:</a:t>
            </a:r>
            <a:r>
              <a:rPr lang="en-US" sz="750" dirty="0">
                <a:solidFill>
                  <a:srgbClr val="FFFFFF"/>
                </a:solidFill>
                <a:latin typeface="Inter" pitchFamily="34" charset="0"/>
                <a:ea typeface="Inter" pitchFamily="34" charset="-122"/>
                <a:cs typeface="Inter" pitchFamily="34" charset="-120"/>
              </a:rPr>
              <a:t> Investigating the relationship between employee motivation and dissatisfaction within organizations, particularly exploring why employees choose to leave despite feeling motivated.</a:t>
            </a:r>
            <a:endParaRPr lang="en-US" sz="750" dirty="0"/>
          </a:p>
        </p:txBody>
      </p:sp>
      <p:sp>
        <p:nvSpPr>
          <p:cNvPr id="28" name="Text 22"/>
          <p:cNvSpPr/>
          <p:nvPr/>
        </p:nvSpPr>
        <p:spPr>
          <a:xfrm>
            <a:off x="3430191" y="4896922"/>
            <a:ext cx="3736300" cy="475774"/>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Inter" pitchFamily="34" charset="0"/>
                <a:ea typeface="Inter" pitchFamily="34" charset="-122"/>
                <a:cs typeface="Inter" pitchFamily="34" charset="-120"/>
              </a:rPr>
              <a:t>Key Insight:</a:t>
            </a:r>
            <a:r>
              <a:rPr lang="en-US" sz="750" dirty="0">
                <a:solidFill>
                  <a:srgbClr val="FFFFFF"/>
                </a:solidFill>
                <a:latin typeface="Inter" pitchFamily="34" charset="0"/>
                <a:ea typeface="Inter" pitchFamily="34" charset="-122"/>
                <a:cs typeface="Inter" pitchFamily="34" charset="-120"/>
              </a:rPr>
              <a:t> The term "demotivation" is viewed as an absurd concept; instead, the focus is on dissatisfaction that leads employees to seek opportunities elsewhere. This research aims to uncover the underlying motivations that drive this behavior.</a:t>
            </a:r>
            <a:endParaRPr lang="en-US" sz="750" dirty="0"/>
          </a:p>
        </p:txBody>
      </p:sp>
      <p:sp>
        <p:nvSpPr>
          <p:cNvPr id="29" name="Text 23"/>
          <p:cNvSpPr/>
          <p:nvPr/>
        </p:nvSpPr>
        <p:spPr>
          <a:xfrm>
            <a:off x="3430191" y="5417344"/>
            <a:ext cx="3736300" cy="475774"/>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Inter" pitchFamily="34" charset="0"/>
                <a:ea typeface="Inter" pitchFamily="34" charset="-122"/>
                <a:cs typeface="Inter" pitchFamily="34" charset="-120"/>
              </a:rPr>
              <a:t>Methodology:</a:t>
            </a:r>
            <a:r>
              <a:rPr lang="en-US" sz="750" dirty="0">
                <a:solidFill>
                  <a:srgbClr val="FFFFFF"/>
                </a:solidFill>
                <a:latin typeface="Inter" pitchFamily="34" charset="0"/>
                <a:ea typeface="Inter" pitchFamily="34" charset="-122"/>
                <a:cs typeface="Inter" pitchFamily="34" charset="-120"/>
              </a:rPr>
              <a:t> Utilizing the Student-Centered Experiential Learning (SCEL) method to further develop insights into psychosocial safety. This approach can be adapted for training employees, fostering a culture in which they feel valued and engaged.</a:t>
            </a:r>
            <a:endParaRPr lang="en-US" sz="750" dirty="0"/>
          </a:p>
        </p:txBody>
      </p:sp>
      <p:sp>
        <p:nvSpPr>
          <p:cNvPr id="30" name="Text 24"/>
          <p:cNvSpPr/>
          <p:nvPr/>
        </p:nvSpPr>
        <p:spPr>
          <a:xfrm>
            <a:off x="7443788" y="4290893"/>
            <a:ext cx="3086219" cy="15501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Cognitive Development and Decision-Making Skills</a:t>
            </a:r>
            <a:endParaRPr lang="en-US" sz="950" dirty="0"/>
          </a:p>
        </p:txBody>
      </p:sp>
      <p:sp>
        <p:nvSpPr>
          <p:cNvPr id="31" name="Text 25"/>
          <p:cNvSpPr/>
          <p:nvPr/>
        </p:nvSpPr>
        <p:spPr>
          <a:xfrm>
            <a:off x="7443788" y="4495443"/>
            <a:ext cx="3791783" cy="237887"/>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Focus Area:</a:t>
            </a:r>
            <a:r>
              <a:rPr lang="en-US" sz="750" dirty="0">
                <a:solidFill>
                  <a:srgbClr val="272525"/>
                </a:solidFill>
                <a:latin typeface="Inter" pitchFamily="34" charset="0"/>
                <a:ea typeface="Inter" pitchFamily="34" charset="-122"/>
                <a:cs typeface="Inter" pitchFamily="34" charset="-120"/>
              </a:rPr>
              <a:t> Applying the SCEL method to enhance cognitive abilities and decision-making skills among students in schools and higher education.</a:t>
            </a:r>
            <a:endParaRPr lang="en-US" sz="750" dirty="0"/>
          </a:p>
        </p:txBody>
      </p:sp>
      <p:sp>
        <p:nvSpPr>
          <p:cNvPr id="32" name="Text 26"/>
          <p:cNvSpPr/>
          <p:nvPr/>
        </p:nvSpPr>
        <p:spPr>
          <a:xfrm>
            <a:off x="7443788" y="4777978"/>
            <a:ext cx="3791783" cy="356830"/>
          </a:xfrm>
          <a:prstGeom prst="rect">
            <a:avLst/>
          </a:prstGeom>
          <a:noFill/>
          <a:ln/>
        </p:spPr>
        <p:txBody>
          <a:bodyPr wrap="squar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Objective:</a:t>
            </a:r>
            <a:r>
              <a:rPr lang="en-US" sz="750" dirty="0">
                <a:solidFill>
                  <a:srgbClr val="272525"/>
                </a:solidFill>
                <a:latin typeface="Inter" pitchFamily="34" charset="0"/>
                <a:ea typeface="Inter" pitchFamily="34" charset="-122"/>
                <a:cs typeface="Inter" pitchFamily="34" charset="-120"/>
              </a:rPr>
              <a:t> To create a learning environment that not only prepares students academically but also equips them with the skills necessary to navigate complex organizational contexts.</a:t>
            </a:r>
            <a:endParaRPr lang="en-US" sz="750" dirty="0"/>
          </a:p>
        </p:txBody>
      </p:sp>
      <p:sp>
        <p:nvSpPr>
          <p:cNvPr id="33" name="Shape 27"/>
          <p:cNvSpPr/>
          <p:nvPr/>
        </p:nvSpPr>
        <p:spPr>
          <a:xfrm>
            <a:off x="3402449" y="6043061"/>
            <a:ext cx="7825502" cy="20003"/>
          </a:xfrm>
          <a:prstGeom prst="rect">
            <a:avLst/>
          </a:prstGeom>
          <a:solidFill>
            <a:srgbClr val="272525">
              <a:alpha val="50000"/>
            </a:srgbClr>
          </a:solidFill>
          <a:ln/>
        </p:spPr>
        <p:txBody>
          <a:bodyPr/>
          <a:lstStyle/>
          <a:p>
            <a:endParaRPr lang="en-AU"/>
          </a:p>
        </p:txBody>
      </p:sp>
      <p:sp>
        <p:nvSpPr>
          <p:cNvPr id="34" name="Text 28"/>
          <p:cNvSpPr/>
          <p:nvPr/>
        </p:nvSpPr>
        <p:spPr>
          <a:xfrm>
            <a:off x="3402449" y="6137434"/>
            <a:ext cx="2020491"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Teaching Philosophy</a:t>
            </a:r>
            <a:endParaRPr lang="en-US" sz="1550" dirty="0"/>
          </a:p>
        </p:txBody>
      </p:sp>
      <p:sp>
        <p:nvSpPr>
          <p:cNvPr id="35" name="Shape 29"/>
          <p:cNvSpPr/>
          <p:nvPr/>
        </p:nvSpPr>
        <p:spPr>
          <a:xfrm>
            <a:off x="3402449" y="6459855"/>
            <a:ext cx="7825502" cy="770453"/>
          </a:xfrm>
          <a:prstGeom prst="roundRect">
            <a:avLst>
              <a:gd name="adj" fmla="val 5410"/>
            </a:avLst>
          </a:prstGeom>
          <a:solidFill>
            <a:srgbClr val="FFFFFF"/>
          </a:solidFill>
          <a:ln w="15240">
            <a:solidFill>
              <a:srgbClr val="C0C1D7"/>
            </a:solidFill>
            <a:prstDash val="solid"/>
          </a:ln>
        </p:spPr>
        <p:txBody>
          <a:bodyPr/>
          <a:lstStyle/>
          <a:p>
            <a:endParaRPr lang="en-AU"/>
          </a:p>
        </p:txBody>
      </p:sp>
      <p:sp>
        <p:nvSpPr>
          <p:cNvPr id="36" name="Shape 30"/>
          <p:cNvSpPr/>
          <p:nvPr/>
        </p:nvSpPr>
        <p:spPr>
          <a:xfrm>
            <a:off x="3417689" y="6475095"/>
            <a:ext cx="396835" cy="739973"/>
          </a:xfrm>
          <a:prstGeom prst="roundRect">
            <a:avLst>
              <a:gd name="adj" fmla="val 5895"/>
            </a:avLst>
          </a:prstGeom>
          <a:solidFill>
            <a:srgbClr val="DADBF1"/>
          </a:solidFill>
          <a:ln/>
        </p:spPr>
        <p:txBody>
          <a:bodyPr/>
          <a:lstStyle/>
          <a:p>
            <a:endParaRPr lang="en-AU"/>
          </a:p>
        </p:txBody>
      </p:sp>
      <p:sp>
        <p:nvSpPr>
          <p:cNvPr id="37" name="Text 31"/>
          <p:cNvSpPr/>
          <p:nvPr/>
        </p:nvSpPr>
        <p:spPr>
          <a:xfrm>
            <a:off x="3864054" y="6574274"/>
            <a:ext cx="171914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Student-Centered Approach</a:t>
            </a:r>
            <a:endParaRPr lang="en-US" sz="950" dirty="0"/>
          </a:p>
        </p:txBody>
      </p:sp>
      <p:sp>
        <p:nvSpPr>
          <p:cNvPr id="38" name="Text 32"/>
          <p:cNvSpPr/>
          <p:nvPr/>
        </p:nvSpPr>
        <p:spPr>
          <a:xfrm>
            <a:off x="3864054" y="6759059"/>
            <a:ext cx="7249478"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This philosophy prioritizes the needs and experiences of students in the learning process. By focusing on what students bring to the classroom, educators can create a more engaging and inclusive environment. This approach encourages active participation, allowing students to take ownership of their learning and contribute to discussions, making the classroom a collaborative space.</a:t>
            </a:r>
            <a:endParaRPr lang="en-US" sz="750" dirty="0"/>
          </a:p>
        </p:txBody>
      </p:sp>
      <p:sp>
        <p:nvSpPr>
          <p:cNvPr id="39" name="Shape 33"/>
          <p:cNvSpPr/>
          <p:nvPr/>
        </p:nvSpPr>
        <p:spPr>
          <a:xfrm>
            <a:off x="3402449" y="7279838"/>
            <a:ext cx="7825502" cy="1008340"/>
          </a:xfrm>
          <a:prstGeom prst="roundRect">
            <a:avLst>
              <a:gd name="adj" fmla="val 4133"/>
            </a:avLst>
          </a:prstGeom>
          <a:solidFill>
            <a:srgbClr val="FFFFFF"/>
          </a:solidFill>
          <a:ln w="15240">
            <a:solidFill>
              <a:srgbClr val="C0C1D7"/>
            </a:solidFill>
            <a:prstDash val="solid"/>
          </a:ln>
        </p:spPr>
        <p:txBody>
          <a:bodyPr/>
          <a:lstStyle/>
          <a:p>
            <a:endParaRPr lang="en-AU"/>
          </a:p>
        </p:txBody>
      </p:sp>
      <p:sp>
        <p:nvSpPr>
          <p:cNvPr id="40" name="Shape 34"/>
          <p:cNvSpPr/>
          <p:nvPr/>
        </p:nvSpPr>
        <p:spPr>
          <a:xfrm>
            <a:off x="3417689" y="7295078"/>
            <a:ext cx="396835" cy="977860"/>
          </a:xfrm>
          <a:prstGeom prst="roundRect">
            <a:avLst>
              <a:gd name="adj" fmla="val 5895"/>
            </a:avLst>
          </a:prstGeom>
          <a:solidFill>
            <a:srgbClr val="DADBF1"/>
          </a:solidFill>
          <a:ln/>
        </p:spPr>
        <p:txBody>
          <a:bodyPr/>
          <a:lstStyle/>
          <a:p>
            <a:endParaRPr lang="en-AU"/>
          </a:p>
        </p:txBody>
      </p:sp>
      <p:sp>
        <p:nvSpPr>
          <p:cNvPr id="41" name="Text 35"/>
          <p:cNvSpPr/>
          <p:nvPr/>
        </p:nvSpPr>
        <p:spPr>
          <a:xfrm>
            <a:off x="3864054" y="7394258"/>
            <a:ext cx="2847975"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Student-Centered Experiential Learning (SCEL)</a:t>
            </a:r>
            <a:endParaRPr lang="en-US" sz="950" dirty="0"/>
          </a:p>
        </p:txBody>
      </p:sp>
      <p:sp>
        <p:nvSpPr>
          <p:cNvPr id="42" name="Text 36"/>
          <p:cNvSpPr/>
          <p:nvPr/>
        </p:nvSpPr>
        <p:spPr>
          <a:xfrm>
            <a:off x="3864054" y="7579042"/>
            <a:ext cx="7249478"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The SCEL method emphasizes the importance of experiential learning tailored to the unique needs of each student. This approach involves integrating real-world experiences into the curriculum, helping students connect theoretical concepts with practical applications. SCEL focuses on the transition students face when moving from school to university, particularly for those without prior work or managerial experience. By addressing the cultural shock that can occur during this transition, SCEL aims to enhance students' mental health and academic performance. Utilizing personal and family experiences, SCEL helps students relate organizational behaviors to familiar relationships, making higher education more accessible and relatable.</a:t>
            </a:r>
            <a:endParaRPr lang="en-US" sz="750" dirty="0"/>
          </a:p>
        </p:txBody>
      </p:sp>
      <p:sp>
        <p:nvSpPr>
          <p:cNvPr id="43" name="Shape 37"/>
          <p:cNvSpPr/>
          <p:nvPr/>
        </p:nvSpPr>
        <p:spPr>
          <a:xfrm>
            <a:off x="3402449" y="8337709"/>
            <a:ext cx="7825502" cy="770453"/>
          </a:xfrm>
          <a:prstGeom prst="roundRect">
            <a:avLst>
              <a:gd name="adj" fmla="val 5410"/>
            </a:avLst>
          </a:prstGeom>
          <a:solidFill>
            <a:srgbClr val="FFFFFF"/>
          </a:solidFill>
          <a:ln w="15240">
            <a:solidFill>
              <a:srgbClr val="C0C1D7"/>
            </a:solidFill>
            <a:prstDash val="solid"/>
          </a:ln>
        </p:spPr>
        <p:txBody>
          <a:bodyPr/>
          <a:lstStyle/>
          <a:p>
            <a:endParaRPr lang="en-AU"/>
          </a:p>
        </p:txBody>
      </p:sp>
      <p:sp>
        <p:nvSpPr>
          <p:cNvPr id="44" name="Shape 38"/>
          <p:cNvSpPr/>
          <p:nvPr/>
        </p:nvSpPr>
        <p:spPr>
          <a:xfrm>
            <a:off x="3417689" y="8352949"/>
            <a:ext cx="396835" cy="739973"/>
          </a:xfrm>
          <a:prstGeom prst="roundRect">
            <a:avLst>
              <a:gd name="adj" fmla="val 5895"/>
            </a:avLst>
          </a:prstGeom>
          <a:solidFill>
            <a:srgbClr val="DADBF1"/>
          </a:solidFill>
          <a:ln/>
        </p:spPr>
        <p:txBody>
          <a:bodyPr/>
          <a:lstStyle/>
          <a:p>
            <a:endParaRPr lang="en-AU"/>
          </a:p>
        </p:txBody>
      </p:sp>
      <p:sp>
        <p:nvSpPr>
          <p:cNvPr id="45" name="Text 39"/>
          <p:cNvSpPr/>
          <p:nvPr/>
        </p:nvSpPr>
        <p:spPr>
          <a:xfrm>
            <a:off x="3864054" y="8452128"/>
            <a:ext cx="1815941"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Critical Thinking and Dialogue</a:t>
            </a:r>
            <a:endParaRPr lang="en-US" sz="950" dirty="0"/>
          </a:p>
        </p:txBody>
      </p:sp>
      <p:sp>
        <p:nvSpPr>
          <p:cNvPr id="46" name="Text 40"/>
          <p:cNvSpPr/>
          <p:nvPr/>
        </p:nvSpPr>
        <p:spPr>
          <a:xfrm>
            <a:off x="3864054" y="8636913"/>
            <a:ext cx="7249478"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Promoting critical thinking involves encouraging students to question assumptions and engage in meaningful discussions. This creates an environment where diverse perspectives are valued, fostering deeper understanding and retention of material. Utilizing a dialogical method in teaching allows for dynamic conversations around course content, transforming traditional lectures into interactive discussions that enhance engagement.</a:t>
            </a:r>
            <a:endParaRPr lang="en-US" sz="750" dirty="0"/>
          </a:p>
        </p:txBody>
      </p:sp>
      <p:sp>
        <p:nvSpPr>
          <p:cNvPr id="47" name="Shape 41"/>
          <p:cNvSpPr/>
          <p:nvPr/>
        </p:nvSpPr>
        <p:spPr>
          <a:xfrm>
            <a:off x="3402449" y="9157692"/>
            <a:ext cx="7825502" cy="770453"/>
          </a:xfrm>
          <a:prstGeom prst="roundRect">
            <a:avLst>
              <a:gd name="adj" fmla="val 5410"/>
            </a:avLst>
          </a:prstGeom>
          <a:solidFill>
            <a:srgbClr val="FFFFFF"/>
          </a:solidFill>
          <a:ln w="15240">
            <a:solidFill>
              <a:srgbClr val="C0C1D7"/>
            </a:solidFill>
            <a:prstDash val="solid"/>
          </a:ln>
        </p:spPr>
        <p:txBody>
          <a:bodyPr/>
          <a:lstStyle/>
          <a:p>
            <a:endParaRPr lang="en-AU"/>
          </a:p>
        </p:txBody>
      </p:sp>
      <p:sp>
        <p:nvSpPr>
          <p:cNvPr id="48" name="Shape 42"/>
          <p:cNvSpPr/>
          <p:nvPr/>
        </p:nvSpPr>
        <p:spPr>
          <a:xfrm>
            <a:off x="3417689" y="9172932"/>
            <a:ext cx="396835" cy="739973"/>
          </a:xfrm>
          <a:prstGeom prst="roundRect">
            <a:avLst>
              <a:gd name="adj" fmla="val 5895"/>
            </a:avLst>
          </a:prstGeom>
          <a:solidFill>
            <a:srgbClr val="DADBF1"/>
          </a:solidFill>
          <a:ln/>
        </p:spPr>
        <p:txBody>
          <a:bodyPr/>
          <a:lstStyle/>
          <a:p>
            <a:endParaRPr lang="en-AU"/>
          </a:p>
        </p:txBody>
      </p:sp>
      <p:sp>
        <p:nvSpPr>
          <p:cNvPr id="49" name="Text 43"/>
          <p:cNvSpPr/>
          <p:nvPr/>
        </p:nvSpPr>
        <p:spPr>
          <a:xfrm>
            <a:off x="3864054" y="9272111"/>
            <a:ext cx="2030135"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Supportive Learning Environment</a:t>
            </a:r>
            <a:endParaRPr lang="en-US" sz="950" dirty="0"/>
          </a:p>
        </p:txBody>
      </p:sp>
      <p:sp>
        <p:nvSpPr>
          <p:cNvPr id="50" name="Text 44"/>
          <p:cNvSpPr/>
          <p:nvPr/>
        </p:nvSpPr>
        <p:spPr>
          <a:xfrm>
            <a:off x="3864054" y="9456896"/>
            <a:ext cx="7249478"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Creating a psychologically safe space is crucial for student success. In such an environment, students feel comfortable voicing their opinions and ideas without fear of criticism. This sense of belonging is essential for their overall well-being and academic performance, as it encourages them to participate actively and contribute to discussions.</a:t>
            </a:r>
            <a:endParaRPr lang="en-US" sz="750" dirty="0"/>
          </a:p>
        </p:txBody>
      </p:sp>
      <p:sp>
        <p:nvSpPr>
          <p:cNvPr id="51" name="Shape 45"/>
          <p:cNvSpPr/>
          <p:nvPr/>
        </p:nvSpPr>
        <p:spPr>
          <a:xfrm>
            <a:off x="3402449" y="9977676"/>
            <a:ext cx="7825502" cy="651510"/>
          </a:xfrm>
          <a:prstGeom prst="roundRect">
            <a:avLst>
              <a:gd name="adj" fmla="val 6397"/>
            </a:avLst>
          </a:prstGeom>
          <a:solidFill>
            <a:srgbClr val="FFFFFF"/>
          </a:solidFill>
          <a:ln w="15240">
            <a:solidFill>
              <a:srgbClr val="C0C1D7"/>
            </a:solidFill>
            <a:prstDash val="solid"/>
          </a:ln>
        </p:spPr>
        <p:txBody>
          <a:bodyPr/>
          <a:lstStyle/>
          <a:p>
            <a:endParaRPr lang="en-AU"/>
          </a:p>
        </p:txBody>
      </p:sp>
      <p:sp>
        <p:nvSpPr>
          <p:cNvPr id="52" name="Shape 46"/>
          <p:cNvSpPr/>
          <p:nvPr/>
        </p:nvSpPr>
        <p:spPr>
          <a:xfrm>
            <a:off x="3417689" y="9992916"/>
            <a:ext cx="396835" cy="621030"/>
          </a:xfrm>
          <a:prstGeom prst="roundRect">
            <a:avLst>
              <a:gd name="adj" fmla="val 5895"/>
            </a:avLst>
          </a:prstGeom>
          <a:solidFill>
            <a:srgbClr val="DADBF1"/>
          </a:solidFill>
          <a:ln/>
        </p:spPr>
        <p:txBody>
          <a:bodyPr/>
          <a:lstStyle/>
          <a:p>
            <a:endParaRPr lang="en-AU"/>
          </a:p>
        </p:txBody>
      </p:sp>
      <p:sp>
        <p:nvSpPr>
          <p:cNvPr id="53" name="Text 47"/>
          <p:cNvSpPr/>
          <p:nvPr/>
        </p:nvSpPr>
        <p:spPr>
          <a:xfrm>
            <a:off x="3864054" y="10092095"/>
            <a:ext cx="1532811"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Continuous Improvement</a:t>
            </a:r>
            <a:endParaRPr lang="en-US" sz="950" dirty="0"/>
          </a:p>
        </p:txBody>
      </p:sp>
      <p:sp>
        <p:nvSpPr>
          <p:cNvPr id="54" name="Text 48"/>
          <p:cNvSpPr/>
          <p:nvPr/>
        </p:nvSpPr>
        <p:spPr>
          <a:xfrm>
            <a:off x="3864054" y="10276880"/>
            <a:ext cx="7249478"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Committed to ongoing professional development, educators should adapt their teaching methods based on student feedback and emerging educational practices. This commitment to improvement ensures that teaching remains relevant and effective, ultimately benefiting students' learning experiences.</a:t>
            </a:r>
            <a:endParaRPr lang="en-US" sz="750" dirty="0"/>
          </a:p>
        </p:txBody>
      </p:sp>
      <p:sp>
        <p:nvSpPr>
          <p:cNvPr id="55" name="Shape 49"/>
          <p:cNvSpPr/>
          <p:nvPr/>
        </p:nvSpPr>
        <p:spPr>
          <a:xfrm>
            <a:off x="3402449" y="10734482"/>
            <a:ext cx="7825502" cy="20003"/>
          </a:xfrm>
          <a:prstGeom prst="rect">
            <a:avLst/>
          </a:prstGeom>
          <a:solidFill>
            <a:srgbClr val="272525">
              <a:alpha val="50000"/>
            </a:srgbClr>
          </a:solidFill>
          <a:ln/>
        </p:spPr>
        <p:txBody>
          <a:bodyPr/>
          <a:lstStyle/>
          <a:p>
            <a:endParaRPr lang="en-AU"/>
          </a:p>
        </p:txBody>
      </p:sp>
      <p:sp>
        <p:nvSpPr>
          <p:cNvPr id="56" name="Text 50"/>
          <p:cNvSpPr/>
          <p:nvPr/>
        </p:nvSpPr>
        <p:spPr>
          <a:xfrm>
            <a:off x="3402449" y="10828853"/>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Volunteering Work</a:t>
            </a:r>
            <a:endParaRPr lang="en-US" sz="1550" dirty="0"/>
          </a:p>
        </p:txBody>
      </p:sp>
      <p:sp>
        <p:nvSpPr>
          <p:cNvPr id="57" name="Text 51"/>
          <p:cNvSpPr/>
          <p:nvPr/>
        </p:nvSpPr>
        <p:spPr>
          <a:xfrm>
            <a:off x="3402449" y="11096625"/>
            <a:ext cx="1489710"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Inter Bold" pitchFamily="34" charset="0"/>
                <a:ea typeface="Inter Bold" pitchFamily="34" charset="-122"/>
                <a:cs typeface="Inter Bold" pitchFamily="34" charset="-120"/>
              </a:rPr>
              <a:t>Current Involvement</a:t>
            </a:r>
            <a:endParaRPr lang="en-US" sz="1150" dirty="0"/>
          </a:p>
        </p:txBody>
      </p:sp>
      <p:sp>
        <p:nvSpPr>
          <p:cNvPr id="58" name="Shape 52"/>
          <p:cNvSpPr/>
          <p:nvPr/>
        </p:nvSpPr>
        <p:spPr>
          <a:xfrm>
            <a:off x="3387209" y="11341775"/>
            <a:ext cx="30480" cy="2032635"/>
          </a:xfrm>
          <a:prstGeom prst="rect">
            <a:avLst/>
          </a:prstGeom>
          <a:solidFill>
            <a:srgbClr val="4950BC"/>
          </a:solidFill>
          <a:ln/>
        </p:spPr>
        <p:txBody>
          <a:bodyPr/>
          <a:lstStyle/>
          <a:p>
            <a:endParaRPr lang="en-AU"/>
          </a:p>
        </p:txBody>
      </p:sp>
      <p:sp>
        <p:nvSpPr>
          <p:cNvPr id="59" name="Text 53"/>
          <p:cNvSpPr/>
          <p:nvPr/>
        </p:nvSpPr>
        <p:spPr>
          <a:xfrm>
            <a:off x="3532108" y="11357015"/>
            <a:ext cx="3752136"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Human Intelligence Movement, United States of America (2024–Present) — Founding Member (Jun 2024 – Present)</a:t>
            </a:r>
            <a:endParaRPr lang="en-US" sz="950" dirty="0"/>
          </a:p>
        </p:txBody>
      </p:sp>
      <p:sp>
        <p:nvSpPr>
          <p:cNvPr id="60" name="Text 54"/>
          <p:cNvSpPr/>
          <p:nvPr/>
        </p:nvSpPr>
        <p:spPr>
          <a:xfrm>
            <a:off x="3532108" y="11696819"/>
            <a:ext cx="3752136" cy="1308378"/>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Our mission is to ensure that all students possess the skills necessary to thrive and succeed in an AI-driven world. We raise awareness about the importance of building career readiness for this new landscape. Our community, composed of students, educators, businesses, and nonprofits, collaborates to address practical challenges and drive meaningful change through educational policy reform. I am actively engaged in developing and implementing programs that enhance emotional intelligence, creativity, and personal growth. My involvement includes facilitating workshops, mentoring participants, and collaborating with other educators to create innovative learning experiences. This role allows me to contribute to a global initiative focused on fostering human potential and creating a more compassionate society.</a:t>
            </a:r>
            <a:endParaRPr lang="en-US" sz="750" dirty="0"/>
          </a:p>
        </p:txBody>
      </p:sp>
      <p:sp>
        <p:nvSpPr>
          <p:cNvPr id="61" name="Shape 55"/>
          <p:cNvSpPr/>
          <p:nvPr/>
        </p:nvSpPr>
        <p:spPr>
          <a:xfrm>
            <a:off x="7330916" y="11341775"/>
            <a:ext cx="30480" cy="2032635"/>
          </a:xfrm>
          <a:prstGeom prst="rect">
            <a:avLst/>
          </a:prstGeom>
          <a:solidFill>
            <a:srgbClr val="4950BC"/>
          </a:solidFill>
          <a:ln/>
        </p:spPr>
        <p:txBody>
          <a:bodyPr/>
          <a:lstStyle/>
          <a:p>
            <a:endParaRPr lang="en-AU"/>
          </a:p>
        </p:txBody>
      </p:sp>
      <p:sp>
        <p:nvSpPr>
          <p:cNvPr id="62" name="Text 56"/>
          <p:cNvSpPr/>
          <p:nvPr/>
        </p:nvSpPr>
        <p:spPr>
          <a:xfrm>
            <a:off x="7475815" y="11357015"/>
            <a:ext cx="3752136"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Friends of the Library, South Australia (2024–Present) — Vice-President (Sept 2024 – Present)</a:t>
            </a:r>
            <a:endParaRPr lang="en-US" sz="950" dirty="0"/>
          </a:p>
        </p:txBody>
      </p:sp>
      <p:sp>
        <p:nvSpPr>
          <p:cNvPr id="63" name="Text 57"/>
          <p:cNvSpPr/>
          <p:nvPr/>
        </p:nvSpPr>
        <p:spPr>
          <a:xfrm>
            <a:off x="7475815" y="11696819"/>
            <a:ext cx="3752136" cy="918924"/>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Lead and implement programs that promote library resources and services.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Advocate for funding and support at local and state levels.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Foster partnerships with community organizations to expand outreach.</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Engage and grow membership to strengthen community ties.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Organise and arrange seminars, webinars, and events throughout the year to educate and connect the community.</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Collaborate with the board on strategic planning and governance.</a:t>
            </a:r>
            <a:endParaRPr lang="en-US" sz="750" dirty="0"/>
          </a:p>
        </p:txBody>
      </p:sp>
      <p:sp>
        <p:nvSpPr>
          <p:cNvPr id="64" name="Text 58"/>
          <p:cNvSpPr/>
          <p:nvPr/>
        </p:nvSpPr>
        <p:spPr>
          <a:xfrm>
            <a:off x="7475815" y="12645509"/>
            <a:ext cx="3752136" cy="713661"/>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As a dedicated member, I support the University of Adelaide Library through various initiatives, including organising fundraising events, promoting literacy programs, and coordinating community outreach activities. My efforts aim to enhance library services and resources, making them more accessible to students and the broader community. I also work on initiatives that encourage reading and lifelong learning, contributing to a culture of knowledge sharing.</a:t>
            </a:r>
            <a:endParaRPr lang="en-US" sz="750" dirty="0"/>
          </a:p>
        </p:txBody>
      </p:sp>
      <p:sp>
        <p:nvSpPr>
          <p:cNvPr id="65" name="Shape 59"/>
          <p:cNvSpPr/>
          <p:nvPr/>
        </p:nvSpPr>
        <p:spPr>
          <a:xfrm>
            <a:off x="3387209" y="13443109"/>
            <a:ext cx="30480" cy="3801427"/>
          </a:xfrm>
          <a:prstGeom prst="rect">
            <a:avLst/>
          </a:prstGeom>
          <a:solidFill>
            <a:srgbClr val="4950BC"/>
          </a:solidFill>
          <a:ln/>
        </p:spPr>
        <p:txBody>
          <a:bodyPr/>
          <a:lstStyle/>
          <a:p>
            <a:endParaRPr lang="en-AU"/>
          </a:p>
        </p:txBody>
      </p:sp>
      <p:sp>
        <p:nvSpPr>
          <p:cNvPr id="66" name="Text 60"/>
          <p:cNvSpPr/>
          <p:nvPr/>
        </p:nvSpPr>
        <p:spPr>
          <a:xfrm>
            <a:off x="3532108" y="13458349"/>
            <a:ext cx="3752136"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Rotary Club of Adelaide, South Australia (2023–Present) — Honorary Secretary (Jun 2025 – Present)</a:t>
            </a:r>
            <a:endParaRPr lang="en-US" sz="950" dirty="0"/>
          </a:p>
        </p:txBody>
      </p:sp>
      <p:sp>
        <p:nvSpPr>
          <p:cNvPr id="67" name="Text 61"/>
          <p:cNvSpPr/>
          <p:nvPr/>
        </p:nvSpPr>
        <p:spPr>
          <a:xfrm>
            <a:off x="3532108" y="13798153"/>
            <a:ext cx="3752136" cy="2687717"/>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Attend district training assemblies and district conferences, ensuring alignment with Rotary's mission.</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Review and update the club's strategic plan and maintain accurate club records and member lists using My Rotary or the club management system.</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Ensure the club has the latest Rotary governance documents for reference.</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Coordinate with the treasurer to ensure timely payment of club invoices.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Serve on the club board and administration committee, contributing to decision-making processes.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Collaborate with the membership committee to manage membership leads effectively.</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Take minutes at club and board meetings and club assemblies, maintaining clear records of discussions and decisions.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Update club and officer information for the online Official Directory and Rotary's records.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Manage club correspondence, including responding to emails and sending official notices and invitations.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Maintain promotional items, name badges, and materials used at meetings and events.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Preserve the club's historical records and write an annual report for the club at the end of the Rotary year.</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 the club president, treasurer, and committees in their respective roles.</a:t>
            </a:r>
            <a:endParaRPr lang="en-US" sz="750" dirty="0"/>
          </a:p>
        </p:txBody>
      </p:sp>
      <p:sp>
        <p:nvSpPr>
          <p:cNvPr id="68" name="Text 62"/>
          <p:cNvSpPr/>
          <p:nvPr/>
        </p:nvSpPr>
        <p:spPr>
          <a:xfrm>
            <a:off x="3532108" y="16515636"/>
            <a:ext cx="3752136" cy="713661"/>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As a member of this esteemed community service organisation, I actively participate in local and international projects that address pressing social issues. My responsibilities include organising fundraising events, collaborating with other organisations for community development, and engaging in hands-on service projects. Through my involvement, I help promote peace, health, and education, making a positive impact on both local and global communities.</a:t>
            </a:r>
            <a:endParaRPr lang="en-US" sz="750" dirty="0"/>
          </a:p>
        </p:txBody>
      </p:sp>
      <p:sp>
        <p:nvSpPr>
          <p:cNvPr id="69" name="Shape 63"/>
          <p:cNvSpPr/>
          <p:nvPr/>
        </p:nvSpPr>
        <p:spPr>
          <a:xfrm>
            <a:off x="7330916" y="13443109"/>
            <a:ext cx="30480" cy="3801427"/>
          </a:xfrm>
          <a:prstGeom prst="rect">
            <a:avLst/>
          </a:prstGeom>
          <a:solidFill>
            <a:srgbClr val="4950BC"/>
          </a:solidFill>
          <a:ln/>
        </p:spPr>
        <p:txBody>
          <a:bodyPr/>
          <a:lstStyle/>
          <a:p>
            <a:endParaRPr lang="en-AU"/>
          </a:p>
        </p:txBody>
      </p:sp>
      <p:sp>
        <p:nvSpPr>
          <p:cNvPr id="70" name="Text 64"/>
          <p:cNvSpPr/>
          <p:nvPr/>
        </p:nvSpPr>
        <p:spPr>
          <a:xfrm>
            <a:off x="7475815" y="13458349"/>
            <a:ext cx="3752136"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DreamCricket, Australia (2023–Present) — Board Member &amp; Director (Mar 2024 – Present)</a:t>
            </a:r>
            <a:endParaRPr lang="en-US" sz="950" dirty="0"/>
          </a:p>
        </p:txBody>
      </p:sp>
      <p:sp>
        <p:nvSpPr>
          <p:cNvPr id="71" name="Text 65"/>
          <p:cNvSpPr/>
          <p:nvPr/>
        </p:nvSpPr>
        <p:spPr>
          <a:xfrm>
            <a:off x="7475815" y="13798153"/>
            <a:ext cx="3752136" cy="951548"/>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Focused on promoting cricket for children with special needs in schools across South Australia, I work with relevant agencies and organisations to ensure the continuity of cricket programs for these children. Heavily involved in organising and facilitating inclusive cricket clinics and events, I develop tailored training programs that accommodate various abilities, fostering an environment of teamwork and social interaction. I work closely with families and educators to ensure that children can participate fully, helping to build confidence and physical fitness while enjoying the sport.</a:t>
            </a:r>
            <a:endParaRPr lang="en-US" sz="750" dirty="0"/>
          </a:p>
        </p:txBody>
      </p:sp>
      <p:sp>
        <p:nvSpPr>
          <p:cNvPr id="72" name="Text 66"/>
          <p:cNvSpPr/>
          <p:nvPr/>
        </p:nvSpPr>
        <p:spPr>
          <a:xfrm>
            <a:off x="3402449" y="17303710"/>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Inter Bold" pitchFamily="34" charset="0"/>
                <a:ea typeface="Inter Bold" pitchFamily="34" charset="-122"/>
                <a:cs typeface="Inter Bold" pitchFamily="34" charset="-120"/>
              </a:rPr>
              <a:t>Past Involvement</a:t>
            </a:r>
            <a:endParaRPr lang="en-US" sz="1150" dirty="0"/>
          </a:p>
        </p:txBody>
      </p:sp>
      <p:sp>
        <p:nvSpPr>
          <p:cNvPr id="73" name="Shape 67"/>
          <p:cNvSpPr/>
          <p:nvPr/>
        </p:nvSpPr>
        <p:spPr>
          <a:xfrm>
            <a:off x="3402449" y="17616845"/>
            <a:ext cx="49530" cy="49530"/>
          </a:xfrm>
          <a:prstGeom prst="roundRect">
            <a:avLst>
              <a:gd name="adj" fmla="val 923077"/>
            </a:avLst>
          </a:prstGeom>
          <a:solidFill>
            <a:srgbClr val="4950BC"/>
          </a:solidFill>
          <a:ln/>
        </p:spPr>
        <p:txBody>
          <a:bodyPr/>
          <a:lstStyle/>
          <a:p>
            <a:endParaRPr lang="en-AU"/>
          </a:p>
        </p:txBody>
      </p:sp>
      <p:sp>
        <p:nvSpPr>
          <p:cNvPr id="74" name="Text 68"/>
          <p:cNvSpPr/>
          <p:nvPr/>
        </p:nvSpPr>
        <p:spPr>
          <a:xfrm>
            <a:off x="3501509" y="17564100"/>
            <a:ext cx="3068717"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South Australian State Emergency Services (2025)</a:t>
            </a:r>
            <a:endParaRPr lang="en-US" sz="950" dirty="0"/>
          </a:p>
        </p:txBody>
      </p:sp>
      <p:sp>
        <p:nvSpPr>
          <p:cNvPr id="75" name="Text 69"/>
          <p:cNvSpPr/>
          <p:nvPr/>
        </p:nvSpPr>
        <p:spPr>
          <a:xfrm>
            <a:off x="3501509" y="17748885"/>
            <a:ext cx="7726442"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During my time with SASES, I was actively involved in emergency response efforts, participating in training exercises and real-life emergency situations. My role included assisting in disaster preparedness initiatives, educating the community about safety measures, and providing support during emergencies such as floods and storms. This experience enhanced my leadership skills and commitment to community safety.</a:t>
            </a:r>
            <a:endParaRPr lang="en-US" sz="750" dirty="0"/>
          </a:p>
        </p:txBody>
      </p:sp>
      <p:sp>
        <p:nvSpPr>
          <p:cNvPr id="76" name="Shape 70"/>
          <p:cNvSpPr/>
          <p:nvPr/>
        </p:nvSpPr>
        <p:spPr>
          <a:xfrm>
            <a:off x="3402449" y="18257639"/>
            <a:ext cx="49530" cy="49530"/>
          </a:xfrm>
          <a:prstGeom prst="roundRect">
            <a:avLst>
              <a:gd name="adj" fmla="val 923077"/>
            </a:avLst>
          </a:prstGeom>
          <a:solidFill>
            <a:srgbClr val="4950BC"/>
          </a:solidFill>
          <a:ln/>
        </p:spPr>
        <p:txBody>
          <a:bodyPr/>
          <a:lstStyle/>
          <a:p>
            <a:endParaRPr lang="en-AU"/>
          </a:p>
        </p:txBody>
      </p:sp>
      <p:sp>
        <p:nvSpPr>
          <p:cNvPr id="77" name="Text 71"/>
          <p:cNvSpPr/>
          <p:nvPr/>
        </p:nvSpPr>
        <p:spPr>
          <a:xfrm>
            <a:off x="3501509" y="18204894"/>
            <a:ext cx="2694742"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Australian Electoral Commission (May 2025)</a:t>
            </a:r>
            <a:endParaRPr lang="en-US" sz="950" dirty="0"/>
          </a:p>
        </p:txBody>
      </p:sp>
      <p:sp>
        <p:nvSpPr>
          <p:cNvPr id="78" name="Text 72"/>
          <p:cNvSpPr/>
          <p:nvPr/>
        </p:nvSpPr>
        <p:spPr>
          <a:xfrm>
            <a:off x="3501509" y="18389679"/>
            <a:ext cx="7726442"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 played a crucial role in supporting the electoral process, focusing on promoting civic engagement and ensuring that elections were conducted fairly. I was trained in the Officer-In-Charge 4–6 Issuing Points role and deployed as an Electoral Officer 5 Polling Assistant. My responsibilities included assisting with voter registration drives, providing information to the public about the electoral process, and helping to organise community forums to encourage voter participation. This experience deepened my understanding of democratic processes and the importance of civic responsibility.</a:t>
            </a:r>
            <a:endParaRPr lang="en-US" sz="750" dirty="0"/>
          </a:p>
        </p:txBody>
      </p:sp>
      <p:sp>
        <p:nvSpPr>
          <p:cNvPr id="79" name="Shape 73"/>
          <p:cNvSpPr/>
          <p:nvPr/>
        </p:nvSpPr>
        <p:spPr>
          <a:xfrm>
            <a:off x="3402449" y="19017377"/>
            <a:ext cx="49530" cy="49530"/>
          </a:xfrm>
          <a:prstGeom prst="roundRect">
            <a:avLst>
              <a:gd name="adj" fmla="val 923077"/>
            </a:avLst>
          </a:prstGeom>
          <a:solidFill>
            <a:srgbClr val="4950BC"/>
          </a:solidFill>
          <a:ln/>
        </p:spPr>
        <p:txBody>
          <a:bodyPr/>
          <a:lstStyle/>
          <a:p>
            <a:endParaRPr lang="en-AU"/>
          </a:p>
        </p:txBody>
      </p:sp>
      <p:sp>
        <p:nvSpPr>
          <p:cNvPr id="80" name="Text 74"/>
          <p:cNvSpPr/>
          <p:nvPr/>
        </p:nvSpPr>
        <p:spPr>
          <a:xfrm>
            <a:off x="3501509" y="18964632"/>
            <a:ext cx="3582948"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The University of Adelaide – Global IQ Connect (2017–2021)</a:t>
            </a:r>
            <a:endParaRPr lang="en-US" sz="950" dirty="0"/>
          </a:p>
        </p:txBody>
      </p:sp>
      <p:sp>
        <p:nvSpPr>
          <p:cNvPr id="81" name="Text 75"/>
          <p:cNvSpPr/>
          <p:nvPr/>
        </p:nvSpPr>
        <p:spPr>
          <a:xfrm>
            <a:off x="3501509" y="19149417"/>
            <a:ext cx="7726442"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As a dedicated volunteer, I worked to connect international students with local communities, helping them navigate their new environment. My involvement included organising cultural exchange events, providing mentorship, and facilitating workshops on adapting to life in Australia. This role allowed me to foster inclusivity and support the diverse needs of international students.</a:t>
            </a:r>
            <a:endParaRPr lang="en-US" sz="750" dirty="0"/>
          </a:p>
        </p:txBody>
      </p:sp>
      <p:sp>
        <p:nvSpPr>
          <p:cNvPr id="82" name="Shape 76"/>
          <p:cNvSpPr/>
          <p:nvPr/>
        </p:nvSpPr>
        <p:spPr>
          <a:xfrm>
            <a:off x="3402449" y="19658171"/>
            <a:ext cx="49530" cy="49530"/>
          </a:xfrm>
          <a:prstGeom prst="roundRect">
            <a:avLst>
              <a:gd name="adj" fmla="val 923077"/>
            </a:avLst>
          </a:prstGeom>
          <a:solidFill>
            <a:srgbClr val="4950BC"/>
          </a:solidFill>
          <a:ln/>
        </p:spPr>
        <p:txBody>
          <a:bodyPr/>
          <a:lstStyle/>
          <a:p>
            <a:endParaRPr lang="en-AU"/>
          </a:p>
        </p:txBody>
      </p:sp>
      <p:sp>
        <p:nvSpPr>
          <p:cNvPr id="83" name="Text 77"/>
          <p:cNvSpPr/>
          <p:nvPr/>
        </p:nvSpPr>
        <p:spPr>
          <a:xfrm>
            <a:off x="3501509" y="19605427"/>
            <a:ext cx="3386138"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The University of Adelaide – Experience Adelaide (2019)</a:t>
            </a:r>
            <a:endParaRPr lang="en-US" sz="950" dirty="0"/>
          </a:p>
        </p:txBody>
      </p:sp>
      <p:sp>
        <p:nvSpPr>
          <p:cNvPr id="84" name="Text 78"/>
          <p:cNvSpPr/>
          <p:nvPr/>
        </p:nvSpPr>
        <p:spPr>
          <a:xfrm>
            <a:off x="3501509" y="19790212"/>
            <a:ext cx="7726442"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 participated in programs aimed at introducing new students to the cultural and social aspects of Adelaide. My responsibilities included organising tours, coordinating activities that showcase local culture, and helping students integrate into the community. This role was instrumental in enhancing the university experience for many students.</a:t>
            </a:r>
            <a:endParaRPr lang="en-US" sz="750" dirty="0"/>
          </a:p>
        </p:txBody>
      </p:sp>
      <p:sp>
        <p:nvSpPr>
          <p:cNvPr id="85" name="Shape 79"/>
          <p:cNvSpPr/>
          <p:nvPr/>
        </p:nvSpPr>
        <p:spPr>
          <a:xfrm>
            <a:off x="3402449" y="20298966"/>
            <a:ext cx="49530" cy="49530"/>
          </a:xfrm>
          <a:prstGeom prst="roundRect">
            <a:avLst>
              <a:gd name="adj" fmla="val 923077"/>
            </a:avLst>
          </a:prstGeom>
          <a:solidFill>
            <a:srgbClr val="4950BC"/>
          </a:solidFill>
          <a:ln/>
        </p:spPr>
        <p:txBody>
          <a:bodyPr/>
          <a:lstStyle/>
          <a:p>
            <a:endParaRPr lang="en-AU"/>
          </a:p>
        </p:txBody>
      </p:sp>
      <p:sp>
        <p:nvSpPr>
          <p:cNvPr id="86" name="Text 80"/>
          <p:cNvSpPr/>
          <p:nvPr/>
        </p:nvSpPr>
        <p:spPr>
          <a:xfrm>
            <a:off x="3501509" y="20246221"/>
            <a:ext cx="3278029"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Cancer Aid Society – Fundraiser (Jan 1995 – Dec 1998)</a:t>
            </a:r>
            <a:endParaRPr lang="en-US" sz="950" dirty="0"/>
          </a:p>
        </p:txBody>
      </p:sp>
      <p:sp>
        <p:nvSpPr>
          <p:cNvPr id="87" name="Text 81"/>
          <p:cNvSpPr/>
          <p:nvPr/>
        </p:nvSpPr>
        <p:spPr>
          <a:xfrm>
            <a:off x="3501509" y="20431006"/>
            <a:ext cx="7726442"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 led various campaigns focused on alleviating the suffering of cancer patients and raising awareness about cancer prevention. My involvement included organising fundraising events, collaborating with healthcare professionals to provide resources, and developing awareness campaigns that educated the public about cancer-related issues. This experience was deeply fulfilling and reinforced my commitment to community health and support.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248025" y="1055013"/>
            <a:ext cx="3049548" cy="322302"/>
          </a:xfrm>
          <a:prstGeom prst="rect">
            <a:avLst/>
          </a:prstGeom>
          <a:noFill/>
          <a:ln/>
        </p:spPr>
        <p:txBody>
          <a:bodyPr wrap="none" lIns="0" tIns="0" rIns="0" bIns="0" rtlCol="0" anchor="t"/>
          <a:lstStyle/>
          <a:p>
            <a:pPr marL="0" indent="0" algn="l">
              <a:lnSpc>
                <a:spcPts val="2500"/>
              </a:lnSpc>
              <a:buNone/>
            </a:pPr>
            <a:r>
              <a:rPr lang="en-US" sz="2000" b="1" dirty="0">
                <a:solidFill>
                  <a:srgbClr val="000000"/>
                </a:solidFill>
                <a:latin typeface="Inter Bold" pitchFamily="34" charset="0"/>
                <a:ea typeface="Inter Bold" pitchFamily="34" charset="-122"/>
                <a:cs typeface="Inter Bold" pitchFamily="34" charset="-120"/>
              </a:rPr>
              <a:t>Professional Experience</a:t>
            </a:r>
            <a:endParaRPr lang="en-US" sz="2000" dirty="0"/>
          </a:p>
        </p:txBody>
      </p:sp>
      <p:sp>
        <p:nvSpPr>
          <p:cNvPr id="3" name="Shape 1"/>
          <p:cNvSpPr/>
          <p:nvPr/>
        </p:nvSpPr>
        <p:spPr>
          <a:xfrm>
            <a:off x="3248025" y="1484471"/>
            <a:ext cx="751284" cy="161925"/>
          </a:xfrm>
          <a:prstGeom prst="roundRect">
            <a:avLst>
              <a:gd name="adj" fmla="val 21405"/>
            </a:avLst>
          </a:prstGeom>
          <a:solidFill>
            <a:srgbClr val="DADBF1"/>
          </a:solidFill>
          <a:ln/>
        </p:spPr>
        <p:txBody>
          <a:bodyPr/>
          <a:lstStyle/>
          <a:p>
            <a:endParaRPr lang="en-AU"/>
          </a:p>
        </p:txBody>
      </p:sp>
      <p:sp>
        <p:nvSpPr>
          <p:cNvPr id="4" name="Text 2"/>
          <p:cNvSpPr/>
          <p:nvPr/>
        </p:nvSpPr>
        <p:spPr>
          <a:xfrm>
            <a:off x="3309818" y="1515308"/>
            <a:ext cx="627698" cy="100251"/>
          </a:xfrm>
          <a:prstGeom prst="rect">
            <a:avLst/>
          </a:prstGeom>
          <a:noFill/>
          <a:ln/>
        </p:spPr>
        <p:txBody>
          <a:bodyPr wrap="none" lIns="0" tIns="0" rIns="0" bIns="0" rtlCol="0" anchor="t"/>
          <a:lstStyle/>
          <a:p>
            <a:pPr marL="0" indent="0" algn="l">
              <a:lnSpc>
                <a:spcPts val="750"/>
              </a:lnSpc>
              <a:buNone/>
            </a:pPr>
            <a:r>
              <a:rPr lang="en-US" sz="600" dirty="0">
                <a:solidFill>
                  <a:srgbClr val="272525"/>
                </a:solidFill>
                <a:latin typeface="Inter" pitchFamily="34" charset="0"/>
                <a:ea typeface="Inter" pitchFamily="34" charset="-122"/>
                <a:cs typeface="Inter" pitchFamily="34" charset="-120"/>
              </a:rPr>
              <a:t>CURRENT ROLE</a:t>
            </a:r>
            <a:endParaRPr lang="en-US" sz="600" dirty="0"/>
          </a:p>
        </p:txBody>
      </p:sp>
      <p:sp>
        <p:nvSpPr>
          <p:cNvPr id="5" name="Text 3"/>
          <p:cNvSpPr/>
          <p:nvPr/>
        </p:nvSpPr>
        <p:spPr>
          <a:xfrm>
            <a:off x="3248025" y="1667828"/>
            <a:ext cx="3745349" cy="257889"/>
          </a:xfrm>
          <a:prstGeom prst="rect">
            <a:avLst/>
          </a:prstGeom>
          <a:noFill/>
          <a:ln/>
        </p:spPr>
        <p:txBody>
          <a:bodyPr wrap="none" lIns="0" tIns="0" rIns="0" bIns="0" rtlCol="0" anchor="t"/>
          <a:lstStyle/>
          <a:p>
            <a:pPr marL="0" indent="0" algn="l">
              <a:lnSpc>
                <a:spcPts val="2000"/>
              </a:lnSpc>
              <a:buNone/>
            </a:pPr>
            <a:r>
              <a:rPr lang="en-US" sz="1600" b="1" dirty="0">
                <a:solidFill>
                  <a:srgbClr val="000000"/>
                </a:solidFill>
                <a:latin typeface="Inter Bold" pitchFamily="34" charset="0"/>
                <a:ea typeface="Inter Bold" pitchFamily="34" charset="-122"/>
                <a:cs typeface="Inter Bold" pitchFamily="34" charset="-120"/>
              </a:rPr>
              <a:t>Senior Manager – Education Services</a:t>
            </a:r>
            <a:endParaRPr lang="en-US" sz="1600" dirty="0"/>
          </a:p>
        </p:txBody>
      </p:sp>
      <p:sp>
        <p:nvSpPr>
          <p:cNvPr id="6" name="Text 4"/>
          <p:cNvSpPr/>
          <p:nvPr/>
        </p:nvSpPr>
        <p:spPr>
          <a:xfrm>
            <a:off x="3248025" y="1947148"/>
            <a:ext cx="7133153" cy="193477"/>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Inter Bold" pitchFamily="34" charset="0"/>
                <a:ea typeface="Inter Bold" pitchFamily="34" charset="-122"/>
                <a:cs typeface="Inter Bold" pitchFamily="34" charset="-120"/>
              </a:rPr>
              <a:t>South Australian Certificate of Education (SACE) Board of South Australia — Jan 2026–Present</a:t>
            </a:r>
            <a:endParaRPr lang="en-US" sz="1200"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2226052"/>
            <a:ext cx="154662" cy="154662"/>
          </a:xfrm>
          <a:prstGeom prst="rect">
            <a:avLst/>
          </a:prstGeom>
        </p:spPr>
      </p:pic>
      <p:sp>
        <p:nvSpPr>
          <p:cNvPr id="8" name="Text 5"/>
          <p:cNvSpPr/>
          <p:nvPr/>
        </p:nvSpPr>
        <p:spPr>
          <a:xfrm>
            <a:off x="3583186" y="2220992"/>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Provide strategic leadership and oversight of the SACE Board's curriculum, assessment, recognition, and quality assurance frameworks.</a:t>
            </a:r>
            <a:endParaRPr lang="en-US" sz="80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2647771"/>
            <a:ext cx="154662" cy="154662"/>
          </a:xfrm>
          <a:prstGeom prst="rect">
            <a:avLst/>
          </a:prstGeom>
        </p:spPr>
      </p:pic>
      <p:sp>
        <p:nvSpPr>
          <p:cNvPr id="10" name="Text 6"/>
          <p:cNvSpPr/>
          <p:nvPr/>
        </p:nvSpPr>
        <p:spPr>
          <a:xfrm>
            <a:off x="3583186" y="2642711"/>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Ensure alignment with the SACE Board's strategic plan and legislative obligations.</a:t>
            </a:r>
            <a:endParaRPr lang="en-US" sz="8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3069491"/>
            <a:ext cx="154662" cy="154662"/>
          </a:xfrm>
          <a:prstGeom prst="rect">
            <a:avLst/>
          </a:prstGeom>
        </p:spPr>
      </p:pic>
      <p:sp>
        <p:nvSpPr>
          <p:cNvPr id="12" name="Text 7"/>
          <p:cNvSpPr/>
          <p:nvPr/>
        </p:nvSpPr>
        <p:spPr>
          <a:xfrm>
            <a:off x="3583186" y="3064431"/>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Lead systemic education change initiatives and manage a team of Faculty Managers.</a:t>
            </a:r>
            <a:endParaRPr lang="en-US" sz="80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3491210"/>
            <a:ext cx="154662" cy="154662"/>
          </a:xfrm>
          <a:prstGeom prst="rect">
            <a:avLst/>
          </a:prstGeom>
        </p:spPr>
      </p:pic>
      <p:sp>
        <p:nvSpPr>
          <p:cNvPr id="14" name="Text 8"/>
          <p:cNvSpPr/>
          <p:nvPr/>
        </p:nvSpPr>
        <p:spPr>
          <a:xfrm>
            <a:off x="3583186" y="3486150"/>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Oversee significant program, budget, and policy outcomes.</a:t>
            </a:r>
            <a:endParaRPr lang="en-US" sz="800" dirty="0"/>
          </a:p>
        </p:txBody>
      </p:sp>
      <p:pic>
        <p:nvPicPr>
          <p:cNvPr id="15"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3912930"/>
            <a:ext cx="154662" cy="154662"/>
          </a:xfrm>
          <a:prstGeom prst="rect">
            <a:avLst/>
          </a:prstGeom>
        </p:spPr>
      </p:pic>
      <p:sp>
        <p:nvSpPr>
          <p:cNvPr id="16" name="Text 9"/>
          <p:cNvSpPr/>
          <p:nvPr/>
        </p:nvSpPr>
        <p:spPr>
          <a:xfrm>
            <a:off x="3583186" y="3907869"/>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Develop strategic partnerships across government, schools, industry, and education partners.</a:t>
            </a:r>
            <a:endParaRPr lang="en-US" sz="800" dirty="0"/>
          </a:p>
        </p:txBody>
      </p:sp>
      <p:pic>
        <p:nvPicPr>
          <p:cNvPr id="17"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4334649"/>
            <a:ext cx="154662" cy="154662"/>
          </a:xfrm>
          <a:prstGeom prst="rect">
            <a:avLst/>
          </a:prstGeom>
        </p:spPr>
      </p:pic>
      <p:sp>
        <p:nvSpPr>
          <p:cNvPr id="18" name="Text 10"/>
          <p:cNvSpPr/>
          <p:nvPr/>
        </p:nvSpPr>
        <p:spPr>
          <a:xfrm>
            <a:off x="3583186" y="4329589"/>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Foster a strong organisational culture within Education Services and the broader organisation.</a:t>
            </a:r>
            <a:endParaRPr lang="en-US" sz="800" dirty="0"/>
          </a:p>
        </p:txBody>
      </p:sp>
      <p:pic>
        <p:nvPicPr>
          <p:cNvPr id="19" name="Image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4756368"/>
            <a:ext cx="154662" cy="154662"/>
          </a:xfrm>
          <a:prstGeom prst="rect">
            <a:avLst/>
          </a:prstGeom>
        </p:spPr>
      </p:pic>
      <p:sp>
        <p:nvSpPr>
          <p:cNvPr id="20" name="Text 11"/>
          <p:cNvSpPr/>
          <p:nvPr/>
        </p:nvSpPr>
        <p:spPr>
          <a:xfrm>
            <a:off x="3583186" y="4751308"/>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Lead major education change initiatives to innovate and reshape curriculum and assessment.</a:t>
            </a:r>
            <a:endParaRPr lang="en-US" sz="800" dirty="0"/>
          </a:p>
        </p:txBody>
      </p:sp>
      <p:pic>
        <p:nvPicPr>
          <p:cNvPr id="21" name="Image 7"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5178088"/>
            <a:ext cx="154662" cy="154662"/>
          </a:xfrm>
          <a:prstGeom prst="rect">
            <a:avLst/>
          </a:prstGeom>
        </p:spPr>
      </p:pic>
      <p:sp>
        <p:nvSpPr>
          <p:cNvPr id="22" name="Text 12"/>
          <p:cNvSpPr/>
          <p:nvPr/>
        </p:nvSpPr>
        <p:spPr>
          <a:xfrm>
            <a:off x="3583186" y="5173028"/>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Contribute to education thought leadership and represent the SACE Board at various levels.</a:t>
            </a:r>
            <a:endParaRPr lang="en-US" sz="800" dirty="0"/>
          </a:p>
        </p:txBody>
      </p:sp>
      <p:pic>
        <p:nvPicPr>
          <p:cNvPr id="23" name="Image 8"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5599807"/>
            <a:ext cx="154662" cy="154662"/>
          </a:xfrm>
          <a:prstGeom prst="rect">
            <a:avLst/>
          </a:prstGeom>
        </p:spPr>
      </p:pic>
      <p:sp>
        <p:nvSpPr>
          <p:cNvPr id="24" name="Text 13"/>
          <p:cNvSpPr/>
          <p:nvPr/>
        </p:nvSpPr>
        <p:spPr>
          <a:xfrm>
            <a:off x="3583186" y="5594747"/>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Inspire purpose and achievement within the Education Services Group by aligning strategy with priorities.</a:t>
            </a:r>
            <a:endParaRPr lang="en-US" sz="800" dirty="0"/>
          </a:p>
        </p:txBody>
      </p:sp>
      <p:pic>
        <p:nvPicPr>
          <p:cNvPr id="25" name="Image 9"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6021526"/>
            <a:ext cx="154662" cy="154662"/>
          </a:xfrm>
          <a:prstGeom prst="rect">
            <a:avLst/>
          </a:prstGeom>
        </p:spPr>
      </p:pic>
      <p:sp>
        <p:nvSpPr>
          <p:cNvPr id="26" name="Text 14"/>
          <p:cNvSpPr/>
          <p:nvPr/>
        </p:nvSpPr>
        <p:spPr>
          <a:xfrm>
            <a:off x="3583186" y="6016466"/>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Oversee curriculum and assessment projects, applying project management and quality standards.</a:t>
            </a:r>
            <a:endParaRPr lang="en-US" sz="800" dirty="0"/>
          </a:p>
        </p:txBody>
      </p:sp>
      <p:pic>
        <p:nvPicPr>
          <p:cNvPr id="27" name="Image 1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6443246"/>
            <a:ext cx="154662" cy="154662"/>
          </a:xfrm>
          <a:prstGeom prst="rect">
            <a:avLst/>
          </a:prstGeom>
        </p:spPr>
      </p:pic>
      <p:sp>
        <p:nvSpPr>
          <p:cNvPr id="28" name="Text 15"/>
          <p:cNvSpPr/>
          <p:nvPr/>
        </p:nvSpPr>
        <p:spPr>
          <a:xfrm>
            <a:off x="3583186" y="6438186"/>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Lead the SACE Board's approach to recognition (including VET) policy and systems.</a:t>
            </a:r>
            <a:endParaRPr lang="en-US" sz="800" dirty="0"/>
          </a:p>
        </p:txBody>
      </p:sp>
      <p:pic>
        <p:nvPicPr>
          <p:cNvPr id="29" name="Image 1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6720" y="6864965"/>
            <a:ext cx="154662" cy="154662"/>
          </a:xfrm>
          <a:prstGeom prst="rect">
            <a:avLst/>
          </a:prstGeom>
        </p:spPr>
      </p:pic>
      <p:sp>
        <p:nvSpPr>
          <p:cNvPr id="30" name="Text 16"/>
          <p:cNvSpPr/>
          <p:nvPr/>
        </p:nvSpPr>
        <p:spPr>
          <a:xfrm>
            <a:off x="3583186" y="6859905"/>
            <a:ext cx="7799189" cy="125254"/>
          </a:xfrm>
          <a:prstGeom prst="rect">
            <a:avLst/>
          </a:prstGeom>
          <a:noFill/>
          <a:ln/>
        </p:spPr>
        <p:txBody>
          <a:bodyPr wrap="none" lIns="0" tIns="0" rIns="0" bIns="0" rtlCol="0" anchor="t"/>
          <a:lstStyle/>
          <a:p>
            <a:pPr marL="0" indent="0" algn="l">
              <a:lnSpc>
                <a:spcPts val="950"/>
              </a:lnSpc>
              <a:buNone/>
            </a:pPr>
            <a:r>
              <a:rPr lang="en-US" sz="800" dirty="0">
                <a:solidFill>
                  <a:srgbClr val="272525"/>
                </a:solidFill>
                <a:latin typeface="Inter" pitchFamily="34" charset="0"/>
                <a:ea typeface="Inter" pitchFamily="34" charset="-122"/>
                <a:cs typeface="Inter" pitchFamily="34" charset="-120"/>
              </a:rPr>
              <a:t>Implement effective stakeholder management strategies to influence key education outcomes.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402449" y="272891"/>
            <a:ext cx="4445079"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Professional Experience (Continued)</a:t>
            </a:r>
            <a:endParaRPr lang="en-US" sz="1950" dirty="0"/>
          </a:p>
        </p:txBody>
      </p:sp>
      <p:sp>
        <p:nvSpPr>
          <p:cNvPr id="3" name="Shape 1"/>
          <p:cNvSpPr/>
          <p:nvPr/>
        </p:nvSpPr>
        <p:spPr>
          <a:xfrm>
            <a:off x="3402449" y="682228"/>
            <a:ext cx="3887986" cy="2432804"/>
          </a:xfrm>
          <a:prstGeom prst="roundRect">
            <a:avLst>
              <a:gd name="adj" fmla="val 3007"/>
            </a:avLst>
          </a:prstGeom>
          <a:solidFill>
            <a:srgbClr val="FFFFFF"/>
          </a:solidFill>
          <a:ln w="15240">
            <a:solidFill>
              <a:srgbClr val="C0C1D7"/>
            </a:solidFill>
            <a:prstDash val="solid"/>
          </a:ln>
        </p:spPr>
        <p:txBody>
          <a:bodyPr/>
          <a:lstStyle/>
          <a:p>
            <a:endParaRPr lang="en-AU"/>
          </a:p>
        </p:txBody>
      </p:sp>
      <p:sp>
        <p:nvSpPr>
          <p:cNvPr id="4" name="Shape 2"/>
          <p:cNvSpPr/>
          <p:nvPr/>
        </p:nvSpPr>
        <p:spPr>
          <a:xfrm>
            <a:off x="3387209" y="682228"/>
            <a:ext cx="60960" cy="2432804"/>
          </a:xfrm>
          <a:prstGeom prst="roundRect">
            <a:avLst>
              <a:gd name="adj" fmla="val 68372"/>
            </a:avLst>
          </a:prstGeom>
          <a:solidFill>
            <a:srgbClr val="4950BC"/>
          </a:solidFill>
          <a:ln/>
        </p:spPr>
        <p:txBody>
          <a:bodyPr/>
          <a:lstStyle/>
          <a:p>
            <a:endParaRPr lang="en-AU"/>
          </a:p>
        </p:txBody>
      </p:sp>
      <p:sp>
        <p:nvSpPr>
          <p:cNvPr id="5" name="Text 3"/>
          <p:cNvSpPr/>
          <p:nvPr/>
        </p:nvSpPr>
        <p:spPr>
          <a:xfrm>
            <a:off x="3562588" y="796647"/>
            <a:ext cx="3099792"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Senior Credit Sales Associate (Promoted Internally)</a:t>
            </a:r>
            <a:endParaRPr lang="en-US" sz="950" dirty="0"/>
          </a:p>
        </p:txBody>
      </p:sp>
      <p:sp>
        <p:nvSpPr>
          <p:cNvPr id="6" name="Text 4"/>
          <p:cNvSpPr/>
          <p:nvPr/>
        </p:nvSpPr>
        <p:spPr>
          <a:xfrm>
            <a:off x="3562588" y="981432"/>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OurMoneyMarket Pty Ltd., Australia — Jan 2021–Nov 2021</a:t>
            </a:r>
            <a:endParaRPr lang="en-US" sz="750" dirty="0"/>
          </a:p>
        </p:txBody>
      </p:sp>
      <p:sp>
        <p:nvSpPr>
          <p:cNvPr id="7" name="Text 5"/>
          <p:cNvSpPr/>
          <p:nvPr/>
        </p:nvSpPr>
        <p:spPr>
          <a:xfrm>
            <a:off x="3562588" y="1130141"/>
            <a:ext cx="3613428" cy="1870472"/>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Assisting with the credit and collections operations in the Company; with investor relations; in establishing loan origination channels and in identifying opportunities to optimise revenue for the business, whether that is through credit related and user data.</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Assisting senior management with capital related matters, including but not limited to, preparation of presentations and pitch packs, loan performance analytics, assisting with the arrangement and structuring of structured credit deals and funding facilities.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Reviewing and commenting on legal documentation and preparation of investor reporting.</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Assisting in reporting to the Trustee and Custodian on the performance of the OurMoneyMarket Investment Trust.</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Manage inbound and outbound sales calls with all OurMoneyMarket customers.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Training staff on credit sales for performance improvement.</a:t>
            </a:r>
            <a:endParaRPr lang="en-US" sz="750" dirty="0"/>
          </a:p>
        </p:txBody>
      </p:sp>
      <p:sp>
        <p:nvSpPr>
          <p:cNvPr id="8" name="Shape 6"/>
          <p:cNvSpPr/>
          <p:nvPr/>
        </p:nvSpPr>
        <p:spPr>
          <a:xfrm>
            <a:off x="7339965" y="682228"/>
            <a:ext cx="3887986" cy="2432804"/>
          </a:xfrm>
          <a:prstGeom prst="roundRect">
            <a:avLst>
              <a:gd name="adj" fmla="val 3007"/>
            </a:avLst>
          </a:prstGeom>
          <a:solidFill>
            <a:srgbClr val="FFFFFF"/>
          </a:solidFill>
          <a:ln w="15240">
            <a:solidFill>
              <a:srgbClr val="C0C1D7"/>
            </a:solidFill>
            <a:prstDash val="solid"/>
          </a:ln>
        </p:spPr>
        <p:txBody>
          <a:bodyPr/>
          <a:lstStyle/>
          <a:p>
            <a:endParaRPr lang="en-AU"/>
          </a:p>
        </p:txBody>
      </p:sp>
      <p:sp>
        <p:nvSpPr>
          <p:cNvPr id="9" name="Shape 7"/>
          <p:cNvSpPr/>
          <p:nvPr/>
        </p:nvSpPr>
        <p:spPr>
          <a:xfrm>
            <a:off x="7324725" y="682228"/>
            <a:ext cx="60960" cy="2432804"/>
          </a:xfrm>
          <a:prstGeom prst="roundRect">
            <a:avLst>
              <a:gd name="adj" fmla="val 68372"/>
            </a:avLst>
          </a:prstGeom>
          <a:solidFill>
            <a:srgbClr val="4950BC"/>
          </a:solidFill>
          <a:ln/>
        </p:spPr>
        <p:txBody>
          <a:bodyPr/>
          <a:lstStyle/>
          <a:p>
            <a:endParaRPr lang="en-AU"/>
          </a:p>
        </p:txBody>
      </p:sp>
      <p:sp>
        <p:nvSpPr>
          <p:cNvPr id="10" name="Text 8"/>
          <p:cNvSpPr/>
          <p:nvPr/>
        </p:nvSpPr>
        <p:spPr>
          <a:xfrm>
            <a:off x="7500104" y="796647"/>
            <a:ext cx="1361242"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Credit Sales Associate</a:t>
            </a:r>
            <a:endParaRPr lang="en-US" sz="950" dirty="0"/>
          </a:p>
        </p:txBody>
      </p:sp>
      <p:sp>
        <p:nvSpPr>
          <p:cNvPr id="11" name="Text 9"/>
          <p:cNvSpPr/>
          <p:nvPr/>
        </p:nvSpPr>
        <p:spPr>
          <a:xfrm>
            <a:off x="7500104" y="981432"/>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OurMoneyMarket Pty Ltd., Australia — Aug 2019–Jan 2021</a:t>
            </a:r>
            <a:endParaRPr lang="en-US" sz="750" dirty="0"/>
          </a:p>
        </p:txBody>
      </p:sp>
      <p:sp>
        <p:nvSpPr>
          <p:cNvPr id="12" name="Text 10"/>
          <p:cNvSpPr/>
          <p:nvPr/>
        </p:nvSpPr>
        <p:spPr>
          <a:xfrm>
            <a:off x="7500104" y="1130141"/>
            <a:ext cx="3613428" cy="1734264"/>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Assisting with the credit and collections operations in the Company; with investor relations; in establishing loan origination channels and in identifying opportunities to optimise revenue for the business, whether that is through credit related and user data.</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Assisting senior management with capital related matters, including but not limited to, preparation of presentations and pitch packs, loan performance analytics, assisting with the arrangement and structuring of structured credit deals and funding facilities.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Reviewing and commenting on legal documentation and preparation of investor reporting.</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Assisting in reporting to the Trustee and Custodian on the performance of the OurMoneyMarket Investment Trust.</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Manage inbound and outbound sales calls with all OurMoneyMarket customers.</a:t>
            </a:r>
            <a:endParaRPr lang="en-US" sz="750" dirty="0"/>
          </a:p>
        </p:txBody>
      </p:sp>
      <p:sp>
        <p:nvSpPr>
          <p:cNvPr id="13" name="Shape 11"/>
          <p:cNvSpPr/>
          <p:nvPr/>
        </p:nvSpPr>
        <p:spPr>
          <a:xfrm>
            <a:off x="3402449" y="3164562"/>
            <a:ext cx="3887986" cy="1310521"/>
          </a:xfrm>
          <a:prstGeom prst="roundRect">
            <a:avLst>
              <a:gd name="adj" fmla="val 5582"/>
            </a:avLst>
          </a:prstGeom>
          <a:solidFill>
            <a:srgbClr val="FFFFFF"/>
          </a:solidFill>
          <a:ln w="15240">
            <a:solidFill>
              <a:srgbClr val="C0C1D7"/>
            </a:solidFill>
            <a:prstDash val="solid"/>
          </a:ln>
        </p:spPr>
        <p:txBody>
          <a:bodyPr/>
          <a:lstStyle/>
          <a:p>
            <a:endParaRPr lang="en-AU"/>
          </a:p>
        </p:txBody>
      </p:sp>
      <p:sp>
        <p:nvSpPr>
          <p:cNvPr id="14" name="Shape 12"/>
          <p:cNvSpPr/>
          <p:nvPr/>
        </p:nvSpPr>
        <p:spPr>
          <a:xfrm>
            <a:off x="3387209" y="3164562"/>
            <a:ext cx="60960" cy="1310521"/>
          </a:xfrm>
          <a:prstGeom prst="roundRect">
            <a:avLst>
              <a:gd name="adj" fmla="val 68372"/>
            </a:avLst>
          </a:prstGeom>
          <a:solidFill>
            <a:srgbClr val="4950BC"/>
          </a:solidFill>
          <a:ln/>
        </p:spPr>
        <p:txBody>
          <a:bodyPr/>
          <a:lstStyle/>
          <a:p>
            <a:endParaRPr lang="en-AU"/>
          </a:p>
        </p:txBody>
      </p:sp>
      <p:sp>
        <p:nvSpPr>
          <p:cNvPr id="15" name="Text 13"/>
          <p:cNvSpPr/>
          <p:nvPr/>
        </p:nvSpPr>
        <p:spPr>
          <a:xfrm>
            <a:off x="3562588" y="327898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Design Consultant</a:t>
            </a:r>
            <a:endParaRPr lang="en-US" sz="950" dirty="0"/>
          </a:p>
        </p:txBody>
      </p:sp>
      <p:sp>
        <p:nvSpPr>
          <p:cNvPr id="16" name="Text 14"/>
          <p:cNvSpPr/>
          <p:nvPr/>
        </p:nvSpPr>
        <p:spPr>
          <a:xfrm>
            <a:off x="3562588" y="3463766"/>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Australian Outdoor Living Pty Ltd., Australia — Jul 2017–Aug 2019</a:t>
            </a:r>
            <a:endParaRPr lang="en-US" sz="750" dirty="0"/>
          </a:p>
        </p:txBody>
      </p:sp>
      <p:sp>
        <p:nvSpPr>
          <p:cNvPr id="17" name="Text 15"/>
          <p:cNvSpPr/>
          <p:nvPr/>
        </p:nvSpPr>
        <p:spPr>
          <a:xfrm>
            <a:off x="3562588" y="3612475"/>
            <a:ext cx="3613428" cy="510302"/>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Provide Consultancy to Domestic Clients on Fibre Glass Swimming Pools.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Administrative Duties, such as, developing contract &amp; agreements.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Developing Architectural Drawings and Conducting first level of site inspection.</a:t>
            </a:r>
            <a:endParaRPr lang="en-US" sz="750" dirty="0"/>
          </a:p>
        </p:txBody>
      </p:sp>
      <p:sp>
        <p:nvSpPr>
          <p:cNvPr id="18" name="Shape 16"/>
          <p:cNvSpPr/>
          <p:nvPr/>
        </p:nvSpPr>
        <p:spPr>
          <a:xfrm>
            <a:off x="7339965" y="3164562"/>
            <a:ext cx="3887986" cy="1310521"/>
          </a:xfrm>
          <a:prstGeom prst="roundRect">
            <a:avLst>
              <a:gd name="adj" fmla="val 5582"/>
            </a:avLst>
          </a:prstGeom>
          <a:solidFill>
            <a:srgbClr val="FFFFFF"/>
          </a:solidFill>
          <a:ln w="15240">
            <a:solidFill>
              <a:srgbClr val="C0C1D7"/>
            </a:solidFill>
            <a:prstDash val="solid"/>
          </a:ln>
        </p:spPr>
        <p:txBody>
          <a:bodyPr/>
          <a:lstStyle/>
          <a:p>
            <a:endParaRPr lang="en-AU"/>
          </a:p>
        </p:txBody>
      </p:sp>
      <p:sp>
        <p:nvSpPr>
          <p:cNvPr id="19" name="Shape 17"/>
          <p:cNvSpPr/>
          <p:nvPr/>
        </p:nvSpPr>
        <p:spPr>
          <a:xfrm>
            <a:off x="7324725" y="3164562"/>
            <a:ext cx="60960" cy="1310521"/>
          </a:xfrm>
          <a:prstGeom prst="roundRect">
            <a:avLst>
              <a:gd name="adj" fmla="val 68372"/>
            </a:avLst>
          </a:prstGeom>
          <a:solidFill>
            <a:srgbClr val="4950BC"/>
          </a:solidFill>
          <a:ln/>
        </p:spPr>
        <p:txBody>
          <a:bodyPr/>
          <a:lstStyle/>
          <a:p>
            <a:endParaRPr lang="en-AU"/>
          </a:p>
        </p:txBody>
      </p:sp>
      <p:sp>
        <p:nvSpPr>
          <p:cNvPr id="20" name="Text 18"/>
          <p:cNvSpPr/>
          <p:nvPr/>
        </p:nvSpPr>
        <p:spPr>
          <a:xfrm>
            <a:off x="7500104" y="3278981"/>
            <a:ext cx="1640205"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Promotions Representative</a:t>
            </a:r>
            <a:endParaRPr lang="en-US" sz="950" dirty="0"/>
          </a:p>
        </p:txBody>
      </p:sp>
      <p:sp>
        <p:nvSpPr>
          <p:cNvPr id="21" name="Text 19"/>
          <p:cNvSpPr/>
          <p:nvPr/>
        </p:nvSpPr>
        <p:spPr>
          <a:xfrm>
            <a:off x="7500104" y="3463766"/>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Bramalco Pty Ltd., Australia — May 2015–Jul 2017</a:t>
            </a:r>
            <a:endParaRPr lang="en-US" sz="750" dirty="0"/>
          </a:p>
        </p:txBody>
      </p:sp>
      <p:sp>
        <p:nvSpPr>
          <p:cNvPr id="22" name="Text 20"/>
          <p:cNvSpPr/>
          <p:nvPr/>
        </p:nvSpPr>
        <p:spPr>
          <a:xfrm>
            <a:off x="7500104" y="3612475"/>
            <a:ext cx="3613428" cy="74818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Promote company's products to domestic and business clients.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Locates or proposes potential business deals by contacting potential partners; discovering and exploring opportunities.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Develops negotiating strategies and positions by studying integration of new venture with company strategies and operations; examining risks and potentials; estimating partners' needs and goals.</a:t>
            </a:r>
            <a:endParaRPr lang="en-US" sz="750" dirty="0"/>
          </a:p>
        </p:txBody>
      </p:sp>
      <p:sp>
        <p:nvSpPr>
          <p:cNvPr id="23" name="Shape 21"/>
          <p:cNvSpPr/>
          <p:nvPr/>
        </p:nvSpPr>
        <p:spPr>
          <a:xfrm>
            <a:off x="3402449" y="4524613"/>
            <a:ext cx="3887986" cy="1786295"/>
          </a:xfrm>
          <a:prstGeom prst="roundRect">
            <a:avLst>
              <a:gd name="adj" fmla="val 4095"/>
            </a:avLst>
          </a:prstGeom>
          <a:solidFill>
            <a:srgbClr val="FFFFFF"/>
          </a:solidFill>
          <a:ln w="15240">
            <a:solidFill>
              <a:srgbClr val="C0C1D7"/>
            </a:solidFill>
            <a:prstDash val="solid"/>
          </a:ln>
        </p:spPr>
        <p:txBody>
          <a:bodyPr/>
          <a:lstStyle/>
          <a:p>
            <a:endParaRPr lang="en-AU"/>
          </a:p>
        </p:txBody>
      </p:sp>
      <p:sp>
        <p:nvSpPr>
          <p:cNvPr id="24" name="Shape 22"/>
          <p:cNvSpPr/>
          <p:nvPr/>
        </p:nvSpPr>
        <p:spPr>
          <a:xfrm>
            <a:off x="3387209" y="4524613"/>
            <a:ext cx="60960" cy="1786295"/>
          </a:xfrm>
          <a:prstGeom prst="roundRect">
            <a:avLst>
              <a:gd name="adj" fmla="val 68372"/>
            </a:avLst>
          </a:prstGeom>
          <a:solidFill>
            <a:srgbClr val="4950BC"/>
          </a:solidFill>
          <a:ln/>
        </p:spPr>
        <p:txBody>
          <a:bodyPr/>
          <a:lstStyle/>
          <a:p>
            <a:endParaRPr lang="en-AU"/>
          </a:p>
        </p:txBody>
      </p:sp>
      <p:sp>
        <p:nvSpPr>
          <p:cNvPr id="25" name="Text 23"/>
          <p:cNvSpPr/>
          <p:nvPr/>
        </p:nvSpPr>
        <p:spPr>
          <a:xfrm>
            <a:off x="3562588" y="4639032"/>
            <a:ext cx="2467094"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Senior Manager – Business Development</a:t>
            </a:r>
            <a:endParaRPr lang="en-US" sz="950" dirty="0"/>
          </a:p>
        </p:txBody>
      </p:sp>
      <p:sp>
        <p:nvSpPr>
          <p:cNvPr id="26" name="Text 24"/>
          <p:cNvSpPr/>
          <p:nvPr/>
        </p:nvSpPr>
        <p:spPr>
          <a:xfrm>
            <a:off x="3562588" y="4823817"/>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Freyr Inc., the USA — Feb 2014–Oct 2014</a:t>
            </a:r>
            <a:endParaRPr lang="en-US" sz="750" dirty="0"/>
          </a:p>
        </p:txBody>
      </p:sp>
      <p:sp>
        <p:nvSpPr>
          <p:cNvPr id="27" name="Text 25"/>
          <p:cNvSpPr/>
          <p:nvPr/>
        </p:nvSpPr>
        <p:spPr>
          <a:xfrm>
            <a:off x="3562588" y="4972526"/>
            <a:ext cx="3613428" cy="867132"/>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Promoting the company's products and technical support capabilities.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Identifies trendsetter ideas by researching industry and related events, publications, and announcements; tracking individual contributors and their accomplishments.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Screens potential business deals by analysing market strategies, deal requirements, potential, and financials; evaluating options; resolving internal priorities.</a:t>
            </a:r>
            <a:endParaRPr lang="en-US" sz="750" dirty="0"/>
          </a:p>
        </p:txBody>
      </p:sp>
      <p:sp>
        <p:nvSpPr>
          <p:cNvPr id="28" name="Shape 26"/>
          <p:cNvSpPr/>
          <p:nvPr/>
        </p:nvSpPr>
        <p:spPr>
          <a:xfrm>
            <a:off x="7339965" y="4524613"/>
            <a:ext cx="3887986" cy="1786295"/>
          </a:xfrm>
          <a:prstGeom prst="roundRect">
            <a:avLst>
              <a:gd name="adj" fmla="val 4095"/>
            </a:avLst>
          </a:prstGeom>
          <a:solidFill>
            <a:srgbClr val="FFFFFF"/>
          </a:solidFill>
          <a:ln w="15240">
            <a:solidFill>
              <a:srgbClr val="C0C1D7"/>
            </a:solidFill>
            <a:prstDash val="solid"/>
          </a:ln>
        </p:spPr>
        <p:txBody>
          <a:bodyPr/>
          <a:lstStyle/>
          <a:p>
            <a:endParaRPr lang="en-AU"/>
          </a:p>
        </p:txBody>
      </p:sp>
      <p:sp>
        <p:nvSpPr>
          <p:cNvPr id="29" name="Shape 27"/>
          <p:cNvSpPr/>
          <p:nvPr/>
        </p:nvSpPr>
        <p:spPr>
          <a:xfrm>
            <a:off x="7324725" y="4524613"/>
            <a:ext cx="60960" cy="1786295"/>
          </a:xfrm>
          <a:prstGeom prst="roundRect">
            <a:avLst>
              <a:gd name="adj" fmla="val 68372"/>
            </a:avLst>
          </a:prstGeom>
          <a:solidFill>
            <a:srgbClr val="4950BC"/>
          </a:solidFill>
          <a:ln/>
        </p:spPr>
        <p:txBody>
          <a:bodyPr/>
          <a:lstStyle/>
          <a:p>
            <a:endParaRPr lang="en-AU"/>
          </a:p>
        </p:txBody>
      </p:sp>
      <p:sp>
        <p:nvSpPr>
          <p:cNvPr id="30" name="Text 28"/>
          <p:cNvSpPr/>
          <p:nvPr/>
        </p:nvSpPr>
        <p:spPr>
          <a:xfrm>
            <a:off x="7500104" y="4639032"/>
            <a:ext cx="2045494"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Manager – Business Development</a:t>
            </a:r>
            <a:endParaRPr lang="en-US" sz="950" dirty="0"/>
          </a:p>
        </p:txBody>
      </p:sp>
      <p:sp>
        <p:nvSpPr>
          <p:cNvPr id="31" name="Text 29"/>
          <p:cNvSpPr/>
          <p:nvPr/>
        </p:nvSpPr>
        <p:spPr>
          <a:xfrm>
            <a:off x="7500104" y="4823817"/>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HTC Global Services Inc., India — Jan 2013–Dec 2013</a:t>
            </a:r>
            <a:endParaRPr lang="en-US" sz="750" dirty="0"/>
          </a:p>
        </p:txBody>
      </p:sp>
      <p:sp>
        <p:nvSpPr>
          <p:cNvPr id="32" name="Text 30"/>
          <p:cNvSpPr/>
          <p:nvPr/>
        </p:nvSpPr>
        <p:spPr>
          <a:xfrm>
            <a:off x="7500104" y="4972526"/>
            <a:ext cx="3613428" cy="1223963"/>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E-Learning and E-Publishing Lead Generation, prospecting, Qualification through databases, newsletters, alerts &amp; research, social networking and advance Google search option.</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Proposal Submission and Closure of Opportunities, with the help of operations team.</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Acquiring and updating knowledge of employers' and competitors' services, and market conditions visiting regular and prospective client businesses to establish and act on selling opportunities assessing customers' needs and explaining the goods and services which meet their needs.</a:t>
            </a:r>
            <a:endParaRPr lang="en-US" sz="750" dirty="0"/>
          </a:p>
        </p:txBody>
      </p:sp>
      <p:sp>
        <p:nvSpPr>
          <p:cNvPr id="33" name="Shape 31"/>
          <p:cNvSpPr/>
          <p:nvPr/>
        </p:nvSpPr>
        <p:spPr>
          <a:xfrm>
            <a:off x="3402449" y="6360438"/>
            <a:ext cx="3887986" cy="1548408"/>
          </a:xfrm>
          <a:prstGeom prst="roundRect">
            <a:avLst>
              <a:gd name="adj" fmla="val 4724"/>
            </a:avLst>
          </a:prstGeom>
          <a:solidFill>
            <a:srgbClr val="FFFFFF"/>
          </a:solidFill>
          <a:ln w="15240">
            <a:solidFill>
              <a:srgbClr val="C0C1D7"/>
            </a:solidFill>
            <a:prstDash val="solid"/>
          </a:ln>
        </p:spPr>
        <p:txBody>
          <a:bodyPr/>
          <a:lstStyle/>
          <a:p>
            <a:endParaRPr lang="en-AU"/>
          </a:p>
        </p:txBody>
      </p:sp>
      <p:sp>
        <p:nvSpPr>
          <p:cNvPr id="34" name="Shape 32"/>
          <p:cNvSpPr/>
          <p:nvPr/>
        </p:nvSpPr>
        <p:spPr>
          <a:xfrm>
            <a:off x="3387209" y="6360438"/>
            <a:ext cx="60960" cy="1548408"/>
          </a:xfrm>
          <a:prstGeom prst="roundRect">
            <a:avLst>
              <a:gd name="adj" fmla="val 68372"/>
            </a:avLst>
          </a:prstGeom>
          <a:solidFill>
            <a:srgbClr val="4950BC"/>
          </a:solidFill>
          <a:ln/>
        </p:spPr>
        <p:txBody>
          <a:bodyPr/>
          <a:lstStyle/>
          <a:p>
            <a:endParaRPr lang="en-AU"/>
          </a:p>
        </p:txBody>
      </p:sp>
      <p:sp>
        <p:nvSpPr>
          <p:cNvPr id="35" name="Text 33"/>
          <p:cNvSpPr/>
          <p:nvPr/>
        </p:nvSpPr>
        <p:spPr>
          <a:xfrm>
            <a:off x="3562588" y="6474857"/>
            <a:ext cx="1988939"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Assistant Manager – Inside Sales</a:t>
            </a:r>
            <a:endParaRPr lang="en-US" sz="950" dirty="0"/>
          </a:p>
        </p:txBody>
      </p:sp>
      <p:sp>
        <p:nvSpPr>
          <p:cNvPr id="36" name="Text 34"/>
          <p:cNvSpPr/>
          <p:nvPr/>
        </p:nvSpPr>
        <p:spPr>
          <a:xfrm>
            <a:off x="3562588" y="6659642"/>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Integra Software Services Pvt. Ltd., India — Feb 2012–Jan 2013</a:t>
            </a:r>
            <a:endParaRPr lang="en-US" sz="750" dirty="0"/>
          </a:p>
        </p:txBody>
      </p:sp>
      <p:sp>
        <p:nvSpPr>
          <p:cNvPr id="37" name="Text 35"/>
          <p:cNvSpPr/>
          <p:nvPr/>
        </p:nvSpPr>
        <p:spPr>
          <a:xfrm>
            <a:off x="3562588" y="6808351"/>
            <a:ext cx="3613428" cy="74818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Responsible to meet the revenue targets as per overall business plans of the company in relation to E-Learning &amp; E-Publishing environment.</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Customer intelligence and market trends Planning, forecasting and reviewing. Preparing sales plans by customer-wise accounts.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Create/facilitate campaigns/promotional projects for department to meet revenue goals.</a:t>
            </a:r>
            <a:endParaRPr lang="en-US" sz="750" dirty="0"/>
          </a:p>
        </p:txBody>
      </p:sp>
      <p:sp>
        <p:nvSpPr>
          <p:cNvPr id="38" name="Shape 36"/>
          <p:cNvSpPr/>
          <p:nvPr/>
        </p:nvSpPr>
        <p:spPr>
          <a:xfrm>
            <a:off x="7339965" y="6360438"/>
            <a:ext cx="3887986" cy="1548408"/>
          </a:xfrm>
          <a:prstGeom prst="roundRect">
            <a:avLst>
              <a:gd name="adj" fmla="val 4724"/>
            </a:avLst>
          </a:prstGeom>
          <a:solidFill>
            <a:srgbClr val="FFFFFF"/>
          </a:solidFill>
          <a:ln w="15240">
            <a:solidFill>
              <a:srgbClr val="C0C1D7"/>
            </a:solidFill>
            <a:prstDash val="solid"/>
          </a:ln>
        </p:spPr>
        <p:txBody>
          <a:bodyPr/>
          <a:lstStyle/>
          <a:p>
            <a:endParaRPr lang="en-AU"/>
          </a:p>
        </p:txBody>
      </p:sp>
      <p:sp>
        <p:nvSpPr>
          <p:cNvPr id="39" name="Shape 37"/>
          <p:cNvSpPr/>
          <p:nvPr/>
        </p:nvSpPr>
        <p:spPr>
          <a:xfrm>
            <a:off x="7324725" y="6360438"/>
            <a:ext cx="60960" cy="1548408"/>
          </a:xfrm>
          <a:prstGeom prst="roundRect">
            <a:avLst>
              <a:gd name="adj" fmla="val 68372"/>
            </a:avLst>
          </a:prstGeom>
          <a:solidFill>
            <a:srgbClr val="4950BC"/>
          </a:solidFill>
          <a:ln/>
        </p:spPr>
        <p:txBody>
          <a:bodyPr/>
          <a:lstStyle/>
          <a:p>
            <a:endParaRPr lang="en-AU"/>
          </a:p>
        </p:txBody>
      </p:sp>
      <p:sp>
        <p:nvSpPr>
          <p:cNvPr id="40" name="Text 38"/>
          <p:cNvSpPr/>
          <p:nvPr/>
        </p:nvSpPr>
        <p:spPr>
          <a:xfrm>
            <a:off x="7500104" y="6474857"/>
            <a:ext cx="2079308"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Senior Sales &amp; Marketing Manager</a:t>
            </a:r>
            <a:endParaRPr lang="en-US" sz="950" dirty="0"/>
          </a:p>
        </p:txBody>
      </p:sp>
      <p:sp>
        <p:nvSpPr>
          <p:cNvPr id="41" name="Text 39"/>
          <p:cNvSpPr/>
          <p:nvPr/>
        </p:nvSpPr>
        <p:spPr>
          <a:xfrm>
            <a:off x="7500104" y="6659642"/>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Elation Softnet Pvt. Ltd., India — Mar 2008–Jul 2011</a:t>
            </a:r>
            <a:endParaRPr lang="en-US" sz="750" dirty="0"/>
          </a:p>
        </p:txBody>
      </p:sp>
      <p:sp>
        <p:nvSpPr>
          <p:cNvPr id="42" name="Text 40"/>
          <p:cNvSpPr/>
          <p:nvPr/>
        </p:nvSpPr>
        <p:spPr>
          <a:xfrm>
            <a:off x="7500104" y="6808351"/>
            <a:ext cx="3613428" cy="986076"/>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Developing Policies and Management Information System Model for enhancing growth of the company.</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Designing systems/procedures for Change Management in Company operations entailing mapping business processes and studying work-flow to design solutions.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Conducting project feasibility studies and preparing reports to assess the financial viability, predictable cash flow &amp; growth opportunities for projects and business lines.</a:t>
            </a:r>
            <a:endParaRPr lang="en-US" sz="750" dirty="0"/>
          </a:p>
        </p:txBody>
      </p:sp>
      <p:sp>
        <p:nvSpPr>
          <p:cNvPr id="43" name="Shape 41"/>
          <p:cNvSpPr/>
          <p:nvPr/>
        </p:nvSpPr>
        <p:spPr>
          <a:xfrm>
            <a:off x="3402449" y="7958376"/>
            <a:ext cx="3887986" cy="1753672"/>
          </a:xfrm>
          <a:prstGeom prst="roundRect">
            <a:avLst>
              <a:gd name="adj" fmla="val 4171"/>
            </a:avLst>
          </a:prstGeom>
          <a:solidFill>
            <a:srgbClr val="FFFFFF"/>
          </a:solidFill>
          <a:ln w="15240">
            <a:solidFill>
              <a:srgbClr val="C0C1D7"/>
            </a:solidFill>
            <a:prstDash val="solid"/>
          </a:ln>
        </p:spPr>
        <p:txBody>
          <a:bodyPr/>
          <a:lstStyle/>
          <a:p>
            <a:endParaRPr lang="en-AU"/>
          </a:p>
        </p:txBody>
      </p:sp>
      <p:sp>
        <p:nvSpPr>
          <p:cNvPr id="44" name="Shape 42"/>
          <p:cNvSpPr/>
          <p:nvPr/>
        </p:nvSpPr>
        <p:spPr>
          <a:xfrm>
            <a:off x="3387209" y="7958376"/>
            <a:ext cx="60960" cy="1753672"/>
          </a:xfrm>
          <a:prstGeom prst="roundRect">
            <a:avLst>
              <a:gd name="adj" fmla="val 68372"/>
            </a:avLst>
          </a:prstGeom>
          <a:solidFill>
            <a:srgbClr val="4950BC"/>
          </a:solidFill>
          <a:ln/>
        </p:spPr>
        <p:txBody>
          <a:bodyPr/>
          <a:lstStyle/>
          <a:p>
            <a:endParaRPr lang="en-AU"/>
          </a:p>
        </p:txBody>
      </p:sp>
      <p:sp>
        <p:nvSpPr>
          <p:cNvPr id="45" name="Text 43"/>
          <p:cNvSpPr/>
          <p:nvPr/>
        </p:nvSpPr>
        <p:spPr>
          <a:xfrm>
            <a:off x="3562588" y="8072795"/>
            <a:ext cx="1413629"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Business Sales Advisor</a:t>
            </a:r>
            <a:endParaRPr lang="en-US" sz="950" dirty="0"/>
          </a:p>
        </p:txBody>
      </p:sp>
      <p:sp>
        <p:nvSpPr>
          <p:cNvPr id="46" name="Text 44"/>
          <p:cNvSpPr/>
          <p:nvPr/>
        </p:nvSpPr>
        <p:spPr>
          <a:xfrm>
            <a:off x="3562588" y="8257580"/>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PC World, DSGi, London, UK — Oct 2005–Feb 2008</a:t>
            </a:r>
            <a:endParaRPr lang="en-US" sz="750" dirty="0"/>
          </a:p>
        </p:txBody>
      </p:sp>
      <p:sp>
        <p:nvSpPr>
          <p:cNvPr id="47" name="Text 45"/>
          <p:cNvSpPr/>
          <p:nvPr/>
        </p:nvSpPr>
        <p:spPr>
          <a:xfrm>
            <a:off x="3562588" y="8406289"/>
            <a:ext cx="3613428" cy="110501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Accounts Management and supervising a team of 25 people, providing training regarding, IT, sales and marketing and customer service techniques.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Maximize Sell-in Domestic and Business Products, communicate schemes and other promotions to maximize sales and prepare Plano-grams for correct placement in outlets.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Support Assistant Managers and General Manager in planning activities and Identify slow moving models and innovate ideas to enhance the speed.</a:t>
            </a:r>
            <a:endParaRPr lang="en-US" sz="750" dirty="0"/>
          </a:p>
        </p:txBody>
      </p:sp>
      <p:sp>
        <p:nvSpPr>
          <p:cNvPr id="48" name="Shape 46"/>
          <p:cNvSpPr/>
          <p:nvPr/>
        </p:nvSpPr>
        <p:spPr>
          <a:xfrm>
            <a:off x="7339965" y="7958376"/>
            <a:ext cx="3887986" cy="1753672"/>
          </a:xfrm>
          <a:prstGeom prst="roundRect">
            <a:avLst>
              <a:gd name="adj" fmla="val 4171"/>
            </a:avLst>
          </a:prstGeom>
          <a:solidFill>
            <a:srgbClr val="FFFFFF"/>
          </a:solidFill>
          <a:ln w="15240">
            <a:solidFill>
              <a:srgbClr val="C0C1D7"/>
            </a:solidFill>
            <a:prstDash val="solid"/>
          </a:ln>
        </p:spPr>
        <p:txBody>
          <a:bodyPr/>
          <a:lstStyle/>
          <a:p>
            <a:endParaRPr lang="en-AU"/>
          </a:p>
        </p:txBody>
      </p:sp>
      <p:sp>
        <p:nvSpPr>
          <p:cNvPr id="49" name="Shape 47"/>
          <p:cNvSpPr/>
          <p:nvPr/>
        </p:nvSpPr>
        <p:spPr>
          <a:xfrm>
            <a:off x="7324725" y="7958376"/>
            <a:ext cx="60960" cy="1753672"/>
          </a:xfrm>
          <a:prstGeom prst="roundRect">
            <a:avLst>
              <a:gd name="adj" fmla="val 68372"/>
            </a:avLst>
          </a:prstGeom>
          <a:solidFill>
            <a:srgbClr val="4950BC"/>
          </a:solidFill>
          <a:ln/>
        </p:spPr>
        <p:txBody>
          <a:bodyPr/>
          <a:lstStyle/>
          <a:p>
            <a:endParaRPr lang="en-AU"/>
          </a:p>
        </p:txBody>
      </p:sp>
      <p:sp>
        <p:nvSpPr>
          <p:cNvPr id="50" name="Text 48"/>
          <p:cNvSpPr/>
          <p:nvPr/>
        </p:nvSpPr>
        <p:spPr>
          <a:xfrm>
            <a:off x="7500104" y="8072795"/>
            <a:ext cx="1343025"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Static Security Officer</a:t>
            </a:r>
            <a:endParaRPr lang="en-US" sz="950" dirty="0"/>
          </a:p>
        </p:txBody>
      </p:sp>
      <p:sp>
        <p:nvSpPr>
          <p:cNvPr id="51" name="Text 49"/>
          <p:cNvSpPr/>
          <p:nvPr/>
        </p:nvSpPr>
        <p:spPr>
          <a:xfrm>
            <a:off x="7500104" y="8257580"/>
            <a:ext cx="3613428" cy="118943"/>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Securway Security Ltd, Dublin, Republic of Ireland — May 2003–May 2005</a:t>
            </a:r>
            <a:endParaRPr lang="en-US" sz="750" dirty="0"/>
          </a:p>
        </p:txBody>
      </p:sp>
      <p:sp>
        <p:nvSpPr>
          <p:cNvPr id="52" name="Text 50"/>
          <p:cNvSpPr/>
          <p:nvPr/>
        </p:nvSpPr>
        <p:spPr>
          <a:xfrm>
            <a:off x="7500104" y="8406289"/>
            <a:ext cx="3613428" cy="1191339"/>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General security duties.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Dealing with emergencies and liaising with Gardaí if necessary.</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Report all incidents, accidents and emergencies.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Regular Health &amp; Safety Checks of all areas.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To provide an open and consistent communication interface between the Client and Management.</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To be fully aware of all emergency and evacuation procedures.</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Other reasonable duties that may be assigned from time to time.</a:t>
            </a:r>
            <a:endParaRPr lang="en-US" sz="750" dirty="0"/>
          </a:p>
          <a:p>
            <a:pPr marL="342900" indent="-342900" algn="l">
              <a:lnSpc>
                <a:spcPts val="900"/>
              </a:lnSpc>
              <a:buSzPct val="100000"/>
              <a:buChar char="•"/>
            </a:pPr>
            <a:r>
              <a:rPr lang="en-US" sz="750" dirty="0">
                <a:solidFill>
                  <a:srgbClr val="272525"/>
                </a:solidFill>
                <a:latin typeface="Inter" pitchFamily="34" charset="0"/>
                <a:ea typeface="Inter" pitchFamily="34" charset="-122"/>
                <a:cs typeface="Inter" pitchFamily="34" charset="-120"/>
              </a:rPr>
              <a:t>Fully adhere to onsite procedures and policies.</a:t>
            </a:r>
            <a:endParaRPr lang="en-US" sz="750" dirty="0"/>
          </a:p>
        </p:txBody>
      </p:sp>
      <p:sp>
        <p:nvSpPr>
          <p:cNvPr id="53" name="Shape 51"/>
          <p:cNvSpPr/>
          <p:nvPr/>
        </p:nvSpPr>
        <p:spPr>
          <a:xfrm>
            <a:off x="3402449" y="9817343"/>
            <a:ext cx="7825502" cy="20003"/>
          </a:xfrm>
          <a:prstGeom prst="rect">
            <a:avLst/>
          </a:prstGeom>
          <a:solidFill>
            <a:srgbClr val="272525">
              <a:alpha val="50000"/>
            </a:srgbClr>
          </a:solidFill>
          <a:ln/>
        </p:spPr>
        <p:txBody>
          <a:bodyPr/>
          <a:lstStyle/>
          <a:p>
            <a:endParaRPr lang="en-AU"/>
          </a:p>
        </p:txBody>
      </p:sp>
      <p:sp>
        <p:nvSpPr>
          <p:cNvPr id="54" name="Text 52"/>
          <p:cNvSpPr/>
          <p:nvPr/>
        </p:nvSpPr>
        <p:spPr>
          <a:xfrm>
            <a:off x="3402449" y="9911715"/>
            <a:ext cx="2169676"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Contract Assignments</a:t>
            </a:r>
            <a:endParaRPr lang="en-US" sz="1550" dirty="0"/>
          </a:p>
        </p:txBody>
      </p:sp>
      <p:pic>
        <p:nvPicPr>
          <p:cNvPr id="5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2449" y="10246519"/>
            <a:ext cx="99179" cy="99179"/>
          </a:xfrm>
          <a:prstGeom prst="rect">
            <a:avLst/>
          </a:prstGeom>
        </p:spPr>
      </p:pic>
      <p:sp>
        <p:nvSpPr>
          <p:cNvPr id="56" name="Shape 53"/>
          <p:cNvSpPr/>
          <p:nvPr/>
        </p:nvSpPr>
        <p:spPr>
          <a:xfrm>
            <a:off x="3402449" y="10387370"/>
            <a:ext cx="2575441" cy="15240"/>
          </a:xfrm>
          <a:prstGeom prst="rect">
            <a:avLst/>
          </a:prstGeom>
          <a:solidFill>
            <a:srgbClr val="4950BC"/>
          </a:solidFill>
          <a:ln/>
        </p:spPr>
        <p:txBody>
          <a:bodyPr/>
          <a:lstStyle/>
          <a:p>
            <a:endParaRPr lang="en-AU"/>
          </a:p>
        </p:txBody>
      </p:sp>
      <p:sp>
        <p:nvSpPr>
          <p:cNvPr id="57" name="Text 54"/>
          <p:cNvSpPr/>
          <p:nvPr/>
        </p:nvSpPr>
        <p:spPr>
          <a:xfrm>
            <a:off x="3402449" y="10467380"/>
            <a:ext cx="2575441" cy="465058"/>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Officer-In-Charge 4–6 Issuing Points, Electoral Officer 5 (deployed as Polling Assistant) — May 2025</a:t>
            </a:r>
            <a:endParaRPr lang="en-US" sz="950" dirty="0"/>
          </a:p>
        </p:txBody>
      </p:sp>
      <p:sp>
        <p:nvSpPr>
          <p:cNvPr id="58" name="Text 55"/>
          <p:cNvSpPr/>
          <p:nvPr/>
        </p:nvSpPr>
        <p:spPr>
          <a:xfrm>
            <a:off x="3402449" y="10962203"/>
            <a:ext cx="2575441" cy="118943"/>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Electoral Election Commission (AEC), Australia</a:t>
            </a:r>
            <a:endParaRPr lang="en-US" sz="750" dirty="0"/>
          </a:p>
        </p:txBody>
      </p:sp>
      <p:pic>
        <p:nvPicPr>
          <p:cNvPr id="5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27420" y="10246519"/>
            <a:ext cx="99179" cy="99179"/>
          </a:xfrm>
          <a:prstGeom prst="rect">
            <a:avLst/>
          </a:prstGeom>
        </p:spPr>
      </p:pic>
      <p:sp>
        <p:nvSpPr>
          <p:cNvPr id="60" name="Shape 56"/>
          <p:cNvSpPr/>
          <p:nvPr/>
        </p:nvSpPr>
        <p:spPr>
          <a:xfrm>
            <a:off x="6027420" y="10387370"/>
            <a:ext cx="2575441" cy="15240"/>
          </a:xfrm>
          <a:prstGeom prst="rect">
            <a:avLst/>
          </a:prstGeom>
          <a:solidFill>
            <a:srgbClr val="4950BC"/>
          </a:solidFill>
          <a:ln/>
        </p:spPr>
        <p:txBody>
          <a:bodyPr/>
          <a:lstStyle/>
          <a:p>
            <a:endParaRPr lang="en-AU"/>
          </a:p>
        </p:txBody>
      </p:sp>
      <p:sp>
        <p:nvSpPr>
          <p:cNvPr id="61" name="Text 57"/>
          <p:cNvSpPr/>
          <p:nvPr/>
        </p:nvSpPr>
        <p:spPr>
          <a:xfrm>
            <a:off x="6027420" y="10467380"/>
            <a:ext cx="2575441"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Program Director – Honours — Dec 2023–Mar 2024</a:t>
            </a:r>
            <a:endParaRPr lang="en-US" sz="950" dirty="0"/>
          </a:p>
        </p:txBody>
      </p:sp>
      <p:sp>
        <p:nvSpPr>
          <p:cNvPr id="62" name="Text 58"/>
          <p:cNvSpPr/>
          <p:nvPr/>
        </p:nvSpPr>
        <p:spPr>
          <a:xfrm>
            <a:off x="6027420" y="10807184"/>
            <a:ext cx="2575441" cy="118943"/>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Adelaide Business School, Australia</a:t>
            </a:r>
            <a:endParaRPr lang="en-US" sz="750" dirty="0"/>
          </a:p>
        </p:txBody>
      </p:sp>
      <p:pic>
        <p:nvPicPr>
          <p:cNvPr id="6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52391" y="10246519"/>
            <a:ext cx="99179" cy="99179"/>
          </a:xfrm>
          <a:prstGeom prst="rect">
            <a:avLst/>
          </a:prstGeom>
        </p:spPr>
      </p:pic>
      <p:sp>
        <p:nvSpPr>
          <p:cNvPr id="64" name="Shape 59"/>
          <p:cNvSpPr/>
          <p:nvPr/>
        </p:nvSpPr>
        <p:spPr>
          <a:xfrm>
            <a:off x="8652391" y="10387370"/>
            <a:ext cx="2575560" cy="15240"/>
          </a:xfrm>
          <a:prstGeom prst="rect">
            <a:avLst/>
          </a:prstGeom>
          <a:solidFill>
            <a:srgbClr val="4950BC"/>
          </a:solidFill>
          <a:ln/>
        </p:spPr>
        <p:txBody>
          <a:bodyPr/>
          <a:lstStyle/>
          <a:p>
            <a:endParaRPr lang="en-AU"/>
          </a:p>
        </p:txBody>
      </p:sp>
      <p:sp>
        <p:nvSpPr>
          <p:cNvPr id="65" name="Text 60"/>
          <p:cNvSpPr/>
          <p:nvPr/>
        </p:nvSpPr>
        <p:spPr>
          <a:xfrm>
            <a:off x="8652391" y="10467380"/>
            <a:ext cx="2575560"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Academic Mentor — Wirltu Yarlu Academic Mentoring Program 2018–2019</a:t>
            </a:r>
            <a:endParaRPr lang="en-US" sz="950" dirty="0"/>
          </a:p>
        </p:txBody>
      </p:sp>
      <p:sp>
        <p:nvSpPr>
          <p:cNvPr id="66" name="Text 61"/>
          <p:cNvSpPr/>
          <p:nvPr/>
        </p:nvSpPr>
        <p:spPr>
          <a:xfrm>
            <a:off x="8652391" y="10807184"/>
            <a:ext cx="2575560" cy="118943"/>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University of Adelaide, South Australia</a:t>
            </a:r>
            <a:endParaRPr lang="en-US" sz="750" dirty="0"/>
          </a:p>
        </p:txBody>
      </p:sp>
      <p:pic>
        <p:nvPicPr>
          <p:cNvPr id="6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02449" y="11217473"/>
            <a:ext cx="99179" cy="99179"/>
          </a:xfrm>
          <a:prstGeom prst="rect">
            <a:avLst/>
          </a:prstGeom>
        </p:spPr>
      </p:pic>
      <p:sp>
        <p:nvSpPr>
          <p:cNvPr id="68" name="Shape 62"/>
          <p:cNvSpPr/>
          <p:nvPr/>
        </p:nvSpPr>
        <p:spPr>
          <a:xfrm>
            <a:off x="3402449" y="11358324"/>
            <a:ext cx="3887986" cy="15240"/>
          </a:xfrm>
          <a:prstGeom prst="rect">
            <a:avLst/>
          </a:prstGeom>
          <a:solidFill>
            <a:srgbClr val="4950BC"/>
          </a:solidFill>
          <a:ln/>
        </p:spPr>
        <p:txBody>
          <a:bodyPr/>
          <a:lstStyle/>
          <a:p>
            <a:endParaRPr lang="en-AU"/>
          </a:p>
        </p:txBody>
      </p:sp>
      <p:sp>
        <p:nvSpPr>
          <p:cNvPr id="69" name="Text 63"/>
          <p:cNvSpPr/>
          <p:nvPr/>
        </p:nvSpPr>
        <p:spPr>
          <a:xfrm>
            <a:off x="3402449" y="11438334"/>
            <a:ext cx="3066931"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Business Development Head — Aug 2011–Feb 2012</a:t>
            </a:r>
            <a:endParaRPr lang="en-US" sz="950" dirty="0"/>
          </a:p>
        </p:txBody>
      </p:sp>
      <p:sp>
        <p:nvSpPr>
          <p:cNvPr id="70" name="Text 64"/>
          <p:cNvSpPr/>
          <p:nvPr/>
        </p:nvSpPr>
        <p:spPr>
          <a:xfrm>
            <a:off x="3402449" y="11623119"/>
            <a:ext cx="3887986" cy="118943"/>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Tranquil Minds, SIMHANS Pvt. Ltd., India</a:t>
            </a:r>
            <a:endParaRPr lang="en-US" sz="750" dirty="0"/>
          </a:p>
        </p:txBody>
      </p:sp>
      <p:pic>
        <p:nvPicPr>
          <p:cNvPr id="7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39965" y="11217473"/>
            <a:ext cx="99179" cy="99179"/>
          </a:xfrm>
          <a:prstGeom prst="rect">
            <a:avLst/>
          </a:prstGeom>
        </p:spPr>
      </p:pic>
      <p:sp>
        <p:nvSpPr>
          <p:cNvPr id="72" name="Shape 65"/>
          <p:cNvSpPr/>
          <p:nvPr/>
        </p:nvSpPr>
        <p:spPr>
          <a:xfrm>
            <a:off x="7339965" y="11358324"/>
            <a:ext cx="3887986" cy="15240"/>
          </a:xfrm>
          <a:prstGeom prst="rect">
            <a:avLst/>
          </a:prstGeom>
          <a:solidFill>
            <a:srgbClr val="4950BC"/>
          </a:solidFill>
          <a:ln/>
        </p:spPr>
        <p:txBody>
          <a:bodyPr/>
          <a:lstStyle/>
          <a:p>
            <a:endParaRPr lang="en-AU"/>
          </a:p>
        </p:txBody>
      </p:sp>
      <p:sp>
        <p:nvSpPr>
          <p:cNvPr id="73" name="Text 66"/>
          <p:cNvSpPr/>
          <p:nvPr/>
        </p:nvSpPr>
        <p:spPr>
          <a:xfrm>
            <a:off x="7339965" y="11438334"/>
            <a:ext cx="234910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System Analyst — Jan 2009–Apr 2009</a:t>
            </a:r>
            <a:endParaRPr lang="en-US" sz="950" dirty="0"/>
          </a:p>
        </p:txBody>
      </p:sp>
      <p:sp>
        <p:nvSpPr>
          <p:cNvPr id="74" name="Text 67"/>
          <p:cNvSpPr/>
          <p:nvPr/>
        </p:nvSpPr>
        <p:spPr>
          <a:xfrm>
            <a:off x="7339965" y="11623119"/>
            <a:ext cx="3887986" cy="118943"/>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Halcyon Virtual Technology Group, USA</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402449" y="272891"/>
            <a:ext cx="2637830"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Academic Experience</a:t>
            </a:r>
            <a:endParaRPr lang="en-US" sz="1950" dirty="0"/>
          </a:p>
        </p:txBody>
      </p:sp>
      <p:sp>
        <p:nvSpPr>
          <p:cNvPr id="3" name="Shape 1"/>
          <p:cNvSpPr/>
          <p:nvPr/>
        </p:nvSpPr>
        <p:spPr>
          <a:xfrm>
            <a:off x="3331012" y="657463"/>
            <a:ext cx="3934658" cy="4541282"/>
          </a:xfrm>
          <a:prstGeom prst="roundRect">
            <a:avLst>
              <a:gd name="adj" fmla="val 1816"/>
            </a:avLst>
          </a:prstGeom>
          <a:solidFill>
            <a:srgbClr val="835E54"/>
          </a:solidFill>
          <a:ln/>
        </p:spPr>
        <p:txBody>
          <a:bodyPr/>
          <a:lstStyle/>
          <a:p>
            <a:endParaRPr lang="en-AU"/>
          </a:p>
        </p:txBody>
      </p:sp>
      <p:sp>
        <p:nvSpPr>
          <p:cNvPr id="4" name="Text 2"/>
          <p:cNvSpPr/>
          <p:nvPr/>
        </p:nvSpPr>
        <p:spPr>
          <a:xfrm>
            <a:off x="3430191" y="706993"/>
            <a:ext cx="1438394"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Inter Bold" pitchFamily="34" charset="0"/>
                <a:ea typeface="Inter Bold" pitchFamily="34" charset="-122"/>
                <a:cs typeface="Inter Bold" pitchFamily="34" charset="-120"/>
              </a:rPr>
              <a:t>Editorial &amp; Review Roles</a:t>
            </a:r>
            <a:endParaRPr lang="en-US" sz="950" dirty="0"/>
          </a:p>
        </p:txBody>
      </p:sp>
      <p:sp>
        <p:nvSpPr>
          <p:cNvPr id="5" name="Shape 3"/>
          <p:cNvSpPr/>
          <p:nvPr/>
        </p:nvSpPr>
        <p:spPr>
          <a:xfrm>
            <a:off x="3430191" y="917734"/>
            <a:ext cx="1843326" cy="811054"/>
          </a:xfrm>
          <a:prstGeom prst="roundRect">
            <a:avLst>
              <a:gd name="adj" fmla="val 5139"/>
            </a:avLst>
          </a:prstGeom>
          <a:solidFill>
            <a:srgbClr val="DADBF1"/>
          </a:solidFill>
          <a:ln w="7620">
            <a:solidFill>
              <a:srgbClr val="C0C1D7"/>
            </a:solidFill>
            <a:prstDash val="solid"/>
          </a:ln>
        </p:spPr>
        <p:txBody>
          <a:bodyPr/>
          <a:lstStyle/>
          <a:p>
            <a:endParaRPr lang="en-AU"/>
          </a:p>
        </p:txBody>
      </p:sp>
      <p:sp>
        <p:nvSpPr>
          <p:cNvPr id="6" name="Text 4"/>
          <p:cNvSpPr/>
          <p:nvPr/>
        </p:nvSpPr>
        <p:spPr>
          <a:xfrm>
            <a:off x="3536990" y="1024533"/>
            <a:ext cx="1629728" cy="310039"/>
          </a:xfrm>
          <a:prstGeom prst="rect">
            <a:avLst/>
          </a:prstGeom>
          <a:noFill/>
          <a:ln/>
        </p:spPr>
        <p:txBody>
          <a:bodyPr wrap="squar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Editorial Review Board Member</a:t>
            </a:r>
            <a:endParaRPr lang="en-US" sz="950" dirty="0"/>
          </a:p>
        </p:txBody>
      </p:sp>
      <p:sp>
        <p:nvSpPr>
          <p:cNvPr id="7" name="Text 5"/>
          <p:cNvSpPr/>
          <p:nvPr/>
        </p:nvSpPr>
        <p:spPr>
          <a:xfrm>
            <a:off x="3536990" y="1384102"/>
            <a:ext cx="1629728" cy="237887"/>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Inter" pitchFamily="34" charset="0"/>
                <a:ea typeface="Inter" pitchFamily="34" charset="-122"/>
                <a:cs typeface="Inter" pitchFamily="34" charset="-120"/>
              </a:rPr>
              <a:t>Journal of Management Education (JME) — Mar 2026–Present</a:t>
            </a:r>
            <a:endParaRPr lang="en-US" sz="750" dirty="0"/>
          </a:p>
        </p:txBody>
      </p:sp>
      <p:sp>
        <p:nvSpPr>
          <p:cNvPr id="8" name="Shape 6"/>
          <p:cNvSpPr/>
          <p:nvPr/>
        </p:nvSpPr>
        <p:spPr>
          <a:xfrm>
            <a:off x="5323046" y="917734"/>
            <a:ext cx="1843445" cy="811054"/>
          </a:xfrm>
          <a:prstGeom prst="roundRect">
            <a:avLst>
              <a:gd name="adj" fmla="val 5139"/>
            </a:avLst>
          </a:prstGeom>
          <a:solidFill>
            <a:srgbClr val="DADBF1"/>
          </a:solidFill>
          <a:ln w="7620">
            <a:solidFill>
              <a:srgbClr val="C0C1D7"/>
            </a:solidFill>
            <a:prstDash val="solid"/>
          </a:ln>
        </p:spPr>
        <p:txBody>
          <a:bodyPr/>
          <a:lstStyle/>
          <a:p>
            <a:endParaRPr lang="en-AU"/>
          </a:p>
        </p:txBody>
      </p:sp>
      <p:sp>
        <p:nvSpPr>
          <p:cNvPr id="9" name="Text 7"/>
          <p:cNvSpPr/>
          <p:nvPr/>
        </p:nvSpPr>
        <p:spPr>
          <a:xfrm>
            <a:off x="5429845" y="1024533"/>
            <a:ext cx="1469112" cy="15501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Early Career Researcher</a:t>
            </a:r>
            <a:endParaRPr lang="en-US" sz="950" dirty="0"/>
          </a:p>
        </p:txBody>
      </p:sp>
      <p:sp>
        <p:nvSpPr>
          <p:cNvPr id="10" name="Text 8"/>
          <p:cNvSpPr/>
          <p:nvPr/>
        </p:nvSpPr>
        <p:spPr>
          <a:xfrm>
            <a:off x="5429845" y="1229082"/>
            <a:ext cx="1629847" cy="356830"/>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Inter" pitchFamily="34" charset="0"/>
                <a:ea typeface="Inter" pitchFamily="34" charset="-122"/>
                <a:cs typeface="Inter" pitchFamily="34" charset="-120"/>
              </a:rPr>
              <a:t>Journal of East European Management Studies (JEEMS) — Apr 2025–Present</a:t>
            </a:r>
            <a:endParaRPr lang="en-US" sz="750" dirty="0"/>
          </a:p>
        </p:txBody>
      </p:sp>
      <p:sp>
        <p:nvSpPr>
          <p:cNvPr id="11" name="Shape 9"/>
          <p:cNvSpPr/>
          <p:nvPr/>
        </p:nvSpPr>
        <p:spPr>
          <a:xfrm>
            <a:off x="3430191" y="1778318"/>
            <a:ext cx="1843326" cy="929997"/>
          </a:xfrm>
          <a:prstGeom prst="roundRect">
            <a:avLst>
              <a:gd name="adj" fmla="val 4482"/>
            </a:avLst>
          </a:prstGeom>
          <a:solidFill>
            <a:srgbClr val="DADBF1"/>
          </a:solidFill>
          <a:ln w="7620">
            <a:solidFill>
              <a:srgbClr val="C0C1D7"/>
            </a:solidFill>
            <a:prstDash val="solid"/>
          </a:ln>
        </p:spPr>
        <p:txBody>
          <a:bodyPr/>
          <a:lstStyle/>
          <a:p>
            <a:endParaRPr lang="en-AU"/>
          </a:p>
        </p:txBody>
      </p:sp>
      <p:sp>
        <p:nvSpPr>
          <p:cNvPr id="12" name="Text 10"/>
          <p:cNvSpPr/>
          <p:nvPr/>
        </p:nvSpPr>
        <p:spPr>
          <a:xfrm>
            <a:off x="3536990" y="1885117"/>
            <a:ext cx="1629728" cy="310039"/>
          </a:xfrm>
          <a:prstGeom prst="rect">
            <a:avLst/>
          </a:prstGeom>
          <a:noFill/>
          <a:ln/>
        </p:spPr>
        <p:txBody>
          <a:bodyPr wrap="squar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Board Member and Associate Reviewer</a:t>
            </a:r>
            <a:endParaRPr lang="en-US" sz="950" dirty="0"/>
          </a:p>
        </p:txBody>
      </p:sp>
      <p:sp>
        <p:nvSpPr>
          <p:cNvPr id="13" name="Text 11"/>
          <p:cNvSpPr/>
          <p:nvPr/>
        </p:nvSpPr>
        <p:spPr>
          <a:xfrm>
            <a:off x="3536990" y="2244685"/>
            <a:ext cx="1629728" cy="356830"/>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Inter" pitchFamily="34" charset="0"/>
                <a:ea typeface="Inter" pitchFamily="34" charset="-122"/>
                <a:cs typeface="Inter" pitchFamily="34" charset="-120"/>
              </a:rPr>
              <a:t>International Journal of Doctor Studies (IJDS) — May 2024–Present</a:t>
            </a:r>
            <a:endParaRPr lang="en-US" sz="750" dirty="0"/>
          </a:p>
        </p:txBody>
      </p:sp>
      <p:sp>
        <p:nvSpPr>
          <p:cNvPr id="14" name="Shape 12"/>
          <p:cNvSpPr/>
          <p:nvPr/>
        </p:nvSpPr>
        <p:spPr>
          <a:xfrm>
            <a:off x="5323046" y="1778318"/>
            <a:ext cx="1843445" cy="929997"/>
          </a:xfrm>
          <a:prstGeom prst="roundRect">
            <a:avLst>
              <a:gd name="adj" fmla="val 4482"/>
            </a:avLst>
          </a:prstGeom>
          <a:solidFill>
            <a:srgbClr val="DADBF1"/>
          </a:solidFill>
          <a:ln w="7620">
            <a:solidFill>
              <a:srgbClr val="C0C1D7"/>
            </a:solidFill>
            <a:prstDash val="solid"/>
          </a:ln>
        </p:spPr>
        <p:txBody>
          <a:bodyPr/>
          <a:lstStyle/>
          <a:p>
            <a:endParaRPr lang="en-AU"/>
          </a:p>
        </p:txBody>
      </p:sp>
      <p:sp>
        <p:nvSpPr>
          <p:cNvPr id="15" name="Text 13"/>
          <p:cNvSpPr/>
          <p:nvPr/>
        </p:nvSpPr>
        <p:spPr>
          <a:xfrm>
            <a:off x="5429845" y="1885117"/>
            <a:ext cx="1629847" cy="310039"/>
          </a:xfrm>
          <a:prstGeom prst="rect">
            <a:avLst/>
          </a:prstGeom>
          <a:noFill/>
          <a:ln/>
        </p:spPr>
        <p:txBody>
          <a:bodyPr wrap="squar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Academic Reviewer – ABDC ranked Journals</a:t>
            </a:r>
            <a:endParaRPr lang="en-US" sz="950" dirty="0"/>
          </a:p>
        </p:txBody>
      </p:sp>
      <p:sp>
        <p:nvSpPr>
          <p:cNvPr id="16" name="Text 14"/>
          <p:cNvSpPr/>
          <p:nvPr/>
        </p:nvSpPr>
        <p:spPr>
          <a:xfrm>
            <a:off x="5429845" y="2244685"/>
            <a:ext cx="1629847" cy="118943"/>
          </a:xfrm>
          <a:prstGeom prst="rect">
            <a:avLst/>
          </a:prstGeom>
          <a:noFill/>
          <a:ln/>
        </p:spPr>
        <p:txBody>
          <a:bodyPr wrap="none" lIns="0" tIns="0" rIns="0" bIns="0" rtlCol="0" anchor="t"/>
          <a:lstStyle/>
          <a:p>
            <a:pPr marL="0" indent="0" algn="l">
              <a:lnSpc>
                <a:spcPts val="900"/>
              </a:lnSpc>
              <a:buNone/>
            </a:pPr>
            <a:r>
              <a:rPr lang="en-US" sz="750" dirty="0">
                <a:solidFill>
                  <a:srgbClr val="000000"/>
                </a:solidFill>
                <a:latin typeface="Inter" pitchFamily="34" charset="0"/>
                <a:ea typeface="Inter" pitchFamily="34" charset="-122"/>
                <a:cs typeface="Inter" pitchFamily="34" charset="-120"/>
              </a:rPr>
              <a:t>Dec 2017–Present</a:t>
            </a:r>
            <a:endParaRPr lang="en-US" sz="750" dirty="0"/>
          </a:p>
        </p:txBody>
      </p:sp>
      <p:sp>
        <p:nvSpPr>
          <p:cNvPr id="17" name="Shape 15"/>
          <p:cNvSpPr/>
          <p:nvPr/>
        </p:nvSpPr>
        <p:spPr>
          <a:xfrm>
            <a:off x="3430191" y="2757845"/>
            <a:ext cx="3736300" cy="656034"/>
          </a:xfrm>
          <a:prstGeom prst="roundRect">
            <a:avLst>
              <a:gd name="adj" fmla="val 6353"/>
            </a:avLst>
          </a:prstGeom>
          <a:solidFill>
            <a:srgbClr val="DADBF1"/>
          </a:solidFill>
          <a:ln w="7620">
            <a:solidFill>
              <a:srgbClr val="C0C1D7"/>
            </a:solidFill>
            <a:prstDash val="solid"/>
          </a:ln>
        </p:spPr>
        <p:txBody>
          <a:bodyPr/>
          <a:lstStyle/>
          <a:p>
            <a:endParaRPr lang="en-AU"/>
          </a:p>
        </p:txBody>
      </p:sp>
      <p:sp>
        <p:nvSpPr>
          <p:cNvPr id="18" name="Text 16"/>
          <p:cNvSpPr/>
          <p:nvPr/>
        </p:nvSpPr>
        <p:spPr>
          <a:xfrm>
            <a:off x="3536990" y="2864644"/>
            <a:ext cx="2024896" cy="15501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Guest Lecturer (Business School)</a:t>
            </a:r>
            <a:endParaRPr lang="en-US" sz="950" dirty="0"/>
          </a:p>
        </p:txBody>
      </p:sp>
      <p:sp>
        <p:nvSpPr>
          <p:cNvPr id="19" name="Text 17"/>
          <p:cNvSpPr/>
          <p:nvPr/>
        </p:nvSpPr>
        <p:spPr>
          <a:xfrm>
            <a:off x="3536990" y="3069193"/>
            <a:ext cx="3522702" cy="237887"/>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Inter" pitchFamily="34" charset="0"/>
                <a:ea typeface="Inter" pitchFamily="34" charset="-122"/>
                <a:cs typeface="Inter" pitchFamily="34" charset="-120"/>
              </a:rPr>
              <a:t>Noida Institute of Entrepreneurship (NIE), India — 2011. Management and Employability.</a:t>
            </a:r>
            <a:endParaRPr lang="en-US" sz="750" dirty="0"/>
          </a:p>
        </p:txBody>
      </p:sp>
      <p:sp>
        <p:nvSpPr>
          <p:cNvPr id="20" name="Text 18"/>
          <p:cNvSpPr/>
          <p:nvPr/>
        </p:nvSpPr>
        <p:spPr>
          <a:xfrm>
            <a:off x="7443788" y="706993"/>
            <a:ext cx="2437805" cy="15501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Teaching Roles at University of Adelaide</a:t>
            </a:r>
            <a:endParaRPr lang="en-US" sz="950" dirty="0"/>
          </a:p>
        </p:txBody>
      </p:sp>
      <p:sp>
        <p:nvSpPr>
          <p:cNvPr id="21" name="Shape 19"/>
          <p:cNvSpPr/>
          <p:nvPr/>
        </p:nvSpPr>
        <p:spPr>
          <a:xfrm>
            <a:off x="7443788" y="917734"/>
            <a:ext cx="1871067" cy="2563654"/>
          </a:xfrm>
          <a:prstGeom prst="roundRect">
            <a:avLst>
              <a:gd name="adj" fmla="val 2228"/>
            </a:avLst>
          </a:prstGeom>
          <a:solidFill>
            <a:srgbClr val="FFFFFF"/>
          </a:solidFill>
          <a:ln w="15240">
            <a:solidFill>
              <a:srgbClr val="C0C1D7"/>
            </a:solidFill>
            <a:prstDash val="solid"/>
          </a:ln>
        </p:spPr>
        <p:txBody>
          <a:bodyPr/>
          <a:lstStyle/>
          <a:p>
            <a:endParaRPr lang="en-AU"/>
          </a:p>
        </p:txBody>
      </p:sp>
      <p:sp>
        <p:nvSpPr>
          <p:cNvPr id="22" name="Text 20"/>
          <p:cNvSpPr/>
          <p:nvPr/>
        </p:nvSpPr>
        <p:spPr>
          <a:xfrm>
            <a:off x="7558207" y="1032153"/>
            <a:ext cx="1642229" cy="310039"/>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Lecturer in Management — Nov 2021–Feb 2026</a:t>
            </a:r>
            <a:endParaRPr lang="en-US" sz="950" dirty="0"/>
          </a:p>
        </p:txBody>
      </p:sp>
      <p:sp>
        <p:nvSpPr>
          <p:cNvPr id="23" name="Text 21"/>
          <p:cNvSpPr/>
          <p:nvPr/>
        </p:nvSpPr>
        <p:spPr>
          <a:xfrm>
            <a:off x="7558207" y="1391722"/>
            <a:ext cx="1642229" cy="118943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Lecturing, Course Coordinating, Academic Tutoring and Workshop Facilitating: People &amp; Organisations (Postgraduate, also offered to MBA – Emerging Leaders) – 60+ Students; Managing Organisations &amp; People (Undergraduate) – 150+ Students; Open University of Australia – Managing Organisations &amp; People.</a:t>
            </a:r>
            <a:endParaRPr lang="en-US" sz="750" dirty="0"/>
          </a:p>
        </p:txBody>
      </p:sp>
      <p:sp>
        <p:nvSpPr>
          <p:cNvPr id="24" name="Shape 22"/>
          <p:cNvSpPr/>
          <p:nvPr/>
        </p:nvSpPr>
        <p:spPr>
          <a:xfrm>
            <a:off x="9364385" y="917734"/>
            <a:ext cx="1871186" cy="2563654"/>
          </a:xfrm>
          <a:prstGeom prst="roundRect">
            <a:avLst>
              <a:gd name="adj" fmla="val 2227"/>
            </a:avLst>
          </a:prstGeom>
          <a:solidFill>
            <a:srgbClr val="FFFFFF"/>
          </a:solidFill>
          <a:ln w="15240">
            <a:solidFill>
              <a:srgbClr val="C0C1D7"/>
            </a:solidFill>
            <a:prstDash val="solid"/>
          </a:ln>
        </p:spPr>
        <p:txBody>
          <a:bodyPr/>
          <a:lstStyle/>
          <a:p>
            <a:endParaRPr lang="en-AU"/>
          </a:p>
        </p:txBody>
      </p:sp>
      <p:sp>
        <p:nvSpPr>
          <p:cNvPr id="25" name="Text 23"/>
          <p:cNvSpPr/>
          <p:nvPr/>
        </p:nvSpPr>
        <p:spPr>
          <a:xfrm>
            <a:off x="9478804" y="1032153"/>
            <a:ext cx="1642348" cy="620078"/>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Program Director — Bachelor of Business (Management) — Dec 2022–Dec 2025</a:t>
            </a:r>
            <a:endParaRPr lang="en-US" sz="950" dirty="0"/>
          </a:p>
        </p:txBody>
      </p:sp>
      <p:sp>
        <p:nvSpPr>
          <p:cNvPr id="26" name="Text 24"/>
          <p:cNvSpPr/>
          <p:nvPr/>
        </p:nvSpPr>
        <p:spPr>
          <a:xfrm>
            <a:off x="9478804" y="1701760"/>
            <a:ext cx="1642348" cy="1665208"/>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Responsible for working with UniSA Academics in the Adelaide University (AU) Program and Curriculum Development. Planning and coordinating the teaching of courses in the Program. Developing, updating and/or overseeing Program design and course(s). Coordinating the teaching team including professional staff, academic staff, titleholders and guest lecturers. Providing approval of enrolment waivers to course restrictions.</a:t>
            </a:r>
            <a:endParaRPr lang="en-US" sz="750" dirty="0"/>
          </a:p>
        </p:txBody>
      </p:sp>
      <p:sp>
        <p:nvSpPr>
          <p:cNvPr id="27" name="Shape 25"/>
          <p:cNvSpPr/>
          <p:nvPr/>
        </p:nvSpPr>
        <p:spPr>
          <a:xfrm>
            <a:off x="7443788" y="3530918"/>
            <a:ext cx="1871067" cy="1612106"/>
          </a:xfrm>
          <a:prstGeom prst="roundRect">
            <a:avLst>
              <a:gd name="adj" fmla="val 2585"/>
            </a:avLst>
          </a:prstGeom>
          <a:solidFill>
            <a:srgbClr val="FFFFFF"/>
          </a:solidFill>
          <a:ln w="15240">
            <a:solidFill>
              <a:srgbClr val="C0C1D7"/>
            </a:solidFill>
            <a:prstDash val="solid"/>
          </a:ln>
        </p:spPr>
        <p:txBody>
          <a:bodyPr/>
          <a:lstStyle/>
          <a:p>
            <a:endParaRPr lang="en-AU"/>
          </a:p>
        </p:txBody>
      </p:sp>
      <p:sp>
        <p:nvSpPr>
          <p:cNvPr id="28" name="Text 26"/>
          <p:cNvSpPr/>
          <p:nvPr/>
        </p:nvSpPr>
        <p:spPr>
          <a:xfrm>
            <a:off x="7558207" y="3645337"/>
            <a:ext cx="1642229" cy="465058"/>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Course Coordinator (Business School) — Jan 2019–Feb 2026</a:t>
            </a:r>
            <a:endParaRPr lang="en-US" sz="950" dirty="0"/>
          </a:p>
        </p:txBody>
      </p:sp>
      <p:sp>
        <p:nvSpPr>
          <p:cNvPr id="29" name="Text 27"/>
          <p:cNvSpPr/>
          <p:nvPr/>
        </p:nvSpPr>
        <p:spPr>
          <a:xfrm>
            <a:off x="7558207" y="4159925"/>
            <a:ext cx="1642229" cy="83260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People &amp; Organisations (Postgraduate, also offered to MBA – Emerging Leaders) (from February 2021 onward); Managing Organisations &amp; People (Undergraduate); Managing Across Cultures III.</a:t>
            </a:r>
            <a:endParaRPr lang="en-US" sz="750" dirty="0"/>
          </a:p>
        </p:txBody>
      </p:sp>
      <p:sp>
        <p:nvSpPr>
          <p:cNvPr id="30" name="Shape 28"/>
          <p:cNvSpPr/>
          <p:nvPr/>
        </p:nvSpPr>
        <p:spPr>
          <a:xfrm>
            <a:off x="9364385" y="3530918"/>
            <a:ext cx="1871186" cy="1612106"/>
          </a:xfrm>
          <a:prstGeom prst="roundRect">
            <a:avLst>
              <a:gd name="adj" fmla="val 2585"/>
            </a:avLst>
          </a:prstGeom>
          <a:solidFill>
            <a:srgbClr val="FFFFFF"/>
          </a:solidFill>
          <a:ln w="15240">
            <a:solidFill>
              <a:srgbClr val="C0C1D7"/>
            </a:solidFill>
            <a:prstDash val="solid"/>
          </a:ln>
        </p:spPr>
        <p:txBody>
          <a:bodyPr/>
          <a:lstStyle/>
          <a:p>
            <a:endParaRPr lang="en-AU"/>
          </a:p>
        </p:txBody>
      </p:sp>
      <p:sp>
        <p:nvSpPr>
          <p:cNvPr id="31" name="Text 29"/>
          <p:cNvSpPr/>
          <p:nvPr/>
        </p:nvSpPr>
        <p:spPr>
          <a:xfrm>
            <a:off x="9478804" y="3645337"/>
            <a:ext cx="1642348" cy="620078"/>
          </a:xfrm>
          <a:prstGeom prst="rect">
            <a:avLst/>
          </a:prstGeom>
          <a:noFill/>
          <a:ln/>
        </p:spPr>
        <p:txBody>
          <a:bodyPr wrap="squar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Sessional Lecturer/Academic Tutor/Workshop Facilitator — Feb 2016–Nov 2021</a:t>
            </a:r>
            <a:endParaRPr lang="en-US" sz="950" dirty="0"/>
          </a:p>
        </p:txBody>
      </p:sp>
      <p:sp>
        <p:nvSpPr>
          <p:cNvPr id="32" name="Text 30"/>
          <p:cNvSpPr/>
          <p:nvPr/>
        </p:nvSpPr>
        <p:spPr>
          <a:xfrm>
            <a:off x="9478804" y="4314944"/>
            <a:ext cx="1642348" cy="713661"/>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Post graduate course – People &amp; Organisation; Undergraduate courses – Managing Organisations and People, Organisational Behaviour II and Managing Across Cultures III.</a:t>
            </a:r>
            <a:endParaRPr lang="en-US" sz="750" dirty="0"/>
          </a:p>
        </p:txBody>
      </p:sp>
      <p:sp>
        <p:nvSpPr>
          <p:cNvPr id="33" name="Shape 31"/>
          <p:cNvSpPr/>
          <p:nvPr/>
        </p:nvSpPr>
        <p:spPr>
          <a:xfrm>
            <a:off x="3402449" y="5304040"/>
            <a:ext cx="7825502" cy="20003"/>
          </a:xfrm>
          <a:prstGeom prst="rect">
            <a:avLst/>
          </a:prstGeom>
          <a:solidFill>
            <a:srgbClr val="272525">
              <a:alpha val="50000"/>
            </a:srgbClr>
          </a:solidFill>
          <a:ln/>
        </p:spPr>
        <p:txBody>
          <a:bodyPr/>
          <a:lstStyle/>
          <a:p>
            <a:endParaRPr lang="en-AU"/>
          </a:p>
        </p:txBody>
      </p:sp>
      <p:sp>
        <p:nvSpPr>
          <p:cNvPr id="34" name="Text 32"/>
          <p:cNvSpPr/>
          <p:nvPr/>
        </p:nvSpPr>
        <p:spPr>
          <a:xfrm>
            <a:off x="3402449" y="5398413"/>
            <a:ext cx="5255657"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Supervising Higher Degree by Research (HDR) Studies</a:t>
            </a:r>
            <a:endParaRPr lang="en-US" sz="1550" dirty="0"/>
          </a:p>
        </p:txBody>
      </p:sp>
      <p:sp>
        <p:nvSpPr>
          <p:cNvPr id="35" name="Text 33"/>
          <p:cNvSpPr/>
          <p:nvPr/>
        </p:nvSpPr>
        <p:spPr>
          <a:xfrm>
            <a:off x="3402449" y="5666184"/>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Inter Bold" pitchFamily="34" charset="0"/>
                <a:ea typeface="Inter Bold" pitchFamily="34" charset="-122"/>
                <a:cs typeface="Inter Bold" pitchFamily="34" charset="-120"/>
              </a:rPr>
              <a:t>Completed</a:t>
            </a:r>
            <a:endParaRPr lang="en-US" sz="1150" dirty="0"/>
          </a:p>
        </p:txBody>
      </p:sp>
      <p:sp>
        <p:nvSpPr>
          <p:cNvPr id="36" name="Shape 34"/>
          <p:cNvSpPr/>
          <p:nvPr/>
        </p:nvSpPr>
        <p:spPr>
          <a:xfrm>
            <a:off x="3402449" y="6075402"/>
            <a:ext cx="3887986" cy="904042"/>
          </a:xfrm>
          <a:prstGeom prst="roundRect">
            <a:avLst>
              <a:gd name="adj" fmla="val 8092"/>
            </a:avLst>
          </a:prstGeom>
          <a:solidFill>
            <a:srgbClr val="FFFFFF"/>
          </a:solidFill>
          <a:ln/>
        </p:spPr>
        <p:txBody>
          <a:bodyPr/>
          <a:lstStyle/>
          <a:p>
            <a:endParaRPr lang="en-AU"/>
          </a:p>
        </p:txBody>
      </p:sp>
      <p:sp>
        <p:nvSpPr>
          <p:cNvPr id="37" name="Shape 35"/>
          <p:cNvSpPr/>
          <p:nvPr/>
        </p:nvSpPr>
        <p:spPr>
          <a:xfrm>
            <a:off x="3402449" y="6060162"/>
            <a:ext cx="3887986" cy="60960"/>
          </a:xfrm>
          <a:prstGeom prst="roundRect">
            <a:avLst>
              <a:gd name="adj" fmla="val 68372"/>
            </a:avLst>
          </a:prstGeom>
          <a:solidFill>
            <a:srgbClr val="4950BC"/>
          </a:solidFill>
          <a:ln/>
        </p:spPr>
        <p:txBody>
          <a:bodyPr/>
          <a:lstStyle/>
          <a:p>
            <a:endParaRPr lang="en-AU"/>
          </a:p>
        </p:txBody>
      </p:sp>
      <p:sp>
        <p:nvSpPr>
          <p:cNvPr id="38" name="Shape 36"/>
          <p:cNvSpPr/>
          <p:nvPr/>
        </p:nvSpPr>
        <p:spPr>
          <a:xfrm>
            <a:off x="5197554" y="5926574"/>
            <a:ext cx="297656" cy="297656"/>
          </a:xfrm>
          <a:prstGeom prst="roundRect">
            <a:avLst>
              <a:gd name="adj" fmla="val 307200"/>
            </a:avLst>
          </a:prstGeom>
          <a:solidFill>
            <a:srgbClr val="4950BC"/>
          </a:solidFill>
          <a:ln/>
        </p:spPr>
        <p:txBody>
          <a:bodyPr/>
          <a:lstStyle/>
          <a:p>
            <a:endParaRPr lang="en-AU"/>
          </a:p>
        </p:txBody>
      </p:sp>
      <p:sp>
        <p:nvSpPr>
          <p:cNvPr id="39" name="Text 37"/>
          <p:cNvSpPr/>
          <p:nvPr/>
        </p:nvSpPr>
        <p:spPr>
          <a:xfrm>
            <a:off x="3516868" y="6323409"/>
            <a:ext cx="1451967"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MPhil: Ms Aya Jabareen</a:t>
            </a:r>
            <a:endParaRPr lang="en-US" sz="950" dirty="0"/>
          </a:p>
        </p:txBody>
      </p:sp>
      <p:sp>
        <p:nvSpPr>
          <p:cNvPr id="40" name="Text 38"/>
          <p:cNvSpPr/>
          <p:nvPr/>
        </p:nvSpPr>
        <p:spPr>
          <a:xfrm>
            <a:off x="3516868" y="6508194"/>
            <a:ext cx="3659148"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"Deconstructing the Meaning of Psychological Safety" (2023–2025): Principal Supervisor with Dr Peter John Sandiford (Co-Supervisor)</a:t>
            </a:r>
            <a:endParaRPr lang="en-US" sz="750" dirty="0"/>
          </a:p>
        </p:txBody>
      </p:sp>
      <p:sp>
        <p:nvSpPr>
          <p:cNvPr id="41" name="Shape 39"/>
          <p:cNvSpPr/>
          <p:nvPr/>
        </p:nvSpPr>
        <p:spPr>
          <a:xfrm>
            <a:off x="7339965" y="6075402"/>
            <a:ext cx="3887986" cy="904042"/>
          </a:xfrm>
          <a:prstGeom prst="roundRect">
            <a:avLst>
              <a:gd name="adj" fmla="val 8092"/>
            </a:avLst>
          </a:prstGeom>
          <a:solidFill>
            <a:srgbClr val="FFFFFF"/>
          </a:solidFill>
          <a:ln/>
        </p:spPr>
        <p:txBody>
          <a:bodyPr/>
          <a:lstStyle/>
          <a:p>
            <a:endParaRPr lang="en-AU"/>
          </a:p>
        </p:txBody>
      </p:sp>
      <p:sp>
        <p:nvSpPr>
          <p:cNvPr id="42" name="Shape 40"/>
          <p:cNvSpPr/>
          <p:nvPr/>
        </p:nvSpPr>
        <p:spPr>
          <a:xfrm>
            <a:off x="7339965" y="6060162"/>
            <a:ext cx="3887986" cy="60960"/>
          </a:xfrm>
          <a:prstGeom prst="roundRect">
            <a:avLst>
              <a:gd name="adj" fmla="val 68372"/>
            </a:avLst>
          </a:prstGeom>
          <a:solidFill>
            <a:srgbClr val="4950BC"/>
          </a:solidFill>
          <a:ln/>
        </p:spPr>
        <p:txBody>
          <a:bodyPr/>
          <a:lstStyle/>
          <a:p>
            <a:endParaRPr lang="en-AU"/>
          </a:p>
        </p:txBody>
      </p:sp>
      <p:sp>
        <p:nvSpPr>
          <p:cNvPr id="43" name="Shape 41"/>
          <p:cNvSpPr/>
          <p:nvPr/>
        </p:nvSpPr>
        <p:spPr>
          <a:xfrm>
            <a:off x="9135070" y="5926574"/>
            <a:ext cx="297656" cy="297656"/>
          </a:xfrm>
          <a:prstGeom prst="roundRect">
            <a:avLst>
              <a:gd name="adj" fmla="val 307200"/>
            </a:avLst>
          </a:prstGeom>
          <a:solidFill>
            <a:srgbClr val="4950BC"/>
          </a:solidFill>
          <a:ln/>
        </p:spPr>
        <p:txBody>
          <a:bodyPr/>
          <a:lstStyle/>
          <a:p>
            <a:endParaRPr lang="en-AU"/>
          </a:p>
        </p:txBody>
      </p:sp>
      <p:sp>
        <p:nvSpPr>
          <p:cNvPr id="44" name="Text 42"/>
          <p:cNvSpPr/>
          <p:nvPr/>
        </p:nvSpPr>
        <p:spPr>
          <a:xfrm>
            <a:off x="7454384" y="6323409"/>
            <a:ext cx="156555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PhD: Mr Anas Al-Shamleh</a:t>
            </a:r>
            <a:endParaRPr lang="en-US" sz="950" dirty="0"/>
          </a:p>
        </p:txBody>
      </p:sp>
      <p:sp>
        <p:nvSpPr>
          <p:cNvPr id="45" name="Text 43"/>
          <p:cNvSpPr/>
          <p:nvPr/>
        </p:nvSpPr>
        <p:spPr>
          <a:xfrm>
            <a:off x="7454384" y="6508194"/>
            <a:ext cx="3659148"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"Madness of the Crowds: How Social Media is Reshaping Politics, Enhancing Democracy and Political Engagement" (2023–2025): Principal Supervisor with Dr Cate Jerram</a:t>
            </a:r>
            <a:endParaRPr lang="en-US" sz="750" dirty="0"/>
          </a:p>
        </p:txBody>
      </p:sp>
      <p:sp>
        <p:nvSpPr>
          <p:cNvPr id="46" name="Text 44"/>
          <p:cNvSpPr/>
          <p:nvPr/>
        </p:nvSpPr>
        <p:spPr>
          <a:xfrm>
            <a:off x="3402449" y="7053858"/>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Inter Bold" pitchFamily="34" charset="0"/>
                <a:ea typeface="Inter Bold" pitchFamily="34" charset="-122"/>
                <a:cs typeface="Inter Bold" pitchFamily="34" charset="-120"/>
              </a:rPr>
              <a:t>Ongoing</a:t>
            </a:r>
            <a:endParaRPr lang="en-US" sz="1150" dirty="0"/>
          </a:p>
        </p:txBody>
      </p:sp>
      <p:sp>
        <p:nvSpPr>
          <p:cNvPr id="47" name="Shape 45"/>
          <p:cNvSpPr/>
          <p:nvPr/>
        </p:nvSpPr>
        <p:spPr>
          <a:xfrm>
            <a:off x="3402449" y="7463076"/>
            <a:ext cx="2575441" cy="1141928"/>
          </a:xfrm>
          <a:prstGeom prst="roundRect">
            <a:avLst>
              <a:gd name="adj" fmla="val 6406"/>
            </a:avLst>
          </a:prstGeom>
          <a:solidFill>
            <a:srgbClr val="FFFFFF"/>
          </a:solidFill>
          <a:ln/>
        </p:spPr>
        <p:txBody>
          <a:bodyPr/>
          <a:lstStyle/>
          <a:p>
            <a:endParaRPr lang="en-AU"/>
          </a:p>
        </p:txBody>
      </p:sp>
      <p:sp>
        <p:nvSpPr>
          <p:cNvPr id="48" name="Shape 46"/>
          <p:cNvSpPr/>
          <p:nvPr/>
        </p:nvSpPr>
        <p:spPr>
          <a:xfrm>
            <a:off x="3402449" y="7447836"/>
            <a:ext cx="2575441" cy="60960"/>
          </a:xfrm>
          <a:prstGeom prst="roundRect">
            <a:avLst>
              <a:gd name="adj" fmla="val 68372"/>
            </a:avLst>
          </a:prstGeom>
          <a:solidFill>
            <a:srgbClr val="4950BC"/>
          </a:solidFill>
          <a:ln/>
        </p:spPr>
        <p:txBody>
          <a:bodyPr/>
          <a:lstStyle/>
          <a:p>
            <a:endParaRPr lang="en-AU"/>
          </a:p>
        </p:txBody>
      </p:sp>
      <p:sp>
        <p:nvSpPr>
          <p:cNvPr id="49" name="Shape 47"/>
          <p:cNvSpPr/>
          <p:nvPr/>
        </p:nvSpPr>
        <p:spPr>
          <a:xfrm>
            <a:off x="4541282" y="7314248"/>
            <a:ext cx="297656" cy="297656"/>
          </a:xfrm>
          <a:prstGeom prst="roundRect">
            <a:avLst>
              <a:gd name="adj" fmla="val 307200"/>
            </a:avLst>
          </a:prstGeom>
          <a:solidFill>
            <a:srgbClr val="4950BC"/>
          </a:solidFill>
          <a:ln/>
        </p:spPr>
        <p:txBody>
          <a:bodyPr/>
          <a:lstStyle/>
          <a:p>
            <a:endParaRPr lang="en-AU"/>
          </a:p>
        </p:txBody>
      </p:sp>
      <p:sp>
        <p:nvSpPr>
          <p:cNvPr id="50" name="Text 48"/>
          <p:cNvSpPr/>
          <p:nvPr/>
        </p:nvSpPr>
        <p:spPr>
          <a:xfrm>
            <a:off x="3516868" y="7711083"/>
            <a:ext cx="1727716"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PhD: Ms Ngoc Hanh Thi Tran</a:t>
            </a:r>
            <a:endParaRPr lang="en-US" sz="950" dirty="0"/>
          </a:p>
        </p:txBody>
      </p:sp>
      <p:sp>
        <p:nvSpPr>
          <p:cNvPr id="51" name="Text 49"/>
          <p:cNvSpPr/>
          <p:nvPr/>
        </p:nvSpPr>
        <p:spPr>
          <a:xfrm>
            <a:off x="3516868" y="7895868"/>
            <a:ext cx="2346603"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"Network Orchestration in Modern Slavery Mitigation Practices in the Supply Chain" (2023–2026): Principal Supervisor with Associate Professor Sajad Fayezi and Dr Maryam Zomorrodi</a:t>
            </a:r>
            <a:endParaRPr lang="en-US" sz="750" dirty="0"/>
          </a:p>
        </p:txBody>
      </p:sp>
      <p:sp>
        <p:nvSpPr>
          <p:cNvPr id="52" name="Shape 50"/>
          <p:cNvSpPr/>
          <p:nvPr/>
        </p:nvSpPr>
        <p:spPr>
          <a:xfrm>
            <a:off x="6027420" y="7463076"/>
            <a:ext cx="2575441" cy="1141928"/>
          </a:xfrm>
          <a:prstGeom prst="roundRect">
            <a:avLst>
              <a:gd name="adj" fmla="val 6406"/>
            </a:avLst>
          </a:prstGeom>
          <a:solidFill>
            <a:srgbClr val="FFFFFF"/>
          </a:solidFill>
          <a:ln/>
        </p:spPr>
        <p:txBody>
          <a:bodyPr/>
          <a:lstStyle/>
          <a:p>
            <a:endParaRPr lang="en-AU"/>
          </a:p>
        </p:txBody>
      </p:sp>
      <p:sp>
        <p:nvSpPr>
          <p:cNvPr id="53" name="Shape 51"/>
          <p:cNvSpPr/>
          <p:nvPr/>
        </p:nvSpPr>
        <p:spPr>
          <a:xfrm>
            <a:off x="6027420" y="7447836"/>
            <a:ext cx="2575441" cy="60960"/>
          </a:xfrm>
          <a:prstGeom prst="roundRect">
            <a:avLst>
              <a:gd name="adj" fmla="val 68372"/>
            </a:avLst>
          </a:prstGeom>
          <a:solidFill>
            <a:srgbClr val="4950BC"/>
          </a:solidFill>
          <a:ln/>
        </p:spPr>
        <p:txBody>
          <a:bodyPr/>
          <a:lstStyle/>
          <a:p>
            <a:endParaRPr lang="en-AU"/>
          </a:p>
        </p:txBody>
      </p:sp>
      <p:sp>
        <p:nvSpPr>
          <p:cNvPr id="54" name="Shape 52"/>
          <p:cNvSpPr/>
          <p:nvPr/>
        </p:nvSpPr>
        <p:spPr>
          <a:xfrm>
            <a:off x="7166253" y="7314248"/>
            <a:ext cx="297656" cy="297656"/>
          </a:xfrm>
          <a:prstGeom prst="roundRect">
            <a:avLst>
              <a:gd name="adj" fmla="val 307200"/>
            </a:avLst>
          </a:prstGeom>
          <a:solidFill>
            <a:srgbClr val="4950BC"/>
          </a:solidFill>
          <a:ln/>
        </p:spPr>
        <p:txBody>
          <a:bodyPr/>
          <a:lstStyle/>
          <a:p>
            <a:endParaRPr lang="en-AU"/>
          </a:p>
        </p:txBody>
      </p:sp>
      <p:sp>
        <p:nvSpPr>
          <p:cNvPr id="55" name="Text 53"/>
          <p:cNvSpPr/>
          <p:nvPr/>
        </p:nvSpPr>
        <p:spPr>
          <a:xfrm>
            <a:off x="6141839" y="7711083"/>
            <a:ext cx="1599367"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PhD: Mr Robert Armstrong</a:t>
            </a:r>
            <a:endParaRPr lang="en-US" sz="950" dirty="0"/>
          </a:p>
        </p:txBody>
      </p:sp>
      <p:sp>
        <p:nvSpPr>
          <p:cNvPr id="56" name="Text 54"/>
          <p:cNvSpPr/>
          <p:nvPr/>
        </p:nvSpPr>
        <p:spPr>
          <a:xfrm>
            <a:off x="6141839" y="7895868"/>
            <a:ext cx="2346603"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"Business Strategic Management in the 21st Century – Is the Primary Focus Still on Shareholder Value?" (2023–2027): Principal Supervisor with Mr David Pender and Dr Peter John Sandiford</a:t>
            </a:r>
            <a:endParaRPr lang="en-US" sz="750" dirty="0"/>
          </a:p>
        </p:txBody>
      </p:sp>
      <p:sp>
        <p:nvSpPr>
          <p:cNvPr id="57" name="Shape 55"/>
          <p:cNvSpPr/>
          <p:nvPr/>
        </p:nvSpPr>
        <p:spPr>
          <a:xfrm>
            <a:off x="8652391" y="7463076"/>
            <a:ext cx="2575560" cy="1141928"/>
          </a:xfrm>
          <a:prstGeom prst="roundRect">
            <a:avLst>
              <a:gd name="adj" fmla="val 6406"/>
            </a:avLst>
          </a:prstGeom>
          <a:solidFill>
            <a:srgbClr val="FFFFFF"/>
          </a:solidFill>
          <a:ln/>
        </p:spPr>
        <p:txBody>
          <a:bodyPr/>
          <a:lstStyle/>
          <a:p>
            <a:endParaRPr lang="en-AU"/>
          </a:p>
        </p:txBody>
      </p:sp>
      <p:sp>
        <p:nvSpPr>
          <p:cNvPr id="58" name="Shape 56"/>
          <p:cNvSpPr/>
          <p:nvPr/>
        </p:nvSpPr>
        <p:spPr>
          <a:xfrm>
            <a:off x="8652391" y="7447836"/>
            <a:ext cx="2575560" cy="60960"/>
          </a:xfrm>
          <a:prstGeom prst="roundRect">
            <a:avLst>
              <a:gd name="adj" fmla="val 68372"/>
            </a:avLst>
          </a:prstGeom>
          <a:solidFill>
            <a:srgbClr val="4950BC"/>
          </a:solidFill>
          <a:ln/>
        </p:spPr>
        <p:txBody>
          <a:bodyPr/>
          <a:lstStyle/>
          <a:p>
            <a:endParaRPr lang="en-AU"/>
          </a:p>
        </p:txBody>
      </p:sp>
      <p:sp>
        <p:nvSpPr>
          <p:cNvPr id="59" name="Shape 57"/>
          <p:cNvSpPr/>
          <p:nvPr/>
        </p:nvSpPr>
        <p:spPr>
          <a:xfrm>
            <a:off x="9791343" y="7314248"/>
            <a:ext cx="297656" cy="297656"/>
          </a:xfrm>
          <a:prstGeom prst="roundRect">
            <a:avLst>
              <a:gd name="adj" fmla="val 307200"/>
            </a:avLst>
          </a:prstGeom>
          <a:solidFill>
            <a:srgbClr val="4950BC"/>
          </a:solidFill>
          <a:ln/>
        </p:spPr>
        <p:txBody>
          <a:bodyPr/>
          <a:lstStyle/>
          <a:p>
            <a:endParaRPr lang="en-AU"/>
          </a:p>
        </p:txBody>
      </p:sp>
      <p:sp>
        <p:nvSpPr>
          <p:cNvPr id="60" name="Text 58"/>
          <p:cNvSpPr/>
          <p:nvPr/>
        </p:nvSpPr>
        <p:spPr>
          <a:xfrm>
            <a:off x="8766810" y="7711083"/>
            <a:ext cx="1268849"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PhD: Ms Linda Magin</a:t>
            </a:r>
            <a:endParaRPr lang="en-US" sz="950" dirty="0"/>
          </a:p>
        </p:txBody>
      </p:sp>
      <p:sp>
        <p:nvSpPr>
          <p:cNvPr id="61" name="Text 59"/>
          <p:cNvSpPr/>
          <p:nvPr/>
        </p:nvSpPr>
        <p:spPr>
          <a:xfrm>
            <a:off x="8766810" y="7895868"/>
            <a:ext cx="2346722"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"Exploring work-life enrichment experiences among women in construction trades: An Interpretative Phenomenological Analysis Study" (2023–2030, Part-time): Principal Supervisor with Dr Peter John Sandiford</a:t>
            </a:r>
            <a:endParaRPr lang="en-US" sz="750" dirty="0"/>
          </a:p>
        </p:txBody>
      </p:sp>
      <p:sp>
        <p:nvSpPr>
          <p:cNvPr id="62" name="Shape 60"/>
          <p:cNvSpPr/>
          <p:nvPr/>
        </p:nvSpPr>
        <p:spPr>
          <a:xfrm>
            <a:off x="3402449" y="8803362"/>
            <a:ext cx="3887986" cy="904042"/>
          </a:xfrm>
          <a:prstGeom prst="roundRect">
            <a:avLst>
              <a:gd name="adj" fmla="val 8092"/>
            </a:avLst>
          </a:prstGeom>
          <a:solidFill>
            <a:srgbClr val="FFFFFF"/>
          </a:solidFill>
          <a:ln/>
        </p:spPr>
        <p:txBody>
          <a:bodyPr/>
          <a:lstStyle/>
          <a:p>
            <a:endParaRPr lang="en-AU"/>
          </a:p>
        </p:txBody>
      </p:sp>
      <p:sp>
        <p:nvSpPr>
          <p:cNvPr id="63" name="Shape 61"/>
          <p:cNvSpPr/>
          <p:nvPr/>
        </p:nvSpPr>
        <p:spPr>
          <a:xfrm>
            <a:off x="3402449" y="8788122"/>
            <a:ext cx="3887986" cy="60960"/>
          </a:xfrm>
          <a:prstGeom prst="roundRect">
            <a:avLst>
              <a:gd name="adj" fmla="val 68372"/>
            </a:avLst>
          </a:prstGeom>
          <a:solidFill>
            <a:srgbClr val="4950BC"/>
          </a:solidFill>
          <a:ln/>
        </p:spPr>
        <p:txBody>
          <a:bodyPr/>
          <a:lstStyle/>
          <a:p>
            <a:endParaRPr lang="en-AU"/>
          </a:p>
        </p:txBody>
      </p:sp>
      <p:sp>
        <p:nvSpPr>
          <p:cNvPr id="64" name="Shape 62"/>
          <p:cNvSpPr/>
          <p:nvPr/>
        </p:nvSpPr>
        <p:spPr>
          <a:xfrm>
            <a:off x="5197554" y="8654534"/>
            <a:ext cx="297656" cy="297656"/>
          </a:xfrm>
          <a:prstGeom prst="roundRect">
            <a:avLst>
              <a:gd name="adj" fmla="val 307200"/>
            </a:avLst>
          </a:prstGeom>
          <a:solidFill>
            <a:srgbClr val="4950BC"/>
          </a:solidFill>
          <a:ln/>
        </p:spPr>
        <p:txBody>
          <a:bodyPr/>
          <a:lstStyle/>
          <a:p>
            <a:endParaRPr lang="en-AU"/>
          </a:p>
        </p:txBody>
      </p:sp>
      <p:sp>
        <p:nvSpPr>
          <p:cNvPr id="65" name="Text 63"/>
          <p:cNvSpPr/>
          <p:nvPr/>
        </p:nvSpPr>
        <p:spPr>
          <a:xfrm>
            <a:off x="3516868" y="9051369"/>
            <a:ext cx="149066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PhD: Ms Jean Marie-See</a:t>
            </a:r>
            <a:endParaRPr lang="en-US" sz="950" dirty="0"/>
          </a:p>
        </p:txBody>
      </p:sp>
      <p:sp>
        <p:nvSpPr>
          <p:cNvPr id="66" name="Text 64"/>
          <p:cNvSpPr/>
          <p:nvPr/>
        </p:nvSpPr>
        <p:spPr>
          <a:xfrm>
            <a:off x="3516868" y="9236154"/>
            <a:ext cx="3659148"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"An exploration of the psychological contracts of academics in higher education: The South Australian context" (2025–2029): Principal Supervisor with Christian Hoyer, Dean Wilkie and Peter Sandiford</a:t>
            </a:r>
            <a:endParaRPr lang="en-US" sz="750" dirty="0"/>
          </a:p>
        </p:txBody>
      </p:sp>
      <p:sp>
        <p:nvSpPr>
          <p:cNvPr id="67" name="Shape 65"/>
          <p:cNvSpPr/>
          <p:nvPr/>
        </p:nvSpPr>
        <p:spPr>
          <a:xfrm>
            <a:off x="7339965" y="8803362"/>
            <a:ext cx="3887986" cy="904042"/>
          </a:xfrm>
          <a:prstGeom prst="roundRect">
            <a:avLst>
              <a:gd name="adj" fmla="val 8092"/>
            </a:avLst>
          </a:prstGeom>
          <a:solidFill>
            <a:srgbClr val="FFFFFF"/>
          </a:solidFill>
          <a:ln/>
        </p:spPr>
        <p:txBody>
          <a:bodyPr/>
          <a:lstStyle/>
          <a:p>
            <a:endParaRPr lang="en-AU"/>
          </a:p>
        </p:txBody>
      </p:sp>
      <p:sp>
        <p:nvSpPr>
          <p:cNvPr id="68" name="Shape 66"/>
          <p:cNvSpPr/>
          <p:nvPr/>
        </p:nvSpPr>
        <p:spPr>
          <a:xfrm>
            <a:off x="7339965" y="8788122"/>
            <a:ext cx="3887986" cy="60960"/>
          </a:xfrm>
          <a:prstGeom prst="roundRect">
            <a:avLst>
              <a:gd name="adj" fmla="val 68372"/>
            </a:avLst>
          </a:prstGeom>
          <a:solidFill>
            <a:srgbClr val="4950BC"/>
          </a:solidFill>
          <a:ln/>
        </p:spPr>
        <p:txBody>
          <a:bodyPr/>
          <a:lstStyle/>
          <a:p>
            <a:endParaRPr lang="en-AU"/>
          </a:p>
        </p:txBody>
      </p:sp>
      <p:sp>
        <p:nvSpPr>
          <p:cNvPr id="69" name="Shape 67"/>
          <p:cNvSpPr/>
          <p:nvPr/>
        </p:nvSpPr>
        <p:spPr>
          <a:xfrm>
            <a:off x="9135070" y="8654534"/>
            <a:ext cx="297656" cy="297656"/>
          </a:xfrm>
          <a:prstGeom prst="roundRect">
            <a:avLst>
              <a:gd name="adj" fmla="val 307200"/>
            </a:avLst>
          </a:prstGeom>
          <a:solidFill>
            <a:srgbClr val="4950BC"/>
          </a:solidFill>
          <a:ln/>
        </p:spPr>
        <p:txBody>
          <a:bodyPr/>
          <a:lstStyle/>
          <a:p>
            <a:endParaRPr lang="en-AU"/>
          </a:p>
        </p:txBody>
      </p:sp>
      <p:sp>
        <p:nvSpPr>
          <p:cNvPr id="70" name="Text 68"/>
          <p:cNvSpPr/>
          <p:nvPr/>
        </p:nvSpPr>
        <p:spPr>
          <a:xfrm>
            <a:off x="7454384" y="9051369"/>
            <a:ext cx="140553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PhD: Ms Maria Neledva</a:t>
            </a:r>
            <a:endParaRPr lang="en-US" sz="950" dirty="0"/>
          </a:p>
        </p:txBody>
      </p:sp>
      <p:sp>
        <p:nvSpPr>
          <p:cNvPr id="71" name="Text 69"/>
          <p:cNvSpPr/>
          <p:nvPr/>
        </p:nvSpPr>
        <p:spPr>
          <a:xfrm>
            <a:off x="7454384" y="9236154"/>
            <a:ext cx="3659148"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"Exploring Learning Theories within Higher Degree Marketing Courses" (2024–2028): Co-Supervisor with Dr Dean Wilkie</a:t>
            </a:r>
            <a:endParaRPr lang="en-US" sz="750" dirty="0"/>
          </a:p>
        </p:txBody>
      </p:sp>
      <p:sp>
        <p:nvSpPr>
          <p:cNvPr id="72" name="Shape 70"/>
          <p:cNvSpPr/>
          <p:nvPr/>
        </p:nvSpPr>
        <p:spPr>
          <a:xfrm>
            <a:off x="3402449" y="9812700"/>
            <a:ext cx="7825502" cy="20003"/>
          </a:xfrm>
          <a:prstGeom prst="rect">
            <a:avLst/>
          </a:prstGeom>
          <a:solidFill>
            <a:srgbClr val="272525">
              <a:alpha val="50000"/>
            </a:srgbClr>
          </a:solidFill>
          <a:ln/>
        </p:spPr>
        <p:txBody>
          <a:bodyPr/>
          <a:lstStyle/>
          <a:p>
            <a:endParaRPr lang="en-AU"/>
          </a:p>
        </p:txBody>
      </p:sp>
      <p:sp>
        <p:nvSpPr>
          <p:cNvPr id="73" name="Text 71"/>
          <p:cNvSpPr/>
          <p:nvPr/>
        </p:nvSpPr>
        <p:spPr>
          <a:xfrm>
            <a:off x="3402449" y="9907072"/>
            <a:ext cx="4213979"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HDR Student Awards Under My Supervision</a:t>
            </a:r>
            <a:endParaRPr lang="en-US" sz="1550" dirty="0"/>
          </a:p>
        </p:txBody>
      </p:sp>
      <p:sp>
        <p:nvSpPr>
          <p:cNvPr id="74" name="Shape 72"/>
          <p:cNvSpPr/>
          <p:nvPr/>
        </p:nvSpPr>
        <p:spPr>
          <a:xfrm>
            <a:off x="3402449" y="10229493"/>
            <a:ext cx="2575441" cy="1022866"/>
          </a:xfrm>
          <a:prstGeom prst="roundRect">
            <a:avLst>
              <a:gd name="adj" fmla="val 4075"/>
            </a:avLst>
          </a:prstGeom>
          <a:solidFill>
            <a:srgbClr val="DADBF1"/>
          </a:solidFill>
          <a:ln w="7620">
            <a:solidFill>
              <a:srgbClr val="C0C1D7"/>
            </a:solidFill>
            <a:prstDash val="solid"/>
          </a:ln>
        </p:spPr>
        <p:txBody>
          <a:bodyPr/>
          <a:lstStyle/>
          <a:p>
            <a:endParaRPr lang="en-AU"/>
          </a:p>
        </p:txBody>
      </p:sp>
      <p:sp>
        <p:nvSpPr>
          <p:cNvPr id="75" name="Text 73"/>
          <p:cNvSpPr/>
          <p:nvPr/>
        </p:nvSpPr>
        <p:spPr>
          <a:xfrm>
            <a:off x="3509248" y="1033629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Ms Maria Neledva</a:t>
            </a:r>
            <a:endParaRPr lang="en-US" sz="950" dirty="0"/>
          </a:p>
        </p:txBody>
      </p:sp>
      <p:sp>
        <p:nvSpPr>
          <p:cNvPr id="76" name="Text 74"/>
          <p:cNvSpPr/>
          <p:nvPr/>
        </p:nvSpPr>
        <p:spPr>
          <a:xfrm>
            <a:off x="3509248" y="10521077"/>
            <a:ext cx="2361843"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Best Presentation Award at the Western Sydney University International Doctoral Business Research Conference, 2024</a:t>
            </a:r>
            <a:endParaRPr lang="en-US" sz="750" dirty="0"/>
          </a:p>
        </p:txBody>
      </p:sp>
      <p:sp>
        <p:nvSpPr>
          <p:cNvPr id="77" name="Shape 75"/>
          <p:cNvSpPr/>
          <p:nvPr/>
        </p:nvSpPr>
        <p:spPr>
          <a:xfrm>
            <a:off x="6027420" y="10229493"/>
            <a:ext cx="2575441" cy="1022866"/>
          </a:xfrm>
          <a:prstGeom prst="roundRect">
            <a:avLst>
              <a:gd name="adj" fmla="val 4075"/>
            </a:avLst>
          </a:prstGeom>
          <a:solidFill>
            <a:srgbClr val="DADBF1"/>
          </a:solidFill>
          <a:ln w="7620">
            <a:solidFill>
              <a:srgbClr val="C0C1D7"/>
            </a:solidFill>
            <a:prstDash val="solid"/>
          </a:ln>
        </p:spPr>
        <p:txBody>
          <a:bodyPr/>
          <a:lstStyle/>
          <a:p>
            <a:endParaRPr lang="en-AU"/>
          </a:p>
        </p:txBody>
      </p:sp>
      <p:sp>
        <p:nvSpPr>
          <p:cNvPr id="78" name="Text 76"/>
          <p:cNvSpPr/>
          <p:nvPr/>
        </p:nvSpPr>
        <p:spPr>
          <a:xfrm>
            <a:off x="6134219" y="10336292"/>
            <a:ext cx="1410057"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Ms Ngoc Hanh Thi Tran</a:t>
            </a:r>
            <a:endParaRPr lang="en-US" sz="950" dirty="0"/>
          </a:p>
        </p:txBody>
      </p:sp>
      <p:sp>
        <p:nvSpPr>
          <p:cNvPr id="79" name="Text 77"/>
          <p:cNvSpPr/>
          <p:nvPr/>
        </p:nvSpPr>
        <p:spPr>
          <a:xfrm>
            <a:off x="6134219" y="10521077"/>
            <a:ext cx="2361843"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Best Development Paper Award at the British Academy of Management Conference, 2024</a:t>
            </a:r>
            <a:endParaRPr lang="en-US" sz="750" dirty="0"/>
          </a:p>
        </p:txBody>
      </p:sp>
      <p:sp>
        <p:nvSpPr>
          <p:cNvPr id="80" name="Text 78"/>
          <p:cNvSpPr/>
          <p:nvPr/>
        </p:nvSpPr>
        <p:spPr>
          <a:xfrm>
            <a:off x="6134219" y="10788729"/>
            <a:ext cx="2361843"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Research Excellence Award at the Arts, Business, Law and Economics (ABLE) Higher Degree by Research Conference, 2025</a:t>
            </a:r>
            <a:endParaRPr lang="en-US" sz="750" dirty="0"/>
          </a:p>
        </p:txBody>
      </p:sp>
      <p:sp>
        <p:nvSpPr>
          <p:cNvPr id="81" name="Shape 79"/>
          <p:cNvSpPr/>
          <p:nvPr/>
        </p:nvSpPr>
        <p:spPr>
          <a:xfrm>
            <a:off x="8652391" y="10229493"/>
            <a:ext cx="2575560" cy="1022866"/>
          </a:xfrm>
          <a:prstGeom prst="roundRect">
            <a:avLst>
              <a:gd name="adj" fmla="val 4075"/>
            </a:avLst>
          </a:prstGeom>
          <a:solidFill>
            <a:srgbClr val="DADBF1"/>
          </a:solidFill>
          <a:ln w="7620">
            <a:solidFill>
              <a:srgbClr val="C0C1D7"/>
            </a:solidFill>
            <a:prstDash val="solid"/>
          </a:ln>
        </p:spPr>
        <p:txBody>
          <a:bodyPr/>
          <a:lstStyle/>
          <a:p>
            <a:endParaRPr lang="en-AU"/>
          </a:p>
        </p:txBody>
      </p:sp>
      <p:sp>
        <p:nvSpPr>
          <p:cNvPr id="82" name="Text 80"/>
          <p:cNvSpPr/>
          <p:nvPr/>
        </p:nvSpPr>
        <p:spPr>
          <a:xfrm>
            <a:off x="8759190" y="1033629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Ms Linda Magin</a:t>
            </a:r>
            <a:endParaRPr lang="en-US" sz="950" dirty="0"/>
          </a:p>
        </p:txBody>
      </p:sp>
      <p:sp>
        <p:nvSpPr>
          <p:cNvPr id="83" name="Text 81"/>
          <p:cNvSpPr/>
          <p:nvPr/>
        </p:nvSpPr>
        <p:spPr>
          <a:xfrm>
            <a:off x="8759190" y="10521077"/>
            <a:ext cx="2361962"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Community Collaboration Award at the Arts, Business, Law and Economics (ABLE) Higher Degree by Research Conference, 2025</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0" y="0"/>
            <a:ext cx="9144000" cy="8229600"/>
          </a:xfrm>
          <a:prstGeom prst="rect">
            <a:avLst/>
          </a:prstGeom>
        </p:spPr>
      </p:pic>
      <p:sp>
        <p:nvSpPr>
          <p:cNvPr id="3" name="Text 0"/>
          <p:cNvSpPr/>
          <p:nvPr/>
        </p:nvSpPr>
        <p:spPr>
          <a:xfrm>
            <a:off x="677704" y="640675"/>
            <a:ext cx="4130993" cy="1058942"/>
          </a:xfrm>
          <a:prstGeom prst="rect">
            <a:avLst/>
          </a:prstGeom>
          <a:noFill/>
          <a:ln/>
        </p:spPr>
        <p:txBody>
          <a:bodyPr wrap="squar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Research Publications</a:t>
            </a:r>
            <a:endParaRPr lang="en-US" sz="3300" dirty="0"/>
          </a:p>
        </p:txBody>
      </p:sp>
      <p:sp>
        <p:nvSpPr>
          <p:cNvPr id="4" name="Text 1"/>
          <p:cNvSpPr/>
          <p:nvPr/>
        </p:nvSpPr>
        <p:spPr>
          <a:xfrm>
            <a:off x="677704" y="1916549"/>
            <a:ext cx="4130993" cy="1507331"/>
          </a:xfrm>
          <a:prstGeom prst="rect">
            <a:avLst/>
          </a:prstGeom>
          <a:noFill/>
          <a:ln/>
        </p:spPr>
        <p:txBody>
          <a:bodyPr wrap="square" lIns="0" tIns="0" rIns="0" bIns="0" rtlCol="0" anchor="t"/>
          <a:lstStyle/>
          <a:p>
            <a:pPr marL="0" indent="0" algn="l">
              <a:lnSpc>
                <a:spcPts val="1950"/>
              </a:lnSpc>
              <a:buNone/>
            </a:pPr>
            <a:r>
              <a:rPr lang="en-US" sz="1300" dirty="0">
                <a:solidFill>
                  <a:srgbClr val="272525"/>
                </a:solidFill>
                <a:latin typeface="Inter" pitchFamily="34" charset="0"/>
                <a:ea typeface="Inter" pitchFamily="34" charset="-122"/>
                <a:cs typeface="Inter" pitchFamily="34" charset="-120"/>
              </a:rPr>
              <a:t>Dr. Agarwal's research spans a wide range of disciplines — from human resource management and psychosocial safety to leadership, family business, and creative writing. Below is a comprehensive overview of his published and presented scholarly work.</a:t>
            </a:r>
            <a:endParaRPr lang="en-US" sz="1300" dirty="0"/>
          </a:p>
        </p:txBody>
      </p:sp>
      <p:pic>
        <p:nvPicPr>
          <p:cNvPr id="5" name="Image 1" descr="preencoded.png"/>
          <p:cNvPicPr>
            <a:picLocks noChangeAspect="1"/>
          </p:cNvPicPr>
          <p:nvPr/>
        </p:nvPicPr>
        <p:blipFill>
          <a:blip r:embed="rId4"/>
          <a:stretch>
            <a:fillRect/>
          </a:stretch>
        </p:blipFill>
        <p:spPr>
          <a:xfrm>
            <a:off x="677704" y="3586520"/>
            <a:ext cx="4130993" cy="2583537"/>
          </a:xfrm>
          <a:prstGeom prst="rect">
            <a:avLst/>
          </a:prstGeom>
        </p:spPr>
      </p:pic>
      <p:sp>
        <p:nvSpPr>
          <p:cNvPr id="6" name="Text 2"/>
          <p:cNvSpPr/>
          <p:nvPr/>
        </p:nvSpPr>
        <p:spPr>
          <a:xfrm>
            <a:off x="779997" y="4754106"/>
            <a:ext cx="851684" cy="285454"/>
          </a:xfrm>
          <a:prstGeom prst="rect">
            <a:avLst/>
          </a:prstGeom>
          <a:noFill/>
          <a:ln/>
        </p:spPr>
        <p:txBody>
          <a:bodyPr wrap="square" lIns="0" tIns="0" rIns="0" bIns="0" rtlCol="0" anchor="t"/>
          <a:lstStyle/>
          <a:p>
            <a:pPr marL="0" indent="0" algn="r">
              <a:lnSpc>
                <a:spcPts val="1100"/>
              </a:lnSpc>
              <a:buNone/>
            </a:pPr>
            <a:r>
              <a:rPr lang="en-US" sz="850" b="1" dirty="0">
                <a:solidFill>
                  <a:srgbClr val="000000"/>
                </a:solidFill>
                <a:latin typeface="Inter Bold" pitchFamily="34" charset="0"/>
                <a:ea typeface="Inter Bold" pitchFamily="34" charset="-122"/>
                <a:cs typeface="Inter Bold" pitchFamily="34" charset="-120"/>
              </a:rPr>
              <a:t>Creative Reflexivity</a:t>
            </a:r>
            <a:endParaRPr lang="en-US" sz="850" dirty="0"/>
          </a:p>
        </p:txBody>
      </p:sp>
      <p:sp>
        <p:nvSpPr>
          <p:cNvPr id="7" name="Text 3"/>
          <p:cNvSpPr/>
          <p:nvPr/>
        </p:nvSpPr>
        <p:spPr>
          <a:xfrm>
            <a:off x="2317167" y="5846364"/>
            <a:ext cx="851684" cy="285454"/>
          </a:xfrm>
          <a:prstGeom prst="rect">
            <a:avLst/>
          </a:prstGeom>
          <a:noFill/>
          <a:ln/>
        </p:spPr>
        <p:txBody>
          <a:bodyPr wrap="square" lIns="0" tIns="0" rIns="0" bIns="0" rtlCol="0" anchor="t"/>
          <a:lstStyle/>
          <a:p>
            <a:pPr marL="0" indent="0" algn="ctr">
              <a:lnSpc>
                <a:spcPts val="1100"/>
              </a:lnSpc>
              <a:buNone/>
            </a:pPr>
            <a:r>
              <a:rPr lang="en-US" sz="850" b="1" dirty="0">
                <a:solidFill>
                  <a:srgbClr val="000000"/>
                </a:solidFill>
                <a:latin typeface="Inter Bold" pitchFamily="34" charset="0"/>
                <a:ea typeface="Inter Bold" pitchFamily="34" charset="-122"/>
                <a:cs typeface="Inter Bold" pitchFamily="34" charset="-120"/>
              </a:rPr>
              <a:t>Teaching &amp; Learning</a:t>
            </a:r>
            <a:endParaRPr lang="en-US" sz="850" dirty="0"/>
          </a:p>
        </p:txBody>
      </p:sp>
      <p:sp>
        <p:nvSpPr>
          <p:cNvPr id="8" name="Text 4"/>
          <p:cNvSpPr/>
          <p:nvPr/>
        </p:nvSpPr>
        <p:spPr>
          <a:xfrm>
            <a:off x="3854574" y="4753551"/>
            <a:ext cx="851683" cy="285454"/>
          </a:xfrm>
          <a:prstGeom prst="rect">
            <a:avLst/>
          </a:prstGeom>
          <a:noFill/>
          <a:ln/>
        </p:spPr>
        <p:txBody>
          <a:bodyPr wrap="square" lIns="0" tIns="0" rIns="0" bIns="0" rtlCol="0" anchor="t"/>
          <a:lstStyle/>
          <a:p>
            <a:pPr marL="0" indent="0" algn="l">
              <a:lnSpc>
                <a:spcPts val="1100"/>
              </a:lnSpc>
              <a:buNone/>
            </a:pPr>
            <a:r>
              <a:rPr lang="en-US" sz="850" b="1" dirty="0">
                <a:solidFill>
                  <a:srgbClr val="000000"/>
                </a:solidFill>
                <a:latin typeface="Inter Bold" pitchFamily="34" charset="0"/>
                <a:ea typeface="Inter Bold" pitchFamily="34" charset="-122"/>
                <a:cs typeface="Inter Bold" pitchFamily="34" charset="-120"/>
              </a:rPr>
              <a:t>Leadership &amp; Teams</a:t>
            </a:r>
            <a:endParaRPr lang="en-US" sz="850" dirty="0"/>
          </a:p>
        </p:txBody>
      </p:sp>
      <p:sp>
        <p:nvSpPr>
          <p:cNvPr id="9" name="Text 5"/>
          <p:cNvSpPr/>
          <p:nvPr/>
        </p:nvSpPr>
        <p:spPr>
          <a:xfrm>
            <a:off x="2317167" y="3624660"/>
            <a:ext cx="851684" cy="285454"/>
          </a:xfrm>
          <a:prstGeom prst="rect">
            <a:avLst/>
          </a:prstGeom>
          <a:noFill/>
          <a:ln/>
        </p:spPr>
        <p:txBody>
          <a:bodyPr wrap="square" lIns="0" tIns="0" rIns="0" bIns="0" rtlCol="0" anchor="t"/>
          <a:lstStyle/>
          <a:p>
            <a:pPr marL="0" indent="0" algn="ctr">
              <a:lnSpc>
                <a:spcPts val="1100"/>
              </a:lnSpc>
              <a:buNone/>
            </a:pPr>
            <a:r>
              <a:rPr lang="en-US" sz="850" b="1" dirty="0">
                <a:solidFill>
                  <a:srgbClr val="000000"/>
                </a:solidFill>
                <a:latin typeface="Inter Bold" pitchFamily="34" charset="0"/>
                <a:ea typeface="Inter Bold" pitchFamily="34" charset="-122"/>
                <a:cs typeface="Inter Bold" pitchFamily="34" charset="-120"/>
              </a:rPr>
              <a:t>People &amp; Organisations</a:t>
            </a:r>
            <a:endParaRPr lang="en-US" sz="850" dirty="0"/>
          </a:p>
        </p:txBody>
      </p:sp>
      <p:sp>
        <p:nvSpPr>
          <p:cNvPr id="10" name="Text 6"/>
          <p:cNvSpPr/>
          <p:nvPr/>
        </p:nvSpPr>
        <p:spPr>
          <a:xfrm>
            <a:off x="677704" y="6332696"/>
            <a:ext cx="4130993" cy="1256109"/>
          </a:xfrm>
          <a:prstGeom prst="rect">
            <a:avLst/>
          </a:prstGeom>
          <a:noFill/>
          <a:ln/>
        </p:spPr>
        <p:txBody>
          <a:bodyPr wrap="square" lIns="0" tIns="0" rIns="0" bIns="0" rtlCol="0" anchor="t"/>
          <a:lstStyle/>
          <a:p>
            <a:pPr marL="0" indent="0" algn="l">
              <a:lnSpc>
                <a:spcPts val="1950"/>
              </a:lnSpc>
              <a:buNone/>
            </a:pPr>
            <a:r>
              <a:rPr lang="en-US" sz="1300" dirty="0">
                <a:solidFill>
                  <a:srgbClr val="272525"/>
                </a:solidFill>
                <a:latin typeface="Inter" pitchFamily="34" charset="0"/>
                <a:ea typeface="Inter" pitchFamily="34" charset="-122"/>
                <a:cs typeface="Inter" pitchFamily="34" charset="-120"/>
              </a:rPr>
              <a:t>These four pillars reflect the breadth and depth of Dr. Agarwal's scholarly contributions, connecting idiographic focus in organisational behaviour, innovative pedagogy, psychosocial safety and global business perspectives.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329690" y="1158597"/>
            <a:ext cx="7977307" cy="474464"/>
          </a:xfrm>
          <a:prstGeom prst="rect">
            <a:avLst/>
          </a:prstGeom>
          <a:noFill/>
          <a:ln/>
        </p:spPr>
        <p:txBody>
          <a:bodyPr wrap="none" lIns="0" tIns="0" rIns="0" bIns="0" rtlCol="0" anchor="t"/>
          <a:lstStyle/>
          <a:p>
            <a:pPr marL="0" indent="0" algn="l">
              <a:lnSpc>
                <a:spcPts val="3700"/>
              </a:lnSpc>
              <a:buNone/>
            </a:pPr>
            <a:r>
              <a:rPr lang="en-US" sz="2950" b="1" dirty="0">
                <a:solidFill>
                  <a:srgbClr val="000000"/>
                </a:solidFill>
                <a:latin typeface="Inter Bold" pitchFamily="34" charset="0"/>
                <a:ea typeface="Inter Bold" pitchFamily="34" charset="-122"/>
                <a:cs typeface="Inter Bold" pitchFamily="34" charset="-120"/>
              </a:rPr>
              <a:t>Research Publications — HRM &amp; Reflexivity</a:t>
            </a:r>
            <a:endParaRPr lang="en-US" sz="2950" dirty="0"/>
          </a:p>
        </p:txBody>
      </p:sp>
      <p:sp>
        <p:nvSpPr>
          <p:cNvPr id="3" name="Shape 1"/>
          <p:cNvSpPr/>
          <p:nvPr/>
        </p:nvSpPr>
        <p:spPr>
          <a:xfrm>
            <a:off x="1329690" y="1865233"/>
            <a:ext cx="5927407" cy="5205770"/>
          </a:xfrm>
          <a:prstGeom prst="roundRect">
            <a:avLst>
              <a:gd name="adj" fmla="val 1405"/>
            </a:avLst>
          </a:prstGeom>
          <a:solidFill>
            <a:srgbClr val="FFFFFF"/>
          </a:solidFill>
          <a:ln w="15240">
            <a:solidFill>
              <a:srgbClr val="C0C1D7"/>
            </a:solidFill>
            <a:prstDash val="solid"/>
          </a:ln>
        </p:spPr>
        <p:txBody>
          <a:bodyPr/>
          <a:lstStyle/>
          <a:p>
            <a:endParaRPr lang="en-AU"/>
          </a:p>
        </p:txBody>
      </p:sp>
      <p:sp>
        <p:nvSpPr>
          <p:cNvPr id="4" name="Shape 2"/>
          <p:cNvSpPr/>
          <p:nvPr/>
        </p:nvSpPr>
        <p:spPr>
          <a:xfrm>
            <a:off x="1314450" y="1865233"/>
            <a:ext cx="60960" cy="5205770"/>
          </a:xfrm>
          <a:prstGeom prst="roundRect">
            <a:avLst>
              <a:gd name="adj" fmla="val 104592"/>
            </a:avLst>
          </a:prstGeom>
          <a:solidFill>
            <a:srgbClr val="4950BC"/>
          </a:solidFill>
          <a:ln/>
        </p:spPr>
        <p:txBody>
          <a:bodyPr/>
          <a:lstStyle/>
          <a:p>
            <a:endParaRPr lang="en-AU"/>
          </a:p>
        </p:txBody>
      </p:sp>
      <p:sp>
        <p:nvSpPr>
          <p:cNvPr id="5" name="Text 3"/>
          <p:cNvSpPr/>
          <p:nvPr/>
        </p:nvSpPr>
        <p:spPr>
          <a:xfrm>
            <a:off x="1542455" y="2032278"/>
            <a:ext cx="3667363" cy="237173"/>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Inter Bold" pitchFamily="34" charset="0"/>
                <a:ea typeface="Inter Bold" pitchFamily="34" charset="-122"/>
                <a:cs typeface="Inter Bold" pitchFamily="34" charset="-120"/>
              </a:rPr>
              <a:t>1. Human Resource Management (HRM)</a:t>
            </a:r>
            <a:endParaRPr lang="en-US" sz="1450" dirty="0"/>
          </a:p>
        </p:txBody>
      </p:sp>
      <p:sp>
        <p:nvSpPr>
          <p:cNvPr id="6" name="Text 4"/>
          <p:cNvSpPr/>
          <p:nvPr/>
        </p:nvSpPr>
        <p:spPr>
          <a:xfrm>
            <a:off x="1542455" y="2339102"/>
            <a:ext cx="5547598" cy="857250"/>
          </a:xfrm>
          <a:prstGeom prst="rect">
            <a:avLst/>
          </a:prstGeom>
          <a:noFill/>
          <a:ln/>
        </p:spPr>
        <p:txBody>
          <a:bodyPr wrap="square" lIns="0" tIns="0" rIns="0" bIns="0" rtlCol="0" anchor="t"/>
          <a:lstStyle/>
          <a:p>
            <a:pPr marL="0" indent="0" algn="l">
              <a:lnSpc>
                <a:spcPts val="1650"/>
              </a:lnSpc>
              <a:buNone/>
            </a:pPr>
            <a:r>
              <a:rPr lang="en-US" sz="1150" dirty="0">
                <a:solidFill>
                  <a:srgbClr val="272525"/>
                </a:solidFill>
                <a:latin typeface="Inter" pitchFamily="34" charset="0"/>
                <a:ea typeface="Inter" pitchFamily="34" charset="-122"/>
                <a:cs typeface="Inter" pitchFamily="34" charset="-120"/>
              </a:rPr>
              <a:t>Ukil, M.I., Ullah, M.S., Islam, M., Tariq, H., &amp; Agarwal, A. (2024). Stress and satisfaction while working from home during COVID-19: The role of personal and job resources. </a:t>
            </a:r>
            <a:r>
              <a:rPr lang="en-US" sz="1150" i="1" dirty="0">
                <a:solidFill>
                  <a:srgbClr val="272525"/>
                </a:solidFill>
                <a:latin typeface="Inter" pitchFamily="34" charset="0"/>
                <a:ea typeface="Inter" pitchFamily="34" charset="-122"/>
                <a:cs typeface="Inter" pitchFamily="34" charset="-120"/>
              </a:rPr>
              <a:t>South Asian Journal of Human Resources Management</a:t>
            </a:r>
            <a:r>
              <a:rPr lang="en-US" sz="1150" dirty="0">
                <a:solidFill>
                  <a:srgbClr val="272525"/>
                </a:solidFill>
                <a:latin typeface="Inter" pitchFamily="34" charset="0"/>
                <a:ea typeface="Inter" pitchFamily="34" charset="-122"/>
                <a:cs typeface="Inter" pitchFamily="34" charset="-120"/>
              </a:rPr>
              <a:t>, in print. </a:t>
            </a:r>
            <a:r>
              <a:rPr lang="en-US" sz="11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https://doi.org/10.1177/23220937241246325</a:t>
            </a:r>
            <a:r>
              <a:rPr lang="en-US" sz="1150" dirty="0">
                <a:solidFill>
                  <a:srgbClr val="272525"/>
                </a:solidFill>
                <a:latin typeface="Inter" pitchFamily="34" charset="0"/>
                <a:ea typeface="Inter" pitchFamily="34" charset="-122"/>
                <a:cs typeface="Inter" pitchFamily="34" charset="-120"/>
              </a:rPr>
              <a:t>.</a:t>
            </a:r>
            <a:endParaRPr lang="en-US" sz="1150" dirty="0"/>
          </a:p>
        </p:txBody>
      </p:sp>
      <p:sp>
        <p:nvSpPr>
          <p:cNvPr id="7" name="Shape 5"/>
          <p:cNvSpPr/>
          <p:nvPr/>
        </p:nvSpPr>
        <p:spPr>
          <a:xfrm>
            <a:off x="7373183" y="1865233"/>
            <a:ext cx="5927527" cy="5205770"/>
          </a:xfrm>
          <a:prstGeom prst="roundRect">
            <a:avLst>
              <a:gd name="adj" fmla="val 1405"/>
            </a:avLst>
          </a:prstGeom>
          <a:solidFill>
            <a:srgbClr val="FFFFFF"/>
          </a:solidFill>
          <a:ln w="15240">
            <a:solidFill>
              <a:srgbClr val="C0C1D7"/>
            </a:solidFill>
            <a:prstDash val="solid"/>
          </a:ln>
        </p:spPr>
        <p:txBody>
          <a:bodyPr/>
          <a:lstStyle/>
          <a:p>
            <a:endParaRPr lang="en-AU"/>
          </a:p>
        </p:txBody>
      </p:sp>
      <p:sp>
        <p:nvSpPr>
          <p:cNvPr id="8" name="Shape 6"/>
          <p:cNvSpPr/>
          <p:nvPr/>
        </p:nvSpPr>
        <p:spPr>
          <a:xfrm>
            <a:off x="7357943" y="1865233"/>
            <a:ext cx="60960" cy="5205770"/>
          </a:xfrm>
          <a:prstGeom prst="roundRect">
            <a:avLst>
              <a:gd name="adj" fmla="val 104592"/>
            </a:avLst>
          </a:prstGeom>
          <a:solidFill>
            <a:srgbClr val="4950BC"/>
          </a:solidFill>
          <a:ln/>
        </p:spPr>
        <p:txBody>
          <a:bodyPr/>
          <a:lstStyle/>
          <a:p>
            <a:endParaRPr lang="en-AU"/>
          </a:p>
        </p:txBody>
      </p:sp>
      <p:sp>
        <p:nvSpPr>
          <p:cNvPr id="9" name="Text 7"/>
          <p:cNvSpPr/>
          <p:nvPr/>
        </p:nvSpPr>
        <p:spPr>
          <a:xfrm>
            <a:off x="7585948" y="2032278"/>
            <a:ext cx="1897499" cy="237173"/>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Inter Bold" pitchFamily="34" charset="0"/>
                <a:ea typeface="Inter Bold" pitchFamily="34" charset="-122"/>
                <a:cs typeface="Inter Bold" pitchFamily="34" charset="-120"/>
              </a:rPr>
              <a:t>2. Reflexivity</a:t>
            </a:r>
            <a:endParaRPr lang="en-US" sz="1450" dirty="0"/>
          </a:p>
        </p:txBody>
      </p:sp>
      <p:sp>
        <p:nvSpPr>
          <p:cNvPr id="10" name="Text 8"/>
          <p:cNvSpPr/>
          <p:nvPr/>
        </p:nvSpPr>
        <p:spPr>
          <a:xfrm>
            <a:off x="7585948" y="2339102"/>
            <a:ext cx="5547717" cy="857250"/>
          </a:xfrm>
          <a:prstGeom prst="rect">
            <a:avLst/>
          </a:prstGeom>
          <a:noFill/>
          <a:ln/>
        </p:spPr>
        <p:txBody>
          <a:bodyPr wrap="square" lIns="0" tIns="0" rIns="0" bIns="0" rtlCol="0" anchor="t"/>
          <a:lstStyle/>
          <a:p>
            <a:pPr marL="0" indent="0" algn="l">
              <a:lnSpc>
                <a:spcPts val="1650"/>
              </a:lnSpc>
              <a:buNone/>
            </a:pPr>
            <a:r>
              <a:rPr lang="en-US" sz="1150" dirty="0">
                <a:solidFill>
                  <a:srgbClr val="272525"/>
                </a:solidFill>
                <a:latin typeface="Inter" pitchFamily="34" charset="0"/>
                <a:ea typeface="Inter" pitchFamily="34" charset="-122"/>
                <a:cs typeface="Inter" pitchFamily="34" charset="-120"/>
              </a:rPr>
              <a:t>Agarwal, A. &amp; Sandiford, P.J. (2021). Fictionalizing dialogue: Interpretative Phenomenological Analysis in organizational research. </a:t>
            </a:r>
            <a:r>
              <a:rPr lang="en-US" sz="1150" i="1" dirty="0">
                <a:solidFill>
                  <a:srgbClr val="272525"/>
                </a:solidFill>
                <a:latin typeface="Inter" pitchFamily="34" charset="0"/>
                <a:ea typeface="Inter" pitchFamily="34" charset="-122"/>
                <a:cs typeface="Inter" pitchFamily="34" charset="-120"/>
              </a:rPr>
              <a:t>Qualitative Research in Organizations and Management</a:t>
            </a:r>
            <a:r>
              <a:rPr lang="en-US" sz="1150" dirty="0">
                <a:solidFill>
                  <a:srgbClr val="272525"/>
                </a:solidFill>
                <a:latin typeface="Inter" pitchFamily="34" charset="0"/>
                <a:ea typeface="Inter" pitchFamily="34" charset="-122"/>
                <a:cs typeface="Inter" pitchFamily="34" charset="-120"/>
              </a:rPr>
              <a:t>, 16(1), 218–236. </a:t>
            </a:r>
            <a:r>
              <a:rPr lang="en-US" sz="1150" u="sng" dirty="0">
                <a:solidFill>
                  <a:srgbClr val="4950B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https://doi.org/10.1108/QROM-01-2020-1885</a:t>
            </a:r>
            <a:r>
              <a:rPr lang="en-US" sz="1150" dirty="0">
                <a:solidFill>
                  <a:srgbClr val="272525"/>
                </a:solidFill>
                <a:latin typeface="Inter" pitchFamily="34" charset="0"/>
                <a:ea typeface="Inter" pitchFamily="34" charset="-122"/>
                <a:cs typeface="Inter" pitchFamily="34" charset="-120"/>
              </a:rPr>
              <a:t>.</a:t>
            </a:r>
            <a:endParaRPr lang="en-US" sz="1150" dirty="0"/>
          </a:p>
        </p:txBody>
      </p:sp>
      <p:sp>
        <p:nvSpPr>
          <p:cNvPr id="11" name="Text 9"/>
          <p:cNvSpPr/>
          <p:nvPr/>
        </p:nvSpPr>
        <p:spPr>
          <a:xfrm>
            <a:off x="7585948" y="3266003"/>
            <a:ext cx="5547717" cy="642938"/>
          </a:xfrm>
          <a:prstGeom prst="rect">
            <a:avLst/>
          </a:prstGeom>
          <a:noFill/>
          <a:ln/>
        </p:spPr>
        <p:txBody>
          <a:bodyPr wrap="square" lIns="0" tIns="0" rIns="0" bIns="0" rtlCol="0" anchor="t"/>
          <a:lstStyle/>
          <a:p>
            <a:pPr marL="0" indent="0" algn="l">
              <a:lnSpc>
                <a:spcPts val="1650"/>
              </a:lnSpc>
              <a:buNone/>
            </a:pPr>
            <a:r>
              <a:rPr lang="en-US" sz="1150" dirty="0">
                <a:solidFill>
                  <a:srgbClr val="272525"/>
                </a:solidFill>
                <a:latin typeface="Inter" pitchFamily="34" charset="0"/>
                <a:ea typeface="Inter" pitchFamily="34" charset="-122"/>
                <a:cs typeface="Inter" pitchFamily="34" charset="-120"/>
              </a:rPr>
              <a:t>Agarwal, A. (2024). Making reflexivity explicit. In P.J. Sandiford and S. Schuhrer (Eds.), </a:t>
            </a:r>
            <a:r>
              <a:rPr lang="en-US" sz="1150" i="1" dirty="0">
                <a:solidFill>
                  <a:srgbClr val="272525"/>
                </a:solidFill>
                <a:latin typeface="Inter" pitchFamily="34" charset="0"/>
                <a:ea typeface="Inter" pitchFamily="34" charset="-122"/>
                <a:cs typeface="Inter" pitchFamily="34" charset="-120"/>
              </a:rPr>
              <a:t>Exploring Research Methodology and Research Design: Doing Research Across the Business Discipline</a:t>
            </a:r>
            <a:r>
              <a:rPr lang="en-US" sz="1150" dirty="0">
                <a:solidFill>
                  <a:srgbClr val="272525"/>
                </a:solidFill>
                <a:latin typeface="Inter" pitchFamily="34" charset="0"/>
                <a:ea typeface="Inter" pitchFamily="34" charset="-122"/>
                <a:cs typeface="Inter" pitchFamily="34" charset="-120"/>
              </a:rPr>
              <a:t>, Edward Elgar: UK.</a:t>
            </a:r>
            <a:endParaRPr lang="en-US" sz="1150" dirty="0"/>
          </a:p>
        </p:txBody>
      </p:sp>
      <p:sp>
        <p:nvSpPr>
          <p:cNvPr id="12" name="Text 10"/>
          <p:cNvSpPr/>
          <p:nvPr/>
        </p:nvSpPr>
        <p:spPr>
          <a:xfrm>
            <a:off x="7585948" y="3978593"/>
            <a:ext cx="5547717" cy="857250"/>
          </a:xfrm>
          <a:prstGeom prst="rect">
            <a:avLst/>
          </a:prstGeom>
          <a:noFill/>
          <a:ln/>
        </p:spPr>
        <p:txBody>
          <a:bodyPr wrap="square" lIns="0" tIns="0" rIns="0" bIns="0" rtlCol="0" anchor="t"/>
          <a:lstStyle/>
          <a:p>
            <a:pPr marL="0" indent="0" algn="l">
              <a:lnSpc>
                <a:spcPts val="1650"/>
              </a:lnSpc>
              <a:buNone/>
            </a:pPr>
            <a:r>
              <a:rPr lang="en-US" sz="1150" dirty="0">
                <a:solidFill>
                  <a:srgbClr val="272525"/>
                </a:solidFill>
                <a:latin typeface="Inter" pitchFamily="34" charset="0"/>
                <a:ea typeface="Inter" pitchFamily="34" charset="-122"/>
                <a:cs typeface="Inter" pitchFamily="34" charset="-120"/>
              </a:rPr>
              <a:t>Nichols, E., Middleton, S., Agarwal, A., &amp; Callaghar, L. (2024). Crafting Developmental Reviews. Management and Organizational Behavior Teaching Society Oceania, PDW. University of Auckland, New Zealand, January 29–31, 2025.</a:t>
            </a:r>
            <a:endParaRPr lang="en-US" sz="1150" dirty="0"/>
          </a:p>
        </p:txBody>
      </p:sp>
      <p:sp>
        <p:nvSpPr>
          <p:cNvPr id="13" name="Text 11"/>
          <p:cNvSpPr/>
          <p:nvPr/>
        </p:nvSpPr>
        <p:spPr>
          <a:xfrm>
            <a:off x="7585948" y="4905494"/>
            <a:ext cx="5547717" cy="857250"/>
          </a:xfrm>
          <a:prstGeom prst="rect">
            <a:avLst/>
          </a:prstGeom>
          <a:noFill/>
          <a:ln/>
        </p:spPr>
        <p:txBody>
          <a:bodyPr wrap="square" lIns="0" tIns="0" rIns="0" bIns="0" rtlCol="0" anchor="t"/>
          <a:lstStyle/>
          <a:p>
            <a:pPr marL="0" indent="0" algn="l">
              <a:lnSpc>
                <a:spcPts val="1650"/>
              </a:lnSpc>
              <a:buNone/>
            </a:pPr>
            <a:r>
              <a:rPr lang="en-US" sz="1150" dirty="0">
                <a:solidFill>
                  <a:srgbClr val="272525"/>
                </a:solidFill>
                <a:latin typeface="Inter" pitchFamily="34" charset="0"/>
                <a:ea typeface="Inter" pitchFamily="34" charset="-122"/>
                <a:cs typeface="Inter" pitchFamily="34" charset="-120"/>
              </a:rPr>
              <a:t>Agarwal, A. (2024). Reflexive and Conversational Literature Reviews: Imaginative Integrated Dialogue Approach. Academy of Management Conference, Alchemy of Qualitative Research (AQR), PDW, Chicago, August 10, 2024.</a:t>
            </a:r>
            <a:endParaRPr lang="en-US" sz="1150" dirty="0"/>
          </a:p>
        </p:txBody>
      </p:sp>
      <p:sp>
        <p:nvSpPr>
          <p:cNvPr id="14" name="Text 12"/>
          <p:cNvSpPr/>
          <p:nvPr/>
        </p:nvSpPr>
        <p:spPr>
          <a:xfrm>
            <a:off x="7585948" y="5832396"/>
            <a:ext cx="5547717" cy="1071563"/>
          </a:xfrm>
          <a:prstGeom prst="rect">
            <a:avLst/>
          </a:prstGeom>
          <a:noFill/>
          <a:ln/>
        </p:spPr>
        <p:txBody>
          <a:bodyPr wrap="square" lIns="0" tIns="0" rIns="0" bIns="0" rtlCol="0" anchor="t"/>
          <a:lstStyle/>
          <a:p>
            <a:pPr marL="0" indent="0" algn="l">
              <a:lnSpc>
                <a:spcPts val="1650"/>
              </a:lnSpc>
              <a:buNone/>
            </a:pPr>
            <a:r>
              <a:rPr lang="en-US" sz="1150" dirty="0">
                <a:solidFill>
                  <a:srgbClr val="272525"/>
                </a:solidFill>
                <a:latin typeface="Inter" pitchFamily="34" charset="0"/>
                <a:ea typeface="Inter" pitchFamily="34" charset="-122"/>
                <a:cs typeface="Inter" pitchFamily="34" charset="-120"/>
              </a:rPr>
              <a:t>Invited to present a Masterclass in Advanced Learning for Professionals on "Learning Organisational Behaviour: Developing a Reflexive Mindset", the University of Adelaide, Australia, October 8, 2024. </a:t>
            </a:r>
            <a:r>
              <a:rPr lang="en-US" sz="1150" u="sng" dirty="0">
                <a:solidFill>
                  <a:srgbClr val="4950B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https://www.adelaide.edu.au/study/postgraduate/advanced-learning-for-professionals</a:t>
            </a:r>
            <a:r>
              <a:rPr lang="en-US" sz="1150" dirty="0">
                <a:solidFill>
                  <a:srgbClr val="272525"/>
                </a:solidFill>
                <a:latin typeface="Inter" pitchFamily="34" charset="0"/>
                <a:ea typeface="Inter" pitchFamily="34" charset="-122"/>
                <a:cs typeface="Inter" pitchFamily="34" charset="-120"/>
              </a:rPr>
              <a: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694974"/>
            <a:ext cx="1212413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Research Publications — Health &amp; Modern Slavery</a:t>
            </a:r>
            <a:endParaRPr lang="en-US" sz="3900" dirty="0"/>
          </a:p>
        </p:txBody>
      </p:sp>
      <p:sp>
        <p:nvSpPr>
          <p:cNvPr id="3" name="Shape 1"/>
          <p:cNvSpPr/>
          <p:nvPr/>
        </p:nvSpPr>
        <p:spPr>
          <a:xfrm>
            <a:off x="650915" y="2612708"/>
            <a:ext cx="6565106" cy="3921919"/>
          </a:xfrm>
          <a:prstGeom prst="roundRect">
            <a:avLst>
              <a:gd name="adj" fmla="val 3644"/>
            </a:avLst>
          </a:prstGeom>
          <a:solidFill>
            <a:srgbClr val="835E54"/>
          </a:solidFill>
          <a:ln/>
        </p:spPr>
        <p:txBody>
          <a:bodyPr/>
          <a:lstStyle/>
          <a:p>
            <a:endParaRPr lang="en-AU"/>
          </a:p>
        </p:txBody>
      </p:sp>
      <p:sp>
        <p:nvSpPr>
          <p:cNvPr id="4" name="Text 2"/>
          <p:cNvSpPr/>
          <p:nvPr/>
        </p:nvSpPr>
        <p:spPr>
          <a:xfrm>
            <a:off x="849273" y="281106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Inter Bold" pitchFamily="34" charset="0"/>
                <a:ea typeface="Inter Bold" pitchFamily="34" charset="-122"/>
                <a:cs typeface="Inter Bold" pitchFamily="34" charset="-120"/>
              </a:rPr>
              <a:t>3. Health</a:t>
            </a:r>
            <a:endParaRPr lang="en-US" sz="1950" dirty="0"/>
          </a:p>
        </p:txBody>
      </p:sp>
      <p:sp>
        <p:nvSpPr>
          <p:cNvPr id="5" name="Text 3"/>
          <p:cNvSpPr/>
          <p:nvPr/>
        </p:nvSpPr>
        <p:spPr>
          <a:xfrm>
            <a:off x="849273" y="3319582"/>
            <a:ext cx="6168390" cy="1905238"/>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Inter" pitchFamily="34" charset="0"/>
                <a:ea typeface="Inter" pitchFamily="34" charset="-122"/>
                <a:cs typeface="Inter" pitchFamily="34" charset="-120"/>
              </a:rPr>
              <a:t>George, G., Saravanakrishnan, V., &amp; Agarwal, A. (2023). Health Informatics and its Contribution to Health Sectors. In M. Abouhawwash, S. Tanwar, A. Nayyar, &amp; M. Naved (Eds.), </a:t>
            </a:r>
            <a:r>
              <a:rPr lang="en-US" sz="1550" i="1" dirty="0">
                <a:solidFill>
                  <a:srgbClr val="FFFFFF"/>
                </a:solidFill>
                <a:latin typeface="Inter" pitchFamily="34" charset="0"/>
                <a:ea typeface="Inter" pitchFamily="34" charset="-122"/>
                <a:cs typeface="Inter" pitchFamily="34" charset="-120"/>
              </a:rPr>
              <a:t>Innovations in Healthcare Informatics: From interoperability to data analysis</a:t>
            </a:r>
            <a:r>
              <a:rPr lang="en-US" sz="1550" dirty="0">
                <a:solidFill>
                  <a:srgbClr val="FFFFFF"/>
                </a:solidFill>
                <a:latin typeface="Inter" pitchFamily="34" charset="0"/>
                <a:ea typeface="Inter" pitchFamily="34" charset="-122"/>
                <a:cs typeface="Inter" pitchFamily="34" charset="-120"/>
              </a:rPr>
              <a:t>, The Institution of Engineering and Technology (IET).</a:t>
            </a:r>
            <a:endParaRPr lang="en-US" sz="1550" dirty="0"/>
          </a:p>
        </p:txBody>
      </p:sp>
      <p:sp>
        <p:nvSpPr>
          <p:cNvPr id="6" name="Text 4"/>
          <p:cNvSpPr/>
          <p:nvPr/>
        </p:nvSpPr>
        <p:spPr>
          <a:xfrm>
            <a:off x="7564874" y="281106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4. Modern Slavery</a:t>
            </a:r>
            <a:endParaRPr lang="en-US" sz="1950" dirty="0"/>
          </a:p>
        </p:txBody>
      </p:sp>
      <p:sp>
        <p:nvSpPr>
          <p:cNvPr id="7" name="Text 5"/>
          <p:cNvSpPr/>
          <p:nvPr/>
        </p:nvSpPr>
        <p:spPr>
          <a:xfrm>
            <a:off x="7564874" y="331958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Fayezi, S., Tran H.N.T., Zomorrodi, M, &amp; Agarwal A. (2024). Leveraging network orchestration to address modern slavery risks in the supply chain. In </a:t>
            </a:r>
            <a:r>
              <a:rPr lang="en-US" sz="1550" i="1" dirty="0">
                <a:solidFill>
                  <a:srgbClr val="272525"/>
                </a:solidFill>
                <a:latin typeface="Inter" pitchFamily="34" charset="0"/>
                <a:ea typeface="Inter" pitchFamily="34" charset="-122"/>
                <a:cs typeface="Inter" pitchFamily="34" charset="-120"/>
              </a:rPr>
              <a:t>Reference Module in Social Sciences, International Encyclopedia of Business Management</a:t>
            </a:r>
            <a:r>
              <a:rPr lang="en-US" sz="1550" dirty="0">
                <a:solidFill>
                  <a:srgbClr val="272525"/>
                </a:solidFill>
                <a:latin typeface="Inter" pitchFamily="34" charset="0"/>
                <a:ea typeface="Inter" pitchFamily="34" charset="-122"/>
                <a:cs typeface="Inter" pitchFamily="34" charset="-120"/>
              </a:rPr>
              <a:t>, Elsevier.</a:t>
            </a:r>
            <a:endParaRPr lang="en-US" sz="1550" dirty="0"/>
          </a:p>
        </p:txBody>
      </p:sp>
      <p:sp>
        <p:nvSpPr>
          <p:cNvPr id="8" name="Text 6"/>
          <p:cNvSpPr/>
          <p:nvPr/>
        </p:nvSpPr>
        <p:spPr>
          <a:xfrm>
            <a:off x="7564874" y="4768334"/>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Tran, N. H. T., Fayezi, S., Zomorrodi, M., &amp; Agarwal, A. (2024). Leveraging network orchestration to address modern slavery risks in the supply chain track: Operations, logistics and supply chain management. </a:t>
            </a:r>
            <a:r>
              <a:rPr lang="en-US" sz="1550" i="1" dirty="0">
                <a:solidFill>
                  <a:srgbClr val="272525"/>
                </a:solidFill>
                <a:latin typeface="Inter" pitchFamily="34" charset="0"/>
                <a:ea typeface="Inter" pitchFamily="34" charset="-122"/>
                <a:cs typeface="Inter" pitchFamily="34" charset="-120"/>
              </a:rPr>
              <a:t>British Academy of Management 2024 Conference</a:t>
            </a:r>
            <a:r>
              <a:rPr lang="en-US" sz="1550" dirty="0">
                <a:solidFill>
                  <a:srgbClr val="272525"/>
                </a:solidFill>
                <a:latin typeface="Inter" pitchFamily="34" charset="0"/>
                <a:ea typeface="Inter" pitchFamily="34" charset="-122"/>
                <a:cs typeface="Inter" pitchFamily="34" charset="-120"/>
              </a:rPr>
              <a:t>, Nottingham Trent University, Nottingham: UK.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952506" y="1398746"/>
            <a:ext cx="10725388" cy="850106"/>
          </a:xfrm>
          <a:prstGeom prst="rect">
            <a:avLst/>
          </a:prstGeom>
          <a:noFill/>
          <a:ln/>
        </p:spPr>
        <p:txBody>
          <a:bodyPr wrap="squar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Research Publications — Conceptual Work, Leadership &amp; Motivation</a:t>
            </a:r>
            <a:endParaRPr lang="en-US" sz="2650" dirty="0"/>
          </a:p>
        </p:txBody>
      </p:sp>
      <p:sp>
        <p:nvSpPr>
          <p:cNvPr id="3" name="Shape 1"/>
          <p:cNvSpPr/>
          <p:nvPr/>
        </p:nvSpPr>
        <p:spPr>
          <a:xfrm>
            <a:off x="1937266" y="2419945"/>
            <a:ext cx="30480" cy="4426029"/>
          </a:xfrm>
          <a:prstGeom prst="rect">
            <a:avLst/>
          </a:prstGeom>
          <a:solidFill>
            <a:srgbClr val="4950BC"/>
          </a:solidFill>
          <a:ln/>
        </p:spPr>
        <p:txBody>
          <a:bodyPr/>
          <a:lstStyle/>
          <a:p>
            <a:endParaRPr lang="en-AU"/>
          </a:p>
        </p:txBody>
      </p:sp>
      <p:sp>
        <p:nvSpPr>
          <p:cNvPr id="4" name="Text 2"/>
          <p:cNvSpPr/>
          <p:nvPr/>
        </p:nvSpPr>
        <p:spPr>
          <a:xfrm>
            <a:off x="2118955" y="2435185"/>
            <a:ext cx="3542228" cy="212527"/>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Inter Bold" pitchFamily="34" charset="0"/>
                <a:ea typeface="Inter Bold" pitchFamily="34" charset="-122"/>
                <a:cs typeface="Inter Bold" pitchFamily="34" charset="-120"/>
              </a:rPr>
              <a:t>5. Conceptual Work — Leading/Leadership</a:t>
            </a:r>
            <a:endParaRPr lang="en-US" sz="1300" dirty="0"/>
          </a:p>
        </p:txBody>
      </p:sp>
      <p:sp>
        <p:nvSpPr>
          <p:cNvPr id="5" name="Text 3"/>
          <p:cNvSpPr/>
          <p:nvPr/>
        </p:nvSpPr>
        <p:spPr>
          <a:xfrm>
            <a:off x="2118955" y="2703552"/>
            <a:ext cx="5138023" cy="732949"/>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Agarwal, A. (2024). Chapter 00176: Shepherding Engineering Leadership: Leading With a Combination of Timeless Wisdom and Modern Insights. In </a:t>
            </a:r>
            <a:r>
              <a:rPr lang="en-US" sz="1050" i="1" dirty="0">
                <a:solidFill>
                  <a:srgbClr val="272525"/>
                </a:solidFill>
                <a:latin typeface="Inter" pitchFamily="34" charset="0"/>
                <a:ea typeface="Inter" pitchFamily="34" charset="-122"/>
                <a:cs typeface="Inter" pitchFamily="34" charset="-120"/>
              </a:rPr>
              <a:t>Reference Module in Social Sciences, International Encyclopedia of Business Management</a:t>
            </a:r>
            <a:r>
              <a:rPr lang="en-US" sz="1050" dirty="0">
                <a:solidFill>
                  <a:srgbClr val="272525"/>
                </a:solidFill>
                <a:latin typeface="Inter" pitchFamily="34" charset="0"/>
                <a:ea typeface="Inter" pitchFamily="34" charset="-122"/>
                <a:cs typeface="Inter" pitchFamily="34" charset="-120"/>
              </a:rPr>
              <a:t>, Elsevier.</a:t>
            </a:r>
            <a:endParaRPr lang="en-US" sz="1050" dirty="0"/>
          </a:p>
        </p:txBody>
      </p:sp>
      <p:sp>
        <p:nvSpPr>
          <p:cNvPr id="6" name="Text 4"/>
          <p:cNvSpPr/>
          <p:nvPr/>
        </p:nvSpPr>
        <p:spPr>
          <a:xfrm>
            <a:off x="2118955" y="3492341"/>
            <a:ext cx="5138023" cy="732949"/>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Agarwal, A. (2024). Chapter 00177: 'Side-by-Side Leading': Leader-Follower Dynamics in the Organizational World of Artificial Intelligence. In </a:t>
            </a:r>
            <a:r>
              <a:rPr lang="en-US" sz="1050" i="1" dirty="0">
                <a:solidFill>
                  <a:srgbClr val="272525"/>
                </a:solidFill>
                <a:latin typeface="Inter" pitchFamily="34" charset="0"/>
                <a:ea typeface="Inter" pitchFamily="34" charset="-122"/>
                <a:cs typeface="Inter" pitchFamily="34" charset="-120"/>
              </a:rPr>
              <a:t>Reference Module in Social Sciences, International Encyclopedia of Business Management</a:t>
            </a:r>
            <a:r>
              <a:rPr lang="en-US" sz="1050" dirty="0">
                <a:solidFill>
                  <a:srgbClr val="272525"/>
                </a:solidFill>
                <a:latin typeface="Inter" pitchFamily="34" charset="0"/>
                <a:ea typeface="Inter" pitchFamily="34" charset="-122"/>
                <a:cs typeface="Inter" pitchFamily="34" charset="-120"/>
              </a:rPr>
              <a:t>, Elsevier.</a:t>
            </a:r>
            <a:endParaRPr lang="en-US" sz="1050" dirty="0"/>
          </a:p>
        </p:txBody>
      </p:sp>
      <p:sp>
        <p:nvSpPr>
          <p:cNvPr id="7" name="Text 5"/>
          <p:cNvSpPr/>
          <p:nvPr/>
        </p:nvSpPr>
        <p:spPr>
          <a:xfrm>
            <a:off x="2118955" y="4281130"/>
            <a:ext cx="5138023" cy="732949"/>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Agarwal, A. (2023). Shepherding Engineering Leadership: A Combined Approach to Leading and Creating Employee Engagement. In: Marques, J. (eds) </a:t>
            </a:r>
            <a:r>
              <a:rPr lang="en-US" sz="1050" i="1" dirty="0">
                <a:solidFill>
                  <a:srgbClr val="272525"/>
                </a:solidFill>
                <a:latin typeface="Inter" pitchFamily="34" charset="0"/>
                <a:ea typeface="Inter" pitchFamily="34" charset="-122"/>
                <a:cs typeface="Inter" pitchFamily="34" charset="-120"/>
              </a:rPr>
              <a:t>The Palgrave Handbook of Fulfillment, Wellness, and Personal Growth at Work</a:t>
            </a:r>
            <a:r>
              <a:rPr lang="en-US" sz="1050" dirty="0">
                <a:solidFill>
                  <a:srgbClr val="272525"/>
                </a:solidFill>
                <a:latin typeface="Inter" pitchFamily="34" charset="0"/>
                <a:ea typeface="Inter" pitchFamily="34" charset="-122"/>
                <a:cs typeface="Inter" pitchFamily="34" charset="-120"/>
              </a:rPr>
              <a:t>. Palgrave Macmillan, Cham. </a:t>
            </a:r>
            <a:r>
              <a:rPr lang="en-US" sz="10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https://doi.org/10.1007/978-3-031-35494-6_8</a:t>
            </a:r>
            <a:r>
              <a:rPr lang="en-US" sz="1050" dirty="0">
                <a:solidFill>
                  <a:srgbClr val="272525"/>
                </a:solidFill>
                <a:latin typeface="Inter" pitchFamily="34" charset="0"/>
                <a:ea typeface="Inter" pitchFamily="34" charset="-122"/>
                <a:cs typeface="Inter" pitchFamily="34" charset="-120"/>
              </a:rPr>
              <a:t>.</a:t>
            </a:r>
            <a:endParaRPr lang="en-US" sz="1050" dirty="0"/>
          </a:p>
        </p:txBody>
      </p:sp>
      <p:sp>
        <p:nvSpPr>
          <p:cNvPr id="8" name="Text 6"/>
          <p:cNvSpPr/>
          <p:nvPr/>
        </p:nvSpPr>
        <p:spPr>
          <a:xfrm>
            <a:off x="2118955" y="5069919"/>
            <a:ext cx="5138023" cy="549712"/>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Gulati, R., Agarwal, A., &amp; Campbell, K. (2025). Nurturing an Agile Mindset for Leading International Teams in the Realm of Global Business. </a:t>
            </a:r>
            <a:r>
              <a:rPr lang="en-US" sz="1050" i="1" dirty="0">
                <a:solidFill>
                  <a:srgbClr val="272525"/>
                </a:solidFill>
                <a:latin typeface="Inter" pitchFamily="34" charset="0"/>
                <a:ea typeface="Inter" pitchFamily="34" charset="-122"/>
                <a:cs typeface="Inter" pitchFamily="34" charset="-120"/>
              </a:rPr>
              <a:t>Academy of International Business 2025 Conference</a:t>
            </a:r>
            <a:r>
              <a:rPr lang="en-US" sz="1050" dirty="0">
                <a:solidFill>
                  <a:srgbClr val="272525"/>
                </a:solidFill>
                <a:latin typeface="Inter" pitchFamily="34" charset="0"/>
                <a:ea typeface="Inter" pitchFamily="34" charset="-122"/>
                <a:cs typeface="Inter" pitchFamily="34" charset="-120"/>
              </a:rPr>
              <a:t>, Louisville, Kentucky, US.</a:t>
            </a:r>
            <a:endParaRPr lang="en-US" sz="1050" dirty="0"/>
          </a:p>
        </p:txBody>
      </p:sp>
      <p:sp>
        <p:nvSpPr>
          <p:cNvPr id="9" name="Text 7"/>
          <p:cNvSpPr/>
          <p:nvPr/>
        </p:nvSpPr>
        <p:spPr>
          <a:xfrm>
            <a:off x="2118955" y="5675471"/>
            <a:ext cx="5138023" cy="549712"/>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Agarwal, A., &amp; Hallo, L. (2023). Side-by-Side Leadership to rethinking the role of people and data in organizational decision-making. </a:t>
            </a:r>
            <a:r>
              <a:rPr lang="en-US" sz="1050" i="1" dirty="0">
                <a:solidFill>
                  <a:srgbClr val="272525"/>
                </a:solidFill>
                <a:latin typeface="Inter" pitchFamily="34" charset="0"/>
                <a:ea typeface="Inter" pitchFamily="34" charset="-122"/>
                <a:cs typeface="Inter" pitchFamily="34" charset="-120"/>
              </a:rPr>
              <a:t>Leading and Managing in the Digital Era (LMDE) Conference</a:t>
            </a:r>
            <a:r>
              <a:rPr lang="en-US" sz="1050" dirty="0">
                <a:solidFill>
                  <a:srgbClr val="272525"/>
                </a:solidFill>
                <a:latin typeface="Inter" pitchFamily="34" charset="0"/>
                <a:ea typeface="Inter" pitchFamily="34" charset="-122"/>
                <a:cs typeface="Inter" pitchFamily="34" charset="-120"/>
              </a:rPr>
              <a:t>, Athens, Greece, June 20–23, 2023.</a:t>
            </a:r>
            <a:endParaRPr lang="en-US" sz="1050" dirty="0"/>
          </a:p>
        </p:txBody>
      </p:sp>
      <p:sp>
        <p:nvSpPr>
          <p:cNvPr id="10" name="Text 8"/>
          <p:cNvSpPr/>
          <p:nvPr/>
        </p:nvSpPr>
        <p:spPr>
          <a:xfrm>
            <a:off x="2118955" y="6281023"/>
            <a:ext cx="5138023" cy="549712"/>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Leonie, H., &amp; Agarwal, A. (2023). Combining intuition and artificial intelligence in leadership decision-making: Why and how? </a:t>
            </a:r>
            <a:r>
              <a:rPr lang="en-US" sz="1050" i="1" dirty="0">
                <a:solidFill>
                  <a:srgbClr val="272525"/>
                </a:solidFill>
                <a:latin typeface="Inter" pitchFamily="34" charset="0"/>
                <a:ea typeface="Inter" pitchFamily="34" charset="-122"/>
                <a:cs typeface="Inter" pitchFamily="34" charset="-120"/>
              </a:rPr>
              <a:t>Leading and Managing in the Digital Era (LMDE) Conference</a:t>
            </a:r>
            <a:r>
              <a:rPr lang="en-US" sz="1050" dirty="0">
                <a:solidFill>
                  <a:srgbClr val="272525"/>
                </a:solidFill>
                <a:latin typeface="Inter" pitchFamily="34" charset="0"/>
                <a:ea typeface="Inter" pitchFamily="34" charset="-122"/>
                <a:cs typeface="Inter" pitchFamily="34" charset="-120"/>
              </a:rPr>
              <a:t>, Athens, Greece, June 20–23, 2023.</a:t>
            </a:r>
            <a:endParaRPr lang="en-US" sz="1050" dirty="0"/>
          </a:p>
        </p:txBody>
      </p:sp>
      <p:sp>
        <p:nvSpPr>
          <p:cNvPr id="11" name="Shape 9"/>
          <p:cNvSpPr/>
          <p:nvPr/>
        </p:nvSpPr>
        <p:spPr>
          <a:xfrm>
            <a:off x="7358182" y="2419945"/>
            <a:ext cx="30480" cy="4426029"/>
          </a:xfrm>
          <a:prstGeom prst="rect">
            <a:avLst/>
          </a:prstGeom>
          <a:solidFill>
            <a:srgbClr val="4950BC"/>
          </a:solidFill>
          <a:ln/>
        </p:spPr>
        <p:txBody>
          <a:bodyPr/>
          <a:lstStyle/>
          <a:p>
            <a:endParaRPr lang="en-AU"/>
          </a:p>
        </p:txBody>
      </p:sp>
      <p:sp>
        <p:nvSpPr>
          <p:cNvPr id="12" name="Text 10"/>
          <p:cNvSpPr/>
          <p:nvPr/>
        </p:nvSpPr>
        <p:spPr>
          <a:xfrm>
            <a:off x="7539871" y="2435185"/>
            <a:ext cx="1700093" cy="212527"/>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Inter Bold" pitchFamily="34" charset="0"/>
                <a:ea typeface="Inter Bold" pitchFamily="34" charset="-122"/>
                <a:cs typeface="Inter Bold" pitchFamily="34" charset="-120"/>
              </a:rPr>
              <a:t>6. Motivation</a:t>
            </a:r>
            <a:endParaRPr lang="en-US" sz="1300" dirty="0"/>
          </a:p>
        </p:txBody>
      </p:sp>
      <p:sp>
        <p:nvSpPr>
          <p:cNvPr id="13" name="Text 11"/>
          <p:cNvSpPr/>
          <p:nvPr/>
        </p:nvSpPr>
        <p:spPr>
          <a:xfrm>
            <a:off x="7539871" y="2703552"/>
            <a:ext cx="5138023" cy="732949"/>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Maria N., Agarwal, A., &amp; Wilkie, D. (2024). A conceptual exploration of motivation types as antecedents to subsequent tertiary learning outcomes. </a:t>
            </a:r>
            <a:r>
              <a:rPr lang="en-US" sz="1050" i="1" dirty="0">
                <a:solidFill>
                  <a:srgbClr val="272525"/>
                </a:solidFill>
                <a:latin typeface="Inter" pitchFamily="34" charset="0"/>
                <a:ea typeface="Inter" pitchFamily="34" charset="-122"/>
                <a:cs typeface="Inter" pitchFamily="34" charset="-120"/>
              </a:rPr>
              <a:t>International Doctoral Business Research Conference</a:t>
            </a:r>
            <a:r>
              <a:rPr lang="en-US" sz="1050" dirty="0">
                <a:solidFill>
                  <a:srgbClr val="272525"/>
                </a:solidFill>
                <a:latin typeface="Inter" pitchFamily="34" charset="0"/>
                <a:ea typeface="Inter" pitchFamily="34" charset="-122"/>
                <a:cs typeface="Inter" pitchFamily="34" charset="-120"/>
              </a:rPr>
              <a:t>, Western Sydney University, Australia, November 7–8, 2024.</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95707"/>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Research Publications — Teams, MBA &amp; Creative Writing</a:t>
            </a:r>
            <a:endParaRPr lang="en-US" sz="3900" dirty="0"/>
          </a:p>
        </p:txBody>
      </p:sp>
      <p:sp>
        <p:nvSpPr>
          <p:cNvPr id="3" name="Shape 1"/>
          <p:cNvSpPr/>
          <p:nvPr/>
        </p:nvSpPr>
        <p:spPr>
          <a:xfrm>
            <a:off x="793790" y="2532698"/>
            <a:ext cx="4215289" cy="4801195"/>
          </a:xfrm>
          <a:prstGeom prst="roundRect">
            <a:avLst>
              <a:gd name="adj" fmla="val 1978"/>
            </a:avLst>
          </a:prstGeom>
          <a:solidFill>
            <a:srgbClr val="FFFFFF"/>
          </a:solidFill>
          <a:ln w="22860">
            <a:solidFill>
              <a:srgbClr val="C0C1D7"/>
            </a:solidFill>
            <a:prstDash val="solid"/>
          </a:ln>
        </p:spPr>
        <p:txBody>
          <a:bodyPr/>
          <a:lstStyle/>
          <a:p>
            <a:endParaRPr lang="en-AU"/>
          </a:p>
        </p:txBody>
      </p:sp>
      <p:sp>
        <p:nvSpPr>
          <p:cNvPr id="4" name="Text 2"/>
          <p:cNvSpPr/>
          <p:nvPr/>
        </p:nvSpPr>
        <p:spPr>
          <a:xfrm>
            <a:off x="1015008" y="275391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7. Teams</a:t>
            </a:r>
            <a:endParaRPr lang="en-US" sz="1950" dirty="0"/>
          </a:p>
        </p:txBody>
      </p:sp>
      <p:sp>
        <p:nvSpPr>
          <p:cNvPr id="5" name="Text 3"/>
          <p:cNvSpPr/>
          <p:nvPr/>
        </p:nvSpPr>
        <p:spPr>
          <a:xfrm>
            <a:off x="1015008" y="3183136"/>
            <a:ext cx="3772853" cy="222277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Agarwal, A. (2022). Managing Groups: Skills to Uncover the Pre-forming Stage and Distributing Roles. </a:t>
            </a:r>
            <a:r>
              <a:rPr lang="en-US" sz="1550" i="1" dirty="0">
                <a:solidFill>
                  <a:srgbClr val="272525"/>
                </a:solidFill>
                <a:latin typeface="Inter" pitchFamily="34" charset="0"/>
                <a:ea typeface="Inter" pitchFamily="34" charset="-122"/>
                <a:cs typeface="Inter" pitchFamily="34" charset="-120"/>
              </a:rPr>
              <a:t>Academy of Management Proceedings</a:t>
            </a:r>
            <a:r>
              <a:rPr lang="en-US" sz="1550" dirty="0">
                <a:solidFill>
                  <a:srgbClr val="272525"/>
                </a:solidFill>
                <a:latin typeface="Inter" pitchFamily="34" charset="0"/>
                <a:ea typeface="Inter" pitchFamily="34" charset="-122"/>
                <a:cs typeface="Inter" pitchFamily="34" charset="-120"/>
              </a:rPr>
              <a:t> (Vol. 2022, No. 1, p. 15389). Seattle, WA. Briarcliff Manor, NY 10510: Academy of Management.</a:t>
            </a:r>
            <a:endParaRPr lang="en-US" sz="1550" dirty="0"/>
          </a:p>
        </p:txBody>
      </p:sp>
      <p:sp>
        <p:nvSpPr>
          <p:cNvPr id="6" name="Shape 4"/>
          <p:cNvSpPr/>
          <p:nvPr/>
        </p:nvSpPr>
        <p:spPr>
          <a:xfrm>
            <a:off x="5207437" y="2532698"/>
            <a:ext cx="4215408" cy="4801195"/>
          </a:xfrm>
          <a:prstGeom prst="roundRect">
            <a:avLst>
              <a:gd name="adj" fmla="val 1977"/>
            </a:avLst>
          </a:prstGeom>
          <a:solidFill>
            <a:srgbClr val="FFFFFF"/>
          </a:solidFill>
          <a:ln w="22860">
            <a:solidFill>
              <a:srgbClr val="C0C1D7"/>
            </a:solidFill>
            <a:prstDash val="solid"/>
          </a:ln>
        </p:spPr>
        <p:txBody>
          <a:bodyPr/>
          <a:lstStyle/>
          <a:p>
            <a:endParaRPr lang="en-AU"/>
          </a:p>
        </p:txBody>
      </p:sp>
      <p:sp>
        <p:nvSpPr>
          <p:cNvPr id="7" name="Text 5"/>
          <p:cNvSpPr/>
          <p:nvPr/>
        </p:nvSpPr>
        <p:spPr>
          <a:xfrm>
            <a:off x="5428655" y="275391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8. MBA</a:t>
            </a:r>
            <a:endParaRPr lang="en-US" sz="1950" dirty="0"/>
          </a:p>
        </p:txBody>
      </p:sp>
      <p:sp>
        <p:nvSpPr>
          <p:cNvPr id="8" name="Text 6"/>
          <p:cNvSpPr/>
          <p:nvPr/>
        </p:nvSpPr>
        <p:spPr>
          <a:xfrm>
            <a:off x="5428655" y="3183136"/>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Agarwal, A., &amp; Hallo, L. (2024). Reflecting on the MBA degree: Waving a magic wand and/or grasping a nettle? </a:t>
            </a:r>
            <a:r>
              <a:rPr lang="en-US" sz="1550" i="1" dirty="0">
                <a:solidFill>
                  <a:srgbClr val="272525"/>
                </a:solidFill>
                <a:latin typeface="Inter" pitchFamily="34" charset="0"/>
                <a:ea typeface="Inter" pitchFamily="34" charset="-122"/>
                <a:cs typeface="Inter" pitchFamily="34" charset="-120"/>
              </a:rPr>
              <a:t>Academy of Management Proceedings</a:t>
            </a:r>
            <a:r>
              <a:rPr lang="en-US" sz="1550" dirty="0">
                <a:solidFill>
                  <a:srgbClr val="272525"/>
                </a:solidFill>
                <a:latin typeface="Inter" pitchFamily="34" charset="0"/>
                <a:ea typeface="Inter" pitchFamily="34" charset="-122"/>
                <a:cs typeface="Inter" pitchFamily="34" charset="-120"/>
              </a:rPr>
              <a:t>, Chicago: IL.</a:t>
            </a:r>
            <a:endParaRPr lang="en-US" sz="1550" dirty="0"/>
          </a:p>
        </p:txBody>
      </p:sp>
      <p:sp>
        <p:nvSpPr>
          <p:cNvPr id="9" name="Text 7"/>
          <p:cNvSpPr/>
          <p:nvPr/>
        </p:nvSpPr>
        <p:spPr>
          <a:xfrm>
            <a:off x="5428655" y="4889897"/>
            <a:ext cx="3772972" cy="222277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Agarwal, A., Sandiford, P., &amp; Wells, S. (2019). Exploring the 'X Factor' to Excavate the Value of an MBA. </a:t>
            </a:r>
            <a:r>
              <a:rPr lang="en-US" sz="1550" i="1" dirty="0">
                <a:solidFill>
                  <a:srgbClr val="272525"/>
                </a:solidFill>
                <a:latin typeface="Inter" pitchFamily="34" charset="0"/>
                <a:ea typeface="Inter" pitchFamily="34" charset="-122"/>
                <a:cs typeface="Inter" pitchFamily="34" charset="-120"/>
              </a:rPr>
              <a:t>Academy of Management Proceedings</a:t>
            </a:r>
            <a:r>
              <a:rPr lang="en-US" sz="1550" dirty="0">
                <a:solidFill>
                  <a:srgbClr val="272525"/>
                </a:solidFill>
                <a:latin typeface="Inter" pitchFamily="34" charset="0"/>
                <a:ea typeface="Inter" pitchFamily="34" charset="-122"/>
                <a:cs typeface="Inter" pitchFamily="34" charset="-120"/>
              </a:rPr>
              <a:t>, 2019(1), p.18947. Boston, MA. Briarcliff Manor, NY 10510: Academy of Management.</a:t>
            </a:r>
            <a:endParaRPr lang="en-US" sz="1550" dirty="0"/>
          </a:p>
        </p:txBody>
      </p:sp>
      <p:sp>
        <p:nvSpPr>
          <p:cNvPr id="10" name="Shape 8"/>
          <p:cNvSpPr/>
          <p:nvPr/>
        </p:nvSpPr>
        <p:spPr>
          <a:xfrm>
            <a:off x="9621203" y="2532698"/>
            <a:ext cx="4215289" cy="4801195"/>
          </a:xfrm>
          <a:prstGeom prst="roundRect">
            <a:avLst>
              <a:gd name="adj" fmla="val 1978"/>
            </a:avLst>
          </a:prstGeom>
          <a:solidFill>
            <a:srgbClr val="FFFFFF"/>
          </a:solidFill>
          <a:ln w="22860">
            <a:solidFill>
              <a:srgbClr val="C0C1D7"/>
            </a:solidFill>
            <a:prstDash val="solid"/>
          </a:ln>
        </p:spPr>
        <p:txBody>
          <a:bodyPr/>
          <a:lstStyle/>
          <a:p>
            <a:endParaRPr lang="en-AU"/>
          </a:p>
        </p:txBody>
      </p:sp>
      <p:sp>
        <p:nvSpPr>
          <p:cNvPr id="11" name="Text 9"/>
          <p:cNvSpPr/>
          <p:nvPr/>
        </p:nvSpPr>
        <p:spPr>
          <a:xfrm>
            <a:off x="9842421" y="275391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9. Creative Writing</a:t>
            </a:r>
            <a:endParaRPr lang="en-US" sz="1950" dirty="0"/>
          </a:p>
        </p:txBody>
      </p:sp>
      <p:sp>
        <p:nvSpPr>
          <p:cNvPr id="12" name="Text 10"/>
          <p:cNvSpPr/>
          <p:nvPr/>
        </p:nvSpPr>
        <p:spPr>
          <a:xfrm>
            <a:off x="9842421" y="3183136"/>
            <a:ext cx="3772853" cy="222277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Sandiford, P., Agarwal, A., Cheesman-Dutton, N., &amp; Neledva, M. (2022). Creative writing as scholarly business research: the contribution of a literary literature. </a:t>
            </a:r>
            <a:r>
              <a:rPr lang="en-US" sz="1550" i="1" dirty="0">
                <a:solidFill>
                  <a:srgbClr val="272525"/>
                </a:solidFill>
                <a:latin typeface="Inter" pitchFamily="34" charset="0"/>
                <a:ea typeface="Inter" pitchFamily="34" charset="-122"/>
                <a:cs typeface="Inter" pitchFamily="34" charset="-120"/>
              </a:rPr>
              <a:t>Australia New Zealand Academy of Management</a:t>
            </a:r>
            <a:r>
              <a:rPr lang="en-US" sz="1550" dirty="0">
                <a:solidFill>
                  <a:srgbClr val="272525"/>
                </a:solidFill>
                <a:latin typeface="Inter" pitchFamily="34" charset="0"/>
                <a:ea typeface="Inter" pitchFamily="34" charset="-122"/>
                <a:cs typeface="Inter" pitchFamily="34" charset="-120"/>
              </a:rPr>
              <a:t>, Gold Coast, Australia.</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494592" y="1248251"/>
            <a:ext cx="11641217" cy="922734"/>
          </a:xfrm>
          <a:prstGeom prst="rect">
            <a:avLst/>
          </a:prstGeom>
          <a:noFill/>
          <a:ln/>
        </p:spPr>
        <p:txBody>
          <a:bodyPr wrap="squar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Research Publications — Family Business &amp; International Business</a:t>
            </a:r>
            <a:endParaRPr lang="en-US" sz="2900" dirty="0"/>
          </a:p>
        </p:txBody>
      </p:sp>
      <p:sp>
        <p:nvSpPr>
          <p:cNvPr id="3" name="Shape 1"/>
          <p:cNvSpPr/>
          <p:nvPr/>
        </p:nvSpPr>
        <p:spPr>
          <a:xfrm>
            <a:off x="1494592" y="2390537"/>
            <a:ext cx="5765721" cy="4590812"/>
          </a:xfrm>
          <a:prstGeom prst="roundRect">
            <a:avLst>
              <a:gd name="adj" fmla="val 1593"/>
            </a:avLst>
          </a:prstGeom>
          <a:solidFill>
            <a:srgbClr val="FFFFFF"/>
          </a:solidFill>
          <a:ln w="15240">
            <a:solidFill>
              <a:srgbClr val="C0C1D7"/>
            </a:solidFill>
            <a:prstDash val="solid"/>
          </a:ln>
        </p:spPr>
        <p:txBody>
          <a:bodyPr/>
          <a:lstStyle/>
          <a:p>
            <a:endParaRPr lang="en-AU"/>
          </a:p>
        </p:txBody>
      </p:sp>
      <p:sp>
        <p:nvSpPr>
          <p:cNvPr id="4" name="Shape 2"/>
          <p:cNvSpPr/>
          <p:nvPr/>
        </p:nvSpPr>
        <p:spPr>
          <a:xfrm>
            <a:off x="1479352" y="2390537"/>
            <a:ext cx="60960" cy="4590812"/>
          </a:xfrm>
          <a:prstGeom prst="roundRect">
            <a:avLst>
              <a:gd name="adj" fmla="val 101711"/>
            </a:avLst>
          </a:prstGeom>
          <a:solidFill>
            <a:srgbClr val="4950BC"/>
          </a:solidFill>
          <a:ln/>
        </p:spPr>
        <p:txBody>
          <a:bodyPr/>
          <a:lstStyle/>
          <a:p>
            <a:endParaRPr lang="en-AU"/>
          </a:p>
        </p:txBody>
      </p:sp>
      <p:sp>
        <p:nvSpPr>
          <p:cNvPr id="5" name="Text 3"/>
          <p:cNvSpPr/>
          <p:nvPr/>
        </p:nvSpPr>
        <p:spPr>
          <a:xfrm>
            <a:off x="1703070" y="2553295"/>
            <a:ext cx="1845231" cy="23062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Inter Bold" pitchFamily="34" charset="0"/>
                <a:ea typeface="Inter Bold" pitchFamily="34" charset="-122"/>
                <a:cs typeface="Inter Bold" pitchFamily="34" charset="-120"/>
              </a:rPr>
              <a:t>10. Family Business</a:t>
            </a:r>
            <a:endParaRPr lang="en-US" sz="1450" dirty="0"/>
          </a:p>
        </p:txBody>
      </p:sp>
      <p:sp>
        <p:nvSpPr>
          <p:cNvPr id="6" name="Text 4"/>
          <p:cNvSpPr/>
          <p:nvPr/>
        </p:nvSpPr>
        <p:spPr>
          <a:xfrm>
            <a:off x="1703070" y="2849761"/>
            <a:ext cx="5394484" cy="823436"/>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Barbera, F., Shi, H. X., Agarwal, A., &amp; Edwards, M. (2020). The Family That Prays Together Stays Together: Toward a Process Model of Religious Value Transmission in Family Firms. </a:t>
            </a:r>
            <a:r>
              <a:rPr lang="en-US" sz="1150" i="1" dirty="0">
                <a:solidFill>
                  <a:srgbClr val="272525"/>
                </a:solidFill>
                <a:latin typeface="Inter" pitchFamily="34" charset="0"/>
                <a:ea typeface="Inter" pitchFamily="34" charset="-122"/>
                <a:cs typeface="Inter" pitchFamily="34" charset="-120"/>
              </a:rPr>
              <a:t>Journal of Business Ethics</a:t>
            </a:r>
            <a:r>
              <a:rPr lang="en-US" sz="1150" dirty="0">
                <a:solidFill>
                  <a:srgbClr val="272525"/>
                </a:solidFill>
                <a:latin typeface="Inter" pitchFamily="34" charset="0"/>
                <a:ea typeface="Inter" pitchFamily="34" charset="-122"/>
                <a:cs typeface="Inter" pitchFamily="34" charset="-120"/>
              </a:rPr>
              <a:t>, 163, 661–673. </a:t>
            </a:r>
            <a:r>
              <a:rPr lang="en-US" sz="11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https://doi.org/10.1007/s10551-019-04382-7</a:t>
            </a:r>
            <a:r>
              <a:rPr lang="en-US" sz="1150" dirty="0">
                <a:solidFill>
                  <a:srgbClr val="272525"/>
                </a:solidFill>
                <a:latin typeface="Inter" pitchFamily="34" charset="0"/>
                <a:ea typeface="Inter" pitchFamily="34" charset="-122"/>
                <a:cs typeface="Inter" pitchFamily="34" charset="-120"/>
              </a:rPr>
              <a:t> (FT50 Ranking).</a:t>
            </a:r>
            <a:endParaRPr lang="en-US" sz="1150" dirty="0"/>
          </a:p>
        </p:txBody>
      </p:sp>
      <p:sp>
        <p:nvSpPr>
          <p:cNvPr id="7" name="Text 5"/>
          <p:cNvSpPr/>
          <p:nvPr/>
        </p:nvSpPr>
        <p:spPr>
          <a:xfrm>
            <a:off x="1703070" y="3739039"/>
            <a:ext cx="5394484" cy="617577"/>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Agarwal, A. (2022). Why 'but' and not 'and.' </a:t>
            </a:r>
            <a:r>
              <a:rPr lang="en-US" sz="1150" i="1" dirty="0">
                <a:solidFill>
                  <a:srgbClr val="272525"/>
                </a:solidFill>
                <a:latin typeface="Inter" pitchFamily="34" charset="0"/>
                <a:ea typeface="Inter" pitchFamily="34" charset="-122"/>
                <a:cs typeface="Inter" pitchFamily="34" charset="-120"/>
              </a:rPr>
              <a:t>5th Asia Pacific Family Business Conference 2022: "Family Business Models: Recovering from COVID 19"</a:t>
            </a:r>
            <a:r>
              <a:rPr lang="en-US" sz="1150" dirty="0">
                <a:solidFill>
                  <a:srgbClr val="272525"/>
                </a:solidFill>
                <a:latin typeface="Inter" pitchFamily="34" charset="0"/>
                <a:ea typeface="Inter" pitchFamily="34" charset="-122"/>
                <a:cs typeface="Inter" pitchFamily="34" charset="-120"/>
              </a:rPr>
              <a:t>, Perth, WA, September 28, 2022.</a:t>
            </a:r>
            <a:endParaRPr lang="en-US" sz="1150" dirty="0"/>
          </a:p>
        </p:txBody>
      </p:sp>
      <p:sp>
        <p:nvSpPr>
          <p:cNvPr id="8" name="Text 6"/>
          <p:cNvSpPr/>
          <p:nvPr/>
        </p:nvSpPr>
        <p:spPr>
          <a:xfrm>
            <a:off x="1703070" y="4422458"/>
            <a:ext cx="5394484" cy="617577"/>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Agarwal, A. (2025). Resurrecting first-generation entrepreneur's spirit: Immortalising founder to subsequent generations. </a:t>
            </a:r>
            <a:r>
              <a:rPr lang="en-US" sz="1150" i="1" dirty="0">
                <a:solidFill>
                  <a:srgbClr val="272525"/>
                </a:solidFill>
                <a:latin typeface="Inter" pitchFamily="34" charset="0"/>
                <a:ea typeface="Inter" pitchFamily="34" charset="-122"/>
                <a:cs typeface="Inter" pitchFamily="34" charset="-120"/>
              </a:rPr>
              <a:t>Asia Pacific Family Business Symposium 2025</a:t>
            </a:r>
            <a:r>
              <a:rPr lang="en-US" sz="1150" dirty="0">
                <a:solidFill>
                  <a:srgbClr val="272525"/>
                </a:solidFill>
                <a:latin typeface="Inter" pitchFamily="34" charset="0"/>
                <a:ea typeface="Inter" pitchFamily="34" charset="-122"/>
                <a:cs typeface="Inter" pitchFamily="34" charset="-120"/>
              </a:rPr>
              <a:t>, Kuala Lumpur Malaysia, September 27, 2025.</a:t>
            </a:r>
            <a:endParaRPr lang="en-US" sz="1150" dirty="0"/>
          </a:p>
        </p:txBody>
      </p:sp>
      <p:sp>
        <p:nvSpPr>
          <p:cNvPr id="9" name="Shape 7"/>
          <p:cNvSpPr/>
          <p:nvPr/>
        </p:nvSpPr>
        <p:spPr>
          <a:xfrm>
            <a:off x="7370088" y="2390537"/>
            <a:ext cx="5765721" cy="4590812"/>
          </a:xfrm>
          <a:prstGeom prst="roundRect">
            <a:avLst>
              <a:gd name="adj" fmla="val 1593"/>
            </a:avLst>
          </a:prstGeom>
          <a:solidFill>
            <a:srgbClr val="FFFFFF"/>
          </a:solidFill>
          <a:ln w="15240">
            <a:solidFill>
              <a:srgbClr val="C0C1D7"/>
            </a:solidFill>
            <a:prstDash val="solid"/>
          </a:ln>
        </p:spPr>
        <p:txBody>
          <a:bodyPr/>
          <a:lstStyle/>
          <a:p>
            <a:endParaRPr lang="en-AU"/>
          </a:p>
        </p:txBody>
      </p:sp>
      <p:sp>
        <p:nvSpPr>
          <p:cNvPr id="10" name="Shape 8"/>
          <p:cNvSpPr/>
          <p:nvPr/>
        </p:nvSpPr>
        <p:spPr>
          <a:xfrm>
            <a:off x="7354848" y="2390537"/>
            <a:ext cx="60960" cy="4590812"/>
          </a:xfrm>
          <a:prstGeom prst="roundRect">
            <a:avLst>
              <a:gd name="adj" fmla="val 101711"/>
            </a:avLst>
          </a:prstGeom>
          <a:solidFill>
            <a:srgbClr val="4950BC"/>
          </a:solidFill>
          <a:ln/>
        </p:spPr>
        <p:txBody>
          <a:bodyPr/>
          <a:lstStyle/>
          <a:p>
            <a:endParaRPr lang="en-AU"/>
          </a:p>
        </p:txBody>
      </p:sp>
      <p:sp>
        <p:nvSpPr>
          <p:cNvPr id="11" name="Text 9"/>
          <p:cNvSpPr/>
          <p:nvPr/>
        </p:nvSpPr>
        <p:spPr>
          <a:xfrm>
            <a:off x="7578566" y="2553295"/>
            <a:ext cx="2266831" cy="23062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Inter Bold" pitchFamily="34" charset="0"/>
                <a:ea typeface="Inter Bold" pitchFamily="34" charset="-122"/>
                <a:cs typeface="Inter Bold" pitchFamily="34" charset="-120"/>
              </a:rPr>
              <a:t>11. International Business</a:t>
            </a:r>
            <a:endParaRPr lang="en-US" sz="1450" dirty="0"/>
          </a:p>
        </p:txBody>
      </p:sp>
      <p:sp>
        <p:nvSpPr>
          <p:cNvPr id="12" name="Text 10"/>
          <p:cNvSpPr/>
          <p:nvPr/>
        </p:nvSpPr>
        <p:spPr>
          <a:xfrm>
            <a:off x="7578566" y="2849761"/>
            <a:ext cx="5394484" cy="823436"/>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Rammal, H.G., Rose, E.L., Gulati, R., Agarwal, A., &amp; Wijewardhana, C. (2024). The Japan-India Comprehensive Economic Partnership Agreement Rhetoric and Reality. </a:t>
            </a:r>
            <a:r>
              <a:rPr lang="en-US" sz="1150" i="1" dirty="0">
                <a:solidFill>
                  <a:srgbClr val="272525"/>
                </a:solidFill>
                <a:latin typeface="Inter" pitchFamily="34" charset="0"/>
                <a:ea typeface="Inter" pitchFamily="34" charset="-122"/>
                <a:cs typeface="Inter" pitchFamily="34" charset="-120"/>
              </a:rPr>
              <a:t>The Association of Japanese Business Studies</a:t>
            </a:r>
            <a:r>
              <a:rPr lang="en-US" sz="1150" dirty="0">
                <a:solidFill>
                  <a:srgbClr val="272525"/>
                </a:solidFill>
                <a:latin typeface="Inter" pitchFamily="34" charset="0"/>
                <a:ea typeface="Inter" pitchFamily="34" charset="-122"/>
                <a:cs typeface="Inter" pitchFamily="34" charset="-120"/>
              </a:rPr>
              <a:t>, Seoul, South Korea.</a:t>
            </a:r>
            <a:endParaRPr lang="en-US" sz="1150" dirty="0"/>
          </a:p>
        </p:txBody>
      </p:sp>
      <p:sp>
        <p:nvSpPr>
          <p:cNvPr id="13" name="Text 11"/>
          <p:cNvSpPr/>
          <p:nvPr/>
        </p:nvSpPr>
        <p:spPr>
          <a:xfrm>
            <a:off x="7578566" y="3739039"/>
            <a:ext cx="5394484" cy="617577"/>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Gulati, R, &amp; Agarwal, A. (2024). Transforming India: The "Make in India" Initiative. </a:t>
            </a:r>
            <a:r>
              <a:rPr lang="en-US" sz="1150" i="1" dirty="0">
                <a:solidFill>
                  <a:srgbClr val="272525"/>
                </a:solidFill>
                <a:latin typeface="Inter" pitchFamily="34" charset="0"/>
                <a:ea typeface="Inter" pitchFamily="34" charset="-122"/>
                <a:cs typeface="Inter" pitchFamily="34" charset="-120"/>
              </a:rPr>
              <a:t>Academy of International Business Insights</a:t>
            </a:r>
            <a:r>
              <a:rPr lang="en-US" sz="1150" dirty="0">
                <a:solidFill>
                  <a:srgbClr val="272525"/>
                </a:solidFill>
                <a:latin typeface="Inter" pitchFamily="34" charset="0"/>
                <a:ea typeface="Inter" pitchFamily="34" charset="-122"/>
                <a:cs typeface="Inter" pitchFamily="34" charset="-120"/>
              </a:rPr>
              <a:t>, PDW, Seoul, July 2, 2024.</a:t>
            </a:r>
            <a:endParaRPr lang="en-US" sz="1150" dirty="0"/>
          </a:p>
        </p:txBody>
      </p:sp>
      <p:sp>
        <p:nvSpPr>
          <p:cNvPr id="14" name="Text 12"/>
          <p:cNvSpPr/>
          <p:nvPr/>
        </p:nvSpPr>
        <p:spPr>
          <a:xfrm>
            <a:off x="7578566" y="4422458"/>
            <a:ext cx="5394484" cy="823436"/>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Agarwal, A. (2023). Where are we shifting: Towards Changing Mindset or ChangeMindset. </a:t>
            </a:r>
            <a:r>
              <a:rPr lang="en-US" sz="1150" i="1" dirty="0">
                <a:solidFill>
                  <a:srgbClr val="272525"/>
                </a:solidFill>
                <a:latin typeface="Inter" pitchFamily="34" charset="0"/>
                <a:ea typeface="Inter" pitchFamily="34" charset="-122"/>
                <a:cs typeface="Inter" pitchFamily="34" charset="-120"/>
              </a:rPr>
              <a:t>International Conference on Sustainability and Social Entrepreneurship building a better India: Vision 2050</a:t>
            </a:r>
            <a:r>
              <a:rPr lang="en-US" sz="1150" dirty="0">
                <a:solidFill>
                  <a:srgbClr val="272525"/>
                </a:solidFill>
                <a:latin typeface="Inter" pitchFamily="34" charset="0"/>
                <a:ea typeface="Inter" pitchFamily="34" charset="-122"/>
                <a:cs typeface="Inter" pitchFamily="34" charset="-120"/>
              </a:rPr>
              <a:t>, Symposium, Lucknow, Uttar Pradesh, India, October 5–7, 2023.</a:t>
            </a:r>
            <a:endParaRPr lang="en-US" sz="1150" dirty="0"/>
          </a:p>
        </p:txBody>
      </p:sp>
      <p:sp>
        <p:nvSpPr>
          <p:cNvPr id="15" name="Text 13"/>
          <p:cNvSpPr/>
          <p:nvPr/>
        </p:nvSpPr>
        <p:spPr>
          <a:xfrm>
            <a:off x="7578566" y="5311735"/>
            <a:ext cx="5394484" cy="823436"/>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Richa, G., Hallo, L., Agarwal, A., &amp; Campbell, K. (2023). Nurturing an Agile Mindset for Leading International Teams in the Realm of Global Business. </a:t>
            </a:r>
            <a:r>
              <a:rPr lang="en-US" sz="1150" i="1" dirty="0">
                <a:solidFill>
                  <a:srgbClr val="272525"/>
                </a:solidFill>
                <a:latin typeface="Inter" pitchFamily="34" charset="0"/>
                <a:ea typeface="Inter" pitchFamily="34" charset="-122"/>
                <a:cs typeface="Inter" pitchFamily="34" charset="-120"/>
              </a:rPr>
              <a:t>Academy of International Business Oceania Conference</a:t>
            </a:r>
            <a:r>
              <a:rPr lang="en-US" sz="1150" dirty="0">
                <a:solidFill>
                  <a:srgbClr val="272525"/>
                </a:solidFill>
                <a:latin typeface="Inter" pitchFamily="34" charset="0"/>
                <a:ea typeface="Inter" pitchFamily="34" charset="-122"/>
                <a:cs typeface="Inter" pitchFamily="34" charset="-120"/>
              </a:rPr>
              <a:t>, PDW, Adelaide, November 24, 2023.</a:t>
            </a:r>
            <a:endParaRPr lang="en-US" sz="1150" dirty="0"/>
          </a:p>
        </p:txBody>
      </p:sp>
      <p:sp>
        <p:nvSpPr>
          <p:cNvPr id="16" name="Text 14"/>
          <p:cNvSpPr/>
          <p:nvPr/>
        </p:nvSpPr>
        <p:spPr>
          <a:xfrm>
            <a:off x="7578566" y="6201013"/>
            <a:ext cx="5394484" cy="617577"/>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Agarwal, A., Hallo, L., &amp; Gulati, R. (2023). Enhancing Farmer Involvement in Grain Research and Decision-Making. </a:t>
            </a:r>
            <a:r>
              <a:rPr lang="en-US" sz="1150" i="1" dirty="0">
                <a:solidFill>
                  <a:srgbClr val="272525"/>
                </a:solidFill>
                <a:latin typeface="Inter" pitchFamily="34" charset="0"/>
                <a:ea typeface="Inter" pitchFamily="34" charset="-122"/>
                <a:cs typeface="Inter" pitchFamily="34" charset="-120"/>
              </a:rPr>
              <a:t>Academy of International Business Oceania Symposia</a:t>
            </a:r>
            <a:r>
              <a:rPr lang="en-US" sz="1150" dirty="0">
                <a:solidFill>
                  <a:srgbClr val="272525"/>
                </a:solidFill>
                <a:latin typeface="Inter" pitchFamily="34" charset="0"/>
                <a:ea typeface="Inter" pitchFamily="34" charset="-122"/>
                <a:cs typeface="Inter" pitchFamily="34" charset="-120"/>
              </a:rPr>
              <a:t>, Adelaide, November 24, 2023.</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402449" y="376595"/>
            <a:ext cx="7825502" cy="620316"/>
          </a:xfrm>
          <a:prstGeom prst="rect">
            <a:avLst/>
          </a:prstGeom>
          <a:noFill/>
          <a:ln/>
        </p:spPr>
        <p:txBody>
          <a:bodyPr wrap="squar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Research Publications — Teaching &amp; Learning, Academia &amp; Case Studies</a:t>
            </a:r>
            <a:endParaRPr lang="en-US" sz="1950" dirty="0"/>
          </a:p>
        </p:txBody>
      </p:sp>
      <p:sp>
        <p:nvSpPr>
          <p:cNvPr id="3" name="Shape 1"/>
          <p:cNvSpPr/>
          <p:nvPr/>
        </p:nvSpPr>
        <p:spPr>
          <a:xfrm>
            <a:off x="3387209" y="1080849"/>
            <a:ext cx="30480" cy="6787277"/>
          </a:xfrm>
          <a:prstGeom prst="rect">
            <a:avLst/>
          </a:prstGeom>
          <a:solidFill>
            <a:srgbClr val="4950BC"/>
          </a:solidFill>
          <a:ln/>
        </p:spPr>
        <p:txBody>
          <a:bodyPr/>
          <a:lstStyle/>
          <a:p>
            <a:endParaRPr lang="en-AU"/>
          </a:p>
        </p:txBody>
      </p:sp>
      <p:sp>
        <p:nvSpPr>
          <p:cNvPr id="4" name="Text 2"/>
          <p:cNvSpPr/>
          <p:nvPr/>
        </p:nvSpPr>
        <p:spPr>
          <a:xfrm>
            <a:off x="3532108" y="1096089"/>
            <a:ext cx="2326719"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12. Teaching and Learning &amp; Academia</a:t>
            </a:r>
            <a:endParaRPr lang="en-US" sz="950" dirty="0"/>
          </a:p>
        </p:txBody>
      </p:sp>
      <p:sp>
        <p:nvSpPr>
          <p:cNvPr id="5" name="Text 3"/>
          <p:cNvSpPr/>
          <p:nvPr/>
        </p:nvSpPr>
        <p:spPr>
          <a:xfrm>
            <a:off x="3532108" y="1280874"/>
            <a:ext cx="3752136"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Organizational Behaviour Course with Reflective Thinking and Student-Centric Experiential Learning Approach. In M. Eklund &amp; K. Graham (Eds.), </a:t>
            </a:r>
            <a:r>
              <a:rPr lang="en-US" sz="750" i="1" dirty="0">
                <a:solidFill>
                  <a:srgbClr val="272525"/>
                </a:solidFill>
                <a:latin typeface="Inter" pitchFamily="34" charset="0"/>
                <a:ea typeface="Inter" pitchFamily="34" charset="-122"/>
                <a:cs typeface="Inter" pitchFamily="34" charset="-120"/>
              </a:rPr>
              <a:t>Practical Applications of Experiential and Community-Engaged Learning Methods in Business: High-Impact Teaching Practices in Business Education</a:t>
            </a:r>
            <a:r>
              <a:rPr lang="en-US" sz="750" dirty="0">
                <a:solidFill>
                  <a:srgbClr val="272525"/>
                </a:solidFill>
                <a:latin typeface="Inter" pitchFamily="34" charset="0"/>
                <a:ea typeface="Inter" pitchFamily="34" charset="-122"/>
                <a:cs typeface="Inter" pitchFamily="34" charset="-120"/>
              </a:rPr>
              <a:t> (Vol 1), Edward Elgar: UK.</a:t>
            </a:r>
            <a:endParaRPr lang="en-US" sz="750" dirty="0"/>
          </a:p>
        </p:txBody>
      </p:sp>
      <p:sp>
        <p:nvSpPr>
          <p:cNvPr id="6" name="Text 4"/>
          <p:cNvSpPr/>
          <p:nvPr/>
        </p:nvSpPr>
        <p:spPr>
          <a:xfrm>
            <a:off x="3532108" y="1905357"/>
            <a:ext cx="3752136"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What is Student-Centric Experiential Learning?. In M. Eklund &amp; K. Graham (Eds.), </a:t>
            </a:r>
            <a:r>
              <a:rPr lang="en-US" sz="750" i="1" dirty="0">
                <a:solidFill>
                  <a:srgbClr val="272525"/>
                </a:solidFill>
                <a:latin typeface="Inter" pitchFamily="34" charset="0"/>
                <a:ea typeface="Inter" pitchFamily="34" charset="-122"/>
                <a:cs typeface="Inter" pitchFamily="34" charset="-120"/>
              </a:rPr>
              <a:t>Practical Applications of Experiential and Community-Engaged Learning Methods in Business: High-Impact Teaching Practices in Business Education</a:t>
            </a:r>
            <a:r>
              <a:rPr lang="en-US" sz="750" dirty="0">
                <a:solidFill>
                  <a:srgbClr val="272525"/>
                </a:solidFill>
                <a:latin typeface="Inter" pitchFamily="34" charset="0"/>
                <a:ea typeface="Inter" pitchFamily="34" charset="-122"/>
                <a:cs typeface="Inter" pitchFamily="34" charset="-120"/>
              </a:rPr>
              <a:t> (Vol 1), Edward Elgar: UK.</a:t>
            </a:r>
            <a:endParaRPr lang="en-US" sz="750" dirty="0"/>
          </a:p>
        </p:txBody>
      </p:sp>
      <p:sp>
        <p:nvSpPr>
          <p:cNvPr id="7" name="Text 5"/>
          <p:cNvSpPr/>
          <p:nvPr/>
        </p:nvSpPr>
        <p:spPr>
          <a:xfrm>
            <a:off x="3532108" y="2410897"/>
            <a:ext cx="3752136"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Integrating Family Experiences and Business Concepts for Sustainable Student Development. In Ivanova, E., Rimanoczy, I., &amp; Singhal, D. (Eds.), </a:t>
            </a:r>
            <a:r>
              <a:rPr lang="en-US" sz="750" i="1" dirty="0">
                <a:solidFill>
                  <a:srgbClr val="272525"/>
                </a:solidFill>
                <a:latin typeface="Inter" pitchFamily="34" charset="0"/>
                <a:ea typeface="Inter" pitchFamily="34" charset="-122"/>
                <a:cs typeface="Inter" pitchFamily="34" charset="-120"/>
              </a:rPr>
              <a:t>The Power of Arts-Based Pedagogies: Transforming Mindsets to Shape Our Future</a:t>
            </a:r>
            <a:r>
              <a:rPr lang="en-US" sz="750" dirty="0">
                <a:solidFill>
                  <a:srgbClr val="272525"/>
                </a:solidFill>
                <a:latin typeface="Inter" pitchFamily="34" charset="0"/>
                <a:ea typeface="Inter" pitchFamily="34" charset="-122"/>
                <a:cs typeface="Inter" pitchFamily="34" charset="-120"/>
              </a:rPr>
              <a:t> Routledge Series: Principles for Responsible Management Education (PRME).</a:t>
            </a:r>
            <a:endParaRPr lang="en-US" sz="750" dirty="0"/>
          </a:p>
        </p:txBody>
      </p:sp>
      <p:sp>
        <p:nvSpPr>
          <p:cNvPr id="8" name="Text 6"/>
          <p:cNvSpPr/>
          <p:nvPr/>
        </p:nvSpPr>
        <p:spPr>
          <a:xfrm>
            <a:off x="3532108" y="3035379"/>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Sandiford, P., Agarwal, A., &amp; Wells, S. (2019). Three Scholars at Work: Making Sense of the 21st Century Academy. In M. Antoniadou and M. Crowder (Eds.), </a:t>
            </a:r>
            <a:r>
              <a:rPr lang="en-US" sz="750" i="1" dirty="0">
                <a:solidFill>
                  <a:srgbClr val="272525"/>
                </a:solidFill>
                <a:latin typeface="Inter" pitchFamily="34" charset="0"/>
                <a:ea typeface="Inter" pitchFamily="34" charset="-122"/>
                <a:cs typeface="Inter" pitchFamily="34" charset="-120"/>
              </a:rPr>
              <a:t>Modern Day Challenges in Academia: time for a change</a:t>
            </a:r>
            <a:r>
              <a:rPr lang="en-US" sz="750" dirty="0">
                <a:solidFill>
                  <a:srgbClr val="272525"/>
                </a:solidFill>
                <a:latin typeface="Inter" pitchFamily="34" charset="0"/>
                <a:ea typeface="Inter" pitchFamily="34" charset="-122"/>
                <a:cs typeface="Inter" pitchFamily="34" charset="-120"/>
              </a:rPr>
              <a:t>, Edward Elgar: UK.</a:t>
            </a:r>
            <a:endParaRPr lang="en-US" sz="750" dirty="0"/>
          </a:p>
        </p:txBody>
      </p:sp>
      <p:sp>
        <p:nvSpPr>
          <p:cNvPr id="9" name="Text 7"/>
          <p:cNvSpPr/>
          <p:nvPr/>
        </p:nvSpPr>
        <p:spPr>
          <a:xfrm>
            <a:off x="3532108" y="3421975"/>
            <a:ext cx="3752136"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Bridging Personal Narratives and Business Concepts: Leveraging Familial Experiences to Make Students' Classroom Learning Sustainable and Actionable Beyond Earning a Degree. </a:t>
            </a:r>
            <a:r>
              <a:rPr lang="en-US" sz="750" i="1" dirty="0">
                <a:solidFill>
                  <a:srgbClr val="272525"/>
                </a:solidFill>
                <a:latin typeface="Inter" pitchFamily="34" charset="0"/>
                <a:ea typeface="Inter" pitchFamily="34" charset="-122"/>
                <a:cs typeface="Inter" pitchFamily="34" charset="-120"/>
              </a:rPr>
              <a:t>Higher Education Research Group Adelaide (HERGA) Conference</a:t>
            </a:r>
            <a:r>
              <a:rPr lang="en-US" sz="750" dirty="0">
                <a:solidFill>
                  <a:srgbClr val="272525"/>
                </a:solidFill>
                <a:latin typeface="Inter" pitchFamily="34" charset="0"/>
                <a:ea typeface="Inter" pitchFamily="34" charset="-122"/>
                <a:cs typeface="Inter" pitchFamily="34" charset="-120"/>
              </a:rPr>
              <a:t>, Flinders University, Bedford Park, Australia, September 30–October 1, 2025.</a:t>
            </a:r>
            <a:endParaRPr lang="en-US" sz="750" dirty="0"/>
          </a:p>
        </p:txBody>
      </p:sp>
      <p:sp>
        <p:nvSpPr>
          <p:cNvPr id="10" name="Text 8"/>
          <p:cNvSpPr/>
          <p:nvPr/>
        </p:nvSpPr>
        <p:spPr>
          <a:xfrm>
            <a:off x="3532108" y="4046458"/>
            <a:ext cx="3752136"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Teaching Critically and Reflectively: using Students' Family Lens to Teach Business and Management Concepts. </a:t>
            </a:r>
            <a:r>
              <a:rPr lang="en-US" sz="750" i="1" dirty="0">
                <a:solidFill>
                  <a:srgbClr val="272525"/>
                </a:solidFill>
                <a:latin typeface="Inter" pitchFamily="34" charset="0"/>
                <a:ea typeface="Inter" pitchFamily="34" charset="-122"/>
                <a:cs typeface="Inter" pitchFamily="34" charset="-120"/>
              </a:rPr>
              <a:t>36th Australia New Zealand Academy of Management Conference</a:t>
            </a:r>
            <a:r>
              <a:rPr lang="en-US" sz="750" dirty="0">
                <a:solidFill>
                  <a:srgbClr val="272525"/>
                </a:solidFill>
                <a:latin typeface="Inter" pitchFamily="34" charset="0"/>
                <a:ea typeface="Inter" pitchFamily="34" charset="-122"/>
                <a:cs typeface="Inter" pitchFamily="34" charset="-120"/>
              </a:rPr>
              <a:t>, Wellington, New Zealand, December 5–7, 2023.</a:t>
            </a:r>
            <a:endParaRPr lang="en-US" sz="750" dirty="0"/>
          </a:p>
        </p:txBody>
      </p:sp>
      <p:sp>
        <p:nvSpPr>
          <p:cNvPr id="11" name="Text 9"/>
          <p:cNvSpPr/>
          <p:nvPr/>
        </p:nvSpPr>
        <p:spPr>
          <a:xfrm>
            <a:off x="3532108" y="4551998"/>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Teaching management practically: incorporating students' family experiences into management teaching. </a:t>
            </a:r>
            <a:r>
              <a:rPr lang="en-US" sz="750" i="1" dirty="0">
                <a:solidFill>
                  <a:srgbClr val="272525"/>
                </a:solidFill>
                <a:latin typeface="Inter" pitchFamily="34" charset="0"/>
                <a:ea typeface="Inter" pitchFamily="34" charset="-122"/>
                <a:cs typeface="Inter" pitchFamily="34" charset="-120"/>
              </a:rPr>
              <a:t>Management and Organisational Behavior Teaching Society</a:t>
            </a:r>
            <a:r>
              <a:rPr lang="en-US" sz="750" dirty="0">
                <a:solidFill>
                  <a:srgbClr val="272525"/>
                </a:solidFill>
                <a:latin typeface="Inter" pitchFamily="34" charset="0"/>
                <a:ea typeface="Inter" pitchFamily="34" charset="-122"/>
                <a:cs typeface="Inter" pitchFamily="34" charset="-120"/>
              </a:rPr>
              <a:t>, Jacksonville University, Florida.</a:t>
            </a:r>
            <a:endParaRPr lang="en-US" sz="750" dirty="0"/>
          </a:p>
        </p:txBody>
      </p:sp>
      <p:sp>
        <p:nvSpPr>
          <p:cNvPr id="12" name="Text 10"/>
          <p:cNvSpPr/>
          <p:nvPr/>
        </p:nvSpPr>
        <p:spPr>
          <a:xfrm>
            <a:off x="3532108" y="4938593"/>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The 'why' experience: using student's family experience as a lens to teach business courses. </a:t>
            </a:r>
            <a:r>
              <a:rPr lang="en-US" sz="750" i="1" dirty="0">
                <a:solidFill>
                  <a:srgbClr val="272525"/>
                </a:solidFill>
                <a:latin typeface="Inter" pitchFamily="34" charset="0"/>
                <a:ea typeface="Inter" pitchFamily="34" charset="-122"/>
                <a:cs typeface="Inter" pitchFamily="34" charset="-120"/>
              </a:rPr>
              <a:t>Management and Organisational Behavior Teaching Society Oceania</a:t>
            </a:r>
            <a:r>
              <a:rPr lang="en-US" sz="750" dirty="0">
                <a:solidFill>
                  <a:srgbClr val="272525"/>
                </a:solidFill>
                <a:latin typeface="Inter" pitchFamily="34" charset="0"/>
                <a:ea typeface="Inter" pitchFamily="34" charset="-122"/>
                <a:cs typeface="Inter" pitchFamily="34" charset="-120"/>
              </a:rPr>
              <a:t>, New South Wales, Australia.</a:t>
            </a:r>
            <a:endParaRPr lang="en-US" sz="750" dirty="0"/>
          </a:p>
        </p:txBody>
      </p:sp>
      <p:sp>
        <p:nvSpPr>
          <p:cNvPr id="13" name="Text 11"/>
          <p:cNvSpPr/>
          <p:nvPr/>
        </p:nvSpPr>
        <p:spPr>
          <a:xfrm>
            <a:off x="3532108" y="5325189"/>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(2022). A paradox in Teaching: do we teach what we want others to be but wouldn't be ourselves? </a:t>
            </a:r>
            <a:r>
              <a:rPr lang="en-US" sz="750" i="1" dirty="0">
                <a:solidFill>
                  <a:srgbClr val="272525"/>
                </a:solidFill>
                <a:latin typeface="Inter" pitchFamily="34" charset="0"/>
                <a:ea typeface="Inter" pitchFamily="34" charset="-122"/>
                <a:cs typeface="Inter" pitchFamily="34" charset="-120"/>
              </a:rPr>
              <a:t>Paradox Research Education Practice (PREP) Inaugural Conference</a:t>
            </a:r>
            <a:r>
              <a:rPr lang="en-US" sz="750" dirty="0">
                <a:solidFill>
                  <a:srgbClr val="272525"/>
                </a:solidFill>
                <a:latin typeface="Inter" pitchFamily="34" charset="0"/>
                <a:ea typeface="Inter" pitchFamily="34" charset="-122"/>
                <a:cs typeface="Inter" pitchFamily="34" charset="-120"/>
              </a:rPr>
              <a:t>, March 16–19, 2022.</a:t>
            </a:r>
            <a:endParaRPr lang="en-US" sz="750" dirty="0"/>
          </a:p>
        </p:txBody>
      </p:sp>
      <p:sp>
        <p:nvSpPr>
          <p:cNvPr id="14" name="Text 12"/>
          <p:cNvSpPr/>
          <p:nvPr/>
        </p:nvSpPr>
        <p:spPr>
          <a:xfrm>
            <a:off x="3532108" y="5711785"/>
            <a:ext cx="3752136" cy="59471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Bridging Personal Narratives and Business Concepts: Leveraging Familial Experiences in SCEL. Session 11336 — Transforming Mindsets: The Power of Arts-Based Pedagogy in Education for Sustainability. </a:t>
            </a:r>
            <a:r>
              <a:rPr lang="en-US" sz="750" i="1" dirty="0">
                <a:solidFill>
                  <a:srgbClr val="272525"/>
                </a:solidFill>
                <a:latin typeface="Inter" pitchFamily="34" charset="0"/>
                <a:ea typeface="Inter" pitchFamily="34" charset="-122"/>
                <a:cs typeface="Inter" pitchFamily="34" charset="-120"/>
              </a:rPr>
              <a:t>Management Spirituality &amp; Religious Division, Academy of Management Annual Meeting</a:t>
            </a:r>
            <a:r>
              <a:rPr lang="en-US" sz="750" dirty="0">
                <a:solidFill>
                  <a:srgbClr val="272525"/>
                </a:solidFill>
                <a:latin typeface="Inter" pitchFamily="34" charset="0"/>
                <a:ea typeface="Inter" pitchFamily="34" charset="-122"/>
                <a:cs typeface="Inter" pitchFamily="34" charset="-120"/>
              </a:rPr>
              <a:t>, PDW, Denmark, Copenhagen, July 26, 2025.</a:t>
            </a:r>
            <a:endParaRPr lang="en-US" sz="750" dirty="0"/>
          </a:p>
        </p:txBody>
      </p:sp>
      <p:sp>
        <p:nvSpPr>
          <p:cNvPr id="15" name="Text 13"/>
          <p:cNvSpPr/>
          <p:nvPr/>
        </p:nvSpPr>
        <p:spPr>
          <a:xfrm>
            <a:off x="3532108" y="6336268"/>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Bridging Personal Narratives and Business Concepts for Sustainable Development through Inner Development Goal. </a:t>
            </a:r>
            <a:r>
              <a:rPr lang="en-US" sz="750" i="1" dirty="0">
                <a:solidFill>
                  <a:srgbClr val="272525"/>
                </a:solidFill>
                <a:latin typeface="Inter" pitchFamily="34" charset="0"/>
                <a:ea typeface="Inter" pitchFamily="34" charset="-122"/>
                <a:cs typeface="Inter" pitchFamily="34" charset="-120"/>
              </a:rPr>
              <a:t>Academy of Management Conference</a:t>
            </a:r>
            <a:r>
              <a:rPr lang="en-US" sz="750" dirty="0">
                <a:solidFill>
                  <a:srgbClr val="272525"/>
                </a:solidFill>
                <a:latin typeface="Inter" pitchFamily="34" charset="0"/>
                <a:ea typeface="Inter" pitchFamily="34" charset="-122"/>
                <a:cs typeface="Inter" pitchFamily="34" charset="-120"/>
              </a:rPr>
              <a:t>, PDW, Denmark, Copenhagen, July 25–29, 2025.</a:t>
            </a:r>
            <a:endParaRPr lang="en-US" sz="750" dirty="0"/>
          </a:p>
        </p:txBody>
      </p:sp>
      <p:sp>
        <p:nvSpPr>
          <p:cNvPr id="16" name="Text 14"/>
          <p:cNvSpPr/>
          <p:nvPr/>
        </p:nvSpPr>
        <p:spPr>
          <a:xfrm>
            <a:off x="3532108" y="6722864"/>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Student-Centric Experiential Learning: A critical approach to management learning and education. </a:t>
            </a:r>
            <a:r>
              <a:rPr lang="en-US" sz="750" i="1" dirty="0">
                <a:solidFill>
                  <a:srgbClr val="272525"/>
                </a:solidFill>
                <a:latin typeface="Inter" pitchFamily="34" charset="0"/>
                <a:ea typeface="Inter" pitchFamily="34" charset="-122"/>
                <a:cs typeface="Inter" pitchFamily="34" charset="-120"/>
              </a:rPr>
              <a:t>Academy of Management Conference</a:t>
            </a:r>
            <a:r>
              <a:rPr lang="en-US" sz="750" dirty="0">
                <a:solidFill>
                  <a:srgbClr val="272525"/>
                </a:solidFill>
                <a:latin typeface="Inter" pitchFamily="34" charset="0"/>
                <a:ea typeface="Inter" pitchFamily="34" charset="-122"/>
                <a:cs typeface="Inter" pitchFamily="34" charset="-120"/>
              </a:rPr>
              <a:t>, PDW, Denmark, Copenhagen, July 25–29, 2025.</a:t>
            </a:r>
            <a:endParaRPr lang="en-US" sz="750" dirty="0"/>
          </a:p>
        </p:txBody>
      </p:sp>
      <p:sp>
        <p:nvSpPr>
          <p:cNvPr id="17" name="Text 15"/>
          <p:cNvSpPr/>
          <p:nvPr/>
        </p:nvSpPr>
        <p:spPr>
          <a:xfrm>
            <a:off x="3532108" y="7109460"/>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(2025). Bridging Familial Experiences to Understand Organisational Dynamics. </a:t>
            </a:r>
            <a:r>
              <a:rPr lang="en-US" sz="750" i="1" dirty="0">
                <a:solidFill>
                  <a:srgbClr val="272525"/>
                </a:solidFill>
                <a:latin typeface="Inter" pitchFamily="34" charset="0"/>
                <a:ea typeface="Inter" pitchFamily="34" charset="-122"/>
                <a:cs typeface="Inter" pitchFamily="34" charset="-120"/>
              </a:rPr>
              <a:t>Festival of Learning and Teaching</a:t>
            </a:r>
            <a:r>
              <a:rPr lang="en-US" sz="750" dirty="0">
                <a:solidFill>
                  <a:srgbClr val="272525"/>
                </a:solidFill>
                <a:latin typeface="Inter" pitchFamily="34" charset="0"/>
                <a:ea typeface="Inter" pitchFamily="34" charset="-122"/>
                <a:cs typeface="Inter" pitchFamily="34" charset="-120"/>
              </a:rPr>
              <a:t>, Level 5, the Union House at the University of Adelaide, South Australia, June 24, 2025.</a:t>
            </a:r>
            <a:endParaRPr lang="en-US" sz="750" dirty="0"/>
          </a:p>
        </p:txBody>
      </p:sp>
      <p:sp>
        <p:nvSpPr>
          <p:cNvPr id="18" name="Text 16"/>
          <p:cNvSpPr/>
          <p:nvPr/>
        </p:nvSpPr>
        <p:spPr>
          <a:xfrm>
            <a:off x="3532108" y="7496056"/>
            <a:ext cx="3752136"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(2024). Teaching Critically and Reflectively: Family Lens to Teach Business and Management Concepts. </a:t>
            </a:r>
            <a:r>
              <a:rPr lang="en-US" sz="750" i="1" dirty="0">
                <a:solidFill>
                  <a:srgbClr val="272525"/>
                </a:solidFill>
                <a:latin typeface="Inter" pitchFamily="34" charset="0"/>
                <a:ea typeface="Inter" pitchFamily="34" charset="-122"/>
                <a:cs typeface="Inter" pitchFamily="34" charset="-120"/>
              </a:rPr>
              <a:t>Academy of Management Conference, Management Education Division (MED)</a:t>
            </a:r>
            <a:r>
              <a:rPr lang="en-US" sz="750" dirty="0">
                <a:solidFill>
                  <a:srgbClr val="272525"/>
                </a:solidFill>
                <a:latin typeface="Inter" pitchFamily="34" charset="0"/>
                <a:ea typeface="Inter" pitchFamily="34" charset="-122"/>
                <a:cs typeface="Inter" pitchFamily="34" charset="-120"/>
              </a:rPr>
              <a:t>, PDW, Chicago, July 18, 2024.</a:t>
            </a:r>
            <a:endParaRPr lang="en-US" sz="750" dirty="0"/>
          </a:p>
        </p:txBody>
      </p:sp>
      <p:sp>
        <p:nvSpPr>
          <p:cNvPr id="19" name="Shape 17"/>
          <p:cNvSpPr/>
          <p:nvPr/>
        </p:nvSpPr>
        <p:spPr>
          <a:xfrm>
            <a:off x="7330916" y="1080849"/>
            <a:ext cx="30480" cy="6787277"/>
          </a:xfrm>
          <a:prstGeom prst="rect">
            <a:avLst/>
          </a:prstGeom>
          <a:solidFill>
            <a:srgbClr val="4950BC"/>
          </a:solidFill>
          <a:ln/>
        </p:spPr>
        <p:txBody>
          <a:bodyPr/>
          <a:lstStyle/>
          <a:p>
            <a:endParaRPr lang="en-AU"/>
          </a:p>
        </p:txBody>
      </p:sp>
      <p:sp>
        <p:nvSpPr>
          <p:cNvPr id="20" name="Text 18"/>
          <p:cNvSpPr/>
          <p:nvPr/>
        </p:nvSpPr>
        <p:spPr>
          <a:xfrm>
            <a:off x="7475815" y="1096089"/>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Inter Bold" pitchFamily="34" charset="0"/>
                <a:ea typeface="Inter Bold" pitchFamily="34" charset="-122"/>
                <a:cs typeface="Inter Bold" pitchFamily="34" charset="-120"/>
              </a:rPr>
              <a:t>13. Case Studies</a:t>
            </a:r>
            <a:endParaRPr lang="en-US" sz="950" dirty="0"/>
          </a:p>
        </p:txBody>
      </p:sp>
      <p:sp>
        <p:nvSpPr>
          <p:cNvPr id="21" name="Text 19"/>
          <p:cNvSpPr/>
          <p:nvPr/>
        </p:nvSpPr>
        <p:spPr>
          <a:xfrm>
            <a:off x="7475815" y="1280874"/>
            <a:ext cx="3752136"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Case Study: Controlling, Uber. In J.R. Schermerhorn, D.G. Bachrach, P. Woods, F. Junaid, T. McKeown, &amp; M.J. Co., </a:t>
            </a:r>
            <a:r>
              <a:rPr lang="en-US" sz="750" i="1" dirty="0">
                <a:solidFill>
                  <a:srgbClr val="272525"/>
                </a:solidFill>
                <a:latin typeface="Inter" pitchFamily="34" charset="0"/>
                <a:ea typeface="Inter" pitchFamily="34" charset="-122"/>
                <a:cs typeface="Inter" pitchFamily="34" charset="-120"/>
              </a:rPr>
              <a:t>Exploring Management, 1st Asia-Pacific Edition</a:t>
            </a:r>
            <a:r>
              <a:rPr lang="en-US" sz="750" dirty="0">
                <a:solidFill>
                  <a:srgbClr val="272525"/>
                </a:solidFill>
                <a:latin typeface="Inter" pitchFamily="34" charset="0"/>
                <a:ea typeface="Inter" pitchFamily="34" charset="-122"/>
                <a:cs typeface="Inter" pitchFamily="34" charset="-120"/>
              </a:rPr>
              <a:t>, John Wiley &amp; Sons Australia, pp. 337–339.</a:t>
            </a:r>
            <a:endParaRPr lang="en-US" sz="750" dirty="0"/>
          </a:p>
        </p:txBody>
      </p:sp>
      <p:sp>
        <p:nvSpPr>
          <p:cNvPr id="22" name="Text 20"/>
          <p:cNvSpPr/>
          <p:nvPr/>
        </p:nvSpPr>
        <p:spPr>
          <a:xfrm>
            <a:off x="7475815" y="1786414"/>
            <a:ext cx="3752136"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Case Study: Leading, Haigh's Chocolate. In J.R. Schermerhorn, D.G. Bachrach, P. Woods, F. Junaid, T. McKeown, &amp; M.J. Co., </a:t>
            </a:r>
            <a:r>
              <a:rPr lang="en-US" sz="750" i="1" dirty="0">
                <a:solidFill>
                  <a:srgbClr val="272525"/>
                </a:solidFill>
                <a:latin typeface="Inter" pitchFamily="34" charset="0"/>
                <a:ea typeface="Inter" pitchFamily="34" charset="-122"/>
                <a:cs typeface="Inter" pitchFamily="34" charset="-120"/>
              </a:rPr>
              <a:t>Exploring Management, 1st Asia-Pacific Edition</a:t>
            </a:r>
            <a:r>
              <a:rPr lang="en-US" sz="750" dirty="0">
                <a:solidFill>
                  <a:srgbClr val="272525"/>
                </a:solidFill>
                <a:latin typeface="Inter" pitchFamily="34" charset="0"/>
                <a:ea typeface="Inter" pitchFamily="34" charset="-122"/>
                <a:cs typeface="Inter" pitchFamily="34" charset="-120"/>
              </a:rPr>
              <a:t>, John Wiley &amp; Sons Australia, pp. 476–479.</a:t>
            </a:r>
            <a:endParaRPr lang="en-US" sz="750" dirty="0"/>
          </a:p>
        </p:txBody>
      </p:sp>
      <p:sp>
        <p:nvSpPr>
          <p:cNvPr id="23" name="Text 21"/>
          <p:cNvSpPr/>
          <p:nvPr/>
        </p:nvSpPr>
        <p:spPr>
          <a:xfrm>
            <a:off x="7475815" y="2291953"/>
            <a:ext cx="3752136"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Case Study: Organising, Foodland Supermarket Brand. In J.R. Schermerhorn, D.G. Bachrach, P. Woods, F. Junaid, T. McKeown, &amp; M.J. Co., </a:t>
            </a:r>
            <a:r>
              <a:rPr lang="en-US" sz="750" i="1" dirty="0">
                <a:solidFill>
                  <a:srgbClr val="272525"/>
                </a:solidFill>
                <a:latin typeface="Inter" pitchFamily="34" charset="0"/>
                <a:ea typeface="Inter" pitchFamily="34" charset="-122"/>
                <a:cs typeface="Inter" pitchFamily="34" charset="-120"/>
              </a:rPr>
              <a:t>Exploring Management, 1st Asia-Pacific Edition</a:t>
            </a:r>
            <a:r>
              <a:rPr lang="en-US" sz="750" dirty="0">
                <a:solidFill>
                  <a:srgbClr val="272525"/>
                </a:solidFill>
                <a:latin typeface="Inter" pitchFamily="34" charset="0"/>
                <a:ea typeface="Inter" pitchFamily="34" charset="-122"/>
                <a:cs typeface="Inter" pitchFamily="34" charset="-120"/>
              </a:rPr>
              <a:t>, John Wiley &amp; Sons Australia, pp. 306–309.</a:t>
            </a:r>
            <a:endParaRPr lang="en-US" sz="750" dirty="0"/>
          </a:p>
        </p:txBody>
      </p:sp>
      <p:sp>
        <p:nvSpPr>
          <p:cNvPr id="24" name="Text 22"/>
          <p:cNvSpPr/>
          <p:nvPr/>
        </p:nvSpPr>
        <p:spPr>
          <a:xfrm>
            <a:off x="7475815" y="2797493"/>
            <a:ext cx="3752136"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Agarwal, A. (2023). Case Study: Planning, Viterra Australia. In J.R. Schermerhorn, D.G. Bachrach, P. Woods, F. Junaid, T. McKeown, &amp; M.J. Co., </a:t>
            </a:r>
            <a:r>
              <a:rPr lang="en-US" sz="750" i="1" dirty="0">
                <a:solidFill>
                  <a:srgbClr val="272525"/>
                </a:solidFill>
                <a:latin typeface="Inter" pitchFamily="34" charset="0"/>
                <a:ea typeface="Inter" pitchFamily="34" charset="-122"/>
                <a:cs typeface="Inter" pitchFamily="34" charset="-120"/>
              </a:rPr>
              <a:t>Exploring Management, 1st Asia-Pacific Edition</a:t>
            </a:r>
            <a:r>
              <a:rPr lang="en-US" sz="750" dirty="0">
                <a:solidFill>
                  <a:srgbClr val="272525"/>
                </a:solidFill>
                <a:latin typeface="Inter" pitchFamily="34" charset="0"/>
                <a:ea typeface="Inter" pitchFamily="34" charset="-122"/>
                <a:cs typeface="Inter" pitchFamily="34" charset="-120"/>
              </a:rPr>
              <a:t>, John Wiley &amp; Sons Australia, pp. 209–211.</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402449" y="27289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Awards &amp; Honours</a:t>
            </a:r>
            <a:endParaRPr lang="en-US" sz="1950" dirty="0"/>
          </a:p>
        </p:txBody>
      </p:sp>
      <p:sp>
        <p:nvSpPr>
          <p:cNvPr id="3" name="Text 1"/>
          <p:cNvSpPr/>
          <p:nvPr/>
        </p:nvSpPr>
        <p:spPr>
          <a:xfrm>
            <a:off x="3402449" y="602813"/>
            <a:ext cx="3873937"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Teaching and Educational Contributions</a:t>
            </a:r>
            <a:endParaRPr lang="en-US" sz="1550" dirty="0"/>
          </a:p>
        </p:txBody>
      </p:sp>
      <p:sp>
        <p:nvSpPr>
          <p:cNvPr id="4" name="Text 2"/>
          <p:cNvSpPr/>
          <p:nvPr/>
        </p:nvSpPr>
        <p:spPr>
          <a:xfrm>
            <a:off x="3402449" y="925235"/>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01</a:t>
            </a:r>
            <a:endParaRPr lang="en-US" sz="750" dirty="0"/>
          </a:p>
        </p:txBody>
      </p:sp>
      <p:sp>
        <p:nvSpPr>
          <p:cNvPr id="5" name="Shape 3"/>
          <p:cNvSpPr/>
          <p:nvPr/>
        </p:nvSpPr>
        <p:spPr>
          <a:xfrm>
            <a:off x="3402449" y="1078468"/>
            <a:ext cx="2575441" cy="15240"/>
          </a:xfrm>
          <a:prstGeom prst="rect">
            <a:avLst/>
          </a:prstGeom>
          <a:solidFill>
            <a:srgbClr val="4950BC"/>
          </a:solidFill>
          <a:ln/>
        </p:spPr>
        <p:txBody>
          <a:bodyPr/>
          <a:lstStyle/>
          <a:p>
            <a:endParaRPr lang="en-AU"/>
          </a:p>
        </p:txBody>
      </p:sp>
      <p:sp>
        <p:nvSpPr>
          <p:cNvPr id="6" name="Text 4"/>
          <p:cNvSpPr/>
          <p:nvPr/>
        </p:nvSpPr>
        <p:spPr>
          <a:xfrm>
            <a:off x="3402449" y="1158478"/>
            <a:ext cx="2575441"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Outstanding Reviewer for the Journal of Management Education (2025).</a:t>
            </a:r>
            <a:endParaRPr lang="en-US" sz="750" dirty="0"/>
          </a:p>
        </p:txBody>
      </p:sp>
      <p:sp>
        <p:nvSpPr>
          <p:cNvPr id="7" name="Text 5"/>
          <p:cNvSpPr/>
          <p:nvPr/>
        </p:nvSpPr>
        <p:spPr>
          <a:xfrm>
            <a:off x="6027420" y="925235"/>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02</a:t>
            </a:r>
            <a:endParaRPr lang="en-US" sz="750" dirty="0"/>
          </a:p>
        </p:txBody>
      </p:sp>
      <p:sp>
        <p:nvSpPr>
          <p:cNvPr id="8" name="Shape 6"/>
          <p:cNvSpPr/>
          <p:nvPr/>
        </p:nvSpPr>
        <p:spPr>
          <a:xfrm>
            <a:off x="6027420" y="1078468"/>
            <a:ext cx="2575441" cy="15240"/>
          </a:xfrm>
          <a:prstGeom prst="rect">
            <a:avLst/>
          </a:prstGeom>
          <a:solidFill>
            <a:srgbClr val="4950BC"/>
          </a:solidFill>
          <a:ln/>
        </p:spPr>
        <p:txBody>
          <a:bodyPr/>
          <a:lstStyle/>
          <a:p>
            <a:endParaRPr lang="en-AU"/>
          </a:p>
        </p:txBody>
      </p:sp>
      <p:sp>
        <p:nvSpPr>
          <p:cNvPr id="9" name="Text 7"/>
          <p:cNvSpPr/>
          <p:nvPr/>
        </p:nvSpPr>
        <p:spPr>
          <a:xfrm>
            <a:off x="6027420" y="1158478"/>
            <a:ext cx="2575441"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Adelaide Business School Learning and Teaching Award in the Innovation in Assessment and Feedback category (2025).</a:t>
            </a:r>
            <a:endParaRPr lang="en-US" sz="750" dirty="0"/>
          </a:p>
        </p:txBody>
      </p:sp>
      <p:sp>
        <p:nvSpPr>
          <p:cNvPr id="10" name="Text 8"/>
          <p:cNvSpPr/>
          <p:nvPr/>
        </p:nvSpPr>
        <p:spPr>
          <a:xfrm>
            <a:off x="8652391" y="925235"/>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03</a:t>
            </a:r>
            <a:endParaRPr lang="en-US" sz="750" dirty="0"/>
          </a:p>
        </p:txBody>
      </p:sp>
      <p:sp>
        <p:nvSpPr>
          <p:cNvPr id="11" name="Shape 9"/>
          <p:cNvSpPr/>
          <p:nvPr/>
        </p:nvSpPr>
        <p:spPr>
          <a:xfrm>
            <a:off x="8652391" y="1078468"/>
            <a:ext cx="2575560" cy="15240"/>
          </a:xfrm>
          <a:prstGeom prst="rect">
            <a:avLst/>
          </a:prstGeom>
          <a:solidFill>
            <a:srgbClr val="4950BC"/>
          </a:solidFill>
          <a:ln/>
        </p:spPr>
        <p:txBody>
          <a:bodyPr/>
          <a:lstStyle/>
          <a:p>
            <a:endParaRPr lang="en-AU"/>
          </a:p>
        </p:txBody>
      </p:sp>
      <p:sp>
        <p:nvSpPr>
          <p:cNvPr id="12" name="Text 10"/>
          <p:cNvSpPr/>
          <p:nvPr/>
        </p:nvSpPr>
        <p:spPr>
          <a:xfrm>
            <a:off x="8652391" y="1158478"/>
            <a:ext cx="2575560"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the Prestigious Management and Organizational Behavior Teaching Society (MOBTS) Early Educator Institute Scholarship Award (2025).</a:t>
            </a:r>
            <a:endParaRPr lang="en-US" sz="750" dirty="0"/>
          </a:p>
        </p:txBody>
      </p:sp>
      <p:sp>
        <p:nvSpPr>
          <p:cNvPr id="13" name="Text 11"/>
          <p:cNvSpPr/>
          <p:nvPr/>
        </p:nvSpPr>
        <p:spPr>
          <a:xfrm>
            <a:off x="3402449" y="1639253"/>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04</a:t>
            </a:r>
            <a:endParaRPr lang="en-US" sz="750" dirty="0"/>
          </a:p>
        </p:txBody>
      </p:sp>
      <p:sp>
        <p:nvSpPr>
          <p:cNvPr id="14" name="Shape 12"/>
          <p:cNvSpPr/>
          <p:nvPr/>
        </p:nvSpPr>
        <p:spPr>
          <a:xfrm>
            <a:off x="3402449" y="1792486"/>
            <a:ext cx="2575441" cy="15240"/>
          </a:xfrm>
          <a:prstGeom prst="rect">
            <a:avLst/>
          </a:prstGeom>
          <a:solidFill>
            <a:srgbClr val="4950BC"/>
          </a:solidFill>
          <a:ln/>
        </p:spPr>
        <p:txBody>
          <a:bodyPr/>
          <a:lstStyle/>
          <a:p>
            <a:endParaRPr lang="en-AU"/>
          </a:p>
        </p:txBody>
      </p:sp>
      <p:sp>
        <p:nvSpPr>
          <p:cNvPr id="15" name="Text 13"/>
          <p:cNvSpPr/>
          <p:nvPr/>
        </p:nvSpPr>
        <p:spPr>
          <a:xfrm>
            <a:off x="3402449" y="1872496"/>
            <a:ext cx="2575441"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a Certificate of Appreciation for contributions toward excellence and innovation in education by EliteX (2025).</a:t>
            </a:r>
            <a:endParaRPr lang="en-US" sz="750" dirty="0"/>
          </a:p>
        </p:txBody>
      </p:sp>
      <p:sp>
        <p:nvSpPr>
          <p:cNvPr id="16" name="Text 14"/>
          <p:cNvSpPr/>
          <p:nvPr/>
        </p:nvSpPr>
        <p:spPr>
          <a:xfrm>
            <a:off x="6027420" y="1639253"/>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05</a:t>
            </a:r>
            <a:endParaRPr lang="en-US" sz="750" dirty="0"/>
          </a:p>
        </p:txBody>
      </p:sp>
      <p:sp>
        <p:nvSpPr>
          <p:cNvPr id="17" name="Shape 15"/>
          <p:cNvSpPr/>
          <p:nvPr/>
        </p:nvSpPr>
        <p:spPr>
          <a:xfrm>
            <a:off x="6027420" y="1792486"/>
            <a:ext cx="2575441" cy="15240"/>
          </a:xfrm>
          <a:prstGeom prst="rect">
            <a:avLst/>
          </a:prstGeom>
          <a:solidFill>
            <a:srgbClr val="4950BC"/>
          </a:solidFill>
          <a:ln/>
        </p:spPr>
        <p:txBody>
          <a:bodyPr/>
          <a:lstStyle/>
          <a:p>
            <a:endParaRPr lang="en-AU"/>
          </a:p>
        </p:txBody>
      </p:sp>
      <p:sp>
        <p:nvSpPr>
          <p:cNvPr id="18" name="Text 16"/>
          <p:cNvSpPr/>
          <p:nvPr/>
        </p:nvSpPr>
        <p:spPr>
          <a:xfrm>
            <a:off x="6027420" y="1872496"/>
            <a:ext cx="2575441"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the Dr. Ankit Agarwal Prize for Applying Management Theoretical Concepts in Life established by the University of Adelaide (2024–ongoing).</a:t>
            </a:r>
            <a:endParaRPr lang="en-US" sz="750" dirty="0"/>
          </a:p>
        </p:txBody>
      </p:sp>
      <p:sp>
        <p:nvSpPr>
          <p:cNvPr id="19" name="Text 17"/>
          <p:cNvSpPr/>
          <p:nvPr/>
        </p:nvSpPr>
        <p:spPr>
          <a:xfrm>
            <a:off x="8652391" y="1639253"/>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06</a:t>
            </a:r>
            <a:endParaRPr lang="en-US" sz="750" dirty="0"/>
          </a:p>
        </p:txBody>
      </p:sp>
      <p:sp>
        <p:nvSpPr>
          <p:cNvPr id="20" name="Shape 18"/>
          <p:cNvSpPr/>
          <p:nvPr/>
        </p:nvSpPr>
        <p:spPr>
          <a:xfrm>
            <a:off x="8652391" y="1792486"/>
            <a:ext cx="2575560" cy="15240"/>
          </a:xfrm>
          <a:prstGeom prst="rect">
            <a:avLst/>
          </a:prstGeom>
          <a:solidFill>
            <a:srgbClr val="4950BC"/>
          </a:solidFill>
          <a:ln/>
        </p:spPr>
        <p:txBody>
          <a:bodyPr/>
          <a:lstStyle/>
          <a:p>
            <a:endParaRPr lang="en-AU"/>
          </a:p>
        </p:txBody>
      </p:sp>
      <p:sp>
        <p:nvSpPr>
          <p:cNvPr id="21" name="Text 19"/>
          <p:cNvSpPr/>
          <p:nvPr/>
        </p:nvSpPr>
        <p:spPr>
          <a:xfrm>
            <a:off x="8652391" y="1872496"/>
            <a:ext cx="2575560"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"Passionate and Visionary Educator of the Year 2024" by The CIO Today Magazine.</a:t>
            </a:r>
            <a:endParaRPr lang="en-US" sz="750" dirty="0"/>
          </a:p>
        </p:txBody>
      </p:sp>
      <p:sp>
        <p:nvSpPr>
          <p:cNvPr id="22" name="Text 20"/>
          <p:cNvSpPr/>
          <p:nvPr/>
        </p:nvSpPr>
        <p:spPr>
          <a:xfrm>
            <a:off x="3402449" y="2353270"/>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07</a:t>
            </a:r>
            <a:endParaRPr lang="en-US" sz="750" dirty="0"/>
          </a:p>
        </p:txBody>
      </p:sp>
      <p:sp>
        <p:nvSpPr>
          <p:cNvPr id="23" name="Shape 21"/>
          <p:cNvSpPr/>
          <p:nvPr/>
        </p:nvSpPr>
        <p:spPr>
          <a:xfrm>
            <a:off x="3402449" y="2506504"/>
            <a:ext cx="2575441" cy="15240"/>
          </a:xfrm>
          <a:prstGeom prst="rect">
            <a:avLst/>
          </a:prstGeom>
          <a:solidFill>
            <a:srgbClr val="4950BC"/>
          </a:solidFill>
          <a:ln/>
        </p:spPr>
        <p:txBody>
          <a:bodyPr/>
          <a:lstStyle/>
          <a:p>
            <a:endParaRPr lang="en-AU"/>
          </a:p>
        </p:txBody>
      </p:sp>
      <p:sp>
        <p:nvSpPr>
          <p:cNvPr id="24" name="Text 22"/>
          <p:cNvSpPr/>
          <p:nvPr/>
        </p:nvSpPr>
        <p:spPr>
          <a:xfrm>
            <a:off x="3402449" y="2586514"/>
            <a:ext cx="2575441"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"Most Inspiring Leaders Setting the Bar for Excellence in 2024" by Insight Success Magazine.</a:t>
            </a:r>
            <a:endParaRPr lang="en-US" sz="750" dirty="0"/>
          </a:p>
        </p:txBody>
      </p:sp>
      <p:sp>
        <p:nvSpPr>
          <p:cNvPr id="25" name="Text 23"/>
          <p:cNvSpPr/>
          <p:nvPr/>
        </p:nvSpPr>
        <p:spPr>
          <a:xfrm>
            <a:off x="6027420" y="2353270"/>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08</a:t>
            </a:r>
            <a:endParaRPr lang="en-US" sz="750" dirty="0"/>
          </a:p>
        </p:txBody>
      </p:sp>
      <p:sp>
        <p:nvSpPr>
          <p:cNvPr id="26" name="Shape 24"/>
          <p:cNvSpPr/>
          <p:nvPr/>
        </p:nvSpPr>
        <p:spPr>
          <a:xfrm>
            <a:off x="6027420" y="2506504"/>
            <a:ext cx="2575441" cy="15240"/>
          </a:xfrm>
          <a:prstGeom prst="rect">
            <a:avLst/>
          </a:prstGeom>
          <a:solidFill>
            <a:srgbClr val="4950BC"/>
          </a:solidFill>
          <a:ln/>
        </p:spPr>
        <p:txBody>
          <a:bodyPr/>
          <a:lstStyle/>
          <a:p>
            <a:endParaRPr lang="en-AU"/>
          </a:p>
        </p:txBody>
      </p:sp>
      <p:sp>
        <p:nvSpPr>
          <p:cNvPr id="27" name="Text 25"/>
          <p:cNvSpPr/>
          <p:nvPr/>
        </p:nvSpPr>
        <p:spPr>
          <a:xfrm>
            <a:off x="6027420" y="2586514"/>
            <a:ext cx="2575441" cy="356830"/>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"World's Most Visionary Leaders in Education to Watch in 2024" by World's Leaders Magazine.</a:t>
            </a:r>
            <a:endParaRPr lang="en-US" sz="750" dirty="0"/>
          </a:p>
        </p:txBody>
      </p:sp>
      <p:sp>
        <p:nvSpPr>
          <p:cNvPr id="28" name="Text 26"/>
          <p:cNvSpPr/>
          <p:nvPr/>
        </p:nvSpPr>
        <p:spPr>
          <a:xfrm>
            <a:off x="8652391" y="2353270"/>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09</a:t>
            </a:r>
            <a:endParaRPr lang="en-US" sz="750" dirty="0"/>
          </a:p>
        </p:txBody>
      </p:sp>
      <p:sp>
        <p:nvSpPr>
          <p:cNvPr id="29" name="Shape 27"/>
          <p:cNvSpPr/>
          <p:nvPr/>
        </p:nvSpPr>
        <p:spPr>
          <a:xfrm>
            <a:off x="8652391" y="2506504"/>
            <a:ext cx="2575560" cy="15240"/>
          </a:xfrm>
          <a:prstGeom prst="rect">
            <a:avLst/>
          </a:prstGeom>
          <a:solidFill>
            <a:srgbClr val="4950BC"/>
          </a:solidFill>
          <a:ln/>
        </p:spPr>
        <p:txBody>
          <a:bodyPr/>
          <a:lstStyle/>
          <a:p>
            <a:endParaRPr lang="en-AU"/>
          </a:p>
        </p:txBody>
      </p:sp>
      <p:sp>
        <p:nvSpPr>
          <p:cNvPr id="30" name="Text 28"/>
          <p:cNvSpPr/>
          <p:nvPr/>
        </p:nvSpPr>
        <p:spPr>
          <a:xfrm>
            <a:off x="8652391" y="2586514"/>
            <a:ext cx="2575560"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"Educational Innovator: Driving Change in 2024" by The CXO Time Magazine.</a:t>
            </a:r>
            <a:endParaRPr lang="en-US" sz="750" dirty="0"/>
          </a:p>
        </p:txBody>
      </p:sp>
      <p:sp>
        <p:nvSpPr>
          <p:cNvPr id="31" name="Text 29"/>
          <p:cNvSpPr/>
          <p:nvPr/>
        </p:nvSpPr>
        <p:spPr>
          <a:xfrm>
            <a:off x="3402449" y="306728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10</a:t>
            </a:r>
            <a:endParaRPr lang="en-US" sz="750" dirty="0"/>
          </a:p>
        </p:txBody>
      </p:sp>
      <p:sp>
        <p:nvSpPr>
          <p:cNvPr id="32" name="Shape 30"/>
          <p:cNvSpPr/>
          <p:nvPr/>
        </p:nvSpPr>
        <p:spPr>
          <a:xfrm>
            <a:off x="3402449" y="3220522"/>
            <a:ext cx="2575441" cy="15240"/>
          </a:xfrm>
          <a:prstGeom prst="rect">
            <a:avLst/>
          </a:prstGeom>
          <a:solidFill>
            <a:srgbClr val="4950BC"/>
          </a:solidFill>
          <a:ln/>
        </p:spPr>
        <p:txBody>
          <a:bodyPr/>
          <a:lstStyle/>
          <a:p>
            <a:endParaRPr lang="en-AU"/>
          </a:p>
        </p:txBody>
      </p:sp>
      <p:sp>
        <p:nvSpPr>
          <p:cNvPr id="33" name="Text 31"/>
          <p:cNvSpPr/>
          <p:nvPr/>
        </p:nvSpPr>
        <p:spPr>
          <a:xfrm>
            <a:off x="3402449" y="3300532"/>
            <a:ext cx="2575441"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"Game-Changing Innovators: Top Business Icons Making Waves in 2024" by The Executive Lens.</a:t>
            </a:r>
            <a:endParaRPr lang="en-US" sz="750" dirty="0"/>
          </a:p>
        </p:txBody>
      </p:sp>
      <p:sp>
        <p:nvSpPr>
          <p:cNvPr id="34" name="Text 32"/>
          <p:cNvSpPr/>
          <p:nvPr/>
        </p:nvSpPr>
        <p:spPr>
          <a:xfrm>
            <a:off x="6027420" y="306728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11</a:t>
            </a:r>
            <a:endParaRPr lang="en-US" sz="750" dirty="0"/>
          </a:p>
        </p:txBody>
      </p:sp>
      <p:sp>
        <p:nvSpPr>
          <p:cNvPr id="35" name="Shape 33"/>
          <p:cNvSpPr/>
          <p:nvPr/>
        </p:nvSpPr>
        <p:spPr>
          <a:xfrm>
            <a:off x="6027420" y="3220522"/>
            <a:ext cx="2575441" cy="15240"/>
          </a:xfrm>
          <a:prstGeom prst="rect">
            <a:avLst/>
          </a:prstGeom>
          <a:solidFill>
            <a:srgbClr val="4950BC"/>
          </a:solidFill>
          <a:ln/>
        </p:spPr>
        <p:txBody>
          <a:bodyPr/>
          <a:lstStyle/>
          <a:p>
            <a:endParaRPr lang="en-AU"/>
          </a:p>
        </p:txBody>
      </p:sp>
      <p:sp>
        <p:nvSpPr>
          <p:cNvPr id="36" name="Text 34"/>
          <p:cNvSpPr/>
          <p:nvPr/>
        </p:nvSpPr>
        <p:spPr>
          <a:xfrm>
            <a:off x="6027420" y="3300532"/>
            <a:ext cx="2575441"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Recognition and Appreciation of Excellent Student Feedback and Experience by Associate Dean Student Experience (ADSE) at the Faculty of Arts, Business, Law and Economics, University of Adelaide (2025).</a:t>
            </a:r>
            <a:endParaRPr lang="en-US" sz="750" dirty="0"/>
          </a:p>
        </p:txBody>
      </p:sp>
      <p:sp>
        <p:nvSpPr>
          <p:cNvPr id="37" name="Text 35"/>
          <p:cNvSpPr/>
          <p:nvPr/>
        </p:nvSpPr>
        <p:spPr>
          <a:xfrm>
            <a:off x="8652391" y="306728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12</a:t>
            </a:r>
            <a:endParaRPr lang="en-US" sz="750" dirty="0"/>
          </a:p>
        </p:txBody>
      </p:sp>
      <p:sp>
        <p:nvSpPr>
          <p:cNvPr id="38" name="Shape 36"/>
          <p:cNvSpPr/>
          <p:nvPr/>
        </p:nvSpPr>
        <p:spPr>
          <a:xfrm>
            <a:off x="8652391" y="3220522"/>
            <a:ext cx="2575560" cy="15240"/>
          </a:xfrm>
          <a:prstGeom prst="rect">
            <a:avLst/>
          </a:prstGeom>
          <a:solidFill>
            <a:srgbClr val="4950BC"/>
          </a:solidFill>
          <a:ln/>
        </p:spPr>
        <p:txBody>
          <a:bodyPr/>
          <a:lstStyle/>
          <a:p>
            <a:endParaRPr lang="en-AU"/>
          </a:p>
        </p:txBody>
      </p:sp>
      <p:sp>
        <p:nvSpPr>
          <p:cNvPr id="39" name="Text 37"/>
          <p:cNvSpPr/>
          <p:nvPr/>
        </p:nvSpPr>
        <p:spPr>
          <a:xfrm>
            <a:off x="8652391" y="3300532"/>
            <a:ext cx="2575560" cy="47577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Awarded Best Professional Development Workshop (PDW) for "Transforming Mindsets: The Power of Art-Based Pedagogy in Education for Sustainability" at the 85th Academy of Management (2025).</a:t>
            </a:r>
            <a:endParaRPr lang="en-US" sz="750" dirty="0"/>
          </a:p>
        </p:txBody>
      </p:sp>
      <p:sp>
        <p:nvSpPr>
          <p:cNvPr id="40" name="Text 38"/>
          <p:cNvSpPr/>
          <p:nvPr/>
        </p:nvSpPr>
        <p:spPr>
          <a:xfrm>
            <a:off x="3402449" y="3900249"/>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13</a:t>
            </a:r>
            <a:endParaRPr lang="en-US" sz="750" dirty="0"/>
          </a:p>
        </p:txBody>
      </p:sp>
      <p:sp>
        <p:nvSpPr>
          <p:cNvPr id="41" name="Shape 39"/>
          <p:cNvSpPr/>
          <p:nvPr/>
        </p:nvSpPr>
        <p:spPr>
          <a:xfrm>
            <a:off x="3402449" y="4053483"/>
            <a:ext cx="2575441" cy="15240"/>
          </a:xfrm>
          <a:prstGeom prst="rect">
            <a:avLst/>
          </a:prstGeom>
          <a:solidFill>
            <a:srgbClr val="4950BC"/>
          </a:solidFill>
          <a:ln/>
        </p:spPr>
        <p:txBody>
          <a:bodyPr/>
          <a:lstStyle/>
          <a:p>
            <a:endParaRPr lang="en-AU"/>
          </a:p>
        </p:txBody>
      </p:sp>
      <p:sp>
        <p:nvSpPr>
          <p:cNvPr id="42" name="Text 40"/>
          <p:cNvSpPr/>
          <p:nvPr/>
        </p:nvSpPr>
        <p:spPr>
          <a:xfrm>
            <a:off x="3402449" y="4133493"/>
            <a:ext cx="2575441"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Commendation for the Enhancement and Innovation of Student Learning, Australia (2023).</a:t>
            </a:r>
            <a:endParaRPr lang="en-US" sz="750" dirty="0"/>
          </a:p>
        </p:txBody>
      </p:sp>
      <p:sp>
        <p:nvSpPr>
          <p:cNvPr id="43" name="Text 41"/>
          <p:cNvSpPr/>
          <p:nvPr/>
        </p:nvSpPr>
        <p:spPr>
          <a:xfrm>
            <a:off x="6027420" y="3900249"/>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14</a:t>
            </a:r>
            <a:endParaRPr lang="en-US" sz="750" dirty="0"/>
          </a:p>
        </p:txBody>
      </p:sp>
      <p:sp>
        <p:nvSpPr>
          <p:cNvPr id="44" name="Shape 42"/>
          <p:cNvSpPr/>
          <p:nvPr/>
        </p:nvSpPr>
        <p:spPr>
          <a:xfrm>
            <a:off x="6027420" y="4053483"/>
            <a:ext cx="2575441" cy="15240"/>
          </a:xfrm>
          <a:prstGeom prst="rect">
            <a:avLst/>
          </a:prstGeom>
          <a:solidFill>
            <a:srgbClr val="4950BC"/>
          </a:solidFill>
          <a:ln/>
        </p:spPr>
        <p:txBody>
          <a:bodyPr/>
          <a:lstStyle/>
          <a:p>
            <a:endParaRPr lang="en-AU"/>
          </a:p>
        </p:txBody>
      </p:sp>
      <p:sp>
        <p:nvSpPr>
          <p:cNvPr id="45" name="Text 43"/>
          <p:cNvSpPr/>
          <p:nvPr/>
        </p:nvSpPr>
        <p:spPr>
          <a:xfrm>
            <a:off x="6027420" y="4133493"/>
            <a:ext cx="2575441"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Recipient of the prestigious Student-Led Teaching Award for excellence in teaching, Australia (2019).</a:t>
            </a:r>
            <a:endParaRPr lang="en-US" sz="750" dirty="0"/>
          </a:p>
        </p:txBody>
      </p:sp>
      <p:sp>
        <p:nvSpPr>
          <p:cNvPr id="46" name="Text 44"/>
          <p:cNvSpPr/>
          <p:nvPr/>
        </p:nvSpPr>
        <p:spPr>
          <a:xfrm>
            <a:off x="8652391" y="3900249"/>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Light" pitchFamily="34" charset="0"/>
                <a:ea typeface="Inter Light" pitchFamily="34" charset="-122"/>
                <a:cs typeface="Inter Light" pitchFamily="34" charset="-120"/>
              </a:rPr>
              <a:t>15</a:t>
            </a:r>
            <a:endParaRPr lang="en-US" sz="750" dirty="0"/>
          </a:p>
        </p:txBody>
      </p:sp>
      <p:sp>
        <p:nvSpPr>
          <p:cNvPr id="47" name="Shape 45"/>
          <p:cNvSpPr/>
          <p:nvPr/>
        </p:nvSpPr>
        <p:spPr>
          <a:xfrm>
            <a:off x="8652391" y="4053483"/>
            <a:ext cx="2575560" cy="15240"/>
          </a:xfrm>
          <a:prstGeom prst="rect">
            <a:avLst/>
          </a:prstGeom>
          <a:solidFill>
            <a:srgbClr val="4950BC"/>
          </a:solidFill>
          <a:ln/>
        </p:spPr>
        <p:txBody>
          <a:bodyPr/>
          <a:lstStyle/>
          <a:p>
            <a:endParaRPr lang="en-AU"/>
          </a:p>
        </p:txBody>
      </p:sp>
      <p:sp>
        <p:nvSpPr>
          <p:cNvPr id="48" name="Text 46"/>
          <p:cNvSpPr/>
          <p:nvPr/>
        </p:nvSpPr>
        <p:spPr>
          <a:xfrm>
            <a:off x="8652391" y="4133493"/>
            <a:ext cx="2575560" cy="237887"/>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Recipient of the Executive Dean's Award for Excellence in Teaching, Australia (2017).</a:t>
            </a:r>
            <a:endParaRPr lang="en-US" sz="750" dirty="0"/>
          </a:p>
        </p:txBody>
      </p:sp>
      <p:sp>
        <p:nvSpPr>
          <p:cNvPr id="49" name="Shape 47"/>
          <p:cNvSpPr/>
          <p:nvPr/>
        </p:nvSpPr>
        <p:spPr>
          <a:xfrm>
            <a:off x="3402449" y="4551089"/>
            <a:ext cx="7825502" cy="20003"/>
          </a:xfrm>
          <a:prstGeom prst="rect">
            <a:avLst/>
          </a:prstGeom>
          <a:solidFill>
            <a:srgbClr val="272525">
              <a:alpha val="50000"/>
            </a:srgbClr>
          </a:solidFill>
          <a:ln/>
        </p:spPr>
        <p:txBody>
          <a:bodyPr/>
          <a:lstStyle/>
          <a:p>
            <a:endParaRPr lang="en-AU"/>
          </a:p>
        </p:txBody>
      </p:sp>
      <p:sp>
        <p:nvSpPr>
          <p:cNvPr id="50" name="Text 48"/>
          <p:cNvSpPr/>
          <p:nvPr/>
        </p:nvSpPr>
        <p:spPr>
          <a:xfrm>
            <a:off x="3402449" y="4645462"/>
            <a:ext cx="3716298"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Research and Academic Contributions</a:t>
            </a:r>
            <a:endParaRPr lang="en-US" sz="1550" dirty="0"/>
          </a:p>
        </p:txBody>
      </p:sp>
      <p:sp>
        <p:nvSpPr>
          <p:cNvPr id="51" name="Text 49"/>
          <p:cNvSpPr/>
          <p:nvPr/>
        </p:nvSpPr>
        <p:spPr>
          <a:xfrm>
            <a:off x="3402449" y="4967883"/>
            <a:ext cx="7825502" cy="1446490"/>
          </a:xfrm>
          <a:prstGeom prst="rect">
            <a:avLst/>
          </a:prstGeom>
          <a:noFill/>
          <a:ln/>
        </p:spPr>
        <p:txBody>
          <a:bodyPr wrap="square" lIns="0" tIns="0" rIns="0" bIns="0" rtlCol="0" anchor="t"/>
          <a:lstStyle/>
          <a:p>
            <a:pPr marL="342900" indent="-342900" algn="l">
              <a:lnSpc>
                <a:spcPts val="900"/>
              </a:lnSpc>
              <a:buSzPct val="100000"/>
              <a:buFont typeface="+mj-lt"/>
              <a:buAutoNum type="arabicPeriod"/>
            </a:pPr>
            <a:r>
              <a:rPr lang="en-US" sz="750" dirty="0">
                <a:solidFill>
                  <a:srgbClr val="272525"/>
                </a:solidFill>
                <a:latin typeface="Inter" pitchFamily="34" charset="0"/>
                <a:ea typeface="Inter" pitchFamily="34" charset="-122"/>
                <a:cs typeface="Inter" pitchFamily="34" charset="-120"/>
              </a:rPr>
              <a:t>Awarded Best Development Paper Award in Operations, Logistics and Supply Chain Management at the British Academy of Management Conference (2024).</a:t>
            </a:r>
            <a:endParaRPr lang="en-US" sz="750" dirty="0"/>
          </a:p>
          <a:p>
            <a:pPr marL="342900" indent="-342900" algn="l">
              <a:lnSpc>
                <a:spcPts val="900"/>
              </a:lnSpc>
              <a:buSzPct val="100000"/>
              <a:buFont typeface="+mj-lt"/>
              <a:buAutoNum type="arabicPeriod" startAt="2"/>
            </a:pPr>
            <a:r>
              <a:rPr lang="en-US" sz="750" dirty="0">
                <a:solidFill>
                  <a:srgbClr val="272525"/>
                </a:solidFill>
                <a:latin typeface="Inter" pitchFamily="34" charset="0"/>
                <a:ea typeface="Inter" pitchFamily="34" charset="-122"/>
                <a:cs typeface="Inter" pitchFamily="34" charset="-120"/>
              </a:rPr>
              <a:t>Invited to co-present in the lecture series with Professor Andrew Wait from the University of Sydney at the Australia Awards in Indonesia (2025–2026).</a:t>
            </a:r>
            <a:endParaRPr lang="en-US" sz="750" dirty="0"/>
          </a:p>
          <a:p>
            <a:pPr marL="342900" indent="-342900" algn="l">
              <a:lnSpc>
                <a:spcPts val="900"/>
              </a:lnSpc>
              <a:buSzPct val="100000"/>
              <a:buFont typeface="+mj-lt"/>
              <a:buAutoNum type="arabicPeriod" startAt="3"/>
            </a:pPr>
            <a:r>
              <a:rPr lang="en-US" sz="750" dirty="0">
                <a:solidFill>
                  <a:srgbClr val="272525"/>
                </a:solidFill>
                <a:latin typeface="Inter" pitchFamily="34" charset="0"/>
                <a:ea typeface="Inter" pitchFamily="34" charset="-122"/>
                <a:cs typeface="Inter" pitchFamily="34" charset="-120"/>
              </a:rPr>
              <a:t>Invited to present on "Bridging Theory and Practice: The Role of Family Dynamics in Student-Centric Experiential Learning" at the International Conference on Transcending Boundaries in Management Education, jointly organised by XIME Bangalore, India and University of Adelaide Business School, Australia (2025).</a:t>
            </a:r>
            <a:endParaRPr lang="en-US" sz="750" dirty="0"/>
          </a:p>
          <a:p>
            <a:pPr marL="342900" indent="-342900" algn="l">
              <a:lnSpc>
                <a:spcPts val="900"/>
              </a:lnSpc>
              <a:buSzPct val="100000"/>
              <a:buFont typeface="+mj-lt"/>
              <a:buAutoNum type="arabicPeriod" startAt="4"/>
            </a:pPr>
            <a:r>
              <a:rPr lang="en-US" sz="750" dirty="0">
                <a:solidFill>
                  <a:srgbClr val="272525"/>
                </a:solidFill>
                <a:latin typeface="Inter" pitchFamily="34" charset="0"/>
                <a:ea typeface="Inter" pitchFamily="34" charset="-122"/>
                <a:cs typeface="Inter" pitchFamily="34" charset="-120"/>
              </a:rPr>
              <a:t>Awarded Best Reviewer Award at the Academy of International Business (AIB), Seoul, South Korea (2024).</a:t>
            </a:r>
            <a:endParaRPr lang="en-US" sz="750" dirty="0"/>
          </a:p>
          <a:p>
            <a:pPr marL="342900" indent="-342900" algn="l">
              <a:lnSpc>
                <a:spcPts val="900"/>
              </a:lnSpc>
              <a:buSzPct val="100000"/>
              <a:buFont typeface="+mj-lt"/>
              <a:buAutoNum type="arabicPeriod" startAt="5"/>
            </a:pPr>
            <a:r>
              <a:rPr lang="en-US" sz="750" dirty="0">
                <a:solidFill>
                  <a:srgbClr val="272525"/>
                </a:solidFill>
                <a:latin typeface="Inter" pitchFamily="34" charset="0"/>
                <a:ea typeface="Inter" pitchFamily="34" charset="-122"/>
                <a:cs typeface="Inter" pitchFamily="34" charset="-120"/>
              </a:rPr>
              <a:t>Recipient of the Outstanding Reviewer Award at the Academy of Management, United States (2023, 2021).</a:t>
            </a:r>
            <a:endParaRPr lang="en-US" sz="750" dirty="0"/>
          </a:p>
          <a:p>
            <a:pPr marL="342900" indent="-342900" algn="l">
              <a:lnSpc>
                <a:spcPts val="900"/>
              </a:lnSpc>
              <a:buSzPct val="100000"/>
              <a:buFont typeface="+mj-lt"/>
              <a:buAutoNum type="arabicPeriod" startAt="6"/>
            </a:pPr>
            <a:r>
              <a:rPr lang="en-US" sz="750" dirty="0">
                <a:solidFill>
                  <a:srgbClr val="272525"/>
                </a:solidFill>
                <a:latin typeface="Inter" pitchFamily="34" charset="0"/>
                <a:ea typeface="Inter" pitchFamily="34" charset="-122"/>
                <a:cs typeface="Inter" pitchFamily="34" charset="-120"/>
              </a:rPr>
              <a:t>Session Chair at the Academy of Management Teaching &amp; Learning Conference for submission number 15137, titled "Curriculum Design of an Inter-disciplinary Hands-on Social Innovation Program" (2022).</a:t>
            </a:r>
            <a:endParaRPr lang="en-US" sz="750" dirty="0"/>
          </a:p>
          <a:p>
            <a:pPr marL="342900" indent="-342900" algn="l">
              <a:lnSpc>
                <a:spcPts val="900"/>
              </a:lnSpc>
              <a:buSzPct val="100000"/>
              <a:buFont typeface="+mj-lt"/>
              <a:buAutoNum type="arabicPeriod" startAt="7"/>
            </a:pPr>
            <a:r>
              <a:rPr lang="en-US" sz="750" dirty="0">
                <a:solidFill>
                  <a:srgbClr val="272525"/>
                </a:solidFill>
                <a:latin typeface="Inter" pitchFamily="34" charset="0"/>
                <a:ea typeface="Inter" pitchFamily="34" charset="-122"/>
                <a:cs typeface="Inter" pitchFamily="34" charset="-120"/>
              </a:rPr>
              <a:t>Presented research papers at prestigious conferences across the globe (2019–Present).</a:t>
            </a:r>
            <a:endParaRPr lang="en-US" sz="750" dirty="0"/>
          </a:p>
          <a:p>
            <a:pPr marL="342900" indent="-342900" algn="l">
              <a:lnSpc>
                <a:spcPts val="900"/>
              </a:lnSpc>
              <a:buSzPct val="100000"/>
              <a:buFont typeface="+mj-lt"/>
              <a:buAutoNum type="arabicPeriod" startAt="8"/>
            </a:pPr>
            <a:r>
              <a:rPr lang="en-US" sz="750" dirty="0">
                <a:solidFill>
                  <a:srgbClr val="272525"/>
                </a:solidFill>
                <a:latin typeface="Inter" pitchFamily="34" charset="0"/>
                <a:ea typeface="Inter" pitchFamily="34" charset="-122"/>
                <a:cs typeface="Inter" pitchFamily="34" charset="-120"/>
              </a:rPr>
              <a:t>Awarded Research and Training Program (RTP) Grant from the Government of Australia (2017).</a:t>
            </a:r>
            <a:endParaRPr lang="en-US" sz="750" dirty="0"/>
          </a:p>
          <a:p>
            <a:pPr marL="342900" indent="-342900" algn="l">
              <a:lnSpc>
                <a:spcPts val="900"/>
              </a:lnSpc>
              <a:buSzPct val="100000"/>
              <a:buFont typeface="+mj-lt"/>
              <a:buAutoNum type="arabicPeriod" startAt="9"/>
            </a:pPr>
            <a:r>
              <a:rPr lang="en-US" sz="750" dirty="0">
                <a:solidFill>
                  <a:srgbClr val="272525"/>
                </a:solidFill>
                <a:latin typeface="Inter" pitchFamily="34" charset="0"/>
                <a:ea typeface="Inter" pitchFamily="34" charset="-122"/>
                <a:cs typeface="Inter" pitchFamily="34" charset="-120"/>
              </a:rPr>
              <a:t>Recipient of the Faculty of the Divisional Scholarship (100%) for PhD (2017).</a:t>
            </a:r>
            <a:endParaRPr lang="en-US" sz="750" dirty="0"/>
          </a:p>
        </p:txBody>
      </p:sp>
      <p:sp>
        <p:nvSpPr>
          <p:cNvPr id="52" name="Shape 50"/>
          <p:cNvSpPr/>
          <p:nvPr/>
        </p:nvSpPr>
        <p:spPr>
          <a:xfrm>
            <a:off x="3402449" y="6519669"/>
            <a:ext cx="7825502" cy="20003"/>
          </a:xfrm>
          <a:prstGeom prst="rect">
            <a:avLst/>
          </a:prstGeom>
          <a:solidFill>
            <a:srgbClr val="272525">
              <a:alpha val="50000"/>
            </a:srgbClr>
          </a:solidFill>
          <a:ln/>
        </p:spPr>
        <p:txBody>
          <a:bodyPr/>
          <a:lstStyle/>
          <a:p>
            <a:endParaRPr lang="en-AU"/>
          </a:p>
        </p:txBody>
      </p:sp>
      <p:sp>
        <p:nvSpPr>
          <p:cNvPr id="53" name="Text 51"/>
          <p:cNvSpPr/>
          <p:nvPr/>
        </p:nvSpPr>
        <p:spPr>
          <a:xfrm>
            <a:off x="3402449" y="6614041"/>
            <a:ext cx="3940254"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Leadership and Community Engagement</a:t>
            </a:r>
            <a:endParaRPr lang="en-US" sz="1550" dirty="0"/>
          </a:p>
        </p:txBody>
      </p:sp>
      <p:sp>
        <p:nvSpPr>
          <p:cNvPr id="54" name="Text 52"/>
          <p:cNvSpPr/>
          <p:nvPr/>
        </p:nvSpPr>
        <p:spPr>
          <a:xfrm>
            <a:off x="3402449" y="6936462"/>
            <a:ext cx="7825502" cy="936188"/>
          </a:xfrm>
          <a:prstGeom prst="rect">
            <a:avLst/>
          </a:prstGeom>
          <a:noFill/>
          <a:ln/>
        </p:spPr>
        <p:txBody>
          <a:bodyPr wrap="square" lIns="0" tIns="0" rIns="0" bIns="0" rtlCol="0" anchor="t"/>
          <a:lstStyle/>
          <a:p>
            <a:pPr marL="342900" indent="-342900" algn="l">
              <a:lnSpc>
                <a:spcPts val="900"/>
              </a:lnSpc>
              <a:buSzPct val="100000"/>
              <a:buFont typeface="+mj-lt"/>
              <a:buAutoNum type="arabicPeriod"/>
            </a:pPr>
            <a:r>
              <a:rPr lang="en-US" sz="750" dirty="0">
                <a:solidFill>
                  <a:srgbClr val="272525"/>
                </a:solidFill>
                <a:latin typeface="Inter" pitchFamily="34" charset="0"/>
                <a:ea typeface="Inter" pitchFamily="34" charset="-122"/>
                <a:cs typeface="Inter" pitchFamily="34" charset="-120"/>
              </a:rPr>
              <a:t>Invited to review Honours thesis as an examiner, Griffith University, Australia (2025).</a:t>
            </a:r>
            <a:endParaRPr lang="en-US" sz="750" dirty="0"/>
          </a:p>
          <a:p>
            <a:pPr marL="342900" indent="-342900" algn="l">
              <a:lnSpc>
                <a:spcPts val="900"/>
              </a:lnSpc>
              <a:buSzPct val="100000"/>
              <a:buFont typeface="+mj-lt"/>
              <a:buAutoNum type="arabicPeriod" startAt="2"/>
            </a:pPr>
            <a:r>
              <a:rPr lang="en-US" sz="750" dirty="0">
                <a:solidFill>
                  <a:srgbClr val="272525"/>
                </a:solidFill>
                <a:latin typeface="Inter" pitchFamily="34" charset="0"/>
                <a:ea typeface="Inter" pitchFamily="34" charset="-122"/>
                <a:cs typeface="Inter" pitchFamily="34" charset="-120"/>
              </a:rPr>
              <a:t>Accepted to participate in the Early Career Scholars Day, ANZIBA 2025 Conference, Nadi, Fiji (2025).</a:t>
            </a:r>
            <a:endParaRPr lang="en-US" sz="750" dirty="0"/>
          </a:p>
          <a:p>
            <a:pPr marL="342900" indent="-342900" algn="l">
              <a:lnSpc>
                <a:spcPts val="900"/>
              </a:lnSpc>
              <a:buSzPct val="100000"/>
              <a:buFont typeface="+mj-lt"/>
              <a:buAutoNum type="arabicPeriod" startAt="3"/>
            </a:pPr>
            <a:r>
              <a:rPr lang="en-US" sz="750" dirty="0">
                <a:solidFill>
                  <a:srgbClr val="272525"/>
                </a:solidFill>
                <a:latin typeface="Inter" pitchFamily="34" charset="0"/>
                <a:ea typeface="Inter" pitchFamily="34" charset="-122"/>
                <a:cs typeface="Inter" pitchFamily="34" charset="-120"/>
              </a:rPr>
              <a:t>Chosen as the China and Vietnam representative for the Arts, Business, Law, and Economics (ABLE) faculty of the University of Adelaide (2023–present).</a:t>
            </a:r>
            <a:endParaRPr lang="en-US" sz="750" dirty="0"/>
          </a:p>
          <a:p>
            <a:pPr marL="342900" indent="-342900" algn="l">
              <a:lnSpc>
                <a:spcPts val="900"/>
              </a:lnSpc>
              <a:buSzPct val="100000"/>
              <a:buFont typeface="+mj-lt"/>
              <a:buAutoNum type="arabicPeriod" startAt="4"/>
            </a:pPr>
            <a:r>
              <a:rPr lang="en-US" sz="750" dirty="0">
                <a:solidFill>
                  <a:srgbClr val="272525"/>
                </a:solidFill>
                <a:latin typeface="Inter" pitchFamily="34" charset="0"/>
                <a:ea typeface="Inter" pitchFamily="34" charset="-122"/>
                <a:cs typeface="Inter" pitchFamily="34" charset="-120"/>
              </a:rPr>
              <a:t>Invited by the Rotary Club of Adelaide to speak about "Embracing Imperfections: A Voyage of Self-Discovery and Growth" (2024).</a:t>
            </a:r>
            <a:endParaRPr lang="en-US" sz="750" dirty="0"/>
          </a:p>
          <a:p>
            <a:pPr marL="342900" indent="-342900" algn="l">
              <a:lnSpc>
                <a:spcPts val="900"/>
              </a:lnSpc>
              <a:buSzPct val="100000"/>
              <a:buFont typeface="+mj-lt"/>
              <a:buAutoNum type="arabicPeriod" startAt="5"/>
            </a:pPr>
            <a:r>
              <a:rPr lang="en-US" sz="750" dirty="0">
                <a:solidFill>
                  <a:srgbClr val="272525"/>
                </a:solidFill>
                <a:latin typeface="Inter" pitchFamily="34" charset="0"/>
                <a:ea typeface="Inter" pitchFamily="34" charset="-122"/>
                <a:cs typeface="Inter" pitchFamily="34" charset="-120"/>
              </a:rPr>
              <a:t>Awarded the Outstanding Leadership Award for contributions in the field of education and learning, Dubai (2024).</a:t>
            </a:r>
            <a:endParaRPr lang="en-US" sz="750" dirty="0"/>
          </a:p>
          <a:p>
            <a:pPr marL="342900" indent="-342900" algn="l">
              <a:lnSpc>
                <a:spcPts val="900"/>
              </a:lnSpc>
              <a:buSzPct val="100000"/>
              <a:buFont typeface="+mj-lt"/>
              <a:buAutoNum type="arabicPeriod" startAt="6"/>
            </a:pPr>
            <a:r>
              <a:rPr lang="en-US" sz="750" dirty="0">
                <a:solidFill>
                  <a:srgbClr val="272525"/>
                </a:solidFill>
                <a:latin typeface="Inter" pitchFamily="34" charset="0"/>
                <a:ea typeface="Inter" pitchFamily="34" charset="-122"/>
                <a:cs typeface="Inter" pitchFamily="34" charset="-120"/>
              </a:rPr>
              <a:t>Inducted into the "Hall of Fame 2024" by Passion Vista Global Magazine.</a:t>
            </a:r>
            <a:endParaRPr lang="en-US" sz="750" dirty="0"/>
          </a:p>
          <a:p>
            <a:pPr marL="342900" indent="-342900" algn="l">
              <a:lnSpc>
                <a:spcPts val="900"/>
              </a:lnSpc>
              <a:buSzPct val="100000"/>
              <a:buFont typeface="+mj-lt"/>
              <a:buAutoNum type="arabicPeriod" startAt="7"/>
            </a:pPr>
            <a:r>
              <a:rPr lang="en-US" sz="750" dirty="0">
                <a:solidFill>
                  <a:srgbClr val="272525"/>
                </a:solidFill>
                <a:latin typeface="Inter" pitchFamily="34" charset="0"/>
                <a:ea typeface="Inter" pitchFamily="34" charset="-122"/>
                <a:cs typeface="Inter" pitchFamily="34" charset="-120"/>
              </a:rPr>
              <a:t>Awarded "Inspiring Excellence through Education and Fortitude" by Passion Vista Magazine (2024).</a:t>
            </a:r>
            <a:endParaRPr lang="en-US" sz="750" dirty="0"/>
          </a:p>
        </p:txBody>
      </p:sp>
      <p:sp>
        <p:nvSpPr>
          <p:cNvPr id="55" name="Shape 53"/>
          <p:cNvSpPr/>
          <p:nvPr/>
        </p:nvSpPr>
        <p:spPr>
          <a:xfrm>
            <a:off x="3402449" y="7977947"/>
            <a:ext cx="7825502" cy="20003"/>
          </a:xfrm>
          <a:prstGeom prst="rect">
            <a:avLst/>
          </a:prstGeom>
          <a:solidFill>
            <a:srgbClr val="272525">
              <a:alpha val="50000"/>
            </a:srgbClr>
          </a:solidFill>
          <a:ln/>
        </p:spPr>
        <p:txBody>
          <a:bodyPr/>
          <a:lstStyle/>
          <a:p>
            <a:endParaRPr lang="en-AU"/>
          </a:p>
        </p:txBody>
      </p:sp>
      <p:sp>
        <p:nvSpPr>
          <p:cNvPr id="56" name="Text 54"/>
          <p:cNvSpPr/>
          <p:nvPr/>
        </p:nvSpPr>
        <p:spPr>
          <a:xfrm>
            <a:off x="3402449" y="8072318"/>
            <a:ext cx="3918942"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Industry and Professional Achievements</a:t>
            </a:r>
            <a:endParaRPr lang="en-US" sz="1550" dirty="0"/>
          </a:p>
        </p:txBody>
      </p:sp>
      <p:sp>
        <p:nvSpPr>
          <p:cNvPr id="57" name="Text 55"/>
          <p:cNvSpPr/>
          <p:nvPr/>
        </p:nvSpPr>
        <p:spPr>
          <a:xfrm>
            <a:off x="3402449" y="8394740"/>
            <a:ext cx="7825502" cy="1310283"/>
          </a:xfrm>
          <a:prstGeom prst="rect">
            <a:avLst/>
          </a:prstGeom>
          <a:noFill/>
          <a:ln/>
        </p:spPr>
        <p:txBody>
          <a:bodyPr wrap="square" lIns="0" tIns="0" rIns="0" bIns="0" rtlCol="0" anchor="t"/>
          <a:lstStyle/>
          <a:p>
            <a:pPr marL="342900" indent="-342900" algn="l">
              <a:lnSpc>
                <a:spcPts val="900"/>
              </a:lnSpc>
              <a:buSzPct val="100000"/>
              <a:buFont typeface="+mj-lt"/>
              <a:buAutoNum type="arabicPeriod"/>
            </a:pPr>
            <a:r>
              <a:rPr lang="en-US" sz="750" dirty="0">
                <a:solidFill>
                  <a:srgbClr val="272525"/>
                </a:solidFill>
                <a:latin typeface="Inter" pitchFamily="34" charset="0"/>
                <a:ea typeface="Inter" pitchFamily="34" charset="-122"/>
                <a:cs typeface="Inter" pitchFamily="34" charset="-120"/>
              </a:rPr>
              <a:t>Awarded $3,500 for successful "On Prime," CSIRO completion as an individual collaborating with the Adelaide School of Science, Engineering and Technology (SET) at the University of Adelaide (2025).</a:t>
            </a:r>
            <a:endParaRPr lang="en-US" sz="750" dirty="0"/>
          </a:p>
          <a:p>
            <a:pPr marL="342900" indent="-342900" algn="l">
              <a:lnSpc>
                <a:spcPts val="900"/>
              </a:lnSpc>
              <a:buSzPct val="100000"/>
              <a:buFont typeface="+mj-lt"/>
              <a:buAutoNum type="arabicPeriod" startAt="2"/>
            </a:pPr>
            <a:r>
              <a:rPr lang="en-US" sz="750" dirty="0">
                <a:solidFill>
                  <a:srgbClr val="272525"/>
                </a:solidFill>
                <a:latin typeface="Inter" pitchFamily="34" charset="0"/>
                <a:ea typeface="Inter" pitchFamily="34" charset="-122"/>
                <a:cs typeface="Inter" pitchFamily="34" charset="-120"/>
              </a:rPr>
              <a:t>Received South Australia Cricket Association (SACA) Membership (2024).</a:t>
            </a:r>
            <a:endParaRPr lang="en-US" sz="750" dirty="0"/>
          </a:p>
          <a:p>
            <a:pPr marL="342900" indent="-342900" algn="l">
              <a:lnSpc>
                <a:spcPts val="900"/>
              </a:lnSpc>
              <a:buSzPct val="100000"/>
              <a:buFont typeface="+mj-lt"/>
              <a:buAutoNum type="arabicPeriod" startAt="3"/>
            </a:pPr>
            <a:r>
              <a:rPr lang="en-US" sz="750" dirty="0">
                <a:solidFill>
                  <a:srgbClr val="272525"/>
                </a:solidFill>
                <a:latin typeface="Inter" pitchFamily="34" charset="0"/>
                <a:ea typeface="Inter" pitchFamily="34" charset="-122"/>
                <a:cs typeface="Inter" pitchFamily="34" charset="-120"/>
              </a:rPr>
              <a:t>Received an Adelaide University "Letter of Thank You" recognising contributions to the Part 2 Course Design Process (2024).</a:t>
            </a:r>
            <a:endParaRPr lang="en-US" sz="750" dirty="0"/>
          </a:p>
          <a:p>
            <a:pPr marL="342900" indent="-342900" algn="l">
              <a:lnSpc>
                <a:spcPts val="900"/>
              </a:lnSpc>
              <a:buSzPct val="100000"/>
              <a:buFont typeface="+mj-lt"/>
              <a:buAutoNum type="arabicPeriod" startAt="4"/>
            </a:pPr>
            <a:r>
              <a:rPr lang="en-US" sz="750" dirty="0">
                <a:solidFill>
                  <a:srgbClr val="272525"/>
                </a:solidFill>
                <a:latin typeface="Inter" pitchFamily="34" charset="0"/>
                <a:ea typeface="Inter" pitchFamily="34" charset="-122"/>
                <a:cs typeface="Inter" pitchFamily="34" charset="-120"/>
              </a:rPr>
              <a:t>Awarded Certificate of Excellence for peer-reviewing at the 5th International Conference of Modern Management based on Big Data (MMBD2024) in Beijing, China (2024).</a:t>
            </a:r>
            <a:endParaRPr lang="en-US" sz="750" dirty="0"/>
          </a:p>
          <a:p>
            <a:pPr marL="342900" indent="-342900" algn="l">
              <a:lnSpc>
                <a:spcPts val="900"/>
              </a:lnSpc>
              <a:buSzPct val="100000"/>
              <a:buFont typeface="+mj-lt"/>
              <a:buAutoNum type="arabicPeriod" startAt="5"/>
            </a:pPr>
            <a:r>
              <a:rPr lang="en-US" sz="750" dirty="0">
                <a:solidFill>
                  <a:srgbClr val="272525"/>
                </a:solidFill>
                <a:latin typeface="Inter" pitchFamily="34" charset="0"/>
                <a:ea typeface="Inter" pitchFamily="34" charset="-122"/>
                <a:cs typeface="Inter" pitchFamily="34" charset="-120"/>
              </a:rPr>
              <a:t>Best Employee Award for Quarter 1, Bramalco Pty Ltd, Australia (2017).</a:t>
            </a:r>
            <a:endParaRPr lang="en-US" sz="750" dirty="0"/>
          </a:p>
          <a:p>
            <a:pPr marL="342900" indent="-342900" algn="l">
              <a:lnSpc>
                <a:spcPts val="900"/>
              </a:lnSpc>
              <a:buSzPct val="100000"/>
              <a:buFont typeface="+mj-lt"/>
              <a:buAutoNum type="arabicPeriod" startAt="6"/>
            </a:pPr>
            <a:r>
              <a:rPr lang="en-US" sz="750" dirty="0">
                <a:solidFill>
                  <a:srgbClr val="272525"/>
                </a:solidFill>
                <a:latin typeface="Inter" pitchFamily="34" charset="0"/>
                <a:ea typeface="Inter" pitchFamily="34" charset="-122"/>
                <a:cs typeface="Inter" pitchFamily="34" charset="-120"/>
              </a:rPr>
              <a:t>Customer Champion Award, PC World, UK (2007–2008).</a:t>
            </a:r>
            <a:endParaRPr lang="en-US" sz="750" dirty="0"/>
          </a:p>
          <a:p>
            <a:pPr marL="342900" indent="-342900" algn="l">
              <a:lnSpc>
                <a:spcPts val="900"/>
              </a:lnSpc>
              <a:buSzPct val="100000"/>
              <a:buFont typeface="+mj-lt"/>
              <a:buAutoNum type="arabicPeriod" startAt="7"/>
            </a:pPr>
            <a:r>
              <a:rPr lang="en-US" sz="750" dirty="0">
                <a:solidFill>
                  <a:srgbClr val="272525"/>
                </a:solidFill>
                <a:latin typeface="Inter" pitchFamily="34" charset="0"/>
                <a:ea typeface="Inter" pitchFamily="34" charset="-122"/>
                <a:cs typeface="Inter" pitchFamily="34" charset="-120"/>
              </a:rPr>
              <a:t>Online Transaction Fraud Prevention Award, Streamline, UK (2007).</a:t>
            </a:r>
            <a:endParaRPr lang="en-US" sz="750" dirty="0"/>
          </a:p>
          <a:p>
            <a:pPr marL="342900" indent="-342900" algn="l">
              <a:lnSpc>
                <a:spcPts val="900"/>
              </a:lnSpc>
              <a:buSzPct val="100000"/>
              <a:buFont typeface="+mj-lt"/>
              <a:buAutoNum type="arabicPeriod" startAt="8"/>
            </a:pPr>
            <a:r>
              <a:rPr lang="en-US" sz="750" dirty="0">
                <a:solidFill>
                  <a:srgbClr val="272525"/>
                </a:solidFill>
                <a:latin typeface="Inter" pitchFamily="34" charset="0"/>
                <a:ea typeface="Inter" pitchFamily="34" charset="-122"/>
                <a:cs typeface="Inter" pitchFamily="34" charset="-120"/>
              </a:rPr>
              <a:t>Best Employee in Sales Award, PC World, UK (2006–2007).</a:t>
            </a:r>
            <a:endParaRPr lang="en-US" sz="750" dirty="0"/>
          </a:p>
        </p:txBody>
      </p:sp>
      <p:sp>
        <p:nvSpPr>
          <p:cNvPr id="58" name="Shape 56"/>
          <p:cNvSpPr/>
          <p:nvPr/>
        </p:nvSpPr>
        <p:spPr>
          <a:xfrm>
            <a:off x="3402449" y="9810318"/>
            <a:ext cx="7825502" cy="20003"/>
          </a:xfrm>
          <a:prstGeom prst="rect">
            <a:avLst/>
          </a:prstGeom>
          <a:solidFill>
            <a:srgbClr val="272525">
              <a:alpha val="50000"/>
            </a:srgbClr>
          </a:solidFill>
          <a:ln/>
        </p:spPr>
        <p:txBody>
          <a:bodyPr/>
          <a:lstStyle/>
          <a:p>
            <a:endParaRPr lang="en-AU"/>
          </a:p>
        </p:txBody>
      </p:sp>
      <p:sp>
        <p:nvSpPr>
          <p:cNvPr id="59" name="Text 57"/>
          <p:cNvSpPr/>
          <p:nvPr/>
        </p:nvSpPr>
        <p:spPr>
          <a:xfrm>
            <a:off x="3402449" y="9904690"/>
            <a:ext cx="2304455"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Additional Recognitions</a:t>
            </a:r>
            <a:endParaRPr lang="en-US" sz="1550" dirty="0"/>
          </a:p>
        </p:txBody>
      </p:sp>
      <p:sp>
        <p:nvSpPr>
          <p:cNvPr id="60" name="Text 58"/>
          <p:cNvSpPr/>
          <p:nvPr/>
        </p:nvSpPr>
        <p:spPr>
          <a:xfrm>
            <a:off x="3402449" y="10227112"/>
            <a:ext cx="7825502" cy="936188"/>
          </a:xfrm>
          <a:prstGeom prst="rect">
            <a:avLst/>
          </a:prstGeom>
          <a:noFill/>
          <a:ln/>
        </p:spPr>
        <p:txBody>
          <a:bodyPr wrap="square" lIns="0" tIns="0" rIns="0" bIns="0" rtlCol="0" anchor="t"/>
          <a:lstStyle/>
          <a:p>
            <a:pPr marL="342900" indent="-342900" algn="l">
              <a:lnSpc>
                <a:spcPts val="900"/>
              </a:lnSpc>
              <a:buSzPct val="100000"/>
              <a:buFont typeface="+mj-lt"/>
              <a:buAutoNum type="arabicPeriod"/>
            </a:pPr>
            <a:r>
              <a:rPr lang="en-US" sz="750" dirty="0">
                <a:solidFill>
                  <a:srgbClr val="272525"/>
                </a:solidFill>
                <a:latin typeface="Inter" pitchFamily="34" charset="0"/>
                <a:ea typeface="Inter" pitchFamily="34" charset="-122"/>
                <a:cs typeface="Inter" pitchFamily="34" charset="-120"/>
              </a:rPr>
              <a:t>Awarded Best Paper with Practical Implications Award by the Asia-Pacific Family Business Symposium (2022).</a:t>
            </a:r>
            <a:endParaRPr lang="en-US" sz="750" dirty="0"/>
          </a:p>
          <a:p>
            <a:pPr marL="342900" indent="-342900" algn="l">
              <a:lnSpc>
                <a:spcPts val="900"/>
              </a:lnSpc>
              <a:buSzPct val="100000"/>
              <a:buFont typeface="+mj-lt"/>
              <a:buAutoNum type="arabicPeriod" startAt="2"/>
            </a:pPr>
            <a:r>
              <a:rPr lang="en-US" sz="750" dirty="0">
                <a:solidFill>
                  <a:srgbClr val="272525"/>
                </a:solidFill>
                <a:latin typeface="Inter" pitchFamily="34" charset="0"/>
                <a:ea typeface="Inter" pitchFamily="34" charset="-122"/>
                <a:cs typeface="Inter" pitchFamily="34" charset="-120"/>
              </a:rPr>
              <a:t>Inducted into the Golden Key Honour Society for being among the top 15% of students, Australia (2017).</a:t>
            </a:r>
            <a:endParaRPr lang="en-US" sz="750" dirty="0"/>
          </a:p>
          <a:p>
            <a:pPr marL="342900" indent="-342900" algn="l">
              <a:lnSpc>
                <a:spcPts val="900"/>
              </a:lnSpc>
              <a:buSzPct val="100000"/>
              <a:buFont typeface="+mj-lt"/>
              <a:buAutoNum type="arabicPeriod" startAt="3"/>
            </a:pPr>
            <a:r>
              <a:rPr lang="en-US" sz="750" dirty="0">
                <a:solidFill>
                  <a:srgbClr val="272525"/>
                </a:solidFill>
                <a:latin typeface="Inter" pitchFamily="34" charset="0"/>
                <a:ea typeface="Inter" pitchFamily="34" charset="-122"/>
                <a:cs typeface="Inter" pitchFamily="34" charset="-120"/>
              </a:rPr>
              <a:t>Recipient of the Adelaide Graduate Award, University of Adelaide, Australia (2020).</a:t>
            </a:r>
            <a:endParaRPr lang="en-US" sz="750" dirty="0"/>
          </a:p>
          <a:p>
            <a:pPr marL="342900" indent="-342900" algn="l">
              <a:lnSpc>
                <a:spcPts val="900"/>
              </a:lnSpc>
              <a:buSzPct val="100000"/>
              <a:buFont typeface="+mj-lt"/>
              <a:buAutoNum type="arabicPeriod" startAt="4"/>
            </a:pPr>
            <a:r>
              <a:rPr lang="en-US" sz="750" dirty="0">
                <a:solidFill>
                  <a:srgbClr val="272525"/>
                </a:solidFill>
                <a:latin typeface="Inter" pitchFamily="34" charset="0"/>
                <a:ea typeface="Inter" pitchFamily="34" charset="-122"/>
                <a:cs typeface="Inter" pitchFamily="34" charset="-120"/>
              </a:rPr>
              <a:t>Recipient of the Outstanding Reviewer Award for 2021 at the Academy of Management, United States (2021).</a:t>
            </a:r>
            <a:endParaRPr lang="en-US" sz="750" dirty="0"/>
          </a:p>
          <a:p>
            <a:pPr marL="342900" indent="-342900" algn="l">
              <a:lnSpc>
                <a:spcPts val="900"/>
              </a:lnSpc>
              <a:buSzPct val="100000"/>
              <a:buFont typeface="+mj-lt"/>
              <a:buAutoNum type="arabicPeriod" startAt="5"/>
            </a:pPr>
            <a:r>
              <a:rPr lang="en-US" sz="750" dirty="0">
                <a:solidFill>
                  <a:srgbClr val="272525"/>
                </a:solidFill>
                <a:latin typeface="Inter" pitchFamily="34" charset="0"/>
                <a:ea typeface="Inter" pitchFamily="34" charset="-122"/>
                <a:cs typeface="Inter" pitchFamily="34" charset="-120"/>
              </a:rPr>
              <a:t>Awarded Best Management Text Award for Outstanding Tertiary Resource (contributed four key case studies) (2022).</a:t>
            </a:r>
            <a:endParaRPr lang="en-US" sz="750" dirty="0"/>
          </a:p>
          <a:p>
            <a:pPr marL="342900" indent="-342900" algn="l">
              <a:lnSpc>
                <a:spcPts val="900"/>
              </a:lnSpc>
              <a:buSzPct val="100000"/>
              <a:buFont typeface="+mj-lt"/>
              <a:buAutoNum type="arabicPeriod" startAt="6"/>
            </a:pPr>
            <a:r>
              <a:rPr lang="en-US" sz="750" dirty="0">
                <a:solidFill>
                  <a:srgbClr val="272525"/>
                </a:solidFill>
                <a:latin typeface="Inter" pitchFamily="34" charset="0"/>
                <a:ea typeface="Inter" pitchFamily="34" charset="-122"/>
                <a:cs typeface="Inter" pitchFamily="34" charset="-120"/>
              </a:rPr>
              <a:t>Awarded Best Employee Award for Quarter 1, Bramalco Pty Ltd, Australia (2017).</a:t>
            </a:r>
            <a:endParaRPr lang="en-US" sz="750" dirty="0"/>
          </a:p>
          <a:p>
            <a:pPr marL="342900" indent="-342900" algn="l">
              <a:lnSpc>
                <a:spcPts val="900"/>
              </a:lnSpc>
              <a:buSzPct val="100000"/>
              <a:buFont typeface="+mj-lt"/>
              <a:buAutoNum type="arabicPeriod" startAt="7"/>
            </a:pPr>
            <a:r>
              <a:rPr lang="en-US" sz="750" dirty="0">
                <a:solidFill>
                  <a:srgbClr val="272525"/>
                </a:solidFill>
                <a:latin typeface="Inter" pitchFamily="34" charset="0"/>
                <a:ea typeface="Inter" pitchFamily="34" charset="-122"/>
                <a:cs typeface="Inter" pitchFamily="34" charset="-120"/>
              </a:rPr>
              <a:t>Awarded Customer Champion Award, PC World, UK (2007–2008).</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654373" y="987385"/>
            <a:ext cx="4183856" cy="448628"/>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Inter Bold" pitchFamily="34" charset="0"/>
                <a:ea typeface="Inter Bold" pitchFamily="34" charset="-122"/>
                <a:cs typeface="Inter Bold" pitchFamily="34" charset="-120"/>
              </a:rPr>
              <a:t>Professional Affiliations</a:t>
            </a:r>
            <a:endParaRPr lang="en-US" sz="2800" dirty="0"/>
          </a:p>
        </p:txBody>
      </p:sp>
      <p:sp>
        <p:nvSpPr>
          <p:cNvPr id="3" name="Shape 1"/>
          <p:cNvSpPr/>
          <p:nvPr/>
        </p:nvSpPr>
        <p:spPr>
          <a:xfrm>
            <a:off x="1550908" y="1591747"/>
            <a:ext cx="5692497" cy="4833104"/>
          </a:xfrm>
          <a:prstGeom prst="roundRect">
            <a:avLst>
              <a:gd name="adj" fmla="val 2139"/>
            </a:avLst>
          </a:prstGeom>
          <a:solidFill>
            <a:srgbClr val="835E54"/>
          </a:solidFill>
          <a:ln/>
        </p:spPr>
        <p:txBody>
          <a:bodyPr/>
          <a:lstStyle/>
          <a:p>
            <a:endParaRPr lang="en-AU"/>
          </a:p>
        </p:txBody>
      </p:sp>
      <p:sp>
        <p:nvSpPr>
          <p:cNvPr id="4" name="Text 2"/>
          <p:cNvSpPr/>
          <p:nvPr/>
        </p:nvSpPr>
        <p:spPr>
          <a:xfrm>
            <a:off x="1694378" y="1695569"/>
            <a:ext cx="1877616" cy="224195"/>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Inter Bold" pitchFamily="34" charset="0"/>
                <a:ea typeface="Inter Bold" pitchFamily="34" charset="-122"/>
                <a:cs typeface="Inter Bold" pitchFamily="34" charset="-120"/>
              </a:rPr>
              <a:t>Academic Affiliations</a:t>
            </a:r>
            <a:endParaRPr lang="en-US" sz="1400" dirty="0"/>
          </a:p>
        </p:txBody>
      </p:sp>
      <p:sp>
        <p:nvSpPr>
          <p:cNvPr id="5" name="Shape 3"/>
          <p:cNvSpPr/>
          <p:nvPr/>
        </p:nvSpPr>
        <p:spPr>
          <a:xfrm>
            <a:off x="1694378" y="2036564"/>
            <a:ext cx="2650808" cy="974765"/>
          </a:xfrm>
          <a:prstGeom prst="roundRect">
            <a:avLst>
              <a:gd name="adj" fmla="val 6186"/>
            </a:avLst>
          </a:prstGeom>
          <a:solidFill>
            <a:srgbClr val="DADBF1"/>
          </a:solidFill>
          <a:ln w="7620">
            <a:solidFill>
              <a:srgbClr val="C0C1D7"/>
            </a:solidFill>
            <a:prstDash val="solid"/>
          </a:ln>
        </p:spPr>
        <p:txBody>
          <a:bodyPr/>
          <a:lstStyle/>
          <a:p>
            <a:endParaRPr lang="en-AU"/>
          </a:p>
        </p:txBody>
      </p:sp>
      <p:sp>
        <p:nvSpPr>
          <p:cNvPr id="6" name="Text 4"/>
          <p:cNvSpPr/>
          <p:nvPr/>
        </p:nvSpPr>
        <p:spPr>
          <a:xfrm>
            <a:off x="1845469" y="2187654"/>
            <a:ext cx="2348627" cy="448389"/>
          </a:xfrm>
          <a:prstGeom prst="rect">
            <a:avLst/>
          </a:prstGeom>
          <a:noFill/>
          <a:ln/>
        </p:spPr>
        <p:txBody>
          <a:bodyPr wrap="squar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The Academy of Management (AOM)</a:t>
            </a:r>
            <a:endParaRPr lang="en-US" sz="1400" dirty="0"/>
          </a:p>
        </p:txBody>
      </p:sp>
      <p:sp>
        <p:nvSpPr>
          <p:cNvPr id="7" name="Shape 5"/>
          <p:cNvSpPr/>
          <p:nvPr/>
        </p:nvSpPr>
        <p:spPr>
          <a:xfrm>
            <a:off x="4449008" y="2036564"/>
            <a:ext cx="2650927" cy="974765"/>
          </a:xfrm>
          <a:prstGeom prst="roundRect">
            <a:avLst>
              <a:gd name="adj" fmla="val 6186"/>
            </a:avLst>
          </a:prstGeom>
          <a:solidFill>
            <a:srgbClr val="DADBF1"/>
          </a:solidFill>
          <a:ln w="7620">
            <a:solidFill>
              <a:srgbClr val="C0C1D7"/>
            </a:solidFill>
            <a:prstDash val="solid"/>
          </a:ln>
        </p:spPr>
        <p:txBody>
          <a:bodyPr/>
          <a:lstStyle/>
          <a:p>
            <a:endParaRPr lang="en-AU"/>
          </a:p>
        </p:txBody>
      </p:sp>
      <p:sp>
        <p:nvSpPr>
          <p:cNvPr id="8" name="Text 6"/>
          <p:cNvSpPr/>
          <p:nvPr/>
        </p:nvSpPr>
        <p:spPr>
          <a:xfrm>
            <a:off x="4600099" y="2187654"/>
            <a:ext cx="2348746" cy="672584"/>
          </a:xfrm>
          <a:prstGeom prst="rect">
            <a:avLst/>
          </a:prstGeom>
          <a:noFill/>
          <a:ln/>
        </p:spPr>
        <p:txBody>
          <a:bodyPr wrap="squar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Australia and New Zealand Academy of Management (ANZAM)</a:t>
            </a:r>
            <a:endParaRPr lang="en-US" sz="1400" dirty="0"/>
          </a:p>
        </p:txBody>
      </p:sp>
      <p:sp>
        <p:nvSpPr>
          <p:cNvPr id="9" name="Shape 7"/>
          <p:cNvSpPr/>
          <p:nvPr/>
        </p:nvSpPr>
        <p:spPr>
          <a:xfrm>
            <a:off x="1694378" y="3115151"/>
            <a:ext cx="2650808" cy="974765"/>
          </a:xfrm>
          <a:prstGeom prst="roundRect">
            <a:avLst>
              <a:gd name="adj" fmla="val 6186"/>
            </a:avLst>
          </a:prstGeom>
          <a:solidFill>
            <a:srgbClr val="DADBF1"/>
          </a:solidFill>
          <a:ln w="7620">
            <a:solidFill>
              <a:srgbClr val="C0C1D7"/>
            </a:solidFill>
            <a:prstDash val="solid"/>
          </a:ln>
        </p:spPr>
        <p:txBody>
          <a:bodyPr/>
          <a:lstStyle/>
          <a:p>
            <a:endParaRPr lang="en-AU"/>
          </a:p>
        </p:txBody>
      </p:sp>
      <p:sp>
        <p:nvSpPr>
          <p:cNvPr id="10" name="Text 8"/>
          <p:cNvSpPr/>
          <p:nvPr/>
        </p:nvSpPr>
        <p:spPr>
          <a:xfrm>
            <a:off x="1845469" y="3266242"/>
            <a:ext cx="2348627" cy="448389"/>
          </a:xfrm>
          <a:prstGeom prst="rect">
            <a:avLst/>
          </a:prstGeom>
          <a:noFill/>
          <a:ln/>
        </p:spPr>
        <p:txBody>
          <a:bodyPr wrap="squar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Academy of International Business (AIB)</a:t>
            </a:r>
            <a:endParaRPr lang="en-US" sz="1400" dirty="0"/>
          </a:p>
        </p:txBody>
      </p:sp>
      <p:sp>
        <p:nvSpPr>
          <p:cNvPr id="11" name="Shape 9"/>
          <p:cNvSpPr/>
          <p:nvPr/>
        </p:nvSpPr>
        <p:spPr>
          <a:xfrm>
            <a:off x="4449008" y="3115151"/>
            <a:ext cx="2650927" cy="974765"/>
          </a:xfrm>
          <a:prstGeom prst="roundRect">
            <a:avLst>
              <a:gd name="adj" fmla="val 6186"/>
            </a:avLst>
          </a:prstGeom>
          <a:solidFill>
            <a:srgbClr val="DADBF1"/>
          </a:solidFill>
          <a:ln w="7620">
            <a:solidFill>
              <a:srgbClr val="C0C1D7"/>
            </a:solidFill>
            <a:prstDash val="solid"/>
          </a:ln>
        </p:spPr>
        <p:txBody>
          <a:bodyPr/>
          <a:lstStyle/>
          <a:p>
            <a:endParaRPr lang="en-AU"/>
          </a:p>
        </p:txBody>
      </p:sp>
      <p:sp>
        <p:nvSpPr>
          <p:cNvPr id="12" name="Text 10"/>
          <p:cNvSpPr/>
          <p:nvPr/>
        </p:nvSpPr>
        <p:spPr>
          <a:xfrm>
            <a:off x="4600099" y="3266242"/>
            <a:ext cx="2348746" cy="672584"/>
          </a:xfrm>
          <a:prstGeom prst="rect">
            <a:avLst/>
          </a:prstGeom>
          <a:noFill/>
          <a:ln/>
        </p:spPr>
        <p:txBody>
          <a:bodyPr wrap="squar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The Association of Japanese Business Studies (AJBS)</a:t>
            </a:r>
            <a:endParaRPr lang="en-US" sz="1400" dirty="0"/>
          </a:p>
        </p:txBody>
      </p:sp>
      <p:sp>
        <p:nvSpPr>
          <p:cNvPr id="13" name="Shape 11"/>
          <p:cNvSpPr/>
          <p:nvPr/>
        </p:nvSpPr>
        <p:spPr>
          <a:xfrm>
            <a:off x="1694378" y="4193738"/>
            <a:ext cx="2650808" cy="1198959"/>
          </a:xfrm>
          <a:prstGeom prst="roundRect">
            <a:avLst>
              <a:gd name="adj" fmla="val 5029"/>
            </a:avLst>
          </a:prstGeom>
          <a:solidFill>
            <a:srgbClr val="DADBF1"/>
          </a:solidFill>
          <a:ln w="7620">
            <a:solidFill>
              <a:srgbClr val="C0C1D7"/>
            </a:solidFill>
            <a:prstDash val="solid"/>
          </a:ln>
        </p:spPr>
        <p:txBody>
          <a:bodyPr/>
          <a:lstStyle/>
          <a:p>
            <a:endParaRPr lang="en-AU"/>
          </a:p>
        </p:txBody>
      </p:sp>
      <p:sp>
        <p:nvSpPr>
          <p:cNvPr id="14" name="Text 12"/>
          <p:cNvSpPr/>
          <p:nvPr/>
        </p:nvSpPr>
        <p:spPr>
          <a:xfrm>
            <a:off x="1845469" y="4344829"/>
            <a:ext cx="2348627" cy="896779"/>
          </a:xfrm>
          <a:prstGeom prst="rect">
            <a:avLst/>
          </a:prstGeom>
          <a:noFill/>
          <a:ln/>
        </p:spPr>
        <p:txBody>
          <a:bodyPr wrap="squar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Management and Organizational Behavior Teaching Society (MOBTS)</a:t>
            </a:r>
            <a:endParaRPr lang="en-US" sz="1400" dirty="0"/>
          </a:p>
        </p:txBody>
      </p:sp>
      <p:sp>
        <p:nvSpPr>
          <p:cNvPr id="15" name="Shape 13"/>
          <p:cNvSpPr/>
          <p:nvPr/>
        </p:nvSpPr>
        <p:spPr>
          <a:xfrm>
            <a:off x="4449008" y="4193738"/>
            <a:ext cx="2650927" cy="1198959"/>
          </a:xfrm>
          <a:prstGeom prst="roundRect">
            <a:avLst>
              <a:gd name="adj" fmla="val 5029"/>
            </a:avLst>
          </a:prstGeom>
          <a:solidFill>
            <a:srgbClr val="DADBF1"/>
          </a:solidFill>
          <a:ln w="7620">
            <a:solidFill>
              <a:srgbClr val="C0C1D7"/>
            </a:solidFill>
            <a:prstDash val="solid"/>
          </a:ln>
        </p:spPr>
        <p:txBody>
          <a:bodyPr/>
          <a:lstStyle/>
          <a:p>
            <a:endParaRPr lang="en-AU"/>
          </a:p>
        </p:txBody>
      </p:sp>
      <p:sp>
        <p:nvSpPr>
          <p:cNvPr id="16" name="Text 14"/>
          <p:cNvSpPr/>
          <p:nvPr/>
        </p:nvSpPr>
        <p:spPr>
          <a:xfrm>
            <a:off x="4600099" y="4344829"/>
            <a:ext cx="2348746" cy="672584"/>
          </a:xfrm>
          <a:prstGeom prst="rect">
            <a:avLst/>
          </a:prstGeom>
          <a:noFill/>
          <a:ln/>
        </p:spPr>
        <p:txBody>
          <a:bodyPr wrap="squar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Low-Risk Human Resources Ethics Committee (LRHREC)</a:t>
            </a:r>
            <a:endParaRPr lang="en-US" sz="1400" dirty="0"/>
          </a:p>
        </p:txBody>
      </p:sp>
      <p:sp>
        <p:nvSpPr>
          <p:cNvPr id="17" name="Text 15"/>
          <p:cNvSpPr/>
          <p:nvPr/>
        </p:nvSpPr>
        <p:spPr>
          <a:xfrm>
            <a:off x="7497842" y="1695569"/>
            <a:ext cx="2313980" cy="224195"/>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Non-Academic Affiliations</a:t>
            </a:r>
            <a:endParaRPr lang="en-US" sz="1400" dirty="0"/>
          </a:p>
        </p:txBody>
      </p:sp>
      <p:sp>
        <p:nvSpPr>
          <p:cNvPr id="18" name="Shape 16"/>
          <p:cNvSpPr/>
          <p:nvPr/>
        </p:nvSpPr>
        <p:spPr>
          <a:xfrm>
            <a:off x="7497842" y="2036564"/>
            <a:ext cx="2690812" cy="990005"/>
          </a:xfrm>
          <a:prstGeom prst="roundRect">
            <a:avLst>
              <a:gd name="adj" fmla="val 6091"/>
            </a:avLst>
          </a:prstGeom>
          <a:solidFill>
            <a:srgbClr val="FFFFFF"/>
          </a:solidFill>
          <a:ln w="15240">
            <a:solidFill>
              <a:srgbClr val="C0C1D7"/>
            </a:solidFill>
            <a:prstDash val="solid"/>
          </a:ln>
        </p:spPr>
        <p:txBody>
          <a:bodyPr/>
          <a:lstStyle/>
          <a:p>
            <a:endParaRPr lang="en-AU"/>
          </a:p>
        </p:txBody>
      </p:sp>
      <p:sp>
        <p:nvSpPr>
          <p:cNvPr id="19" name="Text 17"/>
          <p:cNvSpPr/>
          <p:nvPr/>
        </p:nvSpPr>
        <p:spPr>
          <a:xfrm>
            <a:off x="7656552" y="2195274"/>
            <a:ext cx="2373392" cy="672584"/>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South Australian State Emergency Services (SASES)</a:t>
            </a:r>
            <a:endParaRPr lang="en-US" sz="1400" dirty="0"/>
          </a:p>
        </p:txBody>
      </p:sp>
      <p:sp>
        <p:nvSpPr>
          <p:cNvPr id="20" name="Shape 18"/>
          <p:cNvSpPr/>
          <p:nvPr/>
        </p:nvSpPr>
        <p:spPr>
          <a:xfrm>
            <a:off x="10292477" y="2036564"/>
            <a:ext cx="2690932" cy="990005"/>
          </a:xfrm>
          <a:prstGeom prst="roundRect">
            <a:avLst>
              <a:gd name="adj" fmla="val 6091"/>
            </a:avLst>
          </a:prstGeom>
          <a:solidFill>
            <a:srgbClr val="FFFFFF"/>
          </a:solidFill>
          <a:ln w="15240">
            <a:solidFill>
              <a:srgbClr val="C0C1D7"/>
            </a:solidFill>
            <a:prstDash val="solid"/>
          </a:ln>
        </p:spPr>
        <p:txBody>
          <a:bodyPr/>
          <a:lstStyle/>
          <a:p>
            <a:endParaRPr lang="en-AU"/>
          </a:p>
        </p:txBody>
      </p:sp>
      <p:sp>
        <p:nvSpPr>
          <p:cNvPr id="21" name="Text 19"/>
          <p:cNvSpPr/>
          <p:nvPr/>
        </p:nvSpPr>
        <p:spPr>
          <a:xfrm>
            <a:off x="10451187" y="2195274"/>
            <a:ext cx="2373511" cy="448389"/>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South Australian Cricket Association (SACA)</a:t>
            </a:r>
            <a:endParaRPr lang="en-US" sz="1400" dirty="0"/>
          </a:p>
        </p:txBody>
      </p:sp>
      <p:sp>
        <p:nvSpPr>
          <p:cNvPr id="22" name="Shape 20"/>
          <p:cNvSpPr/>
          <p:nvPr/>
        </p:nvSpPr>
        <p:spPr>
          <a:xfrm>
            <a:off x="7497842" y="3130391"/>
            <a:ext cx="2690812" cy="990005"/>
          </a:xfrm>
          <a:prstGeom prst="roundRect">
            <a:avLst>
              <a:gd name="adj" fmla="val 6091"/>
            </a:avLst>
          </a:prstGeom>
          <a:solidFill>
            <a:srgbClr val="FFFFFF"/>
          </a:solidFill>
          <a:ln w="15240">
            <a:solidFill>
              <a:srgbClr val="C0C1D7"/>
            </a:solidFill>
            <a:prstDash val="solid"/>
          </a:ln>
        </p:spPr>
        <p:txBody>
          <a:bodyPr/>
          <a:lstStyle/>
          <a:p>
            <a:endParaRPr lang="en-AU"/>
          </a:p>
        </p:txBody>
      </p:sp>
      <p:sp>
        <p:nvSpPr>
          <p:cNvPr id="23" name="Text 21"/>
          <p:cNvSpPr/>
          <p:nvPr/>
        </p:nvSpPr>
        <p:spPr>
          <a:xfrm>
            <a:off x="7656552" y="3289102"/>
            <a:ext cx="2373392" cy="448389"/>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Director &amp; Board Member of Dream Cricket Australia</a:t>
            </a:r>
            <a:endParaRPr lang="en-US" sz="1400" dirty="0"/>
          </a:p>
        </p:txBody>
      </p:sp>
      <p:sp>
        <p:nvSpPr>
          <p:cNvPr id="24" name="Shape 22"/>
          <p:cNvSpPr/>
          <p:nvPr/>
        </p:nvSpPr>
        <p:spPr>
          <a:xfrm>
            <a:off x="10292477" y="3130391"/>
            <a:ext cx="2690932" cy="990005"/>
          </a:xfrm>
          <a:prstGeom prst="roundRect">
            <a:avLst>
              <a:gd name="adj" fmla="val 6091"/>
            </a:avLst>
          </a:prstGeom>
          <a:solidFill>
            <a:srgbClr val="FFFFFF"/>
          </a:solidFill>
          <a:ln w="15240">
            <a:solidFill>
              <a:srgbClr val="C0C1D7"/>
            </a:solidFill>
            <a:prstDash val="solid"/>
          </a:ln>
        </p:spPr>
        <p:txBody>
          <a:bodyPr/>
          <a:lstStyle/>
          <a:p>
            <a:endParaRPr lang="en-AU"/>
          </a:p>
        </p:txBody>
      </p:sp>
      <p:sp>
        <p:nvSpPr>
          <p:cNvPr id="25" name="Text 23"/>
          <p:cNvSpPr/>
          <p:nvPr/>
        </p:nvSpPr>
        <p:spPr>
          <a:xfrm>
            <a:off x="10451187" y="3289102"/>
            <a:ext cx="2373511" cy="672584"/>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Founding Member of the Human Intelligence Movement</a:t>
            </a:r>
            <a:endParaRPr lang="en-US" sz="1400" dirty="0"/>
          </a:p>
        </p:txBody>
      </p:sp>
      <p:sp>
        <p:nvSpPr>
          <p:cNvPr id="26" name="Shape 24"/>
          <p:cNvSpPr/>
          <p:nvPr/>
        </p:nvSpPr>
        <p:spPr>
          <a:xfrm>
            <a:off x="7497842" y="4224218"/>
            <a:ext cx="2690812" cy="1214199"/>
          </a:xfrm>
          <a:prstGeom prst="roundRect">
            <a:avLst>
              <a:gd name="adj" fmla="val 4966"/>
            </a:avLst>
          </a:prstGeom>
          <a:solidFill>
            <a:srgbClr val="FFFFFF"/>
          </a:solidFill>
          <a:ln w="15240">
            <a:solidFill>
              <a:srgbClr val="C0C1D7"/>
            </a:solidFill>
            <a:prstDash val="solid"/>
          </a:ln>
        </p:spPr>
        <p:txBody>
          <a:bodyPr/>
          <a:lstStyle/>
          <a:p>
            <a:endParaRPr lang="en-AU"/>
          </a:p>
        </p:txBody>
      </p:sp>
      <p:sp>
        <p:nvSpPr>
          <p:cNvPr id="27" name="Text 25"/>
          <p:cNvSpPr/>
          <p:nvPr/>
        </p:nvSpPr>
        <p:spPr>
          <a:xfrm>
            <a:off x="7656552" y="4382929"/>
            <a:ext cx="2373392" cy="896779"/>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In-coming Secretary (2025–2026) of The Rotary Club of Adelaide, Australia</a:t>
            </a:r>
            <a:endParaRPr lang="en-US" sz="1400" dirty="0"/>
          </a:p>
        </p:txBody>
      </p:sp>
      <p:sp>
        <p:nvSpPr>
          <p:cNvPr id="28" name="Shape 26"/>
          <p:cNvSpPr/>
          <p:nvPr/>
        </p:nvSpPr>
        <p:spPr>
          <a:xfrm>
            <a:off x="10292477" y="4224218"/>
            <a:ext cx="2690932" cy="1214199"/>
          </a:xfrm>
          <a:prstGeom prst="roundRect">
            <a:avLst>
              <a:gd name="adj" fmla="val 4966"/>
            </a:avLst>
          </a:prstGeom>
          <a:solidFill>
            <a:srgbClr val="FFFFFF"/>
          </a:solidFill>
          <a:ln w="15240">
            <a:solidFill>
              <a:srgbClr val="C0C1D7"/>
            </a:solidFill>
            <a:prstDash val="solid"/>
          </a:ln>
        </p:spPr>
        <p:txBody>
          <a:bodyPr/>
          <a:lstStyle/>
          <a:p>
            <a:endParaRPr lang="en-AU"/>
          </a:p>
        </p:txBody>
      </p:sp>
      <p:sp>
        <p:nvSpPr>
          <p:cNvPr id="29" name="Text 27"/>
          <p:cNvSpPr/>
          <p:nvPr/>
        </p:nvSpPr>
        <p:spPr>
          <a:xfrm>
            <a:off x="10451187" y="4382929"/>
            <a:ext cx="2373511" cy="448389"/>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Vice President at the Friends of the Library</a:t>
            </a:r>
            <a:endParaRPr lang="en-US" sz="1400" dirty="0"/>
          </a:p>
        </p:txBody>
      </p:sp>
      <p:sp>
        <p:nvSpPr>
          <p:cNvPr id="30" name="Shape 28"/>
          <p:cNvSpPr/>
          <p:nvPr/>
        </p:nvSpPr>
        <p:spPr>
          <a:xfrm>
            <a:off x="7497842" y="5542240"/>
            <a:ext cx="5485567" cy="765810"/>
          </a:xfrm>
          <a:prstGeom prst="roundRect">
            <a:avLst>
              <a:gd name="adj" fmla="val 7874"/>
            </a:avLst>
          </a:prstGeom>
          <a:solidFill>
            <a:srgbClr val="FFFFFF"/>
          </a:solidFill>
          <a:ln w="15240">
            <a:solidFill>
              <a:srgbClr val="C0C1D7"/>
            </a:solidFill>
            <a:prstDash val="solid"/>
          </a:ln>
        </p:spPr>
        <p:txBody>
          <a:bodyPr/>
          <a:lstStyle/>
          <a:p>
            <a:endParaRPr lang="en-AU"/>
          </a:p>
        </p:txBody>
      </p:sp>
      <p:sp>
        <p:nvSpPr>
          <p:cNvPr id="31" name="Text 29"/>
          <p:cNvSpPr/>
          <p:nvPr/>
        </p:nvSpPr>
        <p:spPr>
          <a:xfrm>
            <a:off x="7656552" y="5700951"/>
            <a:ext cx="5168146" cy="448389"/>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Bold" pitchFamily="34" charset="0"/>
                <a:ea typeface="Inter Bold" pitchFamily="34" charset="-122"/>
                <a:cs typeface="Inter Bold" pitchFamily="34" charset="-120"/>
              </a:rPr>
              <a:t>Lifetime Member of the Golden Key Honour Society, recognising only the top 15% of students in the world.</a:t>
            </a:r>
            <a:endParaRPr lang="en-US" sz="1400" dirty="0"/>
          </a:p>
        </p:txBody>
      </p:sp>
      <p:sp>
        <p:nvSpPr>
          <p:cNvPr id="32" name="Shape 30"/>
          <p:cNvSpPr/>
          <p:nvPr/>
        </p:nvSpPr>
        <p:spPr>
          <a:xfrm>
            <a:off x="1654373" y="6541651"/>
            <a:ext cx="11321534" cy="700564"/>
          </a:xfrm>
          <a:prstGeom prst="roundRect">
            <a:avLst>
              <a:gd name="adj" fmla="val 8607"/>
            </a:avLst>
          </a:prstGeom>
          <a:solidFill>
            <a:srgbClr val="C7C9EA"/>
          </a:solidFill>
          <a:ln/>
        </p:spPr>
        <p:txBody>
          <a:bodyPr/>
          <a:lstStyle/>
          <a:p>
            <a:endParaRPr lang="en-AU"/>
          </a:p>
        </p:txBody>
      </p:sp>
      <p:pic>
        <p:nvPicPr>
          <p:cNvPr id="33" name="Image 0" descr="preencoded.png"/>
          <p:cNvPicPr>
            <a:picLocks noChangeAspect="1"/>
          </p:cNvPicPr>
          <p:nvPr/>
        </p:nvPicPr>
        <p:blipFill>
          <a:blip r:embed="rId3"/>
          <a:stretch>
            <a:fillRect/>
          </a:stretch>
        </p:blipFill>
        <p:spPr>
          <a:xfrm>
            <a:off x="1797844" y="6740128"/>
            <a:ext cx="179427" cy="143470"/>
          </a:xfrm>
          <a:prstGeom prst="rect">
            <a:avLst/>
          </a:prstGeom>
        </p:spPr>
      </p:pic>
      <p:sp>
        <p:nvSpPr>
          <p:cNvPr id="34" name="Text 31"/>
          <p:cNvSpPr/>
          <p:nvPr/>
        </p:nvSpPr>
        <p:spPr>
          <a:xfrm>
            <a:off x="2120741" y="6681311"/>
            <a:ext cx="10711696" cy="395764"/>
          </a:xfrm>
          <a:prstGeom prst="rect">
            <a:avLst/>
          </a:prstGeom>
          <a:noFill/>
          <a:ln/>
        </p:spPr>
        <p:txBody>
          <a:bodyPr wrap="square" lIns="0" tIns="0" rIns="0" bIns="0" rtlCol="0" anchor="t"/>
          <a:lstStyle/>
          <a:p>
            <a:pPr marL="0" indent="0" algn="l">
              <a:lnSpc>
                <a:spcPts val="1550"/>
              </a:lnSpc>
              <a:buNone/>
            </a:pPr>
            <a:r>
              <a:rPr lang="en-US" sz="1100" b="1" dirty="0">
                <a:solidFill>
                  <a:srgbClr val="000000"/>
                </a:solidFill>
                <a:latin typeface="Inter" pitchFamily="34" charset="0"/>
                <a:ea typeface="Inter" pitchFamily="34" charset="-122"/>
                <a:cs typeface="Inter" pitchFamily="34" charset="-120"/>
              </a:rPr>
              <a:t>Breaking Mental Models</a:t>
            </a:r>
            <a:r>
              <a:rPr lang="en-US" sz="1100" dirty="0">
                <a:solidFill>
                  <a:srgbClr val="000000"/>
                </a:solidFill>
                <a:latin typeface="Inter" pitchFamily="34" charset="0"/>
                <a:ea typeface="Inter" pitchFamily="34" charset="-122"/>
                <a:cs typeface="Inter" pitchFamily="34" charset="-120"/>
              </a:rPr>
              <a:t> — Dr. Ankit Agarwal's journey from a five-year-old dreaming of titles in India to a globally recognised educator, researcher, and community leader is a testament to the power of resilience, curiosity, and the belief that every challenge presents an opportunity for growth.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8475</Words>
  <Application>Microsoft Office PowerPoint</Application>
  <PresentationFormat>Custom</PresentationFormat>
  <Paragraphs>425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Inter Light</vt:lpstr>
      <vt:lpstr>Inter Bold</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Ankit Agarwal</dc:creator>
  <cp:lastModifiedBy>Ankit Agarwal</cp:lastModifiedBy>
  <cp:revision>1</cp:revision>
  <dcterms:created xsi:type="dcterms:W3CDTF">2026-04-06T05:53:13Z</dcterms:created>
  <dcterms:modified xsi:type="dcterms:W3CDTF">2026-04-06T05:53:44Z</dcterms:modified>
</cp:coreProperties>
</file>