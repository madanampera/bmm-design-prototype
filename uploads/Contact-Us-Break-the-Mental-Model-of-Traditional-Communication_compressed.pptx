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5.svg" ContentType="image/svg+xml"/>
  <Override PartName="/ppt/media/image68.svg" ContentType="image/svg+xml"/>
  <Override PartName="/ppt/media/image70.svg" ContentType="image/svg+xml"/>
  <Override PartName="/ppt/media/image7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Open Sans" panose="020B0606030504020204" pitchFamily="34" charset="0"/>
      <p:regular r:id="rId13"/>
      <p:bold r:id="rId14"/>
      <p: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121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txBody>
          <a:bodyPr/>
          <a:lstStyle/>
          <a:p>
            <a:endParaRPr lang="en-AU"/>
          </a:p>
        </p:txBody>
      </p:sp>
      <p:sp>
        <p:nvSpPr>
          <p:cNvPr id="3" name="Shape 1"/>
          <p:cNvSpPr/>
          <p:nvPr/>
        </p:nvSpPr>
        <p:spPr>
          <a:xfrm>
            <a:off x="0" y="0"/>
            <a:ext cx="14630400" cy="8229600"/>
          </a:xfrm>
          <a:prstGeom prst="rect">
            <a:avLst/>
          </a:prstGeom>
          <a:solidFill>
            <a:srgbClr val="FFFCFA"/>
          </a:solidFill>
          <a:ln/>
        </p:spPr>
        <p:txBody>
          <a:bodyPr/>
          <a:lstStyle/>
          <a:p>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 Id="rId10" Type="http://schemas.openxmlformats.org/officeDocument/2006/relationships/image" Target="../media/image9.png"/><Relationship Id="rId11"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mailto:breakingmentalmodels@gmail.com" TargetMode="External"/><Relationship Id="rId4" Type="http://schemas.openxmlformats.org/officeDocument/2006/relationships/hyperlink" Target="tel:+442079460958" TargetMode="External"/><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15.svg"/><Relationship Id="rId7" Type="http://schemas.openxmlformats.org/officeDocument/2006/relationships/image" Target="../media/image16.png"/><Relationship Id="rId8" Type="http://schemas.openxmlformats.org/officeDocument/2006/relationships/image" Target="../media/image17.svg"/><Relationship Id="rId9" Type="http://schemas.openxmlformats.org/officeDocument/2006/relationships/image" Target="../media/image18.png"/><Relationship Id="rId10" Type="http://schemas.openxmlformats.org/officeDocument/2006/relationships/image" Target="../media/image19.svg"/><Relationship Id="rId11" Type="http://schemas.openxmlformats.org/officeDocument/2006/relationships/image" Target="../media/image20.png"/><Relationship Id="rId12" Type="http://schemas.openxmlformats.org/officeDocument/2006/relationships/image" Target="../media/image21.svg"/><Relationship Id="rId13" Type="http://schemas.openxmlformats.org/officeDocument/2006/relationships/image" Target="../media/image22.png"/><Relationship Id="rId14" Type="http://schemas.openxmlformats.org/officeDocument/2006/relationships/image" Target="../media/image23.svg"/><Relationship Id="rId15" Type="http://schemas.openxmlformats.org/officeDocument/2006/relationships/image" Target="../media/image24.png"/><Relationship Id="rId16" Type="http://schemas.openxmlformats.org/officeDocument/2006/relationships/image" Target="../media/image25.svg"/><Relationship Id="rId17" Type="http://schemas.openxmlformats.org/officeDocument/2006/relationships/image" Target="../media/image26.png"/><Relationship Id="rId18" Type="http://schemas.openxmlformats.org/officeDocument/2006/relationships/image" Target="../media/image27.svg"/><Relationship Id="rId19" Type="http://schemas.openxmlformats.org/officeDocument/2006/relationships/image" Target="../media/image28.png"/><Relationship Id="rId20" Type="http://schemas.openxmlformats.org/officeDocument/2006/relationships/image" Target="../media/image29.svg"/><Relationship Id="rId21" Type="http://schemas.openxmlformats.org/officeDocument/2006/relationships/image" Target="../media/image30.png"/><Relationship Id="rId22" Type="http://schemas.openxmlformats.org/officeDocument/2006/relationships/image" Target="../media/image31.svg"/><Relationship Id="rId23" Type="http://schemas.openxmlformats.org/officeDocument/2006/relationships/image" Target="../media/image32.png"/><Relationship Id="rId24" Type="http://schemas.openxmlformats.org/officeDocument/2006/relationships/image" Target="../media/image33.svg"/><Relationship Id="rId25" Type="http://schemas.openxmlformats.org/officeDocument/2006/relationships/image" Target="../media/image34.png"/><Relationship Id="rId26" Type="http://schemas.openxmlformats.org/officeDocument/2006/relationships/image" Target="../media/image35.svg"/><Relationship Id="rId27" Type="http://schemas.openxmlformats.org/officeDocument/2006/relationships/image" Target="../media/image36.png"/><Relationship Id="rId28" Type="http://schemas.openxmlformats.org/officeDocument/2006/relationships/image" Target="../media/image37.svg"/><Relationship Id="rId29" Type="http://schemas.openxmlformats.org/officeDocument/2006/relationships/image" Target="../media/image38.png"/><Relationship Id="rId30" Type="http://schemas.openxmlformats.org/officeDocument/2006/relationships/image" Target="../media/image39.svg"/><Relationship Id="rId31" Type="http://schemas.openxmlformats.org/officeDocument/2006/relationships/image" Target="../media/image40.png"/><Relationship Id="rId32" Type="http://schemas.openxmlformats.org/officeDocument/2006/relationships/image" Target="../media/image41.svg"/><Relationship Id="rId33" Type="http://schemas.openxmlformats.org/officeDocument/2006/relationships/image" Target="../media/image42.png"/><Relationship Id="rId34" Type="http://schemas.openxmlformats.org/officeDocument/2006/relationships/image" Target="../media/image43.svg"/><Relationship Id="rId35" Type="http://schemas.openxmlformats.org/officeDocument/2006/relationships/image" Target="../media/image44.png"/><Relationship Id="rId36" Type="http://schemas.openxmlformats.org/officeDocument/2006/relationships/image" Target="../media/image45.svg"/><Relationship Id="rId37" Type="http://schemas.openxmlformats.org/officeDocument/2006/relationships/image" Target="../media/image46.png"/><Relationship Id="rId38" Type="http://schemas.openxmlformats.org/officeDocument/2006/relationships/image" Target="../media/image47.svg"/><Relationship Id="rId39" Type="http://schemas.openxmlformats.org/officeDocument/2006/relationships/image" Target="../media/image48.png"/><Relationship Id="rId40" Type="http://schemas.openxmlformats.org/officeDocument/2006/relationships/image" Target="../media/image49.svg"/><Relationship Id="rId41" Type="http://schemas.openxmlformats.org/officeDocument/2006/relationships/image" Target="../media/image50.png"/><Relationship Id="rId42" Type="http://schemas.openxmlformats.org/officeDocument/2006/relationships/image" Target="../media/image5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2.png"/><Relationship Id="rId4" Type="http://schemas.openxmlformats.org/officeDocument/2006/relationships/image" Target="../media/image5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svg"/><Relationship Id="rId6" Type="http://schemas.openxmlformats.org/officeDocument/2006/relationships/image" Target="../media/image58.png"/><Relationship Id="rId7" Type="http://schemas.openxmlformats.org/officeDocument/2006/relationships/image" Target="../media/image59.svg"/><Relationship Id="rId8" Type="http://schemas.openxmlformats.org/officeDocument/2006/relationships/image" Target="../media/image60.png"/><Relationship Id="rId9" Type="http://schemas.openxmlformats.org/officeDocument/2006/relationships/image" Target="../media/image6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62.png"/><Relationship Id="rId4" Type="http://schemas.openxmlformats.org/officeDocument/2006/relationships/image" Target="../media/image63.svg"/><Relationship Id="rId5" Type="http://schemas.openxmlformats.org/officeDocument/2006/relationships/image" Target="../media/image64.png"/><Relationship Id="rId6" Type="http://schemas.openxmlformats.org/officeDocument/2006/relationships/image" Target="../media/image65.svg"/><Relationship Id="rId7" Type="http://schemas.openxmlformats.org/officeDocument/2006/relationships/image" Target="../media/image6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67.png"/><Relationship Id="rId4" Type="http://schemas.openxmlformats.org/officeDocument/2006/relationships/image" Target="../media/image68.svg"/><Relationship Id="rId5" Type="http://schemas.openxmlformats.org/officeDocument/2006/relationships/image" Target="../media/image69.png"/><Relationship Id="rId6" Type="http://schemas.openxmlformats.org/officeDocument/2006/relationships/image" Target="../media/image70.svg"/><Relationship Id="rId7" Type="http://schemas.openxmlformats.org/officeDocument/2006/relationships/image" Target="../media/image71.png"/><Relationship Id="rId8" Type="http://schemas.openxmlformats.org/officeDocument/2006/relationships/image" Target="../media/image7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mailto:hello@breakingmentalmodels.com" TargetMode="External"/><Relationship Id="rId4" Type="http://schemas.openxmlformats.org/officeDocument/2006/relationships/image" Target="../media/image73.png"/><Relationship Id="rId5"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261354"/>
            <a:ext cx="7556421" cy="1860233"/>
          </a:xfrm>
          <a:prstGeom prst="rect">
            <a:avLst/>
          </a:prstGeom>
          <a:noFill/>
          <a:ln/>
        </p:spPr>
        <p:txBody>
          <a:bodyPr wrap="squar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Contact Us: Break the Mental Model of Traditional Communication</a:t>
            </a:r>
            <a:endParaRPr lang="en-US" sz="3900" dirty="0"/>
          </a:p>
        </p:txBody>
      </p:sp>
      <p:sp>
        <p:nvSpPr>
          <p:cNvPr id="4" name="Text 1"/>
          <p:cNvSpPr/>
          <p:nvPr/>
        </p:nvSpPr>
        <p:spPr>
          <a:xfrm>
            <a:off x="6280190" y="4419243"/>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We believe reaching out should feel as inspired as the ideas you carry. This isn't your typical contact page — it's a creative connection hub designed to make every interaction effortless, meaningful, and human.</a:t>
            </a:r>
            <a:endParaRPr lang="en-US" sz="1550" dirty="0"/>
          </a:p>
        </p:txBody>
      </p:sp>
      <p:sp>
        <p:nvSpPr>
          <p:cNvPr id="5" name="Shape 2"/>
          <p:cNvSpPr/>
          <p:nvPr/>
        </p:nvSpPr>
        <p:spPr>
          <a:xfrm>
            <a:off x="6280190" y="5595104"/>
            <a:ext cx="2346484" cy="373142"/>
          </a:xfrm>
          <a:prstGeom prst="roundRect">
            <a:avLst>
              <a:gd name="adj" fmla="val 17872"/>
            </a:avLst>
          </a:prstGeom>
          <a:solidFill>
            <a:srgbClr val="EBE2E0"/>
          </a:solidFill>
          <a:ln/>
        </p:spPr>
        <p:txBody>
          <a:bodyPr/>
          <a:lstStyle/>
          <a:p>
            <a:endParaRPr lang="en-AU"/>
          </a:p>
        </p:txBody>
      </p:sp>
      <p:sp>
        <p:nvSpPr>
          <p:cNvPr id="6" name="Text 3"/>
          <p:cNvSpPr/>
          <p:nvPr/>
        </p:nvSpPr>
        <p:spPr>
          <a:xfrm>
            <a:off x="6399252" y="5654635"/>
            <a:ext cx="2108359" cy="254079"/>
          </a:xfrm>
          <a:prstGeom prst="rect">
            <a:avLst/>
          </a:prstGeom>
          <a:noFill/>
          <a:ln/>
        </p:spPr>
        <p:txBody>
          <a:bodyPr wrap="none" lIns="0" tIns="0" rIns="0" bIns="0" rtlCol="0" anchor="t"/>
          <a:lstStyle/>
          <a:p>
            <a:pPr marL="0" indent="0" algn="l">
              <a:lnSpc>
                <a:spcPts val="2000"/>
              </a:lnSpc>
              <a:buNone/>
            </a:pPr>
            <a:r>
              <a:rPr lang="en-US" sz="1250" dirty="0">
                <a:solidFill>
                  <a:srgbClr val="443728"/>
                </a:solidFill>
                <a:latin typeface="Open Sans" pitchFamily="34" charset="0"/>
                <a:ea typeface="Open Sans" pitchFamily="34" charset="-122"/>
                <a:cs typeface="Open Sans" pitchFamily="34" charset="-120"/>
              </a:rPr>
              <a:t>BREAKING MENTAL MODELS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51947" y="1231940"/>
            <a:ext cx="6358414" cy="441841"/>
          </a:xfrm>
          <a:prstGeom prst="rect">
            <a:avLst/>
          </a:prstGeom>
          <a:noFill/>
          <a:ln/>
        </p:spPr>
        <p:txBody>
          <a:bodyPr wrap="none" lIns="0" tIns="0" rIns="0" bIns="0" rtlCol="0" anchor="t"/>
          <a:lstStyle/>
          <a:p>
            <a:pPr marL="0" indent="0" algn="l">
              <a:lnSpc>
                <a:spcPts val="3450"/>
              </a:lnSpc>
              <a:buNone/>
            </a:pPr>
            <a:r>
              <a:rPr lang="en-US" sz="2750" b="1" dirty="0">
                <a:solidFill>
                  <a:srgbClr val="443728"/>
                </a:solidFill>
                <a:latin typeface="Crimson Pro Bold" pitchFamily="34" charset="0"/>
                <a:ea typeface="Crimson Pro Bold" pitchFamily="34" charset="-122"/>
                <a:cs typeface="Crimson Pro Bold" pitchFamily="34" charset="-120"/>
              </a:rPr>
              <a:t>Welcome to Your Creative Connection Hub</a:t>
            </a:r>
            <a:endParaRPr lang="en-US" sz="2750" dirty="0"/>
          </a:p>
        </p:txBody>
      </p:sp>
      <p:sp>
        <p:nvSpPr>
          <p:cNvPr id="4" name="Text 1"/>
          <p:cNvSpPr/>
          <p:nvPr/>
        </p:nvSpPr>
        <p:spPr>
          <a:xfrm>
            <a:off x="6051947" y="1824871"/>
            <a:ext cx="8012906" cy="387429"/>
          </a:xfrm>
          <a:prstGeom prst="rect">
            <a:avLst/>
          </a:prstGeom>
          <a:noFill/>
          <a:ln/>
        </p:spPr>
        <p:txBody>
          <a:bodyPr wrap="squar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This space is designed to break the mould of dull, static contact pages. Here, communication flows naturally — whether you want to send an email, hop on a call, or leave a piece of feedback that shapes the future of this platform.</a:t>
            </a:r>
            <a:endParaRPr lang="en-US" sz="1100" dirty="0"/>
          </a:p>
        </p:txBody>
      </p:sp>
      <p:sp>
        <p:nvSpPr>
          <p:cNvPr id="5" name="Text 2"/>
          <p:cNvSpPr/>
          <p:nvPr/>
        </p:nvSpPr>
        <p:spPr>
          <a:xfrm>
            <a:off x="6263997" y="2438757"/>
            <a:ext cx="7800856" cy="193715"/>
          </a:xfrm>
          <a:prstGeom prst="rect">
            <a:avLst/>
          </a:prstGeom>
          <a:noFill/>
          <a:ln/>
        </p:spPr>
        <p:txBody>
          <a:bodyPr wrap="none" lIns="0" tIns="0" rIns="0" bIns="0" rtlCol="0" anchor="t"/>
          <a:lstStyle/>
          <a:p>
            <a:pPr marL="0" indent="0" algn="l">
              <a:lnSpc>
                <a:spcPts val="1500"/>
              </a:lnSpc>
              <a:buNone/>
            </a:pPr>
            <a:r>
              <a:rPr lang="en-US" sz="1100" i="1" dirty="0">
                <a:solidFill>
                  <a:srgbClr val="443728"/>
                </a:solidFill>
                <a:latin typeface="Open Sans" pitchFamily="34" charset="0"/>
                <a:ea typeface="Open Sans" pitchFamily="34" charset="-122"/>
                <a:cs typeface="Open Sans" pitchFamily="34" charset="-120"/>
              </a:rPr>
              <a:t>"Your voice, our innovation — reach us effortlessly!"</a:t>
            </a:r>
            <a:endParaRPr lang="en-US" sz="1100" dirty="0"/>
          </a:p>
        </p:txBody>
      </p:sp>
      <p:sp>
        <p:nvSpPr>
          <p:cNvPr id="6" name="Shape 3"/>
          <p:cNvSpPr/>
          <p:nvPr/>
        </p:nvSpPr>
        <p:spPr>
          <a:xfrm>
            <a:off x="6051947" y="2325529"/>
            <a:ext cx="15240" cy="420172"/>
          </a:xfrm>
          <a:prstGeom prst="rect">
            <a:avLst/>
          </a:prstGeom>
          <a:solidFill>
            <a:srgbClr val="835E54"/>
          </a:solidFill>
          <a:ln/>
        </p:spPr>
        <p:txBody>
          <a:bodyPr/>
          <a:lstStyle/>
          <a:p>
            <a:endParaRPr lang="en-AU"/>
          </a:p>
        </p:txBody>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1947" y="2858929"/>
            <a:ext cx="282773" cy="282773"/>
          </a:xfrm>
          <a:prstGeom prst="rect">
            <a:avLst/>
          </a:prstGeom>
        </p:spPr>
      </p:pic>
      <p:sp>
        <p:nvSpPr>
          <p:cNvPr id="8" name="Text 4"/>
          <p:cNvSpPr/>
          <p:nvPr/>
        </p:nvSpPr>
        <p:spPr>
          <a:xfrm>
            <a:off x="6051947" y="3267551"/>
            <a:ext cx="1767364" cy="220861"/>
          </a:xfrm>
          <a:prstGeom prst="rect">
            <a:avLst/>
          </a:prstGeom>
          <a:noFill/>
          <a:ln/>
        </p:spPr>
        <p:txBody>
          <a:bodyPr wrap="none" lIns="0" tIns="0" rIns="0" bIns="0" rtlCol="0" anchor="t"/>
          <a:lstStyle/>
          <a:p>
            <a:pPr marL="0" indent="0" algn="l">
              <a:lnSpc>
                <a:spcPts val="1700"/>
              </a:lnSpc>
              <a:buNone/>
            </a:pPr>
            <a:r>
              <a:rPr lang="en-US" sz="1350" b="1" dirty="0">
                <a:solidFill>
                  <a:srgbClr val="443728"/>
                </a:solidFill>
                <a:latin typeface="Crimson Pro Bold" pitchFamily="34" charset="0"/>
                <a:ea typeface="Crimson Pro Bold" pitchFamily="34" charset="-122"/>
                <a:cs typeface="Crimson Pro Bold" pitchFamily="34" charset="-120"/>
              </a:rPr>
              <a:t>Email</a:t>
            </a:r>
            <a:endParaRPr lang="en-US" sz="1350" dirty="0"/>
          </a:p>
        </p:txBody>
      </p:sp>
      <p:sp>
        <p:nvSpPr>
          <p:cNvPr id="9" name="Text 5"/>
          <p:cNvSpPr/>
          <p:nvPr/>
        </p:nvSpPr>
        <p:spPr>
          <a:xfrm>
            <a:off x="6051947" y="3548777"/>
            <a:ext cx="8012906" cy="193715"/>
          </a:xfrm>
          <a:prstGeom prst="rect">
            <a:avLst/>
          </a:prstGeom>
          <a:noFill/>
          <a:ln/>
        </p:spPr>
        <p:txBody>
          <a:bodyPr wrap="non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Thoughtful, detailed messages — answered with care within 24 hours.</a:t>
            </a:r>
            <a:endParaRPr lang="en-US" sz="1100" dirty="0"/>
          </a:p>
        </p:txBody>
      </p:sp>
      <p:pic>
        <p:nvPicPr>
          <p:cNvPr id="10"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51947" y="3943945"/>
            <a:ext cx="282773" cy="282773"/>
          </a:xfrm>
          <a:prstGeom prst="rect">
            <a:avLst/>
          </a:prstGeom>
        </p:spPr>
      </p:pic>
      <p:sp>
        <p:nvSpPr>
          <p:cNvPr id="11" name="Text 6"/>
          <p:cNvSpPr/>
          <p:nvPr/>
        </p:nvSpPr>
        <p:spPr>
          <a:xfrm>
            <a:off x="6051947" y="4352568"/>
            <a:ext cx="1767364" cy="220861"/>
          </a:xfrm>
          <a:prstGeom prst="rect">
            <a:avLst/>
          </a:prstGeom>
          <a:noFill/>
          <a:ln/>
        </p:spPr>
        <p:txBody>
          <a:bodyPr wrap="none" lIns="0" tIns="0" rIns="0" bIns="0" rtlCol="0" anchor="t"/>
          <a:lstStyle/>
          <a:p>
            <a:pPr marL="0" indent="0" algn="l">
              <a:lnSpc>
                <a:spcPts val="1700"/>
              </a:lnSpc>
              <a:buNone/>
            </a:pPr>
            <a:r>
              <a:rPr lang="en-US" sz="1350" b="1" dirty="0">
                <a:solidFill>
                  <a:srgbClr val="443728"/>
                </a:solidFill>
                <a:latin typeface="Crimson Pro Bold" pitchFamily="34" charset="0"/>
                <a:ea typeface="Crimson Pro Bold" pitchFamily="34" charset="-122"/>
                <a:cs typeface="Crimson Pro Bold" pitchFamily="34" charset="-120"/>
              </a:rPr>
              <a:t>Phone</a:t>
            </a:r>
            <a:endParaRPr lang="en-US" sz="1350" dirty="0"/>
          </a:p>
        </p:txBody>
      </p:sp>
      <p:sp>
        <p:nvSpPr>
          <p:cNvPr id="12" name="Text 7"/>
          <p:cNvSpPr/>
          <p:nvPr/>
        </p:nvSpPr>
        <p:spPr>
          <a:xfrm>
            <a:off x="6051947" y="4633793"/>
            <a:ext cx="8012906" cy="193715"/>
          </a:xfrm>
          <a:prstGeom prst="rect">
            <a:avLst/>
          </a:prstGeom>
          <a:noFill/>
          <a:ln/>
        </p:spPr>
        <p:txBody>
          <a:bodyPr wrap="non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Prefer a real conversation? Book a callback at a time that suits you.</a:t>
            </a:r>
            <a:endParaRPr lang="en-US" sz="1100" dirty="0"/>
          </a:p>
        </p:txBody>
      </p:sp>
      <p:pic>
        <p:nvPicPr>
          <p:cNvPr id="13"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51947" y="5028962"/>
            <a:ext cx="282773" cy="282773"/>
          </a:xfrm>
          <a:prstGeom prst="rect">
            <a:avLst/>
          </a:prstGeom>
        </p:spPr>
      </p:pic>
      <p:sp>
        <p:nvSpPr>
          <p:cNvPr id="14" name="Text 8"/>
          <p:cNvSpPr/>
          <p:nvPr/>
        </p:nvSpPr>
        <p:spPr>
          <a:xfrm>
            <a:off x="6051947" y="5437584"/>
            <a:ext cx="1767364" cy="220861"/>
          </a:xfrm>
          <a:prstGeom prst="rect">
            <a:avLst/>
          </a:prstGeom>
          <a:noFill/>
          <a:ln/>
        </p:spPr>
        <p:txBody>
          <a:bodyPr wrap="none" lIns="0" tIns="0" rIns="0" bIns="0" rtlCol="0" anchor="t"/>
          <a:lstStyle/>
          <a:p>
            <a:pPr marL="0" indent="0" algn="l">
              <a:lnSpc>
                <a:spcPts val="1700"/>
              </a:lnSpc>
              <a:buNone/>
            </a:pPr>
            <a:r>
              <a:rPr lang="en-US" sz="1350" b="1" dirty="0">
                <a:solidFill>
                  <a:srgbClr val="443728"/>
                </a:solidFill>
                <a:latin typeface="Crimson Pro Bold" pitchFamily="34" charset="0"/>
                <a:ea typeface="Crimson Pro Bold" pitchFamily="34" charset="-122"/>
                <a:cs typeface="Crimson Pro Bold" pitchFamily="34" charset="-120"/>
              </a:rPr>
              <a:t>Live Chat</a:t>
            </a:r>
            <a:endParaRPr lang="en-US" sz="1350" dirty="0"/>
          </a:p>
        </p:txBody>
      </p:sp>
      <p:sp>
        <p:nvSpPr>
          <p:cNvPr id="15" name="Text 9"/>
          <p:cNvSpPr/>
          <p:nvPr/>
        </p:nvSpPr>
        <p:spPr>
          <a:xfrm>
            <a:off x="6051947" y="5718810"/>
            <a:ext cx="8012906" cy="193715"/>
          </a:xfrm>
          <a:prstGeom prst="rect">
            <a:avLst/>
          </a:prstGeom>
          <a:noFill/>
          <a:ln/>
        </p:spPr>
        <p:txBody>
          <a:bodyPr wrap="non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Instant messaging for quick questions and real-time support.</a:t>
            </a:r>
            <a:endParaRPr lang="en-US" sz="1100" dirty="0"/>
          </a:p>
        </p:txBody>
      </p:sp>
      <p:pic>
        <p:nvPicPr>
          <p:cNvPr id="16"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51947" y="6113978"/>
            <a:ext cx="282773" cy="282773"/>
          </a:xfrm>
          <a:prstGeom prst="rect">
            <a:avLst/>
          </a:prstGeom>
        </p:spPr>
      </p:pic>
      <p:sp>
        <p:nvSpPr>
          <p:cNvPr id="17" name="Text 10"/>
          <p:cNvSpPr/>
          <p:nvPr/>
        </p:nvSpPr>
        <p:spPr>
          <a:xfrm>
            <a:off x="6051947" y="6522601"/>
            <a:ext cx="1767364" cy="220861"/>
          </a:xfrm>
          <a:prstGeom prst="rect">
            <a:avLst/>
          </a:prstGeom>
          <a:noFill/>
          <a:ln/>
        </p:spPr>
        <p:txBody>
          <a:bodyPr wrap="none" lIns="0" tIns="0" rIns="0" bIns="0" rtlCol="0" anchor="t"/>
          <a:lstStyle/>
          <a:p>
            <a:pPr marL="0" indent="0" algn="l">
              <a:lnSpc>
                <a:spcPts val="1700"/>
              </a:lnSpc>
              <a:buNone/>
            </a:pPr>
            <a:r>
              <a:rPr lang="en-US" sz="1350" b="1" dirty="0">
                <a:solidFill>
                  <a:srgbClr val="443728"/>
                </a:solidFill>
                <a:latin typeface="Crimson Pro Bold" pitchFamily="34" charset="0"/>
                <a:ea typeface="Crimson Pro Bold" pitchFamily="34" charset="-122"/>
                <a:cs typeface="Crimson Pro Bold" pitchFamily="34" charset="-120"/>
              </a:rPr>
              <a:t>Feedback</a:t>
            </a:r>
            <a:endParaRPr lang="en-US" sz="1350" dirty="0"/>
          </a:p>
        </p:txBody>
      </p:sp>
      <p:sp>
        <p:nvSpPr>
          <p:cNvPr id="18" name="Text 11"/>
          <p:cNvSpPr/>
          <p:nvPr/>
        </p:nvSpPr>
        <p:spPr>
          <a:xfrm>
            <a:off x="6051947" y="6803827"/>
            <a:ext cx="8012906" cy="193715"/>
          </a:xfrm>
          <a:prstGeom prst="rect">
            <a:avLst/>
          </a:prstGeom>
          <a:noFill/>
          <a:ln/>
        </p:spPr>
        <p:txBody>
          <a:bodyPr wrap="non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Share your thoughts and help us grow — every voice matters here.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402449" y="272891"/>
            <a:ext cx="2792849"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All-in-One Contact Details</a:t>
            </a:r>
            <a:endParaRPr lang="en-US" sz="1950" dirty="0"/>
          </a:p>
        </p:txBody>
      </p:sp>
      <p:sp>
        <p:nvSpPr>
          <p:cNvPr id="3" name="Text 1"/>
          <p:cNvSpPr/>
          <p:nvPr/>
        </p:nvSpPr>
        <p:spPr>
          <a:xfrm>
            <a:off x="3402449" y="682228"/>
            <a:ext cx="7825502"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Every detail you need to get in touch — all in one beautifully accessible place. Choose your preferred channel and connect with us in seconds.</a:t>
            </a:r>
            <a:endParaRPr lang="en-US" sz="750" dirty="0"/>
          </a:p>
        </p:txBody>
      </p:sp>
      <p:sp>
        <p:nvSpPr>
          <p:cNvPr id="4" name="Shape 2"/>
          <p:cNvSpPr/>
          <p:nvPr/>
        </p:nvSpPr>
        <p:spPr>
          <a:xfrm>
            <a:off x="3402449" y="856893"/>
            <a:ext cx="3887986" cy="926783"/>
          </a:xfrm>
          <a:prstGeom prst="roundRect">
            <a:avLst>
              <a:gd name="adj" fmla="val 7893"/>
            </a:avLst>
          </a:prstGeom>
          <a:solidFill>
            <a:srgbClr val="FFFCFA"/>
          </a:solidFill>
          <a:ln w="15240">
            <a:solidFill>
              <a:srgbClr val="D1C8C6"/>
            </a:solidFill>
            <a:prstDash val="solid"/>
          </a:ln>
        </p:spPr>
        <p:txBody>
          <a:bodyPr/>
          <a:lstStyle/>
          <a:p>
            <a:endParaRPr lang="en-AU"/>
          </a:p>
        </p:txBody>
      </p:sp>
      <p:sp>
        <p:nvSpPr>
          <p:cNvPr id="5" name="Shape 3"/>
          <p:cNvSpPr/>
          <p:nvPr/>
        </p:nvSpPr>
        <p:spPr>
          <a:xfrm>
            <a:off x="3387209" y="856893"/>
            <a:ext cx="60960" cy="926783"/>
          </a:xfrm>
          <a:prstGeom prst="roundRect">
            <a:avLst>
              <a:gd name="adj" fmla="val 68372"/>
            </a:avLst>
          </a:prstGeom>
          <a:solidFill>
            <a:srgbClr val="835E54"/>
          </a:solidFill>
          <a:ln/>
        </p:spPr>
        <p:txBody>
          <a:bodyPr/>
          <a:lstStyle/>
          <a:p>
            <a:endParaRPr lang="en-AU"/>
          </a:p>
        </p:txBody>
      </p:sp>
      <p:sp>
        <p:nvSpPr>
          <p:cNvPr id="6" name="Text 4"/>
          <p:cNvSpPr/>
          <p:nvPr/>
        </p:nvSpPr>
        <p:spPr>
          <a:xfrm>
            <a:off x="3562588" y="971312"/>
            <a:ext cx="1240393" cy="162639"/>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Crimson Pro Bold" pitchFamily="34" charset="0"/>
                <a:ea typeface="Crimson Pro Bold" pitchFamily="34" charset="-122"/>
                <a:cs typeface="Crimson Pro Bold" pitchFamily="34" charset="-120"/>
              </a:rPr>
              <a:t>📧</a:t>
            </a:r>
            <a:r>
              <a:rPr lang="en-US" sz="950" b="1" dirty="0">
                <a:solidFill>
                  <a:srgbClr val="443728"/>
                </a:solidFill>
                <a:latin typeface="Crimson Pro Bold" pitchFamily="34" charset="0"/>
                <a:ea typeface="Crimson Pro Bold" pitchFamily="34" charset="-122"/>
                <a:cs typeface="Crimson Pro Bold" pitchFamily="34" charset="-120"/>
              </a:rPr>
              <a:t> Email</a:t>
            </a:r>
            <a:endParaRPr lang="en-US" sz="950" dirty="0"/>
          </a:p>
        </p:txBody>
      </p:sp>
      <p:sp>
        <p:nvSpPr>
          <p:cNvPr id="7" name="Text 5"/>
          <p:cNvSpPr/>
          <p:nvPr/>
        </p:nvSpPr>
        <p:spPr>
          <a:xfrm>
            <a:off x="3562588" y="1163717"/>
            <a:ext cx="3613428" cy="118943"/>
          </a:xfrm>
          <a:prstGeom prst="rect">
            <a:avLst/>
          </a:prstGeom>
          <a:noFill/>
          <a:ln/>
        </p:spPr>
        <p:txBody>
          <a:bodyPr wrap="none" lIns="0" tIns="0" rIns="0" bIns="0" rtlCol="0" anchor="t"/>
          <a:lstStyle/>
          <a:p>
            <a:pPr marL="0" indent="0" algn="l">
              <a:lnSpc>
                <a:spcPts val="900"/>
              </a:lnSpc>
              <a:buNone/>
            </a:pPr>
            <a:r>
              <a:rPr lang="en-US" sz="750" u="sng" dirty="0">
                <a:solidFill>
                  <a:srgbClr val="835E54"/>
                </a:solidFill>
                <a:latin typeface="Open Sans" pitchFamily="34" charset="0"/>
                <a:ea typeface="Open Sans" pitchFamily="34" charset="-122"/>
                <a:cs typeface="Open Sans" pitchFamily="34" charset="-120"/>
                <a:hlinkClick r:id="rId3">
                  <a:extLst>
                    <a:ext uri="{A12FA001-AC4F-418D-AE19-62706E023703}">
                      <ahyp:hlinkClr xmlns:ahyp="http://schemas.microsoft.com/office/drawing/2018/hyperlinkcolor" val="tx"/>
                    </a:ext>
                  </a:extLst>
                </a:hlinkClick>
              </a:rPr>
              <a:t>breakingmentalmodels@gmail.com</a:t>
            </a:r>
            <a:r>
              <a:rPr lang="en-US" sz="750" dirty="0">
                <a:solidFill>
                  <a:srgbClr val="443728"/>
                </a:solidFill>
                <a:latin typeface="Open Sans" pitchFamily="34" charset="0"/>
                <a:ea typeface="Open Sans" pitchFamily="34" charset="-122"/>
                <a:cs typeface="Open Sans" pitchFamily="34" charset="-120"/>
              </a:rPr>
              <a:t> </a:t>
            </a:r>
            <a:endParaRPr lang="en-US" sz="750" dirty="0"/>
          </a:p>
        </p:txBody>
      </p:sp>
      <p:sp>
        <p:nvSpPr>
          <p:cNvPr id="8" name="Text 6"/>
          <p:cNvSpPr/>
          <p:nvPr/>
        </p:nvSpPr>
        <p:spPr>
          <a:xfrm>
            <a:off x="3562588" y="1312426"/>
            <a:ext cx="361342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We aim to respond to every enquiry within </a:t>
            </a:r>
            <a:r>
              <a:rPr lang="en-US" sz="750" b="1" dirty="0">
                <a:solidFill>
                  <a:srgbClr val="443728"/>
                </a:solidFill>
                <a:latin typeface="Open Sans" pitchFamily="34" charset="0"/>
                <a:ea typeface="Open Sans" pitchFamily="34" charset="-122"/>
                <a:cs typeface="Open Sans" pitchFamily="34" charset="-120"/>
              </a:rPr>
              <a:t>24 hours</a:t>
            </a:r>
            <a:r>
              <a:rPr lang="en-US" sz="750" dirty="0">
                <a:solidFill>
                  <a:srgbClr val="443728"/>
                </a:solidFill>
                <a:latin typeface="Open Sans" pitchFamily="34" charset="0"/>
                <a:ea typeface="Open Sans" pitchFamily="34" charset="-122"/>
                <a:cs typeface="Open Sans" pitchFamily="34" charset="-120"/>
              </a:rPr>
              <a:t>. Whether it's a question, a collaboration idea, or just a hello — we'd love to hear from you.</a:t>
            </a:r>
            <a:endParaRPr lang="en-US" sz="750" dirty="0"/>
          </a:p>
        </p:txBody>
      </p:sp>
      <p:sp>
        <p:nvSpPr>
          <p:cNvPr id="9" name="Shape 7"/>
          <p:cNvSpPr/>
          <p:nvPr/>
        </p:nvSpPr>
        <p:spPr>
          <a:xfrm>
            <a:off x="7339965" y="856893"/>
            <a:ext cx="3887986" cy="926783"/>
          </a:xfrm>
          <a:prstGeom prst="roundRect">
            <a:avLst>
              <a:gd name="adj" fmla="val 7893"/>
            </a:avLst>
          </a:prstGeom>
          <a:solidFill>
            <a:srgbClr val="FFFCFA"/>
          </a:solidFill>
          <a:ln w="15240">
            <a:solidFill>
              <a:srgbClr val="D1C8C6"/>
            </a:solidFill>
            <a:prstDash val="solid"/>
          </a:ln>
        </p:spPr>
        <p:txBody>
          <a:bodyPr/>
          <a:lstStyle/>
          <a:p>
            <a:endParaRPr lang="en-AU"/>
          </a:p>
        </p:txBody>
      </p:sp>
      <p:sp>
        <p:nvSpPr>
          <p:cNvPr id="10" name="Shape 8"/>
          <p:cNvSpPr/>
          <p:nvPr/>
        </p:nvSpPr>
        <p:spPr>
          <a:xfrm>
            <a:off x="7324725" y="856893"/>
            <a:ext cx="60960" cy="926783"/>
          </a:xfrm>
          <a:prstGeom prst="roundRect">
            <a:avLst>
              <a:gd name="adj" fmla="val 68372"/>
            </a:avLst>
          </a:prstGeom>
          <a:solidFill>
            <a:srgbClr val="835E54"/>
          </a:solidFill>
          <a:ln/>
        </p:spPr>
        <p:txBody>
          <a:bodyPr/>
          <a:lstStyle/>
          <a:p>
            <a:endParaRPr lang="en-AU"/>
          </a:p>
        </p:txBody>
      </p:sp>
      <p:sp>
        <p:nvSpPr>
          <p:cNvPr id="11" name="Text 9"/>
          <p:cNvSpPr/>
          <p:nvPr/>
        </p:nvSpPr>
        <p:spPr>
          <a:xfrm>
            <a:off x="7500104" y="971312"/>
            <a:ext cx="1240393" cy="162639"/>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Crimson Pro Bold" pitchFamily="34" charset="0"/>
                <a:ea typeface="Crimson Pro Bold" pitchFamily="34" charset="-122"/>
                <a:cs typeface="Crimson Pro Bold" pitchFamily="34" charset="-120"/>
              </a:rPr>
              <a:t>📞</a:t>
            </a:r>
            <a:r>
              <a:rPr lang="en-US" sz="950" b="1" dirty="0">
                <a:solidFill>
                  <a:srgbClr val="443728"/>
                </a:solidFill>
                <a:latin typeface="Crimson Pro Bold" pitchFamily="34" charset="0"/>
                <a:ea typeface="Crimson Pro Bold" pitchFamily="34" charset="-122"/>
                <a:cs typeface="Crimson Pro Bold" pitchFamily="34" charset="-120"/>
              </a:rPr>
              <a:t> Phone</a:t>
            </a:r>
            <a:endParaRPr lang="en-US" sz="950" dirty="0"/>
          </a:p>
        </p:txBody>
      </p:sp>
      <p:sp>
        <p:nvSpPr>
          <p:cNvPr id="12" name="Text 10"/>
          <p:cNvSpPr/>
          <p:nvPr/>
        </p:nvSpPr>
        <p:spPr>
          <a:xfrm>
            <a:off x="7500104" y="1163717"/>
            <a:ext cx="3613428" cy="118943"/>
          </a:xfrm>
          <a:prstGeom prst="rect">
            <a:avLst/>
          </a:prstGeom>
          <a:noFill/>
          <a:ln/>
        </p:spPr>
        <p:txBody>
          <a:bodyPr wrap="none" lIns="0" tIns="0" rIns="0" bIns="0" rtlCol="0" anchor="t"/>
          <a:lstStyle/>
          <a:p>
            <a:pPr marL="0" indent="0" algn="l">
              <a:lnSpc>
                <a:spcPts val="900"/>
              </a:lnSpc>
              <a:buNone/>
            </a:pPr>
            <a:r>
              <a:rPr lang="en-US" sz="750" b="1" u="sng" dirty="0">
                <a:solidFill>
                  <a:srgbClr val="835E54"/>
                </a:solidFill>
                <a:latin typeface="Open Sans" pitchFamily="34" charset="0"/>
                <a:ea typeface="Open Sans" pitchFamily="34" charset="-122"/>
                <a:cs typeface="Open Sans" pitchFamily="34" charset="-120"/>
                <a:hlinkClick r:id="rId4">
                  <a:extLst>
                    <a:ext uri="{A12FA001-AC4F-418D-AE19-62706E023703}">
                      <ahyp:hlinkClr xmlns:ahyp="http://schemas.microsoft.com/office/drawing/2018/hyperlinkcolor" val="tx"/>
                    </a:ext>
                  </a:extLst>
                </a:hlinkClick>
              </a:rPr>
              <a:t>+</a:t>
            </a:r>
            <a:r>
              <a:rPr lang="en-US" sz="750" b="1" dirty="0">
                <a:solidFill>
                  <a:srgbClr val="443728"/>
                </a:solidFill>
                <a:latin typeface="Open Sans" pitchFamily="34" charset="0"/>
                <a:ea typeface="Open Sans" pitchFamily="34" charset="-122"/>
                <a:cs typeface="Open Sans" pitchFamily="34" charset="-120"/>
              </a:rPr>
              <a:t>61 450 921 758</a:t>
            </a:r>
            <a:endParaRPr lang="en-US" sz="750" dirty="0"/>
          </a:p>
        </p:txBody>
      </p:sp>
      <p:sp>
        <p:nvSpPr>
          <p:cNvPr id="13" name="Text 11"/>
          <p:cNvSpPr/>
          <p:nvPr/>
        </p:nvSpPr>
        <p:spPr>
          <a:xfrm>
            <a:off x="7500104" y="1312426"/>
            <a:ext cx="3613428" cy="356830"/>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Tap to call directly on mobile. Available </a:t>
            </a:r>
            <a:r>
              <a:rPr lang="en-US" sz="750" b="1" dirty="0">
                <a:solidFill>
                  <a:srgbClr val="443728"/>
                </a:solidFill>
                <a:latin typeface="Open Sans" pitchFamily="34" charset="0"/>
                <a:ea typeface="Open Sans" pitchFamily="34" charset="-122"/>
                <a:cs typeface="Open Sans" pitchFamily="34" charset="-120"/>
              </a:rPr>
              <a:t>Monday–Friday, 5pm–10pm Adelaide, South Australia time</a:t>
            </a:r>
            <a:r>
              <a:rPr lang="en-US" sz="750" dirty="0">
                <a:solidFill>
                  <a:srgbClr val="443728"/>
                </a:solidFill>
                <a:latin typeface="Open Sans" pitchFamily="34" charset="0"/>
                <a:ea typeface="Open Sans" pitchFamily="34" charset="-122"/>
                <a:cs typeface="Open Sans" pitchFamily="34" charset="-120"/>
              </a:rPr>
              <a:t>. Leave a voicemail outside of hours and we'll call you back.</a:t>
            </a:r>
            <a:endParaRPr lang="en-US" sz="750" dirty="0"/>
          </a:p>
        </p:txBody>
      </p:sp>
      <p:sp>
        <p:nvSpPr>
          <p:cNvPr id="14" name="Shape 12"/>
          <p:cNvSpPr/>
          <p:nvPr/>
        </p:nvSpPr>
        <p:spPr>
          <a:xfrm>
            <a:off x="3402449" y="1833205"/>
            <a:ext cx="3887986" cy="807839"/>
          </a:xfrm>
          <a:prstGeom prst="roundRect">
            <a:avLst>
              <a:gd name="adj" fmla="val 9055"/>
            </a:avLst>
          </a:prstGeom>
          <a:solidFill>
            <a:srgbClr val="FFFCFA"/>
          </a:solidFill>
          <a:ln w="15240">
            <a:solidFill>
              <a:srgbClr val="D1C8C6"/>
            </a:solidFill>
            <a:prstDash val="solid"/>
          </a:ln>
        </p:spPr>
        <p:txBody>
          <a:bodyPr/>
          <a:lstStyle/>
          <a:p>
            <a:endParaRPr lang="en-AU"/>
          </a:p>
        </p:txBody>
      </p:sp>
      <p:sp>
        <p:nvSpPr>
          <p:cNvPr id="15" name="Shape 13"/>
          <p:cNvSpPr/>
          <p:nvPr/>
        </p:nvSpPr>
        <p:spPr>
          <a:xfrm>
            <a:off x="3387209" y="1833205"/>
            <a:ext cx="60960" cy="807839"/>
          </a:xfrm>
          <a:prstGeom prst="roundRect">
            <a:avLst>
              <a:gd name="adj" fmla="val 68372"/>
            </a:avLst>
          </a:prstGeom>
          <a:solidFill>
            <a:srgbClr val="835E54"/>
          </a:solidFill>
          <a:ln/>
        </p:spPr>
        <p:txBody>
          <a:bodyPr/>
          <a:lstStyle/>
          <a:p>
            <a:endParaRPr lang="en-AU"/>
          </a:p>
        </p:txBody>
      </p:sp>
      <p:sp>
        <p:nvSpPr>
          <p:cNvPr id="16" name="Text 14"/>
          <p:cNvSpPr/>
          <p:nvPr/>
        </p:nvSpPr>
        <p:spPr>
          <a:xfrm>
            <a:off x="3562588" y="1947624"/>
            <a:ext cx="1240393" cy="162639"/>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Crimson Pro Bold" pitchFamily="34" charset="0"/>
                <a:ea typeface="Crimson Pro Bold" pitchFamily="34" charset="-122"/>
                <a:cs typeface="Crimson Pro Bold" pitchFamily="34" charset="-120"/>
              </a:rPr>
              <a:t>💬</a:t>
            </a:r>
            <a:r>
              <a:rPr lang="en-US" sz="950" b="1" dirty="0">
                <a:solidFill>
                  <a:srgbClr val="443728"/>
                </a:solidFill>
                <a:latin typeface="Crimson Pro Bold" pitchFamily="34" charset="0"/>
                <a:ea typeface="Crimson Pro Bold" pitchFamily="34" charset="-122"/>
                <a:cs typeface="Crimson Pro Bold" pitchFamily="34" charset="-120"/>
              </a:rPr>
              <a:t> Live Chat</a:t>
            </a:r>
            <a:endParaRPr lang="en-US" sz="950" dirty="0"/>
          </a:p>
        </p:txBody>
      </p:sp>
      <p:sp>
        <p:nvSpPr>
          <p:cNvPr id="17" name="Text 15"/>
          <p:cNvSpPr/>
          <p:nvPr/>
        </p:nvSpPr>
        <p:spPr>
          <a:xfrm>
            <a:off x="3562588" y="2140029"/>
            <a:ext cx="361342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Click the chat bubble in the bottom-right corner of any page to launch our </a:t>
            </a:r>
            <a:r>
              <a:rPr lang="en-US" sz="750" b="1" dirty="0">
                <a:solidFill>
                  <a:srgbClr val="443728"/>
                </a:solidFill>
                <a:latin typeface="Open Sans" pitchFamily="34" charset="0"/>
                <a:ea typeface="Open Sans" pitchFamily="34" charset="-122"/>
                <a:cs typeface="Open Sans" pitchFamily="34" charset="-120"/>
              </a:rPr>
              <a:t>instant messaging widget</a:t>
            </a:r>
            <a:r>
              <a:rPr lang="en-US" sz="750" dirty="0">
                <a:solidFill>
                  <a:srgbClr val="443728"/>
                </a:solidFill>
                <a:latin typeface="Open Sans" pitchFamily="34" charset="0"/>
                <a:ea typeface="Open Sans" pitchFamily="34" charset="-122"/>
                <a:cs typeface="Open Sans" pitchFamily="34" charset="-120"/>
              </a:rPr>
              <a:t>. Quick answers, no waiting around.</a:t>
            </a:r>
            <a:endParaRPr lang="en-US" sz="750" dirty="0"/>
          </a:p>
        </p:txBody>
      </p:sp>
      <p:sp>
        <p:nvSpPr>
          <p:cNvPr id="18" name="Shape 16"/>
          <p:cNvSpPr/>
          <p:nvPr/>
        </p:nvSpPr>
        <p:spPr>
          <a:xfrm>
            <a:off x="7339965" y="1833205"/>
            <a:ext cx="3887986" cy="807839"/>
          </a:xfrm>
          <a:prstGeom prst="roundRect">
            <a:avLst>
              <a:gd name="adj" fmla="val 9055"/>
            </a:avLst>
          </a:prstGeom>
          <a:solidFill>
            <a:srgbClr val="FFFCFA"/>
          </a:solidFill>
          <a:ln w="15240">
            <a:solidFill>
              <a:srgbClr val="D1C8C6"/>
            </a:solidFill>
            <a:prstDash val="solid"/>
          </a:ln>
        </p:spPr>
        <p:txBody>
          <a:bodyPr/>
          <a:lstStyle/>
          <a:p>
            <a:endParaRPr lang="en-AU"/>
          </a:p>
        </p:txBody>
      </p:sp>
      <p:sp>
        <p:nvSpPr>
          <p:cNvPr id="19" name="Shape 17"/>
          <p:cNvSpPr/>
          <p:nvPr/>
        </p:nvSpPr>
        <p:spPr>
          <a:xfrm>
            <a:off x="7324725" y="1833205"/>
            <a:ext cx="60960" cy="807839"/>
          </a:xfrm>
          <a:prstGeom prst="roundRect">
            <a:avLst>
              <a:gd name="adj" fmla="val 68372"/>
            </a:avLst>
          </a:prstGeom>
          <a:solidFill>
            <a:srgbClr val="835E54"/>
          </a:solidFill>
          <a:ln/>
        </p:spPr>
        <p:txBody>
          <a:bodyPr/>
          <a:lstStyle/>
          <a:p>
            <a:endParaRPr lang="en-AU"/>
          </a:p>
        </p:txBody>
      </p:sp>
      <p:sp>
        <p:nvSpPr>
          <p:cNvPr id="20" name="Text 18"/>
          <p:cNvSpPr/>
          <p:nvPr/>
        </p:nvSpPr>
        <p:spPr>
          <a:xfrm>
            <a:off x="7500104" y="1947624"/>
            <a:ext cx="1240393" cy="162639"/>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Crimson Pro Bold" pitchFamily="34" charset="0"/>
                <a:ea typeface="Crimson Pro Bold" pitchFamily="34" charset="-122"/>
                <a:cs typeface="Crimson Pro Bold" pitchFamily="34" charset="-120"/>
              </a:rPr>
              <a:t>📍</a:t>
            </a:r>
            <a:r>
              <a:rPr lang="en-US" sz="950" b="1" dirty="0">
                <a:solidFill>
                  <a:srgbClr val="443728"/>
                </a:solidFill>
                <a:latin typeface="Crimson Pro Bold" pitchFamily="34" charset="0"/>
                <a:ea typeface="Crimson Pro Bold" pitchFamily="34" charset="-122"/>
                <a:cs typeface="Crimson Pro Bold" pitchFamily="34" charset="-120"/>
              </a:rPr>
              <a:t> Physical Address</a:t>
            </a:r>
            <a:endParaRPr lang="en-US" sz="950" dirty="0"/>
          </a:p>
        </p:txBody>
      </p:sp>
      <p:sp>
        <p:nvSpPr>
          <p:cNvPr id="21" name="Text 19"/>
          <p:cNvSpPr/>
          <p:nvPr/>
        </p:nvSpPr>
        <p:spPr>
          <a:xfrm>
            <a:off x="7500104" y="2140029"/>
            <a:ext cx="36134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Any Cafe of your preference in Adelaide, South Australia.</a:t>
            </a:r>
            <a:endParaRPr lang="en-US" sz="750" dirty="0"/>
          </a:p>
        </p:txBody>
      </p:sp>
      <p:sp>
        <p:nvSpPr>
          <p:cNvPr id="22" name="Text 20"/>
          <p:cNvSpPr/>
          <p:nvPr/>
        </p:nvSpPr>
        <p:spPr>
          <a:xfrm>
            <a:off x="7500104" y="2288738"/>
            <a:ext cx="361342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Drop us a letter or visit by appointment. We're nestled in the heart of Adelaide's creative quarter.</a:t>
            </a:r>
            <a:endParaRPr lang="en-US" sz="750" dirty="0"/>
          </a:p>
        </p:txBody>
      </p:sp>
      <p:sp>
        <p:nvSpPr>
          <p:cNvPr id="23" name="Text 21"/>
          <p:cNvSpPr/>
          <p:nvPr/>
        </p:nvSpPr>
        <p:spPr>
          <a:xfrm>
            <a:off x="3402449" y="2715458"/>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443728"/>
                </a:solidFill>
                <a:latin typeface="Crimson Pro Bold" pitchFamily="34" charset="0"/>
                <a:ea typeface="Crimson Pro Bold" pitchFamily="34" charset="-122"/>
                <a:cs typeface="Crimson Pro Bold" pitchFamily="34" charset="-120"/>
              </a:rPr>
              <a:t>Send Us a Message</a:t>
            </a:r>
            <a:endParaRPr lang="en-US" sz="1550" dirty="0"/>
          </a:p>
        </p:txBody>
      </p:sp>
      <p:sp>
        <p:nvSpPr>
          <p:cNvPr id="24" name="Text 22"/>
          <p:cNvSpPr/>
          <p:nvPr/>
        </p:nvSpPr>
        <p:spPr>
          <a:xfrm>
            <a:off x="3402449" y="3037880"/>
            <a:ext cx="7825502"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Tell us a little about yourself and what you need — we'll make sure your message reaches the right team.</a:t>
            </a:r>
            <a:endParaRPr lang="en-US" sz="750" dirty="0"/>
          </a:p>
        </p:txBody>
      </p:sp>
      <p:sp>
        <p:nvSpPr>
          <p:cNvPr id="25" name="Shape 23"/>
          <p:cNvSpPr/>
          <p:nvPr/>
        </p:nvSpPr>
        <p:spPr>
          <a:xfrm>
            <a:off x="3402449" y="3212544"/>
            <a:ext cx="3887986" cy="5055870"/>
          </a:xfrm>
          <a:prstGeom prst="roundRect">
            <a:avLst>
              <a:gd name="adj" fmla="val 1881"/>
            </a:avLst>
          </a:prstGeom>
          <a:solidFill>
            <a:srgbClr val="FFFCFA"/>
          </a:solidFill>
          <a:ln w="15240">
            <a:solidFill>
              <a:srgbClr val="D1C8C6"/>
            </a:solidFill>
            <a:prstDash val="solid"/>
          </a:ln>
        </p:spPr>
        <p:txBody>
          <a:bodyPr/>
          <a:lstStyle/>
          <a:p>
            <a:endParaRPr lang="en-AU"/>
          </a:p>
        </p:txBody>
      </p:sp>
      <p:sp>
        <p:nvSpPr>
          <p:cNvPr id="26" name="Shape 24"/>
          <p:cNvSpPr/>
          <p:nvPr/>
        </p:nvSpPr>
        <p:spPr>
          <a:xfrm>
            <a:off x="3387209" y="3212544"/>
            <a:ext cx="60960" cy="5055870"/>
          </a:xfrm>
          <a:prstGeom prst="roundRect">
            <a:avLst>
              <a:gd name="adj" fmla="val 68372"/>
            </a:avLst>
          </a:prstGeom>
          <a:solidFill>
            <a:srgbClr val="835E54"/>
          </a:solidFill>
          <a:ln/>
        </p:spPr>
        <p:txBody>
          <a:bodyPr/>
          <a:lstStyle/>
          <a:p>
            <a:endParaRPr lang="en-AU"/>
          </a:p>
        </p:txBody>
      </p:sp>
      <p:sp>
        <p:nvSpPr>
          <p:cNvPr id="27" name="Text 25"/>
          <p:cNvSpPr/>
          <p:nvPr/>
        </p:nvSpPr>
        <p:spPr>
          <a:xfrm>
            <a:off x="3562588" y="3326963"/>
            <a:ext cx="1675567" cy="19359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Crimson Pro Bold" pitchFamily="34" charset="0"/>
                <a:ea typeface="Crimson Pro Bold" pitchFamily="34" charset="-122"/>
                <a:cs typeface="Crimson Pro Bold" pitchFamily="34" charset="-120"/>
              </a:rPr>
              <a:t>👨‍🎓</a:t>
            </a:r>
            <a:r>
              <a:rPr lang="en-US" sz="1150" b="1" dirty="0">
                <a:solidFill>
                  <a:srgbClr val="443728"/>
                </a:solidFill>
                <a:latin typeface="Crimson Pro Bold" pitchFamily="34" charset="0"/>
                <a:ea typeface="Crimson Pro Bold" pitchFamily="34" charset="-122"/>
                <a:cs typeface="Crimson Pro Bold" pitchFamily="34" charset="-120"/>
              </a:rPr>
              <a:t> I'm a Learner / Student</a:t>
            </a:r>
            <a:endParaRPr lang="en-US" sz="1150" dirty="0"/>
          </a:p>
        </p:txBody>
      </p:sp>
      <p:sp>
        <p:nvSpPr>
          <p:cNvPr id="28" name="Text 26"/>
          <p:cNvSpPr/>
          <p:nvPr/>
        </p:nvSpPr>
        <p:spPr>
          <a:xfrm>
            <a:off x="3562588" y="3550325"/>
            <a:ext cx="3613428" cy="59471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We create videos and content that explain complex theories through real lived experiences — making them relatable, grounded, and connected to your everyday life. Whether you're navigating university life, struggling with a concept, or just want someone in your corner, we're here as your learning buddy, not just a service.</a:t>
            </a:r>
            <a:endParaRPr lang="en-US" sz="750" dirty="0"/>
          </a:p>
        </p:txBody>
      </p:sp>
      <p:sp>
        <p:nvSpPr>
          <p:cNvPr id="29" name="Text 27"/>
          <p:cNvSpPr/>
          <p:nvPr/>
        </p:nvSpPr>
        <p:spPr>
          <a:xfrm>
            <a:off x="3562588" y="4174808"/>
            <a:ext cx="1342192"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How We Can Support You</a:t>
            </a:r>
            <a:endParaRPr lang="en-US" sz="950" dirty="0"/>
          </a:p>
        </p:txBody>
      </p:sp>
      <p:sp>
        <p:nvSpPr>
          <p:cNvPr id="30" name="Text 28"/>
          <p:cNvSpPr/>
          <p:nvPr/>
        </p:nvSpPr>
        <p:spPr>
          <a:xfrm>
            <a:off x="3562588" y="4359593"/>
            <a:ext cx="3613428" cy="2856547"/>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Theory Made Real — Watch our videos that break down academic theories using everyday lived experiences, so learning finally clicks</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Assignment Buddy Support — Struggling with an assignment? We won't do it for you, but we'll help you think deeper, find your angle, and bring real depth and originality to your work — ethically and authentically</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University Challenges — Whether it's exam stress, understanding a module, or feeling lost in your studies, we're here to help you find your footing</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Tailored Learning Support — No matter where you are in the world, we can work with your unique learning style, pace, and needs</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Your Learning Buddy — Think of us as a companion through your entire education journey — someone who walks alongside you, not ahead of you</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Just Need to Talk It Through? — Sometimes you just need someone to help you organise your thoughts. Reach out and let's have a conversation</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Chinese Students Studying Abroad — We see you. Whether you're studying in the UK, US, Australia, Canada or anywhere else in the world, navigating a new education system in a second language is a unique challenge. We're here to support your journey with content and conversations that bridge cultures</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WeChat Community — Connect with us on WeChat (微信公众号: BreakingMentalModels) for videos, learning content, and community support — all accessible in China and for Chinese students worldwide</a:t>
            </a:r>
            <a:endParaRPr lang="en-US" sz="750" dirty="0"/>
          </a:p>
        </p:txBody>
      </p:sp>
      <p:sp>
        <p:nvSpPr>
          <p:cNvPr id="31" name="Shape 29"/>
          <p:cNvSpPr/>
          <p:nvPr/>
        </p:nvSpPr>
        <p:spPr>
          <a:xfrm>
            <a:off x="3562588" y="7271861"/>
            <a:ext cx="3613428" cy="882134"/>
          </a:xfrm>
          <a:prstGeom prst="roundRect">
            <a:avLst>
              <a:gd name="adj" fmla="val 4725"/>
            </a:avLst>
          </a:prstGeom>
          <a:solidFill>
            <a:srgbClr val="E1D4D0"/>
          </a:solidFill>
          <a:ln/>
        </p:spPr>
        <p:txBody>
          <a:bodyPr/>
          <a:lstStyle/>
          <a:p>
            <a:endParaRPr lang="en-AU"/>
          </a:p>
        </p:txBody>
      </p:sp>
      <p:pic>
        <p:nvPicPr>
          <p:cNvPr id="32" name="Image 0" descr="preencoded.png"/>
          <p:cNvPicPr>
            <a:picLocks noChangeAspect="1"/>
          </p:cNvPicPr>
          <p:nvPr/>
        </p:nvPicPr>
        <p:blipFill>
          <a:blip r:embed="rId5"/>
          <a:stretch>
            <a:fillRect/>
          </a:stretch>
        </p:blipFill>
        <p:spPr>
          <a:xfrm>
            <a:off x="3661767" y="7400449"/>
            <a:ext cx="123944" cy="99179"/>
          </a:xfrm>
          <a:prstGeom prst="rect">
            <a:avLst/>
          </a:prstGeom>
        </p:spPr>
      </p:pic>
      <p:sp>
        <p:nvSpPr>
          <p:cNvPr id="33" name="Text 30"/>
          <p:cNvSpPr/>
          <p:nvPr/>
        </p:nvSpPr>
        <p:spPr>
          <a:xfrm>
            <a:off x="3884890" y="7346156"/>
            <a:ext cx="3191947" cy="713661"/>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We believe in ethical support. We will never complete your work for you — but we will help you discover the depth already inside you. Please include your name, email, your course or subject area, what you're finding challenging, and what kind of support would help most. Chinese students are warmly welcome to reach out via WeChat — 微信公众号: BreakingMentalModels</a:t>
            </a:r>
            <a:endParaRPr lang="en-US" sz="750" dirty="0"/>
          </a:p>
        </p:txBody>
      </p:sp>
      <p:sp>
        <p:nvSpPr>
          <p:cNvPr id="34" name="Shape 31"/>
          <p:cNvSpPr/>
          <p:nvPr/>
        </p:nvSpPr>
        <p:spPr>
          <a:xfrm>
            <a:off x="7339965" y="3212544"/>
            <a:ext cx="3887986" cy="5055870"/>
          </a:xfrm>
          <a:prstGeom prst="roundRect">
            <a:avLst>
              <a:gd name="adj" fmla="val 1881"/>
            </a:avLst>
          </a:prstGeom>
          <a:solidFill>
            <a:srgbClr val="FFFCFA"/>
          </a:solidFill>
          <a:ln w="15240">
            <a:solidFill>
              <a:srgbClr val="D1C8C6"/>
            </a:solidFill>
            <a:prstDash val="solid"/>
          </a:ln>
        </p:spPr>
        <p:txBody>
          <a:bodyPr/>
          <a:lstStyle/>
          <a:p>
            <a:endParaRPr lang="en-AU"/>
          </a:p>
        </p:txBody>
      </p:sp>
      <p:sp>
        <p:nvSpPr>
          <p:cNvPr id="35" name="Shape 32"/>
          <p:cNvSpPr/>
          <p:nvPr/>
        </p:nvSpPr>
        <p:spPr>
          <a:xfrm>
            <a:off x="7324725" y="3212544"/>
            <a:ext cx="60960" cy="5055870"/>
          </a:xfrm>
          <a:prstGeom prst="roundRect">
            <a:avLst>
              <a:gd name="adj" fmla="val 68372"/>
            </a:avLst>
          </a:prstGeom>
          <a:solidFill>
            <a:srgbClr val="835E54"/>
          </a:solidFill>
          <a:ln/>
        </p:spPr>
        <p:txBody>
          <a:bodyPr/>
          <a:lstStyle/>
          <a:p>
            <a:endParaRPr lang="en-AU"/>
          </a:p>
        </p:txBody>
      </p:sp>
      <p:sp>
        <p:nvSpPr>
          <p:cNvPr id="36" name="Text 33"/>
          <p:cNvSpPr/>
          <p:nvPr/>
        </p:nvSpPr>
        <p:spPr>
          <a:xfrm>
            <a:off x="7500104" y="3326963"/>
            <a:ext cx="2281952" cy="19359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Crimson Pro Bold" pitchFamily="34" charset="0"/>
                <a:ea typeface="Crimson Pro Bold" pitchFamily="34" charset="-122"/>
                <a:cs typeface="Crimson Pro Bold" pitchFamily="34" charset="-120"/>
              </a:rPr>
              <a:t>🏢</a:t>
            </a:r>
            <a:r>
              <a:rPr lang="en-US" sz="1150" b="1" dirty="0">
                <a:solidFill>
                  <a:srgbClr val="443728"/>
                </a:solidFill>
                <a:latin typeface="Crimson Pro Bold" pitchFamily="34" charset="0"/>
                <a:ea typeface="Crimson Pro Bold" pitchFamily="34" charset="-122"/>
                <a:cs typeface="Crimson Pro Bold" pitchFamily="34" charset="-120"/>
              </a:rPr>
              <a:t> I'm an Organisation / Institution</a:t>
            </a:r>
            <a:endParaRPr lang="en-US" sz="1150" dirty="0"/>
          </a:p>
        </p:txBody>
      </p:sp>
      <p:sp>
        <p:nvSpPr>
          <p:cNvPr id="37" name="Text 34"/>
          <p:cNvSpPr/>
          <p:nvPr/>
        </p:nvSpPr>
        <p:spPr>
          <a:xfrm>
            <a:off x="7500104" y="3550325"/>
            <a:ext cx="3613428" cy="475774"/>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We work with organisations to look at themselves from the inside out — not just fixing surface-level problems, but getting to the root of what's holding your people back. We believe that when people are placed at the centre, organisations don't just improve — they transform.</a:t>
            </a:r>
            <a:endParaRPr lang="en-US" sz="750" dirty="0"/>
          </a:p>
        </p:txBody>
      </p:sp>
      <p:sp>
        <p:nvSpPr>
          <p:cNvPr id="38" name="Text 35"/>
          <p:cNvSpPr/>
          <p:nvPr/>
        </p:nvSpPr>
        <p:spPr>
          <a:xfrm>
            <a:off x="7500104" y="4055864"/>
            <a:ext cx="2105382"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How We Can Support Your Organisation</a:t>
            </a:r>
            <a:endParaRPr lang="en-US" sz="950" dirty="0"/>
          </a:p>
        </p:txBody>
      </p:sp>
      <p:sp>
        <p:nvSpPr>
          <p:cNvPr id="39" name="Text 36"/>
          <p:cNvSpPr/>
          <p:nvPr/>
        </p:nvSpPr>
        <p:spPr>
          <a:xfrm>
            <a:off x="7500104" y="4240649"/>
            <a:ext cx="3613428" cy="2482453"/>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Inside-Out Organisational Discovery — We help you identify the hidden barriers, cultural blockers, and unspoken challenges that stop your people from doing their best work</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People-Centred Work Culture — We support you in building environments where people feel seen, heard, and empowered to contribute fully</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Identifying What's Holding You Back — Together we surface the real hurdles — the ones that don't always show up in reports — and create pathways to move past them</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Progressive, Sustainable Growth — We help organisations grow in ways that keep people at the heart of every decision, not as an afterthought</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Corporate Learning &amp; Development — Bespoke training, workshops, and learning experiences designed around your team's real challenges and lived realities</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Partnership &amp; Collaboration — Whether it's licensing our content, co-creating programmes, or long-term strategic partnership, we're open to building something meaningful together</a:t>
            </a:r>
            <a:endParaRPr lang="en-US" sz="750" dirty="0"/>
          </a:p>
          <a:p>
            <a:pPr marL="342900" indent="-342900" algn="l">
              <a:lnSpc>
                <a:spcPts val="900"/>
              </a:lnSpc>
              <a:buSzPct val="100000"/>
              <a:buChar char="•"/>
            </a:pPr>
            <a:r>
              <a:rPr lang="en-US" sz="750" dirty="0">
                <a:solidFill>
                  <a:srgbClr val="000000"/>
                </a:solidFill>
                <a:latin typeface="Open Sans" pitchFamily="34" charset="0"/>
                <a:ea typeface="Open Sans" pitchFamily="34" charset="-122"/>
                <a:cs typeface="Open Sans" pitchFamily="34" charset="-120"/>
              </a:rPr>
              <a:t>🎤</a:t>
            </a:r>
            <a:r>
              <a:rPr lang="en-US" sz="750" dirty="0">
                <a:solidFill>
                  <a:srgbClr val="443728"/>
                </a:solidFill>
                <a:latin typeface="Open Sans" pitchFamily="34" charset="0"/>
                <a:ea typeface="Open Sans" pitchFamily="34" charset="-122"/>
                <a:cs typeface="Open Sans" pitchFamily="34" charset="-120"/>
              </a:rPr>
              <a:t> Speaking Engagements &amp; Workshops — Bring our lived-experience approach into your organisation through powerful, thought-provoking sessions</a:t>
            </a:r>
            <a:endParaRPr lang="en-US" sz="750" dirty="0"/>
          </a:p>
        </p:txBody>
      </p:sp>
      <p:sp>
        <p:nvSpPr>
          <p:cNvPr id="40" name="Shape 37"/>
          <p:cNvSpPr/>
          <p:nvPr/>
        </p:nvSpPr>
        <p:spPr>
          <a:xfrm>
            <a:off x="7500104" y="6778823"/>
            <a:ext cx="3613428" cy="644247"/>
          </a:xfrm>
          <a:prstGeom prst="roundRect">
            <a:avLst>
              <a:gd name="adj" fmla="val 6470"/>
            </a:avLst>
          </a:prstGeom>
          <a:solidFill>
            <a:srgbClr val="E1D4D0"/>
          </a:solidFill>
          <a:ln/>
        </p:spPr>
        <p:txBody>
          <a:bodyPr/>
          <a:lstStyle/>
          <a:p>
            <a:endParaRPr lang="en-AU"/>
          </a:p>
        </p:txBody>
      </p:sp>
      <p:pic>
        <p:nvPicPr>
          <p:cNvPr id="41" name="Image 1" descr="preencoded.png"/>
          <p:cNvPicPr>
            <a:picLocks noChangeAspect="1"/>
          </p:cNvPicPr>
          <p:nvPr/>
        </p:nvPicPr>
        <p:blipFill>
          <a:blip r:embed="rId5"/>
          <a:stretch>
            <a:fillRect/>
          </a:stretch>
        </p:blipFill>
        <p:spPr>
          <a:xfrm>
            <a:off x="7599283" y="6907411"/>
            <a:ext cx="123944" cy="99179"/>
          </a:xfrm>
          <a:prstGeom prst="rect">
            <a:avLst/>
          </a:prstGeom>
        </p:spPr>
      </p:pic>
      <p:sp>
        <p:nvSpPr>
          <p:cNvPr id="42" name="Text 38"/>
          <p:cNvSpPr/>
          <p:nvPr/>
        </p:nvSpPr>
        <p:spPr>
          <a:xfrm>
            <a:off x="7822406" y="6853118"/>
            <a:ext cx="3191947" cy="475774"/>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Please include your organisation name, your role, a brief description of the challenges you're facing, and what you're hoping to achieve. The more honest and open you are, the better we can tailor our approach to truly serve your people.</a:t>
            </a:r>
            <a:endParaRPr lang="en-US" sz="750" dirty="0"/>
          </a:p>
        </p:txBody>
      </p:sp>
      <p:sp>
        <p:nvSpPr>
          <p:cNvPr id="43" name="Text 39"/>
          <p:cNvSpPr/>
          <p:nvPr/>
        </p:nvSpPr>
        <p:spPr>
          <a:xfrm>
            <a:off x="3402449" y="8324136"/>
            <a:ext cx="7825502" cy="118943"/>
          </a:xfrm>
          <a:prstGeom prst="rect">
            <a:avLst/>
          </a:prstGeom>
          <a:noFill/>
          <a:ln/>
        </p:spPr>
        <p:txBody>
          <a:bodyPr wrap="none" lIns="0" tIns="0" rIns="0" bIns="0" rtlCol="0" anchor="t"/>
          <a:lstStyle/>
          <a:p>
            <a:pPr marL="0" indent="0" algn="l">
              <a:lnSpc>
                <a:spcPts val="900"/>
              </a:lnSpc>
              <a:buNone/>
            </a:pPr>
            <a:r>
              <a:rPr lang="en-US" sz="750" i="1" dirty="0">
                <a:solidFill>
                  <a:srgbClr val="443728"/>
                </a:solidFill>
                <a:latin typeface="Open Sans" pitchFamily="34" charset="0"/>
                <a:ea typeface="Open Sans" pitchFamily="34" charset="-122"/>
                <a:cs typeface="Open Sans" pitchFamily="34" charset="-120"/>
              </a:rPr>
              <a:t>Not sure which category fits? No worries — just drop us a message at hello@breakingmentalmodels.com and we'll point you in the right direction.</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402449" y="27289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Reach Us Your Way</a:t>
            </a:r>
            <a:endParaRPr lang="en-US" sz="1950" dirty="0"/>
          </a:p>
        </p:txBody>
      </p:sp>
      <p:sp>
        <p:nvSpPr>
          <p:cNvPr id="3" name="Text 1"/>
          <p:cNvSpPr/>
          <p:nvPr/>
        </p:nvSpPr>
        <p:spPr>
          <a:xfrm>
            <a:off x="3402449" y="682228"/>
            <a:ext cx="7825502"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No two people communicate the same way — and we wouldn't have it any other way. Choose the channel that feels most natural to you, and we'll meet you there.</a:t>
            </a:r>
            <a:endParaRPr lang="en-US" sz="750" dirty="0"/>
          </a:p>
        </p:txBody>
      </p:sp>
      <p:sp>
        <p:nvSpPr>
          <p:cNvPr id="4" name="Shape 2"/>
          <p:cNvSpPr/>
          <p:nvPr/>
        </p:nvSpPr>
        <p:spPr>
          <a:xfrm>
            <a:off x="3402449" y="856893"/>
            <a:ext cx="3887986" cy="983456"/>
          </a:xfrm>
          <a:prstGeom prst="roundRect">
            <a:avLst>
              <a:gd name="adj" fmla="val 4238"/>
            </a:avLst>
          </a:prstGeom>
          <a:solidFill>
            <a:srgbClr val="EBE2E0"/>
          </a:solidFill>
          <a:ln w="7620">
            <a:solidFill>
              <a:srgbClr val="D1C8C6"/>
            </a:solidFill>
            <a:prstDash val="solid"/>
          </a:ln>
        </p:spPr>
        <p:txBody>
          <a:bodyPr/>
          <a:lstStyle/>
          <a:p>
            <a:endParaRPr lang="en-AU"/>
          </a:p>
        </p:txBody>
      </p:sp>
      <p:sp>
        <p:nvSpPr>
          <p:cNvPr id="5" name="Shape 3"/>
          <p:cNvSpPr/>
          <p:nvPr/>
        </p:nvSpPr>
        <p:spPr>
          <a:xfrm>
            <a:off x="3509248" y="963692"/>
            <a:ext cx="297656" cy="297656"/>
          </a:xfrm>
          <a:prstGeom prst="roundRect">
            <a:avLst>
              <a:gd name="adj" fmla="val 30716954"/>
            </a:avLst>
          </a:prstGeom>
          <a:solidFill>
            <a:srgbClr val="835E54"/>
          </a:solidFill>
          <a:ln/>
        </p:spPr>
        <p:txBody>
          <a:bodyPr/>
          <a:lstStyle/>
          <a:p>
            <a:endParaRPr lang="en-AU"/>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91044" y="1045488"/>
            <a:ext cx="133945" cy="133945"/>
          </a:xfrm>
          <a:prstGeom prst="rect">
            <a:avLst/>
          </a:prstGeom>
        </p:spPr>
      </p:pic>
      <p:sp>
        <p:nvSpPr>
          <p:cNvPr id="7" name="Text 4"/>
          <p:cNvSpPr/>
          <p:nvPr/>
        </p:nvSpPr>
        <p:spPr>
          <a:xfrm>
            <a:off x="3509248" y="131087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Email Form</a:t>
            </a:r>
            <a:endParaRPr lang="en-US" sz="950" dirty="0"/>
          </a:p>
        </p:txBody>
      </p:sp>
      <p:sp>
        <p:nvSpPr>
          <p:cNvPr id="8" name="Text 5"/>
          <p:cNvSpPr/>
          <p:nvPr/>
        </p:nvSpPr>
        <p:spPr>
          <a:xfrm>
            <a:off x="3509248" y="1495663"/>
            <a:ext cx="3674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Opens a sleek, minimal email form. Tell us exactly what's on your mind at your own pace.</a:t>
            </a:r>
            <a:endParaRPr lang="en-US" sz="750" dirty="0"/>
          </a:p>
        </p:txBody>
      </p:sp>
      <p:sp>
        <p:nvSpPr>
          <p:cNvPr id="9" name="Shape 6"/>
          <p:cNvSpPr/>
          <p:nvPr/>
        </p:nvSpPr>
        <p:spPr>
          <a:xfrm>
            <a:off x="7339965" y="856893"/>
            <a:ext cx="3887986" cy="983456"/>
          </a:xfrm>
          <a:prstGeom prst="roundRect">
            <a:avLst>
              <a:gd name="adj" fmla="val 4238"/>
            </a:avLst>
          </a:prstGeom>
          <a:solidFill>
            <a:srgbClr val="EBE2E0"/>
          </a:solidFill>
          <a:ln w="7620">
            <a:solidFill>
              <a:srgbClr val="D1C8C6"/>
            </a:solidFill>
            <a:prstDash val="solid"/>
          </a:ln>
        </p:spPr>
        <p:txBody>
          <a:bodyPr/>
          <a:lstStyle/>
          <a:p>
            <a:endParaRPr lang="en-AU"/>
          </a:p>
        </p:txBody>
      </p:sp>
      <p:sp>
        <p:nvSpPr>
          <p:cNvPr id="10" name="Shape 7"/>
          <p:cNvSpPr/>
          <p:nvPr/>
        </p:nvSpPr>
        <p:spPr>
          <a:xfrm>
            <a:off x="7446764" y="963692"/>
            <a:ext cx="297656" cy="297656"/>
          </a:xfrm>
          <a:prstGeom prst="roundRect">
            <a:avLst>
              <a:gd name="adj" fmla="val 30716954"/>
            </a:avLst>
          </a:prstGeom>
          <a:solidFill>
            <a:srgbClr val="835E54"/>
          </a:solidFill>
          <a:ln/>
        </p:spPr>
        <p:txBody>
          <a:bodyPr/>
          <a:lstStyle/>
          <a:p>
            <a:endParaRPr lang="en-AU"/>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28560" y="1045488"/>
            <a:ext cx="133945" cy="133945"/>
          </a:xfrm>
          <a:prstGeom prst="rect">
            <a:avLst/>
          </a:prstGeom>
        </p:spPr>
      </p:pic>
      <p:sp>
        <p:nvSpPr>
          <p:cNvPr id="12" name="Text 8"/>
          <p:cNvSpPr/>
          <p:nvPr/>
        </p:nvSpPr>
        <p:spPr>
          <a:xfrm>
            <a:off x="7446764" y="131087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Callback Scheduler</a:t>
            </a:r>
            <a:endParaRPr lang="en-US" sz="950" dirty="0"/>
          </a:p>
        </p:txBody>
      </p:sp>
      <p:sp>
        <p:nvSpPr>
          <p:cNvPr id="13" name="Text 9"/>
          <p:cNvSpPr/>
          <p:nvPr/>
        </p:nvSpPr>
        <p:spPr>
          <a:xfrm>
            <a:off x="7446764" y="1495663"/>
            <a:ext cx="3674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Pick a date and time that works for you and we'll call you back — no hold music, no waiting.</a:t>
            </a:r>
            <a:endParaRPr lang="en-US" sz="750" dirty="0"/>
          </a:p>
        </p:txBody>
      </p:sp>
      <p:sp>
        <p:nvSpPr>
          <p:cNvPr id="14" name="Shape 10"/>
          <p:cNvSpPr/>
          <p:nvPr/>
        </p:nvSpPr>
        <p:spPr>
          <a:xfrm>
            <a:off x="3402449" y="1889879"/>
            <a:ext cx="3887986" cy="983456"/>
          </a:xfrm>
          <a:prstGeom prst="roundRect">
            <a:avLst>
              <a:gd name="adj" fmla="val 4238"/>
            </a:avLst>
          </a:prstGeom>
          <a:solidFill>
            <a:srgbClr val="EBE2E0"/>
          </a:solidFill>
          <a:ln w="7620">
            <a:solidFill>
              <a:srgbClr val="D1C8C6"/>
            </a:solidFill>
            <a:prstDash val="solid"/>
          </a:ln>
        </p:spPr>
        <p:txBody>
          <a:bodyPr/>
          <a:lstStyle/>
          <a:p>
            <a:endParaRPr lang="en-AU"/>
          </a:p>
        </p:txBody>
      </p:sp>
      <p:sp>
        <p:nvSpPr>
          <p:cNvPr id="15" name="Shape 11"/>
          <p:cNvSpPr/>
          <p:nvPr/>
        </p:nvSpPr>
        <p:spPr>
          <a:xfrm>
            <a:off x="3509248" y="1996678"/>
            <a:ext cx="297656" cy="297656"/>
          </a:xfrm>
          <a:prstGeom prst="roundRect">
            <a:avLst>
              <a:gd name="adj" fmla="val 30716954"/>
            </a:avLst>
          </a:prstGeom>
          <a:solidFill>
            <a:srgbClr val="835E54"/>
          </a:solidFill>
          <a:ln/>
        </p:spPr>
        <p:txBody>
          <a:bodyPr/>
          <a:lstStyle/>
          <a:p>
            <a:endParaRPr lang="en-AU"/>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91044" y="2078474"/>
            <a:ext cx="133945" cy="133945"/>
          </a:xfrm>
          <a:prstGeom prst="rect">
            <a:avLst/>
          </a:prstGeom>
        </p:spPr>
      </p:pic>
      <p:sp>
        <p:nvSpPr>
          <p:cNvPr id="17" name="Text 12"/>
          <p:cNvSpPr/>
          <p:nvPr/>
        </p:nvSpPr>
        <p:spPr>
          <a:xfrm>
            <a:off x="3509248" y="234386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Chat Widget</a:t>
            </a:r>
            <a:endParaRPr lang="en-US" sz="950" dirty="0"/>
          </a:p>
        </p:txBody>
      </p:sp>
      <p:sp>
        <p:nvSpPr>
          <p:cNvPr id="18" name="Text 13"/>
          <p:cNvSpPr/>
          <p:nvPr/>
        </p:nvSpPr>
        <p:spPr>
          <a:xfrm>
            <a:off x="3509248" y="2528649"/>
            <a:ext cx="3674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Friendly, fast, and informal. Launch our chat widget for instant back-and-forth conversation.</a:t>
            </a:r>
            <a:endParaRPr lang="en-US" sz="750" dirty="0"/>
          </a:p>
        </p:txBody>
      </p:sp>
      <p:sp>
        <p:nvSpPr>
          <p:cNvPr id="19" name="Shape 14"/>
          <p:cNvSpPr/>
          <p:nvPr/>
        </p:nvSpPr>
        <p:spPr>
          <a:xfrm>
            <a:off x="7339965" y="1889879"/>
            <a:ext cx="3887986" cy="983456"/>
          </a:xfrm>
          <a:prstGeom prst="roundRect">
            <a:avLst>
              <a:gd name="adj" fmla="val 4238"/>
            </a:avLst>
          </a:prstGeom>
          <a:solidFill>
            <a:srgbClr val="EBE2E0"/>
          </a:solidFill>
          <a:ln w="7620">
            <a:solidFill>
              <a:srgbClr val="D1C8C6"/>
            </a:solidFill>
            <a:prstDash val="solid"/>
          </a:ln>
        </p:spPr>
        <p:txBody>
          <a:bodyPr/>
          <a:lstStyle/>
          <a:p>
            <a:endParaRPr lang="en-AU"/>
          </a:p>
        </p:txBody>
      </p:sp>
      <p:sp>
        <p:nvSpPr>
          <p:cNvPr id="20" name="Shape 15"/>
          <p:cNvSpPr/>
          <p:nvPr/>
        </p:nvSpPr>
        <p:spPr>
          <a:xfrm>
            <a:off x="7446764" y="1996678"/>
            <a:ext cx="297656" cy="297656"/>
          </a:xfrm>
          <a:prstGeom prst="roundRect">
            <a:avLst>
              <a:gd name="adj" fmla="val 30716954"/>
            </a:avLst>
          </a:prstGeom>
          <a:solidFill>
            <a:srgbClr val="835E54"/>
          </a:solidFill>
          <a:ln/>
        </p:spPr>
        <p:txBody>
          <a:bodyPr/>
          <a:lstStyle/>
          <a:p>
            <a:endParaRPr lang="en-AU"/>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28560" y="2078474"/>
            <a:ext cx="133945" cy="133945"/>
          </a:xfrm>
          <a:prstGeom prst="rect">
            <a:avLst/>
          </a:prstGeom>
        </p:spPr>
      </p:pic>
      <p:sp>
        <p:nvSpPr>
          <p:cNvPr id="22" name="Text 16"/>
          <p:cNvSpPr/>
          <p:nvPr/>
        </p:nvSpPr>
        <p:spPr>
          <a:xfrm>
            <a:off x="7446764" y="234386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YouTube</a:t>
            </a:r>
            <a:endParaRPr lang="en-US" sz="950" dirty="0"/>
          </a:p>
        </p:txBody>
      </p:sp>
      <p:sp>
        <p:nvSpPr>
          <p:cNvPr id="23" name="Text 17"/>
          <p:cNvSpPr/>
          <p:nvPr/>
        </p:nvSpPr>
        <p:spPr>
          <a:xfrm>
            <a:off x="7446764" y="2528649"/>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Main hub for all videos and podcasts. Subscribe and watch all content here.</a:t>
            </a:r>
            <a:endParaRPr lang="en-US" sz="750" dirty="0"/>
          </a:p>
        </p:txBody>
      </p:sp>
      <p:sp>
        <p:nvSpPr>
          <p:cNvPr id="24" name="Shape 18"/>
          <p:cNvSpPr/>
          <p:nvPr/>
        </p:nvSpPr>
        <p:spPr>
          <a:xfrm>
            <a:off x="3402449" y="2922865"/>
            <a:ext cx="3887986" cy="983456"/>
          </a:xfrm>
          <a:prstGeom prst="roundRect">
            <a:avLst>
              <a:gd name="adj" fmla="val 4238"/>
            </a:avLst>
          </a:prstGeom>
          <a:solidFill>
            <a:srgbClr val="EBE2E0"/>
          </a:solidFill>
          <a:ln w="7620">
            <a:solidFill>
              <a:srgbClr val="D1C8C6"/>
            </a:solidFill>
            <a:prstDash val="solid"/>
          </a:ln>
        </p:spPr>
        <p:txBody>
          <a:bodyPr/>
          <a:lstStyle/>
          <a:p>
            <a:endParaRPr lang="en-AU"/>
          </a:p>
        </p:txBody>
      </p:sp>
      <p:sp>
        <p:nvSpPr>
          <p:cNvPr id="25" name="Shape 19"/>
          <p:cNvSpPr/>
          <p:nvPr/>
        </p:nvSpPr>
        <p:spPr>
          <a:xfrm>
            <a:off x="3509248" y="3029664"/>
            <a:ext cx="297656" cy="297656"/>
          </a:xfrm>
          <a:prstGeom prst="roundRect">
            <a:avLst>
              <a:gd name="adj" fmla="val 30716954"/>
            </a:avLst>
          </a:prstGeom>
          <a:solidFill>
            <a:srgbClr val="835E54"/>
          </a:solidFill>
          <a:ln/>
        </p:spPr>
        <p:txBody>
          <a:bodyPr/>
          <a:lstStyle/>
          <a:p>
            <a:endParaRPr lang="en-AU"/>
          </a:p>
        </p:txBody>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91044" y="3111460"/>
            <a:ext cx="133945" cy="133945"/>
          </a:xfrm>
          <a:prstGeom prst="rect">
            <a:avLst/>
          </a:prstGeom>
        </p:spPr>
      </p:pic>
      <p:sp>
        <p:nvSpPr>
          <p:cNvPr id="27" name="Text 20"/>
          <p:cNvSpPr/>
          <p:nvPr/>
        </p:nvSpPr>
        <p:spPr>
          <a:xfrm>
            <a:off x="3509248" y="3376851"/>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Instagram</a:t>
            </a:r>
            <a:endParaRPr lang="en-US" sz="950" dirty="0"/>
          </a:p>
        </p:txBody>
      </p:sp>
      <p:sp>
        <p:nvSpPr>
          <p:cNvPr id="28" name="Text 21"/>
          <p:cNvSpPr/>
          <p:nvPr/>
        </p:nvSpPr>
        <p:spPr>
          <a:xfrm>
            <a:off x="3509248" y="3561636"/>
            <a:ext cx="3674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Watch short clips, reels and behind-the-scenes content. All full videos link to YouTube.</a:t>
            </a:r>
            <a:endParaRPr lang="en-US" sz="750" dirty="0"/>
          </a:p>
        </p:txBody>
      </p:sp>
      <p:sp>
        <p:nvSpPr>
          <p:cNvPr id="29" name="Shape 22"/>
          <p:cNvSpPr/>
          <p:nvPr/>
        </p:nvSpPr>
        <p:spPr>
          <a:xfrm>
            <a:off x="7339965" y="2922865"/>
            <a:ext cx="3887986" cy="983456"/>
          </a:xfrm>
          <a:prstGeom prst="roundRect">
            <a:avLst>
              <a:gd name="adj" fmla="val 4238"/>
            </a:avLst>
          </a:prstGeom>
          <a:solidFill>
            <a:srgbClr val="EBE2E0"/>
          </a:solidFill>
          <a:ln w="7620">
            <a:solidFill>
              <a:srgbClr val="D1C8C6"/>
            </a:solidFill>
            <a:prstDash val="solid"/>
          </a:ln>
        </p:spPr>
        <p:txBody>
          <a:bodyPr/>
          <a:lstStyle/>
          <a:p>
            <a:endParaRPr lang="en-AU"/>
          </a:p>
        </p:txBody>
      </p:sp>
      <p:sp>
        <p:nvSpPr>
          <p:cNvPr id="30" name="Shape 23"/>
          <p:cNvSpPr/>
          <p:nvPr/>
        </p:nvSpPr>
        <p:spPr>
          <a:xfrm>
            <a:off x="7446764" y="3029664"/>
            <a:ext cx="297656" cy="297656"/>
          </a:xfrm>
          <a:prstGeom prst="roundRect">
            <a:avLst>
              <a:gd name="adj" fmla="val 30716954"/>
            </a:avLst>
          </a:prstGeom>
          <a:solidFill>
            <a:srgbClr val="835E54"/>
          </a:solidFill>
          <a:ln/>
        </p:spPr>
        <p:txBody>
          <a:bodyPr/>
          <a:lstStyle/>
          <a:p>
            <a:endParaRPr lang="en-AU"/>
          </a:p>
        </p:txBody>
      </p:sp>
      <p:pic>
        <p:nvPicPr>
          <p:cNvPr id="31"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28560" y="3111460"/>
            <a:ext cx="133945" cy="133945"/>
          </a:xfrm>
          <a:prstGeom prst="rect">
            <a:avLst/>
          </a:prstGeom>
        </p:spPr>
      </p:pic>
      <p:sp>
        <p:nvSpPr>
          <p:cNvPr id="32" name="Text 24"/>
          <p:cNvSpPr/>
          <p:nvPr/>
        </p:nvSpPr>
        <p:spPr>
          <a:xfrm>
            <a:off x="7446764" y="3376851"/>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Twitter / X</a:t>
            </a:r>
            <a:endParaRPr lang="en-US" sz="950" dirty="0"/>
          </a:p>
        </p:txBody>
      </p:sp>
      <p:sp>
        <p:nvSpPr>
          <p:cNvPr id="33" name="Text 25"/>
          <p:cNvSpPr/>
          <p:nvPr/>
        </p:nvSpPr>
        <p:spPr>
          <a:xfrm>
            <a:off x="7446764" y="3561636"/>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Follow for updates and links to latest YouTube episodes.</a:t>
            </a:r>
            <a:endParaRPr lang="en-US" sz="750" dirty="0"/>
          </a:p>
        </p:txBody>
      </p:sp>
      <p:sp>
        <p:nvSpPr>
          <p:cNvPr id="34" name="Shape 26"/>
          <p:cNvSpPr/>
          <p:nvPr/>
        </p:nvSpPr>
        <p:spPr>
          <a:xfrm>
            <a:off x="3402449" y="3955852"/>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35" name="Shape 27"/>
          <p:cNvSpPr/>
          <p:nvPr/>
        </p:nvSpPr>
        <p:spPr>
          <a:xfrm>
            <a:off x="3509248" y="4062651"/>
            <a:ext cx="297656" cy="297656"/>
          </a:xfrm>
          <a:prstGeom prst="roundRect">
            <a:avLst>
              <a:gd name="adj" fmla="val 30716954"/>
            </a:avLst>
          </a:prstGeom>
          <a:solidFill>
            <a:srgbClr val="835E54"/>
          </a:solidFill>
          <a:ln/>
        </p:spPr>
        <p:txBody>
          <a:bodyPr/>
          <a:lstStyle/>
          <a:p>
            <a:endParaRPr lang="en-AU"/>
          </a:p>
        </p:txBody>
      </p:sp>
      <p:pic>
        <p:nvPicPr>
          <p:cNvPr id="36"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591044" y="4144447"/>
            <a:ext cx="133945" cy="133945"/>
          </a:xfrm>
          <a:prstGeom prst="rect">
            <a:avLst/>
          </a:prstGeom>
        </p:spPr>
      </p:pic>
      <p:sp>
        <p:nvSpPr>
          <p:cNvPr id="37" name="Text 28"/>
          <p:cNvSpPr/>
          <p:nvPr/>
        </p:nvSpPr>
        <p:spPr>
          <a:xfrm>
            <a:off x="3509248" y="4409837"/>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LinkedIn</a:t>
            </a:r>
            <a:endParaRPr lang="en-US" sz="950" dirty="0"/>
          </a:p>
        </p:txBody>
      </p:sp>
      <p:sp>
        <p:nvSpPr>
          <p:cNvPr id="38" name="Text 29"/>
          <p:cNvSpPr/>
          <p:nvPr/>
        </p:nvSpPr>
        <p:spPr>
          <a:xfrm>
            <a:off x="3509248" y="4594622"/>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Professional insights and podcast episode links, all pointing to YouTube.</a:t>
            </a:r>
            <a:endParaRPr lang="en-US" sz="750" dirty="0"/>
          </a:p>
        </p:txBody>
      </p:sp>
      <p:sp>
        <p:nvSpPr>
          <p:cNvPr id="39" name="Shape 30"/>
          <p:cNvSpPr/>
          <p:nvPr/>
        </p:nvSpPr>
        <p:spPr>
          <a:xfrm>
            <a:off x="7339965" y="3955852"/>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40" name="Shape 31"/>
          <p:cNvSpPr/>
          <p:nvPr/>
        </p:nvSpPr>
        <p:spPr>
          <a:xfrm>
            <a:off x="7446764" y="4062651"/>
            <a:ext cx="297656" cy="297656"/>
          </a:xfrm>
          <a:prstGeom prst="roundRect">
            <a:avLst>
              <a:gd name="adj" fmla="val 30716954"/>
            </a:avLst>
          </a:prstGeom>
          <a:solidFill>
            <a:srgbClr val="835E54"/>
          </a:solidFill>
          <a:ln/>
        </p:spPr>
        <p:txBody>
          <a:bodyPr/>
          <a:lstStyle/>
          <a:p>
            <a:endParaRPr lang="en-AU"/>
          </a:p>
        </p:txBody>
      </p:sp>
      <p:pic>
        <p:nvPicPr>
          <p:cNvPr id="41"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528560" y="4144447"/>
            <a:ext cx="133945" cy="133945"/>
          </a:xfrm>
          <a:prstGeom prst="rect">
            <a:avLst/>
          </a:prstGeom>
        </p:spPr>
      </p:pic>
      <p:sp>
        <p:nvSpPr>
          <p:cNvPr id="42" name="Text 32"/>
          <p:cNvSpPr/>
          <p:nvPr/>
        </p:nvSpPr>
        <p:spPr>
          <a:xfrm>
            <a:off x="7446764" y="4409837"/>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Facebook</a:t>
            </a:r>
            <a:endParaRPr lang="en-US" sz="950" dirty="0"/>
          </a:p>
        </p:txBody>
      </p:sp>
      <p:sp>
        <p:nvSpPr>
          <p:cNvPr id="43" name="Text 33"/>
          <p:cNvSpPr/>
          <p:nvPr/>
        </p:nvSpPr>
        <p:spPr>
          <a:xfrm>
            <a:off x="7446764" y="4594622"/>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Community updates and video links directing to YouTube channel.</a:t>
            </a:r>
            <a:endParaRPr lang="en-US" sz="750" dirty="0"/>
          </a:p>
        </p:txBody>
      </p:sp>
      <p:sp>
        <p:nvSpPr>
          <p:cNvPr id="44" name="Shape 34"/>
          <p:cNvSpPr/>
          <p:nvPr/>
        </p:nvSpPr>
        <p:spPr>
          <a:xfrm>
            <a:off x="3402449" y="4869894"/>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45" name="Shape 35"/>
          <p:cNvSpPr/>
          <p:nvPr/>
        </p:nvSpPr>
        <p:spPr>
          <a:xfrm>
            <a:off x="3509248" y="4976693"/>
            <a:ext cx="297656" cy="297656"/>
          </a:xfrm>
          <a:prstGeom prst="roundRect">
            <a:avLst>
              <a:gd name="adj" fmla="val 30716954"/>
            </a:avLst>
          </a:prstGeom>
          <a:solidFill>
            <a:srgbClr val="835E54"/>
          </a:solidFill>
          <a:ln/>
        </p:spPr>
        <p:txBody>
          <a:bodyPr/>
          <a:lstStyle/>
          <a:p>
            <a:endParaRPr lang="en-AU"/>
          </a:p>
        </p:txBody>
      </p:sp>
      <p:pic>
        <p:nvPicPr>
          <p:cNvPr id="46" name="Image 8"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591044" y="5058489"/>
            <a:ext cx="133945" cy="133945"/>
          </a:xfrm>
          <a:prstGeom prst="rect">
            <a:avLst/>
          </a:prstGeom>
        </p:spPr>
      </p:pic>
      <p:sp>
        <p:nvSpPr>
          <p:cNvPr id="47" name="Text 36"/>
          <p:cNvSpPr/>
          <p:nvPr/>
        </p:nvSpPr>
        <p:spPr>
          <a:xfrm>
            <a:off x="3509248" y="5323880"/>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TikTok</a:t>
            </a:r>
            <a:endParaRPr lang="en-US" sz="950" dirty="0"/>
          </a:p>
        </p:txBody>
      </p:sp>
      <p:sp>
        <p:nvSpPr>
          <p:cNvPr id="48" name="Text 37"/>
          <p:cNvSpPr/>
          <p:nvPr/>
        </p:nvSpPr>
        <p:spPr>
          <a:xfrm>
            <a:off x="3509248" y="5508665"/>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Short-form clips and teasers linking back to full YouTube videos.</a:t>
            </a:r>
            <a:endParaRPr lang="en-US" sz="750" dirty="0"/>
          </a:p>
        </p:txBody>
      </p:sp>
      <p:sp>
        <p:nvSpPr>
          <p:cNvPr id="49" name="Shape 38"/>
          <p:cNvSpPr/>
          <p:nvPr/>
        </p:nvSpPr>
        <p:spPr>
          <a:xfrm>
            <a:off x="7339965" y="4869894"/>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50" name="Shape 39"/>
          <p:cNvSpPr/>
          <p:nvPr/>
        </p:nvSpPr>
        <p:spPr>
          <a:xfrm>
            <a:off x="7446764" y="4976693"/>
            <a:ext cx="297656" cy="297656"/>
          </a:xfrm>
          <a:prstGeom prst="roundRect">
            <a:avLst>
              <a:gd name="adj" fmla="val 30716954"/>
            </a:avLst>
          </a:prstGeom>
          <a:solidFill>
            <a:srgbClr val="835E54"/>
          </a:solidFill>
          <a:ln/>
        </p:spPr>
        <p:txBody>
          <a:bodyPr/>
          <a:lstStyle/>
          <a:p>
            <a:endParaRPr lang="en-AU"/>
          </a:p>
        </p:txBody>
      </p:sp>
      <p:pic>
        <p:nvPicPr>
          <p:cNvPr id="51" name="Image 9" descr="preencoded.png"/>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528560" y="5058489"/>
            <a:ext cx="133945" cy="133945"/>
          </a:xfrm>
          <a:prstGeom prst="rect">
            <a:avLst/>
          </a:prstGeom>
        </p:spPr>
      </p:pic>
      <p:sp>
        <p:nvSpPr>
          <p:cNvPr id="52" name="Text 40"/>
          <p:cNvSpPr/>
          <p:nvPr/>
        </p:nvSpPr>
        <p:spPr>
          <a:xfrm>
            <a:off x="7446764" y="5323880"/>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Spotify</a:t>
            </a:r>
            <a:endParaRPr lang="en-US" sz="950" dirty="0"/>
          </a:p>
        </p:txBody>
      </p:sp>
      <p:sp>
        <p:nvSpPr>
          <p:cNvPr id="53" name="Text 41"/>
          <p:cNvSpPr/>
          <p:nvPr/>
        </p:nvSpPr>
        <p:spPr>
          <a:xfrm>
            <a:off x="7446764" y="5508665"/>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Podcast audio available here, with video versions on YouTube.</a:t>
            </a:r>
            <a:endParaRPr lang="en-US" sz="750" dirty="0"/>
          </a:p>
        </p:txBody>
      </p:sp>
      <p:sp>
        <p:nvSpPr>
          <p:cNvPr id="54" name="Shape 42"/>
          <p:cNvSpPr/>
          <p:nvPr/>
        </p:nvSpPr>
        <p:spPr>
          <a:xfrm>
            <a:off x="3402449" y="5783937"/>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55" name="Shape 43"/>
          <p:cNvSpPr/>
          <p:nvPr/>
        </p:nvSpPr>
        <p:spPr>
          <a:xfrm>
            <a:off x="3509248" y="5890736"/>
            <a:ext cx="297656" cy="297656"/>
          </a:xfrm>
          <a:prstGeom prst="roundRect">
            <a:avLst>
              <a:gd name="adj" fmla="val 30716954"/>
            </a:avLst>
          </a:prstGeom>
          <a:solidFill>
            <a:srgbClr val="835E54"/>
          </a:solidFill>
          <a:ln/>
        </p:spPr>
        <p:txBody>
          <a:bodyPr/>
          <a:lstStyle/>
          <a:p>
            <a:endParaRPr lang="en-AU"/>
          </a:p>
        </p:txBody>
      </p:sp>
      <p:pic>
        <p:nvPicPr>
          <p:cNvPr id="56" name="Image 10"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591044" y="5972532"/>
            <a:ext cx="133945" cy="133945"/>
          </a:xfrm>
          <a:prstGeom prst="rect">
            <a:avLst/>
          </a:prstGeom>
        </p:spPr>
      </p:pic>
      <p:sp>
        <p:nvSpPr>
          <p:cNvPr id="57" name="Text 44"/>
          <p:cNvSpPr/>
          <p:nvPr/>
        </p:nvSpPr>
        <p:spPr>
          <a:xfrm>
            <a:off x="3509248" y="6237923"/>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Apple Podcasts</a:t>
            </a:r>
            <a:endParaRPr lang="en-US" sz="950" dirty="0"/>
          </a:p>
        </p:txBody>
      </p:sp>
      <p:sp>
        <p:nvSpPr>
          <p:cNvPr id="58" name="Text 45"/>
          <p:cNvSpPr/>
          <p:nvPr/>
        </p:nvSpPr>
        <p:spPr>
          <a:xfrm>
            <a:off x="3509248" y="6422708"/>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Listen to podcast episodes; full video versions on YouTube.</a:t>
            </a:r>
            <a:endParaRPr lang="en-US" sz="750" dirty="0"/>
          </a:p>
        </p:txBody>
      </p:sp>
      <p:sp>
        <p:nvSpPr>
          <p:cNvPr id="59" name="Shape 46"/>
          <p:cNvSpPr/>
          <p:nvPr/>
        </p:nvSpPr>
        <p:spPr>
          <a:xfrm>
            <a:off x="7339965" y="5783937"/>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60" name="Shape 47"/>
          <p:cNvSpPr/>
          <p:nvPr/>
        </p:nvSpPr>
        <p:spPr>
          <a:xfrm>
            <a:off x="7446764" y="5890736"/>
            <a:ext cx="297656" cy="297656"/>
          </a:xfrm>
          <a:prstGeom prst="roundRect">
            <a:avLst>
              <a:gd name="adj" fmla="val 30716954"/>
            </a:avLst>
          </a:prstGeom>
          <a:solidFill>
            <a:srgbClr val="835E54"/>
          </a:solidFill>
          <a:ln/>
        </p:spPr>
        <p:txBody>
          <a:bodyPr/>
          <a:lstStyle/>
          <a:p>
            <a:endParaRPr lang="en-AU"/>
          </a:p>
        </p:txBody>
      </p:sp>
      <p:pic>
        <p:nvPicPr>
          <p:cNvPr id="61" name="Image 11" descr="preencoded.png"/>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7528560" y="5972532"/>
            <a:ext cx="133945" cy="133945"/>
          </a:xfrm>
          <a:prstGeom prst="rect">
            <a:avLst/>
          </a:prstGeom>
        </p:spPr>
      </p:pic>
      <p:sp>
        <p:nvSpPr>
          <p:cNvPr id="62" name="Text 48"/>
          <p:cNvSpPr/>
          <p:nvPr/>
        </p:nvSpPr>
        <p:spPr>
          <a:xfrm>
            <a:off x="7446764" y="6237923"/>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Pinterest</a:t>
            </a:r>
            <a:endParaRPr lang="en-US" sz="950" dirty="0"/>
          </a:p>
        </p:txBody>
      </p:sp>
      <p:sp>
        <p:nvSpPr>
          <p:cNvPr id="63" name="Text 49"/>
          <p:cNvSpPr/>
          <p:nvPr/>
        </p:nvSpPr>
        <p:spPr>
          <a:xfrm>
            <a:off x="7446764" y="6422708"/>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Visual content and episode graphics linking to YouTube.</a:t>
            </a:r>
            <a:endParaRPr lang="en-US" sz="750" dirty="0"/>
          </a:p>
        </p:txBody>
      </p:sp>
      <p:sp>
        <p:nvSpPr>
          <p:cNvPr id="64" name="Shape 50"/>
          <p:cNvSpPr/>
          <p:nvPr/>
        </p:nvSpPr>
        <p:spPr>
          <a:xfrm>
            <a:off x="3402449" y="6697980"/>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65" name="Shape 51"/>
          <p:cNvSpPr/>
          <p:nvPr/>
        </p:nvSpPr>
        <p:spPr>
          <a:xfrm>
            <a:off x="3509248" y="6804779"/>
            <a:ext cx="297656" cy="297656"/>
          </a:xfrm>
          <a:prstGeom prst="roundRect">
            <a:avLst>
              <a:gd name="adj" fmla="val 30716954"/>
            </a:avLst>
          </a:prstGeom>
          <a:solidFill>
            <a:srgbClr val="835E54"/>
          </a:solidFill>
          <a:ln/>
        </p:spPr>
        <p:txBody>
          <a:bodyPr/>
          <a:lstStyle/>
          <a:p>
            <a:endParaRPr lang="en-AU"/>
          </a:p>
        </p:txBody>
      </p:sp>
      <p:pic>
        <p:nvPicPr>
          <p:cNvPr id="66" name="Image 12" descr="preencoded.png"/>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3591044" y="6886575"/>
            <a:ext cx="133945" cy="133945"/>
          </a:xfrm>
          <a:prstGeom prst="rect">
            <a:avLst/>
          </a:prstGeom>
        </p:spPr>
      </p:pic>
      <p:sp>
        <p:nvSpPr>
          <p:cNvPr id="67" name="Text 52"/>
          <p:cNvSpPr/>
          <p:nvPr/>
        </p:nvSpPr>
        <p:spPr>
          <a:xfrm>
            <a:off x="3509248" y="7151965"/>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Snapchat</a:t>
            </a:r>
            <a:endParaRPr lang="en-US" sz="950" dirty="0"/>
          </a:p>
        </p:txBody>
      </p:sp>
      <p:sp>
        <p:nvSpPr>
          <p:cNvPr id="68" name="Text 53"/>
          <p:cNvSpPr/>
          <p:nvPr/>
        </p:nvSpPr>
        <p:spPr>
          <a:xfrm>
            <a:off x="3509248" y="7336750"/>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Exclusive sneak peeks and stories linking to YouTube.</a:t>
            </a:r>
            <a:endParaRPr lang="en-US" sz="750" dirty="0"/>
          </a:p>
        </p:txBody>
      </p:sp>
      <p:sp>
        <p:nvSpPr>
          <p:cNvPr id="69" name="Shape 54"/>
          <p:cNvSpPr/>
          <p:nvPr/>
        </p:nvSpPr>
        <p:spPr>
          <a:xfrm>
            <a:off x="7339965" y="6697980"/>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70" name="Shape 55"/>
          <p:cNvSpPr/>
          <p:nvPr/>
        </p:nvSpPr>
        <p:spPr>
          <a:xfrm>
            <a:off x="7446764" y="6804779"/>
            <a:ext cx="297656" cy="297656"/>
          </a:xfrm>
          <a:prstGeom prst="roundRect">
            <a:avLst>
              <a:gd name="adj" fmla="val 30716954"/>
            </a:avLst>
          </a:prstGeom>
          <a:solidFill>
            <a:srgbClr val="835E54"/>
          </a:solidFill>
          <a:ln/>
        </p:spPr>
        <p:txBody>
          <a:bodyPr/>
          <a:lstStyle/>
          <a:p>
            <a:endParaRPr lang="en-AU"/>
          </a:p>
        </p:txBody>
      </p:sp>
      <p:pic>
        <p:nvPicPr>
          <p:cNvPr id="71" name="Image 13" descr="preencoded.png"/>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528560" y="6886575"/>
            <a:ext cx="133945" cy="133945"/>
          </a:xfrm>
          <a:prstGeom prst="rect">
            <a:avLst/>
          </a:prstGeom>
        </p:spPr>
      </p:pic>
      <p:sp>
        <p:nvSpPr>
          <p:cNvPr id="72" name="Text 56"/>
          <p:cNvSpPr/>
          <p:nvPr/>
        </p:nvSpPr>
        <p:spPr>
          <a:xfrm>
            <a:off x="7446764" y="7151965"/>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Discord</a:t>
            </a:r>
            <a:endParaRPr lang="en-US" sz="950" dirty="0"/>
          </a:p>
        </p:txBody>
      </p:sp>
      <p:sp>
        <p:nvSpPr>
          <p:cNvPr id="73" name="Text 57"/>
          <p:cNvSpPr/>
          <p:nvPr/>
        </p:nvSpPr>
        <p:spPr>
          <a:xfrm>
            <a:off x="7446764" y="7336750"/>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Join the community, discuss episodes, all content hosted on YouTube.</a:t>
            </a:r>
            <a:endParaRPr lang="en-US" sz="750" dirty="0"/>
          </a:p>
        </p:txBody>
      </p:sp>
      <p:sp>
        <p:nvSpPr>
          <p:cNvPr id="74" name="Shape 58"/>
          <p:cNvSpPr/>
          <p:nvPr/>
        </p:nvSpPr>
        <p:spPr>
          <a:xfrm>
            <a:off x="3402449" y="7612023"/>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75" name="Shape 59"/>
          <p:cNvSpPr/>
          <p:nvPr/>
        </p:nvSpPr>
        <p:spPr>
          <a:xfrm>
            <a:off x="3509248" y="7718822"/>
            <a:ext cx="297656" cy="297656"/>
          </a:xfrm>
          <a:prstGeom prst="roundRect">
            <a:avLst>
              <a:gd name="adj" fmla="val 30716954"/>
            </a:avLst>
          </a:prstGeom>
          <a:solidFill>
            <a:srgbClr val="835E54"/>
          </a:solidFill>
          <a:ln/>
        </p:spPr>
        <p:txBody>
          <a:bodyPr/>
          <a:lstStyle/>
          <a:p>
            <a:endParaRPr lang="en-AU"/>
          </a:p>
        </p:txBody>
      </p:sp>
      <p:pic>
        <p:nvPicPr>
          <p:cNvPr id="76" name="Image 14" descr="preencoded.png"/>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3591044" y="7800618"/>
            <a:ext cx="133945" cy="133945"/>
          </a:xfrm>
          <a:prstGeom prst="rect">
            <a:avLst/>
          </a:prstGeom>
        </p:spPr>
      </p:pic>
      <p:sp>
        <p:nvSpPr>
          <p:cNvPr id="77" name="Text 60"/>
          <p:cNvSpPr/>
          <p:nvPr/>
        </p:nvSpPr>
        <p:spPr>
          <a:xfrm>
            <a:off x="3509248" y="806600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Twitch</a:t>
            </a:r>
            <a:endParaRPr lang="en-US" sz="950" dirty="0"/>
          </a:p>
        </p:txBody>
      </p:sp>
      <p:sp>
        <p:nvSpPr>
          <p:cNvPr id="78" name="Text 61"/>
          <p:cNvSpPr/>
          <p:nvPr/>
        </p:nvSpPr>
        <p:spPr>
          <a:xfrm>
            <a:off x="3509248" y="8250793"/>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Live streams and events; recordings uploaded to YouTube.</a:t>
            </a:r>
            <a:endParaRPr lang="en-US" sz="750" dirty="0"/>
          </a:p>
        </p:txBody>
      </p:sp>
      <p:sp>
        <p:nvSpPr>
          <p:cNvPr id="79" name="Shape 62"/>
          <p:cNvSpPr/>
          <p:nvPr/>
        </p:nvSpPr>
        <p:spPr>
          <a:xfrm>
            <a:off x="7339965" y="7612023"/>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80" name="Shape 63"/>
          <p:cNvSpPr/>
          <p:nvPr/>
        </p:nvSpPr>
        <p:spPr>
          <a:xfrm>
            <a:off x="7446764" y="7718822"/>
            <a:ext cx="297656" cy="297656"/>
          </a:xfrm>
          <a:prstGeom prst="roundRect">
            <a:avLst>
              <a:gd name="adj" fmla="val 30716954"/>
            </a:avLst>
          </a:prstGeom>
          <a:solidFill>
            <a:srgbClr val="835E54"/>
          </a:solidFill>
          <a:ln/>
        </p:spPr>
        <p:txBody>
          <a:bodyPr/>
          <a:lstStyle/>
          <a:p>
            <a:endParaRPr lang="en-AU"/>
          </a:p>
        </p:txBody>
      </p:sp>
      <p:pic>
        <p:nvPicPr>
          <p:cNvPr id="81" name="Image 15" descr="preencoded.png"/>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7528560" y="7800618"/>
            <a:ext cx="133945" cy="133945"/>
          </a:xfrm>
          <a:prstGeom prst="rect">
            <a:avLst/>
          </a:prstGeom>
        </p:spPr>
      </p:pic>
      <p:sp>
        <p:nvSpPr>
          <p:cNvPr id="82" name="Text 64"/>
          <p:cNvSpPr/>
          <p:nvPr/>
        </p:nvSpPr>
        <p:spPr>
          <a:xfrm>
            <a:off x="7446764" y="806600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Threads</a:t>
            </a:r>
            <a:endParaRPr lang="en-US" sz="950" dirty="0"/>
          </a:p>
        </p:txBody>
      </p:sp>
      <p:sp>
        <p:nvSpPr>
          <p:cNvPr id="83" name="Text 65"/>
          <p:cNvSpPr/>
          <p:nvPr/>
        </p:nvSpPr>
        <p:spPr>
          <a:xfrm>
            <a:off x="7446764" y="8250793"/>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Text updates and conversation around YouTube content.</a:t>
            </a:r>
            <a:endParaRPr lang="en-US" sz="750" dirty="0"/>
          </a:p>
        </p:txBody>
      </p:sp>
      <p:sp>
        <p:nvSpPr>
          <p:cNvPr id="84" name="Shape 66"/>
          <p:cNvSpPr/>
          <p:nvPr/>
        </p:nvSpPr>
        <p:spPr>
          <a:xfrm>
            <a:off x="3402449" y="8526066"/>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85" name="Shape 67"/>
          <p:cNvSpPr/>
          <p:nvPr/>
        </p:nvSpPr>
        <p:spPr>
          <a:xfrm>
            <a:off x="3509248" y="8632865"/>
            <a:ext cx="297656" cy="297656"/>
          </a:xfrm>
          <a:prstGeom prst="roundRect">
            <a:avLst>
              <a:gd name="adj" fmla="val 30716954"/>
            </a:avLst>
          </a:prstGeom>
          <a:solidFill>
            <a:srgbClr val="835E54"/>
          </a:solidFill>
          <a:ln/>
        </p:spPr>
        <p:txBody>
          <a:bodyPr/>
          <a:lstStyle/>
          <a:p>
            <a:endParaRPr lang="en-AU"/>
          </a:p>
        </p:txBody>
      </p:sp>
      <p:pic>
        <p:nvPicPr>
          <p:cNvPr id="86" name="Image 16" descr="preencoded.png"/>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591044" y="8714661"/>
            <a:ext cx="133945" cy="133945"/>
          </a:xfrm>
          <a:prstGeom prst="rect">
            <a:avLst/>
          </a:prstGeom>
        </p:spPr>
      </p:pic>
      <p:sp>
        <p:nvSpPr>
          <p:cNvPr id="87" name="Text 68"/>
          <p:cNvSpPr/>
          <p:nvPr/>
        </p:nvSpPr>
        <p:spPr>
          <a:xfrm>
            <a:off x="3509248" y="8980051"/>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Reddit</a:t>
            </a:r>
            <a:endParaRPr lang="en-US" sz="950" dirty="0"/>
          </a:p>
        </p:txBody>
      </p:sp>
      <p:sp>
        <p:nvSpPr>
          <p:cNvPr id="88" name="Text 69"/>
          <p:cNvSpPr/>
          <p:nvPr/>
        </p:nvSpPr>
        <p:spPr>
          <a:xfrm>
            <a:off x="3509248" y="9164836"/>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Community discussions and links to YouTube episodes.</a:t>
            </a:r>
            <a:endParaRPr lang="en-US" sz="750" dirty="0"/>
          </a:p>
        </p:txBody>
      </p:sp>
      <p:sp>
        <p:nvSpPr>
          <p:cNvPr id="89" name="Shape 70"/>
          <p:cNvSpPr/>
          <p:nvPr/>
        </p:nvSpPr>
        <p:spPr>
          <a:xfrm>
            <a:off x="7339965" y="8526066"/>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90" name="Shape 71"/>
          <p:cNvSpPr/>
          <p:nvPr/>
        </p:nvSpPr>
        <p:spPr>
          <a:xfrm>
            <a:off x="7446764" y="8632865"/>
            <a:ext cx="297656" cy="297656"/>
          </a:xfrm>
          <a:prstGeom prst="roundRect">
            <a:avLst>
              <a:gd name="adj" fmla="val 30716954"/>
            </a:avLst>
          </a:prstGeom>
          <a:solidFill>
            <a:srgbClr val="835E54"/>
          </a:solidFill>
          <a:ln/>
        </p:spPr>
        <p:txBody>
          <a:bodyPr/>
          <a:lstStyle/>
          <a:p>
            <a:endParaRPr lang="en-AU"/>
          </a:p>
        </p:txBody>
      </p:sp>
      <p:pic>
        <p:nvPicPr>
          <p:cNvPr id="91" name="Image 17" descr="preencoded.png"/>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7528560" y="8714661"/>
            <a:ext cx="133945" cy="133945"/>
          </a:xfrm>
          <a:prstGeom prst="rect">
            <a:avLst/>
          </a:prstGeom>
        </p:spPr>
      </p:pic>
      <p:sp>
        <p:nvSpPr>
          <p:cNvPr id="92" name="Text 72"/>
          <p:cNvSpPr/>
          <p:nvPr/>
        </p:nvSpPr>
        <p:spPr>
          <a:xfrm>
            <a:off x="7446764" y="8980051"/>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Rumble</a:t>
            </a:r>
            <a:endParaRPr lang="en-US" sz="950" dirty="0"/>
          </a:p>
        </p:txBody>
      </p:sp>
      <p:sp>
        <p:nvSpPr>
          <p:cNvPr id="93" name="Text 73"/>
          <p:cNvSpPr/>
          <p:nvPr/>
        </p:nvSpPr>
        <p:spPr>
          <a:xfrm>
            <a:off x="7446764" y="9164836"/>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Mirror channel for select videos; main content on YouTube.</a:t>
            </a:r>
            <a:endParaRPr lang="en-US" sz="750" dirty="0"/>
          </a:p>
        </p:txBody>
      </p:sp>
      <p:sp>
        <p:nvSpPr>
          <p:cNvPr id="94" name="Shape 74"/>
          <p:cNvSpPr/>
          <p:nvPr/>
        </p:nvSpPr>
        <p:spPr>
          <a:xfrm>
            <a:off x="3402449" y="9440108"/>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95" name="Shape 75"/>
          <p:cNvSpPr/>
          <p:nvPr/>
        </p:nvSpPr>
        <p:spPr>
          <a:xfrm>
            <a:off x="3509248" y="9546908"/>
            <a:ext cx="297656" cy="297656"/>
          </a:xfrm>
          <a:prstGeom prst="roundRect">
            <a:avLst>
              <a:gd name="adj" fmla="val 30716954"/>
            </a:avLst>
          </a:prstGeom>
          <a:solidFill>
            <a:srgbClr val="835E54"/>
          </a:solidFill>
          <a:ln/>
        </p:spPr>
        <p:txBody>
          <a:bodyPr/>
          <a:lstStyle/>
          <a:p>
            <a:endParaRPr lang="en-AU"/>
          </a:p>
        </p:txBody>
      </p:sp>
      <p:pic>
        <p:nvPicPr>
          <p:cNvPr id="96" name="Image 18" descr="preencoded.png"/>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3591044" y="9628703"/>
            <a:ext cx="133945" cy="133945"/>
          </a:xfrm>
          <a:prstGeom prst="rect">
            <a:avLst/>
          </a:prstGeom>
        </p:spPr>
      </p:pic>
      <p:sp>
        <p:nvSpPr>
          <p:cNvPr id="97" name="Text 76"/>
          <p:cNvSpPr/>
          <p:nvPr/>
        </p:nvSpPr>
        <p:spPr>
          <a:xfrm>
            <a:off x="3509248" y="989409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Patreon</a:t>
            </a:r>
            <a:endParaRPr lang="en-US" sz="950" dirty="0"/>
          </a:p>
        </p:txBody>
      </p:sp>
      <p:sp>
        <p:nvSpPr>
          <p:cNvPr id="98" name="Text 77"/>
          <p:cNvSpPr/>
          <p:nvPr/>
        </p:nvSpPr>
        <p:spPr>
          <a:xfrm>
            <a:off x="3509248" y="10078879"/>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Support the channel; exclusive content linked from YouTube.</a:t>
            </a:r>
            <a:endParaRPr lang="en-US" sz="750" dirty="0"/>
          </a:p>
        </p:txBody>
      </p:sp>
      <p:sp>
        <p:nvSpPr>
          <p:cNvPr id="99" name="Shape 78"/>
          <p:cNvSpPr/>
          <p:nvPr/>
        </p:nvSpPr>
        <p:spPr>
          <a:xfrm>
            <a:off x="7339965" y="9440108"/>
            <a:ext cx="3887986" cy="864513"/>
          </a:xfrm>
          <a:prstGeom prst="roundRect">
            <a:avLst>
              <a:gd name="adj" fmla="val 4821"/>
            </a:avLst>
          </a:prstGeom>
          <a:solidFill>
            <a:srgbClr val="EBE2E0"/>
          </a:solidFill>
          <a:ln w="7620">
            <a:solidFill>
              <a:srgbClr val="D1C8C6"/>
            </a:solidFill>
            <a:prstDash val="solid"/>
          </a:ln>
        </p:spPr>
        <p:txBody>
          <a:bodyPr/>
          <a:lstStyle/>
          <a:p>
            <a:endParaRPr lang="en-AU"/>
          </a:p>
        </p:txBody>
      </p:sp>
      <p:sp>
        <p:nvSpPr>
          <p:cNvPr id="100" name="Shape 79"/>
          <p:cNvSpPr/>
          <p:nvPr/>
        </p:nvSpPr>
        <p:spPr>
          <a:xfrm>
            <a:off x="7446764" y="9546908"/>
            <a:ext cx="297656" cy="297656"/>
          </a:xfrm>
          <a:prstGeom prst="roundRect">
            <a:avLst>
              <a:gd name="adj" fmla="val 30716954"/>
            </a:avLst>
          </a:prstGeom>
          <a:solidFill>
            <a:srgbClr val="835E54"/>
          </a:solidFill>
          <a:ln/>
        </p:spPr>
        <p:txBody>
          <a:bodyPr/>
          <a:lstStyle/>
          <a:p>
            <a:endParaRPr lang="en-AU"/>
          </a:p>
        </p:txBody>
      </p:sp>
      <p:pic>
        <p:nvPicPr>
          <p:cNvPr id="101" name="Image 19" descr="preencoded.png"/>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7528560" y="9628703"/>
            <a:ext cx="133945" cy="133945"/>
          </a:xfrm>
          <a:prstGeom prst="rect">
            <a:avLst/>
          </a:prstGeom>
        </p:spPr>
      </p:pic>
      <p:sp>
        <p:nvSpPr>
          <p:cNvPr id="102" name="Text 80"/>
          <p:cNvSpPr/>
          <p:nvPr/>
        </p:nvSpPr>
        <p:spPr>
          <a:xfrm>
            <a:off x="7446764" y="989409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WhatsApp</a:t>
            </a:r>
            <a:endParaRPr lang="en-US" sz="950" dirty="0"/>
          </a:p>
        </p:txBody>
      </p:sp>
      <p:sp>
        <p:nvSpPr>
          <p:cNvPr id="103" name="Text 81"/>
          <p:cNvSpPr/>
          <p:nvPr/>
        </p:nvSpPr>
        <p:spPr>
          <a:xfrm>
            <a:off x="7446764" y="10078879"/>
            <a:ext cx="3674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Join the broadcast channel for direct YouTube video alerts.</a:t>
            </a:r>
            <a:endParaRPr lang="en-US" sz="750" dirty="0"/>
          </a:p>
        </p:txBody>
      </p:sp>
      <p:sp>
        <p:nvSpPr>
          <p:cNvPr id="104" name="Shape 82"/>
          <p:cNvSpPr/>
          <p:nvPr/>
        </p:nvSpPr>
        <p:spPr>
          <a:xfrm>
            <a:off x="3402449" y="10354151"/>
            <a:ext cx="7825502" cy="983456"/>
          </a:xfrm>
          <a:prstGeom prst="roundRect">
            <a:avLst>
              <a:gd name="adj" fmla="val 4238"/>
            </a:avLst>
          </a:prstGeom>
          <a:solidFill>
            <a:srgbClr val="EBE2E0"/>
          </a:solidFill>
          <a:ln w="7620">
            <a:solidFill>
              <a:srgbClr val="D1C8C6"/>
            </a:solidFill>
            <a:prstDash val="solid"/>
          </a:ln>
        </p:spPr>
        <p:txBody>
          <a:bodyPr/>
          <a:lstStyle/>
          <a:p>
            <a:endParaRPr lang="en-AU"/>
          </a:p>
        </p:txBody>
      </p:sp>
      <p:sp>
        <p:nvSpPr>
          <p:cNvPr id="105" name="Shape 83"/>
          <p:cNvSpPr/>
          <p:nvPr/>
        </p:nvSpPr>
        <p:spPr>
          <a:xfrm>
            <a:off x="3509248" y="10460950"/>
            <a:ext cx="297656" cy="297656"/>
          </a:xfrm>
          <a:prstGeom prst="roundRect">
            <a:avLst>
              <a:gd name="adj" fmla="val 30716954"/>
            </a:avLst>
          </a:prstGeom>
          <a:solidFill>
            <a:srgbClr val="835E54"/>
          </a:solidFill>
          <a:ln/>
        </p:spPr>
        <p:txBody>
          <a:bodyPr/>
          <a:lstStyle/>
          <a:p>
            <a:endParaRPr lang="en-AU"/>
          </a:p>
        </p:txBody>
      </p:sp>
      <p:sp>
        <p:nvSpPr>
          <p:cNvPr id="106" name="Text 84"/>
          <p:cNvSpPr/>
          <p:nvPr/>
        </p:nvSpPr>
        <p:spPr>
          <a:xfrm>
            <a:off x="3591044" y="10526078"/>
            <a:ext cx="133945" cy="167402"/>
          </a:xfrm>
          <a:prstGeom prst="rect">
            <a:avLst/>
          </a:prstGeom>
          <a:noFill/>
          <a:ln/>
        </p:spPr>
        <p:txBody>
          <a:bodyPr wrap="none" lIns="0" tIns="0" rIns="0" bIns="0" rtlCol="0" anchor="t"/>
          <a:lstStyle/>
          <a:p>
            <a:pPr marL="0" indent="0" algn="l">
              <a:lnSpc>
                <a:spcPts val="1250"/>
              </a:lnSpc>
              <a:buNone/>
            </a:pPr>
            <a:r>
              <a:rPr lang="en-US" sz="1050" b="1" dirty="0">
                <a:solidFill>
                  <a:srgbClr val="FFFFFF"/>
                </a:solidFill>
                <a:latin typeface="Crimson Pro Bold" pitchFamily="34" charset="0"/>
                <a:ea typeface="Crimson Pro Bold" pitchFamily="34" charset="-122"/>
                <a:cs typeface="Crimson Pro Bold" pitchFamily="34" charset="-120"/>
              </a:rPr>
              <a:t>21</a:t>
            </a:r>
            <a:endParaRPr lang="en-US" sz="1050" dirty="0"/>
          </a:p>
        </p:txBody>
      </p:sp>
      <p:sp>
        <p:nvSpPr>
          <p:cNvPr id="107" name="Text 85"/>
          <p:cNvSpPr/>
          <p:nvPr/>
        </p:nvSpPr>
        <p:spPr>
          <a:xfrm>
            <a:off x="3509248" y="10808137"/>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WeChat</a:t>
            </a:r>
            <a:endParaRPr lang="en-US" sz="950" dirty="0"/>
          </a:p>
        </p:txBody>
      </p:sp>
      <p:sp>
        <p:nvSpPr>
          <p:cNvPr id="108" name="Text 86"/>
          <p:cNvSpPr/>
          <p:nvPr/>
        </p:nvSpPr>
        <p:spPr>
          <a:xfrm>
            <a:off x="3509248" y="10992922"/>
            <a:ext cx="7611904"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Connecting with our Chinese student community worldwide. Follow our WeChat Official Account for videos, podcast episodes, and learning content — all in one place. 微信公众号: BreakingMentalModels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531144" y="441841"/>
            <a:ext cx="5126474" cy="7345799"/>
          </a:xfrm>
          <a:prstGeom prst="roundRect">
            <a:avLst>
              <a:gd name="adj" fmla="val 2023"/>
            </a:avLst>
          </a:prstGeom>
          <a:solidFill>
            <a:srgbClr val="835E54"/>
          </a:solidFill>
          <a:ln/>
        </p:spPr>
        <p:txBody>
          <a:bodyPr/>
          <a:lstStyle/>
          <a:p>
            <a:endParaRPr lang="en-AU"/>
          </a:p>
        </p:txBody>
      </p:sp>
      <p:sp>
        <p:nvSpPr>
          <p:cNvPr id="3" name="Text 1"/>
          <p:cNvSpPr/>
          <p:nvPr/>
        </p:nvSpPr>
        <p:spPr>
          <a:xfrm>
            <a:off x="1675090" y="546378"/>
            <a:ext cx="4838581" cy="900351"/>
          </a:xfrm>
          <a:prstGeom prst="rect">
            <a:avLst/>
          </a:prstGeom>
          <a:noFill/>
          <a:ln/>
        </p:spPr>
        <p:txBody>
          <a:bodyPr wrap="square" lIns="0" tIns="0" rIns="0" bIns="0" rtlCol="0" anchor="t"/>
          <a:lstStyle/>
          <a:p>
            <a:pPr marL="0" indent="0" algn="l">
              <a:lnSpc>
                <a:spcPts val="3500"/>
              </a:lnSpc>
              <a:buNone/>
            </a:pPr>
            <a:r>
              <a:rPr lang="en-US" sz="2800" b="1" dirty="0">
                <a:solidFill>
                  <a:srgbClr val="FFFFFF"/>
                </a:solidFill>
                <a:latin typeface="Crimson Pro Bold" pitchFamily="34" charset="0"/>
                <a:ea typeface="Crimson Pro Bold" pitchFamily="34" charset="-122"/>
                <a:cs typeface="Crimson Pro Bold" pitchFamily="34" charset="-120"/>
              </a:rPr>
              <a:t>Feedback Mechanism: Your Voice Matters</a:t>
            </a:r>
            <a:endParaRPr lang="en-US" sz="2800" dirty="0"/>
          </a:p>
        </p:txBody>
      </p:sp>
      <p:sp>
        <p:nvSpPr>
          <p:cNvPr id="4" name="Text 2"/>
          <p:cNvSpPr/>
          <p:nvPr/>
        </p:nvSpPr>
        <p:spPr>
          <a:xfrm>
            <a:off x="1675090" y="1551265"/>
            <a:ext cx="4838581" cy="596503"/>
          </a:xfrm>
          <a:prstGeom prst="rect">
            <a:avLst/>
          </a:prstGeom>
          <a:noFill/>
          <a:ln/>
        </p:spPr>
        <p:txBody>
          <a:bodyPr wrap="square" lIns="0" tIns="0" rIns="0" bIns="0" rtlCol="0" anchor="t"/>
          <a:lstStyle/>
          <a:p>
            <a:pPr marL="0" indent="0" algn="l">
              <a:lnSpc>
                <a:spcPts val="1550"/>
              </a:lnSpc>
              <a:buNone/>
            </a:pPr>
            <a:r>
              <a:rPr lang="en-US" sz="1100" dirty="0">
                <a:solidFill>
                  <a:srgbClr val="FFFFFF"/>
                </a:solidFill>
                <a:latin typeface="Open Sans" pitchFamily="34" charset="0"/>
                <a:ea typeface="Open Sans" pitchFamily="34" charset="-122"/>
                <a:cs typeface="Open Sans" pitchFamily="34" charset="-120"/>
              </a:rPr>
              <a:t>We genuinely believe that the best ideas come from the community. Your feedback doesn't just disappear into a void — it's read, considered, and celebrated. Leave a thought, a suggestion, or a story.</a:t>
            </a:r>
            <a:endParaRPr lang="en-US" sz="1100" dirty="0"/>
          </a:p>
        </p:txBody>
      </p:sp>
      <p:sp>
        <p:nvSpPr>
          <p:cNvPr id="5" name="Shape 3"/>
          <p:cNvSpPr/>
          <p:nvPr/>
        </p:nvSpPr>
        <p:spPr>
          <a:xfrm>
            <a:off x="1675090" y="2265402"/>
            <a:ext cx="324088" cy="324088"/>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6" name="Text 4"/>
          <p:cNvSpPr/>
          <p:nvPr/>
        </p:nvSpPr>
        <p:spPr>
          <a:xfrm>
            <a:off x="1729145" y="2292429"/>
            <a:ext cx="215979" cy="270034"/>
          </a:xfrm>
          <a:prstGeom prst="rect">
            <a:avLst/>
          </a:prstGeom>
          <a:noFill/>
          <a:ln/>
        </p:spPr>
        <p:txBody>
          <a:bodyPr wrap="none" lIns="0" tIns="0" rIns="0" bIns="0" rtlCol="0" anchor="t"/>
          <a:lstStyle/>
          <a:p>
            <a:pPr marL="0" indent="0" algn="ctr">
              <a:lnSpc>
                <a:spcPts val="1700"/>
              </a:lnSpc>
              <a:buNone/>
            </a:pPr>
            <a:r>
              <a:rPr lang="en-US" sz="1700" b="1" dirty="0">
                <a:solidFill>
                  <a:srgbClr val="000000"/>
                </a:solidFill>
                <a:latin typeface="Crimson Pro Bold" pitchFamily="34" charset="0"/>
                <a:ea typeface="Crimson Pro Bold" pitchFamily="34" charset="-122"/>
                <a:cs typeface="Crimson Pro Bold" pitchFamily="34" charset="-120"/>
              </a:rPr>
              <a:t>1</a:t>
            </a:r>
            <a:endParaRPr lang="en-US" sz="1700" dirty="0"/>
          </a:p>
        </p:txBody>
      </p:sp>
      <p:sp>
        <p:nvSpPr>
          <p:cNvPr id="7" name="Text 5"/>
          <p:cNvSpPr/>
          <p:nvPr/>
        </p:nvSpPr>
        <p:spPr>
          <a:xfrm>
            <a:off x="2103715" y="2314813"/>
            <a:ext cx="1955483" cy="225028"/>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Crimson Pro Bold" pitchFamily="34" charset="0"/>
                <a:ea typeface="Crimson Pro Bold" pitchFamily="34" charset="-122"/>
                <a:cs typeface="Crimson Pro Bold" pitchFamily="34" charset="-120"/>
              </a:rPr>
              <a:t>Share Your Name &amp; Email</a:t>
            </a:r>
            <a:endParaRPr lang="en-US" sz="1400" dirty="0"/>
          </a:p>
        </p:txBody>
      </p:sp>
      <p:sp>
        <p:nvSpPr>
          <p:cNvPr id="8" name="Text 6"/>
          <p:cNvSpPr/>
          <p:nvPr/>
        </p:nvSpPr>
        <p:spPr>
          <a:xfrm>
            <a:off x="2103715" y="2644378"/>
            <a:ext cx="4409956" cy="397669"/>
          </a:xfrm>
          <a:prstGeom prst="rect">
            <a:avLst/>
          </a:prstGeom>
          <a:noFill/>
          <a:ln/>
        </p:spPr>
        <p:txBody>
          <a:bodyPr wrap="square" lIns="0" tIns="0" rIns="0" bIns="0" rtlCol="0" anchor="t"/>
          <a:lstStyle/>
          <a:p>
            <a:pPr marL="0" indent="0" algn="l">
              <a:lnSpc>
                <a:spcPts val="1550"/>
              </a:lnSpc>
              <a:buNone/>
            </a:pPr>
            <a:r>
              <a:rPr lang="en-US" sz="1100" dirty="0">
                <a:solidFill>
                  <a:srgbClr val="FFFFFF"/>
                </a:solidFill>
                <a:latin typeface="Open Sans" pitchFamily="34" charset="0"/>
                <a:ea typeface="Open Sans" pitchFamily="34" charset="-122"/>
                <a:cs typeface="Open Sans" pitchFamily="34" charset="-120"/>
              </a:rPr>
              <a:t>So we can credit your contribution and follow up personally if needed.</a:t>
            </a:r>
            <a:endParaRPr lang="en-US" sz="1100" dirty="0"/>
          </a:p>
        </p:txBody>
      </p:sp>
      <p:sp>
        <p:nvSpPr>
          <p:cNvPr id="9" name="Shape 7"/>
          <p:cNvSpPr/>
          <p:nvPr/>
        </p:nvSpPr>
        <p:spPr>
          <a:xfrm>
            <a:off x="1675090" y="3251121"/>
            <a:ext cx="324088" cy="324088"/>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10" name="Text 8"/>
          <p:cNvSpPr/>
          <p:nvPr/>
        </p:nvSpPr>
        <p:spPr>
          <a:xfrm>
            <a:off x="1729145" y="3278148"/>
            <a:ext cx="215979" cy="270034"/>
          </a:xfrm>
          <a:prstGeom prst="rect">
            <a:avLst/>
          </a:prstGeom>
          <a:noFill/>
          <a:ln/>
        </p:spPr>
        <p:txBody>
          <a:bodyPr wrap="none" lIns="0" tIns="0" rIns="0" bIns="0" rtlCol="0" anchor="t"/>
          <a:lstStyle/>
          <a:p>
            <a:pPr marL="0" indent="0" algn="ctr">
              <a:lnSpc>
                <a:spcPts val="1700"/>
              </a:lnSpc>
              <a:buNone/>
            </a:pPr>
            <a:r>
              <a:rPr lang="en-US" sz="1700" b="1" dirty="0">
                <a:solidFill>
                  <a:srgbClr val="000000"/>
                </a:solidFill>
                <a:latin typeface="Crimson Pro Bold" pitchFamily="34" charset="0"/>
                <a:ea typeface="Crimson Pro Bold" pitchFamily="34" charset="-122"/>
                <a:cs typeface="Crimson Pro Bold" pitchFamily="34" charset="-120"/>
              </a:rPr>
              <a:t>2</a:t>
            </a:r>
            <a:endParaRPr lang="en-US" sz="1700" dirty="0"/>
          </a:p>
        </p:txBody>
      </p:sp>
      <p:sp>
        <p:nvSpPr>
          <p:cNvPr id="11" name="Text 9"/>
          <p:cNvSpPr/>
          <p:nvPr/>
        </p:nvSpPr>
        <p:spPr>
          <a:xfrm>
            <a:off x="2103715" y="3300532"/>
            <a:ext cx="1800701" cy="225028"/>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Crimson Pro Bold" pitchFamily="34" charset="0"/>
                <a:ea typeface="Crimson Pro Bold" pitchFamily="34" charset="-122"/>
                <a:cs typeface="Crimson Pro Bold" pitchFamily="34" charset="-120"/>
              </a:rPr>
              <a:t>Write Your Feedback</a:t>
            </a:r>
            <a:endParaRPr lang="en-US" sz="1400" dirty="0"/>
          </a:p>
        </p:txBody>
      </p:sp>
      <p:sp>
        <p:nvSpPr>
          <p:cNvPr id="12" name="Text 10"/>
          <p:cNvSpPr/>
          <p:nvPr/>
        </p:nvSpPr>
        <p:spPr>
          <a:xfrm>
            <a:off x="2103715" y="3630097"/>
            <a:ext cx="4409956" cy="397669"/>
          </a:xfrm>
          <a:prstGeom prst="rect">
            <a:avLst/>
          </a:prstGeom>
          <a:noFill/>
          <a:ln/>
        </p:spPr>
        <p:txBody>
          <a:bodyPr wrap="square" lIns="0" tIns="0" rIns="0" bIns="0" rtlCol="0" anchor="t"/>
          <a:lstStyle/>
          <a:p>
            <a:pPr marL="0" indent="0" algn="l">
              <a:lnSpc>
                <a:spcPts val="1550"/>
              </a:lnSpc>
              <a:buNone/>
            </a:pPr>
            <a:r>
              <a:rPr lang="en-US" sz="1100" dirty="0">
                <a:solidFill>
                  <a:srgbClr val="FFFFFF"/>
                </a:solidFill>
                <a:latin typeface="Open Sans" pitchFamily="34" charset="0"/>
                <a:ea typeface="Open Sans" pitchFamily="34" charset="-122"/>
                <a:cs typeface="Open Sans" pitchFamily="34" charset="-120"/>
              </a:rPr>
              <a:t>A free-text area for your thoughts, stories, or suggestions — no word limit.</a:t>
            </a:r>
            <a:endParaRPr lang="en-US" sz="1100" dirty="0"/>
          </a:p>
        </p:txBody>
      </p:sp>
      <p:sp>
        <p:nvSpPr>
          <p:cNvPr id="13" name="Shape 11"/>
          <p:cNvSpPr/>
          <p:nvPr/>
        </p:nvSpPr>
        <p:spPr>
          <a:xfrm>
            <a:off x="1675090" y="4236839"/>
            <a:ext cx="324088" cy="324088"/>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14" name="Text 12"/>
          <p:cNvSpPr/>
          <p:nvPr/>
        </p:nvSpPr>
        <p:spPr>
          <a:xfrm>
            <a:off x="1729145" y="4263866"/>
            <a:ext cx="215979" cy="270034"/>
          </a:xfrm>
          <a:prstGeom prst="rect">
            <a:avLst/>
          </a:prstGeom>
          <a:noFill/>
          <a:ln/>
        </p:spPr>
        <p:txBody>
          <a:bodyPr wrap="none" lIns="0" tIns="0" rIns="0" bIns="0" rtlCol="0" anchor="t"/>
          <a:lstStyle/>
          <a:p>
            <a:pPr marL="0" indent="0" algn="ctr">
              <a:lnSpc>
                <a:spcPts val="1700"/>
              </a:lnSpc>
              <a:buNone/>
            </a:pPr>
            <a:r>
              <a:rPr lang="en-US" sz="1700" b="1" dirty="0">
                <a:solidFill>
                  <a:srgbClr val="000000"/>
                </a:solidFill>
                <a:latin typeface="Crimson Pro Bold" pitchFamily="34" charset="0"/>
                <a:ea typeface="Crimson Pro Bold" pitchFamily="34" charset="-122"/>
                <a:cs typeface="Crimson Pro Bold" pitchFamily="34" charset="-120"/>
              </a:rPr>
              <a:t>3</a:t>
            </a:r>
            <a:endParaRPr lang="en-US" sz="1700" dirty="0"/>
          </a:p>
        </p:txBody>
      </p:sp>
      <p:sp>
        <p:nvSpPr>
          <p:cNvPr id="15" name="Text 13"/>
          <p:cNvSpPr/>
          <p:nvPr/>
        </p:nvSpPr>
        <p:spPr>
          <a:xfrm>
            <a:off x="2103715" y="4286250"/>
            <a:ext cx="1800701" cy="225028"/>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Crimson Pro Bold" pitchFamily="34" charset="0"/>
                <a:ea typeface="Crimson Pro Bold" pitchFamily="34" charset="-122"/>
                <a:cs typeface="Crimson Pro Bold" pitchFamily="34" charset="-120"/>
              </a:rPr>
              <a:t>Optionally Attach a File</a:t>
            </a:r>
            <a:endParaRPr lang="en-US" sz="1400" dirty="0"/>
          </a:p>
        </p:txBody>
      </p:sp>
      <p:sp>
        <p:nvSpPr>
          <p:cNvPr id="16" name="Text 14"/>
          <p:cNvSpPr/>
          <p:nvPr/>
        </p:nvSpPr>
        <p:spPr>
          <a:xfrm>
            <a:off x="2103715" y="4615815"/>
            <a:ext cx="4409956" cy="397669"/>
          </a:xfrm>
          <a:prstGeom prst="rect">
            <a:avLst/>
          </a:prstGeom>
          <a:noFill/>
          <a:ln/>
        </p:spPr>
        <p:txBody>
          <a:bodyPr wrap="square" lIns="0" tIns="0" rIns="0" bIns="0" rtlCol="0" anchor="t"/>
          <a:lstStyle/>
          <a:p>
            <a:pPr marL="0" indent="0" algn="l">
              <a:lnSpc>
                <a:spcPts val="1550"/>
              </a:lnSpc>
              <a:buNone/>
            </a:pPr>
            <a:r>
              <a:rPr lang="en-US" sz="1100" dirty="0">
                <a:solidFill>
                  <a:srgbClr val="FFFFFF"/>
                </a:solidFill>
                <a:latin typeface="Open Sans" pitchFamily="34" charset="0"/>
                <a:ea typeface="Open Sans" pitchFamily="34" charset="-122"/>
                <a:cs typeface="Open Sans" pitchFamily="34" charset="-120"/>
              </a:rPr>
              <a:t>Screenshots, documents, or images — anything that helps tell your story.</a:t>
            </a:r>
            <a:endParaRPr lang="en-US" sz="1100" dirty="0"/>
          </a:p>
        </p:txBody>
      </p:sp>
      <p:pic>
        <p:nvPicPr>
          <p:cNvPr id="17" name="Image 0" descr="preencoded.png"/>
          <p:cNvPicPr>
            <a:picLocks noChangeAspect="1"/>
          </p:cNvPicPr>
          <p:nvPr/>
        </p:nvPicPr>
        <p:blipFill>
          <a:blip r:embed="rId3"/>
          <a:stretch>
            <a:fillRect/>
          </a:stretch>
        </p:blipFill>
        <p:spPr>
          <a:xfrm>
            <a:off x="6912888" y="559475"/>
            <a:ext cx="6089928" cy="6089928"/>
          </a:xfrm>
          <a:prstGeom prst="rect">
            <a:avLst/>
          </a:prstGeom>
        </p:spPr>
      </p:pic>
      <p:sp>
        <p:nvSpPr>
          <p:cNvPr id="18" name="Shape 15"/>
          <p:cNvSpPr/>
          <p:nvPr/>
        </p:nvSpPr>
        <p:spPr>
          <a:xfrm>
            <a:off x="6912888" y="6767036"/>
            <a:ext cx="6089928" cy="902970"/>
          </a:xfrm>
          <a:prstGeom prst="roundRect">
            <a:avLst>
              <a:gd name="adj" fmla="val 6701"/>
            </a:avLst>
          </a:prstGeom>
          <a:solidFill>
            <a:srgbClr val="E1D4D0"/>
          </a:solidFill>
          <a:ln/>
        </p:spPr>
        <p:txBody>
          <a:bodyPr/>
          <a:lstStyle/>
          <a:p>
            <a:endParaRPr lang="en-AU"/>
          </a:p>
        </p:txBody>
      </p:sp>
      <p:pic>
        <p:nvPicPr>
          <p:cNvPr id="19" name="Image 1" descr="preencoded.png"/>
          <p:cNvPicPr>
            <a:picLocks noChangeAspect="1"/>
          </p:cNvPicPr>
          <p:nvPr/>
        </p:nvPicPr>
        <p:blipFill>
          <a:blip r:embed="rId4"/>
          <a:stretch>
            <a:fillRect/>
          </a:stretch>
        </p:blipFill>
        <p:spPr>
          <a:xfrm>
            <a:off x="7056834" y="6973372"/>
            <a:ext cx="180023" cy="143947"/>
          </a:xfrm>
          <a:prstGeom prst="rect">
            <a:avLst/>
          </a:prstGeom>
        </p:spPr>
      </p:pic>
      <p:sp>
        <p:nvSpPr>
          <p:cNvPr id="20" name="Text 16"/>
          <p:cNvSpPr/>
          <p:nvPr/>
        </p:nvSpPr>
        <p:spPr>
          <a:xfrm>
            <a:off x="7380803" y="6907530"/>
            <a:ext cx="5478066" cy="596503"/>
          </a:xfrm>
          <a:prstGeom prst="rect">
            <a:avLst/>
          </a:prstGeom>
          <a:noFill/>
          <a:ln/>
        </p:spPr>
        <p:txBody>
          <a:bodyPr wrap="square" lIns="0" tIns="0" rIns="0" bIns="0" rtlCol="0" anchor="t"/>
          <a:lstStyle/>
          <a:p>
            <a:pPr marL="0" indent="0" algn="l">
              <a:lnSpc>
                <a:spcPts val="1550"/>
              </a:lnSpc>
              <a:buNone/>
            </a:pPr>
            <a:r>
              <a:rPr lang="en-US" sz="1100" dirty="0">
                <a:solidFill>
                  <a:srgbClr val="000000"/>
                </a:solidFill>
                <a:latin typeface="Open Sans" pitchFamily="34" charset="0"/>
                <a:ea typeface="Open Sans" pitchFamily="34" charset="-122"/>
                <a:cs typeface="Open Sans" pitchFamily="34" charset="-120"/>
              </a:rPr>
              <a:t>Once submitted, your feedback enters a moderation queue. You'll receive a confirmation email, and a second notification when your feedback goes live on the site.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510546" y="445056"/>
            <a:ext cx="4916210" cy="459938"/>
          </a:xfrm>
          <a:prstGeom prst="rect">
            <a:avLst/>
          </a:prstGeom>
          <a:noFill/>
          <a:ln/>
        </p:spPr>
        <p:txBody>
          <a:bodyPr wrap="none" lIns="0" tIns="0" rIns="0" bIns="0" rtlCol="0" anchor="t"/>
          <a:lstStyle/>
          <a:p>
            <a:pPr marL="0" indent="0" algn="l">
              <a:lnSpc>
                <a:spcPts val="3600"/>
              </a:lnSpc>
              <a:buNone/>
            </a:pPr>
            <a:r>
              <a:rPr lang="en-US" sz="2850" b="1" dirty="0">
                <a:solidFill>
                  <a:srgbClr val="443728"/>
                </a:solidFill>
                <a:latin typeface="Crimson Pro Bold" pitchFamily="34" charset="0"/>
                <a:ea typeface="Crimson Pro Bold" pitchFamily="34" charset="-122"/>
                <a:cs typeface="Crimson Pro Bold" pitchFamily="34" charset="-120"/>
              </a:rPr>
              <a:t>Moderation &amp; Approval Process</a:t>
            </a:r>
            <a:endParaRPr lang="en-US" sz="2850" dirty="0"/>
          </a:p>
        </p:txBody>
      </p:sp>
      <p:sp>
        <p:nvSpPr>
          <p:cNvPr id="3" name="Text 1"/>
          <p:cNvSpPr/>
          <p:nvPr/>
        </p:nvSpPr>
        <p:spPr>
          <a:xfrm>
            <a:off x="1510546" y="1123355"/>
            <a:ext cx="11609189" cy="410051"/>
          </a:xfrm>
          <a:prstGeom prst="rect">
            <a:avLst/>
          </a:prstGeom>
          <a:noFill/>
          <a:ln/>
        </p:spPr>
        <p:txBody>
          <a:bodyPr wrap="square" lIns="0" tIns="0" rIns="0" bIns="0" rtlCol="0" anchor="t"/>
          <a:lstStyle/>
          <a:p>
            <a:pPr marL="0" indent="0" algn="l">
              <a:lnSpc>
                <a:spcPts val="1600"/>
              </a:lnSpc>
              <a:buNone/>
            </a:pPr>
            <a:r>
              <a:rPr lang="en-US" sz="1150" dirty="0">
                <a:solidFill>
                  <a:srgbClr val="443728"/>
                </a:solidFill>
                <a:latin typeface="Open Sans" pitchFamily="34" charset="0"/>
                <a:ea typeface="Open Sans" pitchFamily="34" charset="-122"/>
                <a:cs typeface="Open Sans" pitchFamily="34" charset="-120"/>
              </a:rPr>
              <a:t>We're committed to maintaining a respectful, high-quality space for all voices. Every piece of feedback goes through a clear, transparent moderation journey before it appears publicly on the site.</a:t>
            </a:r>
            <a:endParaRPr lang="en-US" sz="1150" dirty="0"/>
          </a:p>
        </p:txBody>
      </p:sp>
      <p:pic>
        <p:nvPicPr>
          <p:cNvPr id="4" name="Image 0" descr="preencoded.png"/>
          <p:cNvPicPr>
            <a:picLocks noChangeAspect="1"/>
          </p:cNvPicPr>
          <p:nvPr/>
        </p:nvPicPr>
        <p:blipFill>
          <a:blip r:embed="rId3"/>
          <a:stretch>
            <a:fillRect/>
          </a:stretch>
        </p:blipFill>
        <p:spPr>
          <a:xfrm>
            <a:off x="2032992" y="1656159"/>
            <a:ext cx="10564297" cy="5595580"/>
          </a:xfrm>
          <a:prstGeom prst="rect">
            <a:avLst/>
          </a:prstGeom>
        </p:spPr>
      </p:pic>
      <p:sp>
        <p:nvSpPr>
          <p:cNvPr id="5" name="Text 2"/>
          <p:cNvSpPr/>
          <p:nvPr/>
        </p:nvSpPr>
        <p:spPr>
          <a:xfrm>
            <a:off x="3495614" y="5655307"/>
            <a:ext cx="2612044" cy="326505"/>
          </a:xfrm>
          <a:prstGeom prst="rect">
            <a:avLst/>
          </a:prstGeom>
          <a:noFill/>
          <a:ln/>
        </p:spPr>
        <p:txBody>
          <a:bodyPr wrap="none" lIns="0" tIns="0" rIns="0" bIns="0" rtlCol="0" anchor="t"/>
          <a:lstStyle/>
          <a:p>
            <a:pPr marL="0" indent="0" algn="r">
              <a:lnSpc>
                <a:spcPts val="2550"/>
              </a:lnSpc>
              <a:buNone/>
            </a:pPr>
            <a:r>
              <a:rPr lang="en-US" sz="2050" b="1" dirty="0">
                <a:solidFill>
                  <a:srgbClr val="443728"/>
                </a:solidFill>
                <a:latin typeface="Crimson Pro Bold" pitchFamily="34" charset="0"/>
                <a:ea typeface="Crimson Pro Bold" pitchFamily="34" charset="-122"/>
                <a:cs typeface="Crimson Pro Bold" pitchFamily="34" charset="-120"/>
              </a:rPr>
              <a:t>Submission Received</a:t>
            </a:r>
            <a:endParaRPr lang="en-US" sz="2050" dirty="0"/>
          </a:p>
        </p:txBody>
      </p:sp>
      <p:sp>
        <p:nvSpPr>
          <p:cNvPr id="6" name="Text 3"/>
          <p:cNvSpPr/>
          <p:nvPr/>
        </p:nvSpPr>
        <p:spPr>
          <a:xfrm>
            <a:off x="3309868" y="6074685"/>
            <a:ext cx="2797789" cy="454931"/>
          </a:xfrm>
          <a:prstGeom prst="rect">
            <a:avLst/>
          </a:prstGeom>
          <a:noFill/>
          <a:ln/>
        </p:spPr>
        <p:txBody>
          <a:bodyPr wrap="square" lIns="0" tIns="0" rIns="0" bIns="0" rtlCol="0" anchor="t"/>
          <a:lstStyle/>
          <a:p>
            <a:pPr marL="0" indent="0" algn="r">
              <a:lnSpc>
                <a:spcPts val="1750"/>
              </a:lnSpc>
              <a:buNone/>
            </a:pPr>
            <a:r>
              <a:rPr lang="en-US" sz="1600" dirty="0">
                <a:solidFill>
                  <a:srgbClr val="443728"/>
                </a:solidFill>
                <a:latin typeface="Open Sans" pitchFamily="34" charset="0"/>
                <a:ea typeface="Open Sans" pitchFamily="34" charset="-122"/>
                <a:cs typeface="Open Sans" pitchFamily="34" charset="-120"/>
              </a:rPr>
              <a:t>Feedback enters queue; user gets confirmation.</a:t>
            </a:r>
            <a:endParaRPr lang="en-US" sz="1600" dirty="0"/>
          </a:p>
        </p:txBody>
      </p:sp>
      <p:sp>
        <p:nvSpPr>
          <p:cNvPr id="7" name="Text 4"/>
          <p:cNvSpPr/>
          <p:nvPr/>
        </p:nvSpPr>
        <p:spPr>
          <a:xfrm>
            <a:off x="2474014" y="2377918"/>
            <a:ext cx="2612044" cy="326505"/>
          </a:xfrm>
          <a:prstGeom prst="rect">
            <a:avLst/>
          </a:prstGeom>
          <a:noFill/>
          <a:ln/>
        </p:spPr>
        <p:txBody>
          <a:bodyPr wrap="none" lIns="0" tIns="0" rIns="0" bIns="0" rtlCol="0" anchor="t"/>
          <a:lstStyle/>
          <a:p>
            <a:pPr marL="0" indent="0" algn="r">
              <a:lnSpc>
                <a:spcPts val="2550"/>
              </a:lnSpc>
              <a:buNone/>
            </a:pPr>
            <a:r>
              <a:rPr lang="en-US" sz="2050" b="1" dirty="0">
                <a:solidFill>
                  <a:srgbClr val="443728"/>
                </a:solidFill>
                <a:latin typeface="Crimson Pro Bold" pitchFamily="34" charset="0"/>
                <a:ea typeface="Crimson Pro Bold" pitchFamily="34" charset="-122"/>
                <a:cs typeface="Crimson Pro Bold" pitchFamily="34" charset="-120"/>
              </a:rPr>
              <a:t>Admin Review</a:t>
            </a:r>
            <a:endParaRPr lang="en-US" sz="2050" dirty="0"/>
          </a:p>
        </p:txBody>
      </p:sp>
      <p:sp>
        <p:nvSpPr>
          <p:cNvPr id="8" name="Text 5"/>
          <p:cNvSpPr/>
          <p:nvPr/>
        </p:nvSpPr>
        <p:spPr>
          <a:xfrm>
            <a:off x="2288269" y="2797296"/>
            <a:ext cx="2797789" cy="454931"/>
          </a:xfrm>
          <a:prstGeom prst="rect">
            <a:avLst/>
          </a:prstGeom>
          <a:noFill/>
          <a:ln/>
        </p:spPr>
        <p:txBody>
          <a:bodyPr wrap="square" lIns="0" tIns="0" rIns="0" bIns="0" rtlCol="0" anchor="t"/>
          <a:lstStyle/>
          <a:p>
            <a:pPr marL="0" indent="0" algn="r">
              <a:lnSpc>
                <a:spcPts val="1750"/>
              </a:lnSpc>
              <a:buNone/>
            </a:pPr>
            <a:r>
              <a:rPr lang="en-US" sz="1600" dirty="0">
                <a:solidFill>
                  <a:srgbClr val="443728"/>
                </a:solidFill>
                <a:latin typeface="Open Sans" pitchFamily="34" charset="0"/>
                <a:ea typeface="Open Sans" pitchFamily="34" charset="-122"/>
                <a:cs typeface="Open Sans" pitchFamily="34" charset="-120"/>
              </a:rPr>
              <a:t>Team assesses quality and respect in panel.</a:t>
            </a:r>
            <a:endParaRPr lang="en-US" sz="1600" dirty="0"/>
          </a:p>
        </p:txBody>
      </p:sp>
      <p:sp>
        <p:nvSpPr>
          <p:cNvPr id="9" name="Text 6"/>
          <p:cNvSpPr/>
          <p:nvPr/>
        </p:nvSpPr>
        <p:spPr>
          <a:xfrm>
            <a:off x="8557174" y="2377918"/>
            <a:ext cx="2612043" cy="326505"/>
          </a:xfrm>
          <a:prstGeom prst="rect">
            <a:avLst/>
          </a:prstGeom>
          <a:noFill/>
          <a:ln/>
        </p:spPr>
        <p:txBody>
          <a:bodyPr wrap="none" lIns="0" tIns="0" rIns="0" bIns="0" rtlCol="0" anchor="t"/>
          <a:lstStyle/>
          <a:p>
            <a:pPr marL="0" indent="0" algn="l">
              <a:lnSpc>
                <a:spcPts val="2550"/>
              </a:lnSpc>
              <a:buNone/>
            </a:pPr>
            <a:r>
              <a:rPr lang="en-US" sz="2050" b="1" dirty="0">
                <a:solidFill>
                  <a:srgbClr val="443728"/>
                </a:solidFill>
                <a:latin typeface="Crimson Pro Bold" pitchFamily="34" charset="0"/>
                <a:ea typeface="Crimson Pro Bold" pitchFamily="34" charset="-122"/>
                <a:cs typeface="Crimson Pro Bold" pitchFamily="34" charset="-120"/>
              </a:rPr>
              <a:t>Approved or Declined</a:t>
            </a:r>
            <a:endParaRPr lang="en-US" sz="2050" dirty="0"/>
          </a:p>
        </p:txBody>
      </p:sp>
      <p:sp>
        <p:nvSpPr>
          <p:cNvPr id="10" name="Text 7"/>
          <p:cNvSpPr/>
          <p:nvPr/>
        </p:nvSpPr>
        <p:spPr>
          <a:xfrm>
            <a:off x="8557174" y="2797296"/>
            <a:ext cx="2797788" cy="454931"/>
          </a:xfrm>
          <a:prstGeom prst="rect">
            <a:avLst/>
          </a:prstGeom>
          <a:noFill/>
          <a:ln/>
        </p:spPr>
        <p:txBody>
          <a:bodyPr wrap="square" lIns="0" tIns="0" rIns="0" bIns="0" rtlCol="0" anchor="t"/>
          <a:lstStyle/>
          <a:p>
            <a:pPr marL="0" indent="0" algn="l">
              <a:lnSpc>
                <a:spcPts val="1750"/>
              </a:lnSpc>
              <a:buNone/>
            </a:pPr>
            <a:r>
              <a:rPr lang="en-US" sz="1600" dirty="0">
                <a:solidFill>
                  <a:srgbClr val="443728"/>
                </a:solidFill>
                <a:latin typeface="Open Sans" pitchFamily="34" charset="0"/>
                <a:ea typeface="Open Sans" pitchFamily="34" charset="-122"/>
                <a:cs typeface="Open Sans" pitchFamily="34" charset="-120"/>
              </a:rPr>
              <a:t>Approved gets Verified badge; declined explained.</a:t>
            </a:r>
            <a:endParaRPr lang="en-US" sz="1600" dirty="0"/>
          </a:p>
        </p:txBody>
      </p:sp>
      <p:sp>
        <p:nvSpPr>
          <p:cNvPr id="11" name="Text 8"/>
          <p:cNvSpPr/>
          <p:nvPr/>
        </p:nvSpPr>
        <p:spPr>
          <a:xfrm>
            <a:off x="9543946" y="5655489"/>
            <a:ext cx="2612044" cy="326505"/>
          </a:xfrm>
          <a:prstGeom prst="rect">
            <a:avLst/>
          </a:prstGeom>
          <a:noFill/>
          <a:ln/>
        </p:spPr>
        <p:txBody>
          <a:bodyPr wrap="none" lIns="0" tIns="0" rIns="0" bIns="0" rtlCol="0" anchor="t"/>
          <a:lstStyle/>
          <a:p>
            <a:pPr marL="0" indent="0" algn="l">
              <a:lnSpc>
                <a:spcPts val="2550"/>
              </a:lnSpc>
              <a:buNone/>
            </a:pPr>
            <a:r>
              <a:rPr lang="en-US" sz="2050" b="1" dirty="0">
                <a:solidFill>
                  <a:srgbClr val="443728"/>
                </a:solidFill>
                <a:latin typeface="Crimson Pro Bold" pitchFamily="34" charset="0"/>
                <a:ea typeface="Crimson Pro Bold" pitchFamily="34" charset="-122"/>
                <a:cs typeface="Crimson Pro Bold" pitchFamily="34" charset="-120"/>
              </a:rPr>
              <a:t>Published Live</a:t>
            </a:r>
            <a:endParaRPr lang="en-US" sz="2050" dirty="0"/>
          </a:p>
        </p:txBody>
      </p:sp>
      <p:sp>
        <p:nvSpPr>
          <p:cNvPr id="12" name="Text 9"/>
          <p:cNvSpPr/>
          <p:nvPr/>
        </p:nvSpPr>
        <p:spPr>
          <a:xfrm>
            <a:off x="9543946" y="6074867"/>
            <a:ext cx="2797789" cy="454931"/>
          </a:xfrm>
          <a:prstGeom prst="rect">
            <a:avLst/>
          </a:prstGeom>
          <a:noFill/>
          <a:ln/>
        </p:spPr>
        <p:txBody>
          <a:bodyPr wrap="square" lIns="0" tIns="0" rIns="0" bIns="0" rtlCol="0" anchor="t"/>
          <a:lstStyle/>
          <a:p>
            <a:pPr marL="0" indent="0" algn="l">
              <a:lnSpc>
                <a:spcPts val="1750"/>
              </a:lnSpc>
              <a:buNone/>
            </a:pPr>
            <a:r>
              <a:rPr lang="en-US" sz="1600" dirty="0">
                <a:solidFill>
                  <a:srgbClr val="443728"/>
                </a:solidFill>
                <a:latin typeface="Open Sans" pitchFamily="34" charset="0"/>
                <a:ea typeface="Open Sans" pitchFamily="34" charset="-122"/>
                <a:cs typeface="Open Sans" pitchFamily="34" charset="-120"/>
              </a:rPr>
              <a:t>Approved feedback appears publicly on site.</a:t>
            </a:r>
            <a:endParaRPr lang="en-US" sz="1600" dirty="0"/>
          </a:p>
        </p:txBody>
      </p:sp>
      <p:sp>
        <p:nvSpPr>
          <p:cNvPr id="13" name="Text 10"/>
          <p:cNvSpPr/>
          <p:nvPr/>
        </p:nvSpPr>
        <p:spPr>
          <a:xfrm>
            <a:off x="1510546" y="7374493"/>
            <a:ext cx="11609189" cy="410051"/>
          </a:xfrm>
          <a:prstGeom prst="rect">
            <a:avLst/>
          </a:prstGeom>
          <a:noFill/>
          <a:ln/>
        </p:spPr>
        <p:txBody>
          <a:bodyPr wrap="square" lIns="0" tIns="0" rIns="0" bIns="0" rtlCol="0" anchor="t"/>
          <a:lstStyle/>
          <a:p>
            <a:pPr marL="0" indent="0" algn="l">
              <a:lnSpc>
                <a:spcPts val="1600"/>
              </a:lnSpc>
              <a:buNone/>
            </a:pPr>
            <a:r>
              <a:rPr lang="en-US" sz="1150" dirty="0">
                <a:solidFill>
                  <a:srgbClr val="443728"/>
                </a:solidFill>
                <a:latin typeface="Open Sans" pitchFamily="34" charset="0"/>
                <a:ea typeface="Open Sans" pitchFamily="34" charset="-122"/>
                <a:cs typeface="Open Sans" pitchFamily="34" charset="-120"/>
              </a:rPr>
              <a:t>This process ensures that every piece of feedback displayed on the site is genuine, respectful, and adds value to the community. Contributors receive a notification at each stage, keeping them informed and appreciated throughout.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72383"/>
            <a:ext cx="6225421"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Visual &amp; Interactive Elements</a:t>
            </a:r>
            <a:endParaRPr lang="en-US" sz="3900" dirty="0"/>
          </a:p>
        </p:txBody>
      </p:sp>
      <p:sp>
        <p:nvSpPr>
          <p:cNvPr id="4" name="Text 1"/>
          <p:cNvSpPr/>
          <p:nvPr/>
        </p:nvSpPr>
        <p:spPr>
          <a:xfrm>
            <a:off x="6280190" y="1890117"/>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Good design doesn't just look beautiful — it </a:t>
            </a:r>
            <a:r>
              <a:rPr lang="en-US" sz="1550" i="1" dirty="0">
                <a:solidFill>
                  <a:srgbClr val="443728"/>
                </a:solidFill>
                <a:latin typeface="Open Sans" pitchFamily="34" charset="0"/>
                <a:ea typeface="Open Sans" pitchFamily="34" charset="-122"/>
                <a:cs typeface="Open Sans" pitchFamily="34" charset="-120"/>
              </a:rPr>
              <a:t>feels</a:t>
            </a:r>
            <a:r>
              <a:rPr lang="en-US" sz="1550" dirty="0">
                <a:solidFill>
                  <a:srgbClr val="443728"/>
                </a:solidFill>
                <a:latin typeface="Open Sans" pitchFamily="34" charset="0"/>
                <a:ea typeface="Open Sans" pitchFamily="34" charset="-122"/>
                <a:cs typeface="Open Sans" pitchFamily="34" charset="-120"/>
              </a:rPr>
              <a:t> delightful to use. Every interaction on this contact page has been crafted to surprise, guide, and reassure visitors at every step.</a:t>
            </a:r>
            <a:endParaRPr lang="en-US" sz="15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0190" y="3065978"/>
            <a:ext cx="396835" cy="396835"/>
          </a:xfrm>
          <a:prstGeom prst="rect">
            <a:avLst/>
          </a:prstGeom>
        </p:spPr>
      </p:pic>
      <p:sp>
        <p:nvSpPr>
          <p:cNvPr id="6" name="Text 2"/>
          <p:cNvSpPr/>
          <p:nvPr/>
        </p:nvSpPr>
        <p:spPr>
          <a:xfrm>
            <a:off x="6925032" y="313420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Playful Animations</a:t>
            </a:r>
            <a:endParaRPr lang="en-US" sz="1950" dirty="0"/>
          </a:p>
        </p:txBody>
      </p:sp>
      <p:sp>
        <p:nvSpPr>
          <p:cNvPr id="7" name="Text 3"/>
          <p:cNvSpPr/>
          <p:nvPr/>
        </p:nvSpPr>
        <p:spPr>
          <a:xfrm>
            <a:off x="6925032" y="3563422"/>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Floating icons, smooth colour transitions, and gentle entrance animations bring the page to life without overwhelming the experience.</a:t>
            </a:r>
            <a:endParaRPr lang="en-US" sz="155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80190" y="4595336"/>
            <a:ext cx="396835" cy="396835"/>
          </a:xfrm>
          <a:prstGeom prst="rect">
            <a:avLst/>
          </a:prstGeom>
        </p:spPr>
      </p:pic>
      <p:sp>
        <p:nvSpPr>
          <p:cNvPr id="9" name="Text 4"/>
          <p:cNvSpPr/>
          <p:nvPr/>
        </p:nvSpPr>
        <p:spPr>
          <a:xfrm>
            <a:off x="6925032" y="466355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Micro-Interactions</a:t>
            </a:r>
            <a:endParaRPr lang="en-US" sz="1950" dirty="0"/>
          </a:p>
        </p:txBody>
      </p:sp>
      <p:sp>
        <p:nvSpPr>
          <p:cNvPr id="10" name="Text 5"/>
          <p:cNvSpPr/>
          <p:nvPr/>
        </p:nvSpPr>
        <p:spPr>
          <a:xfrm>
            <a:off x="6925032" y="5092779"/>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Hover effects on contact options provide instant visual feedback — buttons glow, icons pulse, and forms respond with friendly prompts.</a:t>
            </a:r>
            <a:endParaRPr lang="en-US" sz="1550" dirty="0"/>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80190" y="6124694"/>
            <a:ext cx="396835" cy="396835"/>
          </a:xfrm>
          <a:prstGeom prst="rect">
            <a:avLst/>
          </a:prstGeom>
        </p:spPr>
      </p:pic>
      <p:sp>
        <p:nvSpPr>
          <p:cNvPr id="12" name="Text 6"/>
          <p:cNvSpPr/>
          <p:nvPr/>
        </p:nvSpPr>
        <p:spPr>
          <a:xfrm>
            <a:off x="6925032" y="619291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Real-Time Validation</a:t>
            </a:r>
            <a:endParaRPr lang="en-US" sz="1950" dirty="0"/>
          </a:p>
        </p:txBody>
      </p:sp>
      <p:sp>
        <p:nvSpPr>
          <p:cNvPr id="13" name="Text 7"/>
          <p:cNvSpPr/>
          <p:nvPr/>
        </p:nvSpPr>
        <p:spPr>
          <a:xfrm>
            <a:off x="6925032" y="6622137"/>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As you fill in the feedback form, smart validation gently guides you — no frustrating error messages after the fact.</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429464"/>
            <a:ext cx="5520571"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Accessibility &amp; Ease of Use</a:t>
            </a:r>
            <a:endParaRPr lang="en-US" sz="3900" dirty="0"/>
          </a:p>
        </p:txBody>
      </p:sp>
      <p:sp>
        <p:nvSpPr>
          <p:cNvPr id="3" name="Text 1"/>
          <p:cNvSpPr/>
          <p:nvPr/>
        </p:nvSpPr>
        <p:spPr>
          <a:xfrm>
            <a:off x="793790" y="244637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Great design works for </a:t>
            </a:r>
            <a:r>
              <a:rPr lang="en-US" sz="1550" i="1" dirty="0">
                <a:solidFill>
                  <a:srgbClr val="443728"/>
                </a:solidFill>
                <a:latin typeface="Open Sans" pitchFamily="34" charset="0"/>
                <a:ea typeface="Open Sans" pitchFamily="34" charset="-122"/>
                <a:cs typeface="Open Sans" pitchFamily="34" charset="-120"/>
              </a:rPr>
              <a:t>everyone</a:t>
            </a:r>
            <a:r>
              <a:rPr lang="en-US" sz="1550" dirty="0">
                <a:solidFill>
                  <a:srgbClr val="443728"/>
                </a:solidFill>
                <a:latin typeface="Open Sans" pitchFamily="34" charset="0"/>
                <a:ea typeface="Open Sans" pitchFamily="34" charset="-122"/>
                <a:cs typeface="Open Sans" pitchFamily="34" charset="-120"/>
              </a:rPr>
              <a:t>. This contact page has been built with accessibility at its core — because breaking mental models means tearing down barriers, not creating new ones.</a:t>
            </a:r>
            <a:endParaRPr lang="en-US" sz="1550" dirty="0"/>
          </a:p>
        </p:txBody>
      </p:sp>
      <p:sp>
        <p:nvSpPr>
          <p:cNvPr id="4" name="Shape 2"/>
          <p:cNvSpPr/>
          <p:nvPr/>
        </p:nvSpPr>
        <p:spPr>
          <a:xfrm>
            <a:off x="793790" y="3304699"/>
            <a:ext cx="13042821" cy="2111335"/>
          </a:xfrm>
          <a:prstGeom prst="roundRect">
            <a:avLst>
              <a:gd name="adj" fmla="val 3948"/>
            </a:avLst>
          </a:prstGeom>
          <a:solidFill>
            <a:srgbClr val="EBE2E0"/>
          </a:solidFill>
          <a:ln w="7620">
            <a:solidFill>
              <a:srgbClr val="D1C8C6"/>
            </a:solidFill>
            <a:prstDash val="solid"/>
          </a:ln>
        </p:spPr>
        <p:txBody>
          <a:bodyPr/>
          <a:lstStyle/>
          <a:p>
            <a:endParaRPr lang="en-AU"/>
          </a:p>
        </p:txBody>
      </p:sp>
      <p:sp>
        <p:nvSpPr>
          <p:cNvPr id="5" name="Shape 3"/>
          <p:cNvSpPr/>
          <p:nvPr/>
        </p:nvSpPr>
        <p:spPr>
          <a:xfrm>
            <a:off x="801410" y="3312319"/>
            <a:ext cx="4342448" cy="2096095"/>
          </a:xfrm>
          <a:prstGeom prst="roundRect">
            <a:avLst>
              <a:gd name="adj" fmla="val 3977"/>
            </a:avLst>
          </a:prstGeom>
          <a:solidFill>
            <a:srgbClr val="EBE2E0"/>
          </a:solidFill>
          <a:ln/>
        </p:spPr>
        <p:txBody>
          <a:bodyPr/>
          <a:lstStyle/>
          <a:p>
            <a:endParaRPr lang="en-AU"/>
          </a:p>
        </p:txBody>
      </p:sp>
      <p:sp>
        <p:nvSpPr>
          <p:cNvPr id="6" name="Text 4"/>
          <p:cNvSpPr/>
          <p:nvPr/>
        </p:nvSpPr>
        <p:spPr>
          <a:xfrm>
            <a:off x="999768" y="3510677"/>
            <a:ext cx="2581156"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Clear, Large Typography</a:t>
            </a:r>
            <a:endParaRPr lang="en-US" sz="1950" dirty="0"/>
          </a:p>
        </p:txBody>
      </p:sp>
      <p:sp>
        <p:nvSpPr>
          <p:cNvPr id="7" name="Text 5"/>
          <p:cNvSpPr/>
          <p:nvPr/>
        </p:nvSpPr>
        <p:spPr>
          <a:xfrm>
            <a:off x="999768" y="3939897"/>
            <a:ext cx="3647956"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High-contrast colours and generous font sizes ensure readability for all users, including those with visual impairments.</a:t>
            </a:r>
            <a:endParaRPr lang="en-US" sz="1550" dirty="0"/>
          </a:p>
        </p:txBody>
      </p:sp>
      <p:sp>
        <p:nvSpPr>
          <p:cNvPr id="8" name="Shape 6"/>
          <p:cNvSpPr/>
          <p:nvPr/>
        </p:nvSpPr>
        <p:spPr>
          <a:xfrm>
            <a:off x="5143857" y="3312319"/>
            <a:ext cx="4342567" cy="2096095"/>
          </a:xfrm>
          <a:prstGeom prst="rect">
            <a:avLst/>
          </a:prstGeom>
          <a:solidFill>
            <a:srgbClr val="EBE2E0"/>
          </a:solidFill>
          <a:ln/>
        </p:spPr>
        <p:txBody>
          <a:bodyPr/>
          <a:lstStyle/>
          <a:p>
            <a:endParaRPr lang="en-AU"/>
          </a:p>
        </p:txBody>
      </p:sp>
      <p:sp>
        <p:nvSpPr>
          <p:cNvPr id="9" name="Shape 7"/>
          <p:cNvSpPr/>
          <p:nvPr/>
        </p:nvSpPr>
        <p:spPr>
          <a:xfrm>
            <a:off x="5143857" y="3312319"/>
            <a:ext cx="22860" cy="2096095"/>
          </a:xfrm>
          <a:prstGeom prst="roundRect">
            <a:avLst>
              <a:gd name="adj" fmla="val 364651"/>
            </a:avLst>
          </a:prstGeom>
          <a:solidFill>
            <a:srgbClr val="D1C8C6"/>
          </a:solidFill>
          <a:ln/>
        </p:spPr>
        <p:txBody>
          <a:bodyPr/>
          <a:lstStyle/>
          <a:p>
            <a:endParaRPr lang="en-AU"/>
          </a:p>
        </p:txBody>
      </p:sp>
      <p:sp>
        <p:nvSpPr>
          <p:cNvPr id="10" name="Text 8"/>
          <p:cNvSpPr/>
          <p:nvPr/>
        </p:nvSpPr>
        <p:spPr>
          <a:xfrm>
            <a:off x="5639991" y="351067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Mobile-First Design</a:t>
            </a:r>
            <a:endParaRPr lang="en-US" sz="1950" dirty="0"/>
          </a:p>
        </p:txBody>
      </p:sp>
      <p:sp>
        <p:nvSpPr>
          <p:cNvPr id="11" name="Text 9"/>
          <p:cNvSpPr/>
          <p:nvPr/>
        </p:nvSpPr>
        <p:spPr>
          <a:xfrm>
            <a:off x="5639991" y="3939897"/>
            <a:ext cx="3350300"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Fully responsive layout with touch-friendly buttons sized for comfortable use on all screen sizes — from phone to desktop.</a:t>
            </a:r>
            <a:endParaRPr lang="en-US" sz="1550" dirty="0"/>
          </a:p>
        </p:txBody>
      </p:sp>
      <p:sp>
        <p:nvSpPr>
          <p:cNvPr id="12" name="Shape 10"/>
          <p:cNvSpPr/>
          <p:nvPr/>
        </p:nvSpPr>
        <p:spPr>
          <a:xfrm>
            <a:off x="4895850" y="4112240"/>
            <a:ext cx="496133" cy="496133"/>
          </a:xfrm>
          <a:prstGeom prst="roundRect">
            <a:avLst>
              <a:gd name="adj" fmla="val 16802"/>
            </a:avLst>
          </a:prstGeom>
          <a:solidFill>
            <a:srgbClr val="FFFCFA"/>
          </a:solidFill>
          <a:ln w="22860">
            <a:solidFill>
              <a:srgbClr val="D1C8C6"/>
            </a:solidFill>
            <a:prstDash val="solid"/>
          </a:ln>
        </p:spPr>
        <p:txBody>
          <a:bodyPr/>
          <a:lstStyle/>
          <a:p>
            <a:endParaRPr lang="en-AU"/>
          </a:p>
        </p:txBody>
      </p:sp>
      <p:pic>
        <p:nvPicPr>
          <p:cNvPr id="1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9913" y="4236184"/>
            <a:ext cx="248007" cy="248007"/>
          </a:xfrm>
          <a:prstGeom prst="rect">
            <a:avLst/>
          </a:prstGeom>
        </p:spPr>
      </p:pic>
      <p:sp>
        <p:nvSpPr>
          <p:cNvPr id="14" name="Shape 11"/>
          <p:cNvSpPr/>
          <p:nvPr/>
        </p:nvSpPr>
        <p:spPr>
          <a:xfrm>
            <a:off x="9486424" y="3312319"/>
            <a:ext cx="4342567" cy="2096095"/>
          </a:xfrm>
          <a:prstGeom prst="rect">
            <a:avLst/>
          </a:prstGeom>
          <a:solidFill>
            <a:srgbClr val="EBE2E0"/>
          </a:solidFill>
          <a:ln/>
        </p:spPr>
        <p:txBody>
          <a:bodyPr/>
          <a:lstStyle/>
          <a:p>
            <a:endParaRPr lang="en-AU"/>
          </a:p>
        </p:txBody>
      </p:sp>
      <p:sp>
        <p:nvSpPr>
          <p:cNvPr id="15" name="Shape 12"/>
          <p:cNvSpPr/>
          <p:nvPr/>
        </p:nvSpPr>
        <p:spPr>
          <a:xfrm>
            <a:off x="9486424" y="3312319"/>
            <a:ext cx="22860" cy="2096095"/>
          </a:xfrm>
          <a:prstGeom prst="roundRect">
            <a:avLst>
              <a:gd name="adj" fmla="val 364651"/>
            </a:avLst>
          </a:prstGeom>
          <a:solidFill>
            <a:srgbClr val="D1C8C6"/>
          </a:solidFill>
          <a:ln/>
        </p:spPr>
        <p:txBody>
          <a:bodyPr/>
          <a:lstStyle/>
          <a:p>
            <a:endParaRPr lang="en-AU"/>
          </a:p>
        </p:txBody>
      </p:sp>
      <p:sp>
        <p:nvSpPr>
          <p:cNvPr id="16" name="Text 13"/>
          <p:cNvSpPr/>
          <p:nvPr/>
        </p:nvSpPr>
        <p:spPr>
          <a:xfrm>
            <a:off x="9982557" y="351067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Voice Command Ready</a:t>
            </a:r>
            <a:endParaRPr lang="en-US" sz="1950" dirty="0"/>
          </a:p>
        </p:txBody>
      </p:sp>
      <p:sp>
        <p:nvSpPr>
          <p:cNvPr id="17" name="Text 14"/>
          <p:cNvSpPr/>
          <p:nvPr/>
        </p:nvSpPr>
        <p:spPr>
          <a:xfrm>
            <a:off x="9982557" y="3939897"/>
            <a:ext cx="3648075"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Voice command prompts and screen-reader compatibility ensure that every visitor can navigate and interact with confidence.</a:t>
            </a:r>
            <a:endParaRPr lang="en-US" sz="1550" dirty="0"/>
          </a:p>
        </p:txBody>
      </p:sp>
      <p:sp>
        <p:nvSpPr>
          <p:cNvPr id="18" name="Shape 15"/>
          <p:cNvSpPr/>
          <p:nvPr/>
        </p:nvSpPr>
        <p:spPr>
          <a:xfrm>
            <a:off x="9238417" y="4112240"/>
            <a:ext cx="496133" cy="496133"/>
          </a:xfrm>
          <a:prstGeom prst="roundRect">
            <a:avLst>
              <a:gd name="adj" fmla="val 16802"/>
            </a:avLst>
          </a:prstGeom>
          <a:solidFill>
            <a:srgbClr val="FFFCFA"/>
          </a:solidFill>
          <a:ln w="22860">
            <a:solidFill>
              <a:srgbClr val="D1C8C6"/>
            </a:solidFill>
            <a:prstDash val="solid"/>
          </a:ln>
        </p:spPr>
        <p:txBody>
          <a:bodyPr/>
          <a:lstStyle/>
          <a:p>
            <a:endParaRPr lang="en-AU"/>
          </a:p>
        </p:txBody>
      </p:sp>
      <p:pic>
        <p:nvPicPr>
          <p:cNvPr id="1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62480" y="4236184"/>
            <a:ext cx="248007" cy="248007"/>
          </a:xfrm>
          <a:prstGeom prst="rect">
            <a:avLst/>
          </a:prstGeom>
        </p:spPr>
      </p:pic>
      <p:sp>
        <p:nvSpPr>
          <p:cNvPr id="20" name="Shape 16"/>
          <p:cNvSpPr/>
          <p:nvPr/>
        </p:nvSpPr>
        <p:spPr>
          <a:xfrm>
            <a:off x="793790" y="5639276"/>
            <a:ext cx="13042821" cy="1160740"/>
          </a:xfrm>
          <a:prstGeom prst="roundRect">
            <a:avLst>
              <a:gd name="adj" fmla="val 7182"/>
            </a:avLst>
          </a:prstGeom>
          <a:solidFill>
            <a:srgbClr val="E1D4D0"/>
          </a:solidFill>
          <a:ln/>
        </p:spPr>
        <p:txBody>
          <a:bodyPr/>
          <a:lstStyle/>
          <a:p>
            <a:endParaRPr lang="en-AU"/>
          </a:p>
        </p:txBody>
      </p:sp>
      <p:pic>
        <p:nvPicPr>
          <p:cNvPr id="21" name="Image 2" descr="preencoded.png"/>
          <p:cNvPicPr>
            <a:picLocks noChangeAspect="1"/>
          </p:cNvPicPr>
          <p:nvPr/>
        </p:nvPicPr>
        <p:blipFill>
          <a:blip r:embed="rId7"/>
          <a:stretch>
            <a:fillRect/>
          </a:stretch>
        </p:blipFill>
        <p:spPr>
          <a:xfrm>
            <a:off x="992148" y="5942171"/>
            <a:ext cx="248007" cy="198358"/>
          </a:xfrm>
          <a:prstGeom prst="rect">
            <a:avLst/>
          </a:prstGeom>
        </p:spPr>
      </p:pic>
      <p:sp>
        <p:nvSpPr>
          <p:cNvPr id="22" name="Text 17"/>
          <p:cNvSpPr/>
          <p:nvPr/>
        </p:nvSpPr>
        <p:spPr>
          <a:xfrm>
            <a:off x="1438513" y="5887164"/>
            <a:ext cx="12199739"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Open Sans" pitchFamily="34" charset="0"/>
                <a:ea typeface="Open Sans" pitchFamily="34" charset="-122"/>
                <a:cs typeface="Open Sans" pitchFamily="34" charset="-120"/>
              </a:rPr>
              <a:t>Our accessibility standards follow WCAG 2.1 AA guidelines. If you experience any barriers, please contact us directly and we will prioritise a solution.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02707" y="1076682"/>
            <a:ext cx="5775722" cy="548997"/>
          </a:xfrm>
          <a:prstGeom prst="rect">
            <a:avLst/>
          </a:prstGeom>
          <a:noFill/>
          <a:ln/>
        </p:spPr>
        <p:txBody>
          <a:bodyPr wrap="none" lIns="0" tIns="0" rIns="0" bIns="0" rtlCol="0" anchor="t"/>
          <a:lstStyle/>
          <a:p>
            <a:pPr marL="0" indent="0" algn="l">
              <a:lnSpc>
                <a:spcPts val="4300"/>
              </a:lnSpc>
              <a:buNone/>
            </a:pPr>
            <a:r>
              <a:rPr lang="en-US" sz="3450" b="1" dirty="0">
                <a:solidFill>
                  <a:srgbClr val="443728"/>
                </a:solidFill>
                <a:latin typeface="Crimson Pro Bold" pitchFamily="34" charset="0"/>
                <a:ea typeface="Crimson Pro Bold" pitchFamily="34" charset="-122"/>
                <a:cs typeface="Crimson Pro Bold" pitchFamily="34" charset="-120"/>
              </a:rPr>
              <a:t>Building Trust &amp; Transparency</a:t>
            </a:r>
            <a:endParaRPr lang="en-US" sz="3450" dirty="0"/>
          </a:p>
        </p:txBody>
      </p:sp>
      <p:sp>
        <p:nvSpPr>
          <p:cNvPr id="3" name="Text 1"/>
          <p:cNvSpPr/>
          <p:nvPr/>
        </p:nvSpPr>
        <p:spPr>
          <a:xfrm>
            <a:off x="702707" y="1781175"/>
            <a:ext cx="7080766" cy="795099"/>
          </a:xfrm>
          <a:prstGeom prst="rect">
            <a:avLst/>
          </a:prstGeom>
          <a:noFill/>
          <a:ln/>
        </p:spPr>
        <p:txBody>
          <a:bodyPr wrap="square" lIns="0" tIns="0" rIns="0" bIns="0" rtlCol="0" anchor="t"/>
          <a:lstStyle/>
          <a:p>
            <a:pPr marL="0" indent="0" algn="l">
              <a:lnSpc>
                <a:spcPts val="2050"/>
              </a:lnSpc>
              <a:buNone/>
            </a:pPr>
            <a:r>
              <a:rPr lang="en-US" sz="1350" dirty="0">
                <a:solidFill>
                  <a:srgbClr val="443728"/>
                </a:solidFill>
                <a:latin typeface="Open Sans" pitchFamily="34" charset="0"/>
                <a:ea typeface="Open Sans" pitchFamily="34" charset="-122"/>
                <a:cs typeface="Open Sans" pitchFamily="34" charset="-120"/>
              </a:rPr>
              <a:t>Trust is the foundation of every great relationship — and that includes the one between a website and its visitors. We want you to feel safe, respected, and genuinely heard every time you interact with us.</a:t>
            </a:r>
            <a:endParaRPr lang="en-US" sz="1350" dirty="0"/>
          </a:p>
        </p:txBody>
      </p:sp>
      <p:sp>
        <p:nvSpPr>
          <p:cNvPr id="4" name="Shape 2"/>
          <p:cNvSpPr/>
          <p:nvPr/>
        </p:nvSpPr>
        <p:spPr>
          <a:xfrm>
            <a:off x="702707" y="2751177"/>
            <a:ext cx="7080766" cy="1357074"/>
          </a:xfrm>
          <a:prstGeom prst="roundRect">
            <a:avLst>
              <a:gd name="adj" fmla="val 5438"/>
            </a:avLst>
          </a:prstGeom>
          <a:solidFill>
            <a:srgbClr val="FFFCFA"/>
          </a:solidFill>
          <a:ln w="22860">
            <a:solidFill>
              <a:srgbClr val="D1C8C6"/>
            </a:solidFill>
            <a:prstDash val="solid"/>
          </a:ln>
        </p:spPr>
        <p:txBody>
          <a:bodyPr/>
          <a:lstStyle/>
          <a:p>
            <a:endParaRPr lang="en-AU"/>
          </a:p>
        </p:txBody>
      </p:sp>
      <p:sp>
        <p:nvSpPr>
          <p:cNvPr id="5" name="Shape 3"/>
          <p:cNvSpPr/>
          <p:nvPr/>
        </p:nvSpPr>
        <p:spPr>
          <a:xfrm>
            <a:off x="725567" y="2774037"/>
            <a:ext cx="702707" cy="1311354"/>
          </a:xfrm>
          <a:prstGeom prst="roundRect">
            <a:avLst>
              <a:gd name="adj" fmla="val 6598"/>
            </a:avLst>
          </a:prstGeom>
          <a:solidFill>
            <a:srgbClr val="EBE2E0"/>
          </a:solidFill>
          <a:ln/>
        </p:spPr>
        <p:txBody>
          <a:bodyPr/>
          <a:lstStyle/>
          <a:p>
            <a:endParaRPr lang="en-AU"/>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1308" y="3297912"/>
            <a:ext cx="263485" cy="263485"/>
          </a:xfrm>
          <a:prstGeom prst="rect">
            <a:avLst/>
          </a:prstGeom>
        </p:spPr>
      </p:pic>
      <p:sp>
        <p:nvSpPr>
          <p:cNvPr id="7" name="Text 4"/>
          <p:cNvSpPr/>
          <p:nvPr/>
        </p:nvSpPr>
        <p:spPr>
          <a:xfrm>
            <a:off x="1583769" y="2949654"/>
            <a:ext cx="2196227" cy="274558"/>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rimson Pro Bold" pitchFamily="34" charset="0"/>
                <a:ea typeface="Crimson Pro Bold" pitchFamily="34" charset="-122"/>
                <a:cs typeface="Crimson Pro Bold" pitchFamily="34" charset="-120"/>
              </a:rPr>
              <a:t>Moderated with Care</a:t>
            </a:r>
            <a:endParaRPr lang="en-US" sz="1700" dirty="0"/>
          </a:p>
        </p:txBody>
      </p:sp>
      <p:sp>
        <p:nvSpPr>
          <p:cNvPr id="8" name="Text 5"/>
          <p:cNvSpPr/>
          <p:nvPr/>
        </p:nvSpPr>
        <p:spPr>
          <a:xfrm>
            <a:off x="1583769" y="3379708"/>
            <a:ext cx="6001226" cy="530066"/>
          </a:xfrm>
          <a:prstGeom prst="rect">
            <a:avLst/>
          </a:prstGeom>
          <a:noFill/>
          <a:ln/>
        </p:spPr>
        <p:txBody>
          <a:bodyPr wrap="square" lIns="0" tIns="0" rIns="0" bIns="0" rtlCol="0" anchor="t"/>
          <a:lstStyle/>
          <a:p>
            <a:pPr marL="0" indent="0" algn="l">
              <a:lnSpc>
                <a:spcPts val="2050"/>
              </a:lnSpc>
              <a:buNone/>
            </a:pPr>
            <a:r>
              <a:rPr lang="en-US" sz="1350" dirty="0">
                <a:solidFill>
                  <a:srgbClr val="443728"/>
                </a:solidFill>
                <a:latin typeface="Open Sans" pitchFamily="34" charset="0"/>
                <a:ea typeface="Open Sans" pitchFamily="34" charset="-122"/>
                <a:cs typeface="Open Sans" pitchFamily="34" charset="-120"/>
              </a:rPr>
              <a:t>All feedback is reviewed by a human moderator to ensure quality, accuracy, and respect for every member of our community.</a:t>
            </a:r>
            <a:endParaRPr lang="en-US" sz="1350" dirty="0"/>
          </a:p>
        </p:txBody>
      </p:sp>
      <p:sp>
        <p:nvSpPr>
          <p:cNvPr id="9" name="Shape 6"/>
          <p:cNvSpPr/>
          <p:nvPr/>
        </p:nvSpPr>
        <p:spPr>
          <a:xfrm>
            <a:off x="702707" y="4263747"/>
            <a:ext cx="7080766" cy="1357074"/>
          </a:xfrm>
          <a:prstGeom prst="roundRect">
            <a:avLst>
              <a:gd name="adj" fmla="val 5438"/>
            </a:avLst>
          </a:prstGeom>
          <a:solidFill>
            <a:srgbClr val="FFFCFA"/>
          </a:solidFill>
          <a:ln w="22860">
            <a:solidFill>
              <a:srgbClr val="D1C8C6"/>
            </a:solidFill>
            <a:prstDash val="solid"/>
          </a:ln>
        </p:spPr>
        <p:txBody>
          <a:bodyPr/>
          <a:lstStyle/>
          <a:p>
            <a:endParaRPr lang="en-AU"/>
          </a:p>
        </p:txBody>
      </p:sp>
      <p:sp>
        <p:nvSpPr>
          <p:cNvPr id="10" name="Shape 7"/>
          <p:cNvSpPr/>
          <p:nvPr/>
        </p:nvSpPr>
        <p:spPr>
          <a:xfrm>
            <a:off x="725567" y="4286607"/>
            <a:ext cx="702707" cy="1311354"/>
          </a:xfrm>
          <a:prstGeom prst="roundRect">
            <a:avLst>
              <a:gd name="adj" fmla="val 6598"/>
            </a:avLst>
          </a:prstGeom>
          <a:solidFill>
            <a:srgbClr val="EBE2E0"/>
          </a:solidFill>
          <a:ln/>
        </p:spPr>
        <p:txBody>
          <a:bodyPr/>
          <a:lstStyle/>
          <a:p>
            <a:endParaRPr lang="en-AU"/>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1308" y="4810482"/>
            <a:ext cx="263485" cy="263485"/>
          </a:xfrm>
          <a:prstGeom prst="rect">
            <a:avLst/>
          </a:prstGeom>
        </p:spPr>
      </p:pic>
      <p:sp>
        <p:nvSpPr>
          <p:cNvPr id="12" name="Text 8"/>
          <p:cNvSpPr/>
          <p:nvPr/>
        </p:nvSpPr>
        <p:spPr>
          <a:xfrm>
            <a:off x="1583769" y="4462224"/>
            <a:ext cx="2196227" cy="274558"/>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rimson Pro Bold" pitchFamily="34" charset="0"/>
                <a:ea typeface="Crimson Pro Bold" pitchFamily="34" charset="-122"/>
                <a:cs typeface="Crimson Pro Bold" pitchFamily="34" charset="-120"/>
              </a:rPr>
              <a:t>Your Data is Protected</a:t>
            </a:r>
            <a:endParaRPr lang="en-US" sz="1700" dirty="0"/>
          </a:p>
        </p:txBody>
      </p:sp>
      <p:sp>
        <p:nvSpPr>
          <p:cNvPr id="13" name="Text 9"/>
          <p:cNvSpPr/>
          <p:nvPr/>
        </p:nvSpPr>
        <p:spPr>
          <a:xfrm>
            <a:off x="1583769" y="4892278"/>
            <a:ext cx="6001226" cy="530066"/>
          </a:xfrm>
          <a:prstGeom prst="rect">
            <a:avLst/>
          </a:prstGeom>
          <a:noFill/>
          <a:ln/>
        </p:spPr>
        <p:txBody>
          <a:bodyPr wrap="square" lIns="0" tIns="0" rIns="0" bIns="0" rtlCol="0" anchor="t"/>
          <a:lstStyle/>
          <a:p>
            <a:pPr marL="0" indent="0" algn="l">
              <a:lnSpc>
                <a:spcPts val="2050"/>
              </a:lnSpc>
              <a:buNone/>
            </a:pPr>
            <a:r>
              <a:rPr lang="en-US" sz="1350" dirty="0">
                <a:solidFill>
                  <a:srgbClr val="443728"/>
                </a:solidFill>
                <a:latin typeface="Open Sans" pitchFamily="34" charset="0"/>
                <a:ea typeface="Open Sans" pitchFamily="34" charset="-122"/>
                <a:cs typeface="Open Sans" pitchFamily="34" charset="-120"/>
              </a:rPr>
              <a:t>We never sell or share your personal information. Your data is handled in full compliance with UK GDPR and our detailed Privacy Policy.</a:t>
            </a:r>
            <a:endParaRPr lang="en-US" sz="1350" dirty="0"/>
          </a:p>
        </p:txBody>
      </p:sp>
      <p:sp>
        <p:nvSpPr>
          <p:cNvPr id="14" name="Shape 10"/>
          <p:cNvSpPr/>
          <p:nvPr/>
        </p:nvSpPr>
        <p:spPr>
          <a:xfrm>
            <a:off x="702707" y="5776317"/>
            <a:ext cx="7080766" cy="1357074"/>
          </a:xfrm>
          <a:prstGeom prst="roundRect">
            <a:avLst>
              <a:gd name="adj" fmla="val 5438"/>
            </a:avLst>
          </a:prstGeom>
          <a:solidFill>
            <a:srgbClr val="FFFCFA"/>
          </a:solidFill>
          <a:ln w="22860">
            <a:solidFill>
              <a:srgbClr val="D1C8C6"/>
            </a:solidFill>
            <a:prstDash val="solid"/>
          </a:ln>
        </p:spPr>
        <p:txBody>
          <a:bodyPr/>
          <a:lstStyle/>
          <a:p>
            <a:endParaRPr lang="en-AU"/>
          </a:p>
        </p:txBody>
      </p:sp>
      <p:sp>
        <p:nvSpPr>
          <p:cNvPr id="15" name="Shape 11"/>
          <p:cNvSpPr/>
          <p:nvPr/>
        </p:nvSpPr>
        <p:spPr>
          <a:xfrm>
            <a:off x="725567" y="5799177"/>
            <a:ext cx="702707" cy="1311354"/>
          </a:xfrm>
          <a:prstGeom prst="roundRect">
            <a:avLst>
              <a:gd name="adj" fmla="val 6598"/>
            </a:avLst>
          </a:prstGeom>
          <a:solidFill>
            <a:srgbClr val="EBE2E0"/>
          </a:solidFill>
          <a:ln/>
        </p:spPr>
        <p:txBody>
          <a:bodyPr/>
          <a:lstStyle/>
          <a:p>
            <a:endParaRPr lang="en-AU"/>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1308" y="6323052"/>
            <a:ext cx="263485" cy="263485"/>
          </a:xfrm>
          <a:prstGeom prst="rect">
            <a:avLst/>
          </a:prstGeom>
        </p:spPr>
      </p:pic>
      <p:sp>
        <p:nvSpPr>
          <p:cNvPr id="17" name="Text 12"/>
          <p:cNvSpPr/>
          <p:nvPr/>
        </p:nvSpPr>
        <p:spPr>
          <a:xfrm>
            <a:off x="1583769" y="5974794"/>
            <a:ext cx="2196227" cy="274558"/>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rimson Pro Bold" pitchFamily="34" charset="0"/>
                <a:ea typeface="Crimson Pro Bold" pitchFamily="34" charset="-122"/>
                <a:cs typeface="Crimson Pro Bold" pitchFamily="34" charset="-120"/>
              </a:rPr>
              <a:t>Clear Guidelines</a:t>
            </a:r>
            <a:endParaRPr lang="en-US" sz="1700" dirty="0"/>
          </a:p>
        </p:txBody>
      </p:sp>
      <p:sp>
        <p:nvSpPr>
          <p:cNvPr id="18" name="Text 13"/>
          <p:cNvSpPr/>
          <p:nvPr/>
        </p:nvSpPr>
        <p:spPr>
          <a:xfrm>
            <a:off x="1583769" y="6404848"/>
            <a:ext cx="6001226" cy="530066"/>
          </a:xfrm>
          <a:prstGeom prst="rect">
            <a:avLst/>
          </a:prstGeom>
          <a:noFill/>
          <a:ln/>
        </p:spPr>
        <p:txBody>
          <a:bodyPr wrap="square" lIns="0" tIns="0" rIns="0" bIns="0" rtlCol="0" anchor="t"/>
          <a:lstStyle/>
          <a:p>
            <a:pPr marL="0" indent="0" algn="l">
              <a:lnSpc>
                <a:spcPts val="2050"/>
              </a:lnSpc>
              <a:buNone/>
            </a:pPr>
            <a:r>
              <a:rPr lang="en-US" sz="1350" dirty="0">
                <a:solidFill>
                  <a:srgbClr val="443728"/>
                </a:solidFill>
                <a:latin typeface="Open Sans" pitchFamily="34" charset="0"/>
                <a:ea typeface="Open Sans" pitchFamily="34" charset="-122"/>
                <a:cs typeface="Open Sans" pitchFamily="34" charset="-120"/>
              </a:rPr>
              <a:t>Our moderation guidelines are publicly available — no hidden rules, no surprises. Just a fair and transparent process.</a:t>
            </a:r>
            <a:endParaRPr lang="en-US" sz="1350" dirty="0"/>
          </a:p>
        </p:txBody>
      </p:sp>
      <p:sp>
        <p:nvSpPr>
          <p:cNvPr id="19" name="Shape 14"/>
          <p:cNvSpPr/>
          <p:nvPr/>
        </p:nvSpPr>
        <p:spPr>
          <a:xfrm>
            <a:off x="8093154" y="921187"/>
            <a:ext cx="5968603" cy="6387108"/>
          </a:xfrm>
          <a:prstGeom prst="roundRect">
            <a:avLst>
              <a:gd name="adj" fmla="val 2119"/>
            </a:avLst>
          </a:prstGeom>
          <a:solidFill>
            <a:srgbClr val="C9907C"/>
          </a:solidFill>
          <a:ln/>
        </p:spPr>
        <p:txBody>
          <a:bodyPr/>
          <a:lstStyle/>
          <a:p>
            <a:endParaRPr lang="en-AU"/>
          </a:p>
        </p:txBody>
      </p:sp>
      <p:sp>
        <p:nvSpPr>
          <p:cNvPr id="20" name="Text 15"/>
          <p:cNvSpPr/>
          <p:nvPr/>
        </p:nvSpPr>
        <p:spPr>
          <a:xfrm>
            <a:off x="8268772" y="1076682"/>
            <a:ext cx="2196227" cy="274558"/>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Crimson Pro Bold" pitchFamily="34" charset="0"/>
                <a:ea typeface="Crimson Pro Bold" pitchFamily="34" charset="-122"/>
                <a:cs typeface="Crimson Pro Bold" pitchFamily="34" charset="-120"/>
              </a:rPr>
              <a:t>Our Promise to You</a:t>
            </a:r>
            <a:endParaRPr lang="en-US" sz="1700" dirty="0"/>
          </a:p>
        </p:txBody>
      </p:sp>
      <p:sp>
        <p:nvSpPr>
          <p:cNvPr id="21" name="Text 16"/>
          <p:cNvSpPr/>
          <p:nvPr/>
        </p:nvSpPr>
        <p:spPr>
          <a:xfrm>
            <a:off x="8268772" y="1506736"/>
            <a:ext cx="5617369" cy="795099"/>
          </a:xfrm>
          <a:prstGeom prst="rect">
            <a:avLst/>
          </a:prstGeom>
          <a:noFill/>
          <a:ln/>
        </p:spPr>
        <p:txBody>
          <a:bodyPr wrap="square" lIns="0" tIns="0" rIns="0" bIns="0" rtlCol="0" anchor="t"/>
          <a:lstStyle/>
          <a:p>
            <a:pPr marL="0" indent="0" algn="l">
              <a:lnSpc>
                <a:spcPts val="2050"/>
              </a:lnSpc>
              <a:buNone/>
            </a:pPr>
            <a:r>
              <a:rPr lang="en-US" sz="1350" dirty="0">
                <a:solidFill>
                  <a:srgbClr val="000000"/>
                </a:solidFill>
                <a:latin typeface="Open Sans" pitchFamily="34" charset="0"/>
                <a:ea typeface="Open Sans" pitchFamily="34" charset="-122"/>
                <a:cs typeface="Open Sans" pitchFamily="34" charset="-120"/>
              </a:rPr>
              <a:t>We will always be honest about how your data is used, why feedback may or may not be approved, and how you can update or remove your contribution at any time.</a:t>
            </a:r>
            <a:endParaRPr lang="en-US" sz="1350" dirty="0"/>
          </a:p>
        </p:txBody>
      </p:sp>
      <p:sp>
        <p:nvSpPr>
          <p:cNvPr id="22" name="Shape 17"/>
          <p:cNvSpPr/>
          <p:nvPr/>
        </p:nvSpPr>
        <p:spPr>
          <a:xfrm>
            <a:off x="8268772" y="2564478"/>
            <a:ext cx="5617369" cy="29528"/>
          </a:xfrm>
          <a:prstGeom prst="rect">
            <a:avLst/>
          </a:prstGeom>
          <a:solidFill>
            <a:srgbClr val="000000">
              <a:alpha val="50000"/>
            </a:srgbClr>
          </a:solidFill>
          <a:ln/>
        </p:spPr>
        <p:txBody>
          <a:bodyPr/>
          <a:lstStyle/>
          <a:p>
            <a:endParaRPr lang="en-AU"/>
          </a:p>
        </p:txBody>
      </p:sp>
      <p:sp>
        <p:nvSpPr>
          <p:cNvPr id="23" name="Text 18"/>
          <p:cNvSpPr/>
          <p:nvPr/>
        </p:nvSpPr>
        <p:spPr>
          <a:xfrm>
            <a:off x="8268772" y="2768798"/>
            <a:ext cx="5617369" cy="265033"/>
          </a:xfrm>
          <a:prstGeom prst="rect">
            <a:avLst/>
          </a:prstGeom>
          <a:noFill/>
          <a:ln/>
        </p:spPr>
        <p:txBody>
          <a:bodyPr wrap="none" lIns="0" tIns="0" rIns="0" bIns="0" rtlCol="0" anchor="t"/>
          <a:lstStyle/>
          <a:p>
            <a:pPr marL="0" indent="0" algn="l">
              <a:lnSpc>
                <a:spcPts val="2050"/>
              </a:lnSpc>
              <a:buNone/>
            </a:pPr>
            <a:r>
              <a:rPr lang="en-US" sz="1350" b="1" dirty="0">
                <a:solidFill>
                  <a:srgbClr val="000000"/>
                </a:solidFill>
                <a:latin typeface="Open Sans" pitchFamily="34" charset="0"/>
                <a:ea typeface="Open Sans" pitchFamily="34" charset="-122"/>
                <a:cs typeface="Open Sans" pitchFamily="34" charset="-120"/>
              </a:rPr>
              <a:t>Links you may find useful:</a:t>
            </a:r>
            <a:endParaRPr lang="en-US" sz="1350" dirty="0"/>
          </a:p>
        </p:txBody>
      </p:sp>
      <p:sp>
        <p:nvSpPr>
          <p:cNvPr id="24" name="Text 19"/>
          <p:cNvSpPr/>
          <p:nvPr/>
        </p:nvSpPr>
        <p:spPr>
          <a:xfrm>
            <a:off x="8268772" y="3173730"/>
            <a:ext cx="5617369" cy="1223367"/>
          </a:xfrm>
          <a:prstGeom prst="rect">
            <a:avLst/>
          </a:prstGeom>
          <a:noFill/>
          <a:ln/>
        </p:spPr>
        <p:txBody>
          <a:bodyPr wrap="square" lIns="0" tIns="0" rIns="0" bIns="0" rtlCol="0" anchor="t"/>
          <a:lstStyle/>
          <a:p>
            <a:pPr marL="342900" indent="-342900" algn="l">
              <a:lnSpc>
                <a:spcPts val="2050"/>
              </a:lnSpc>
              <a:buSzPct val="100000"/>
              <a:buChar char="•"/>
            </a:pPr>
            <a:r>
              <a:rPr lang="en-US" sz="1350" dirty="0">
                <a:solidFill>
                  <a:srgbClr val="000000"/>
                </a:solidFill>
                <a:latin typeface="Open Sans" pitchFamily="34" charset="0"/>
                <a:ea typeface="Open Sans" pitchFamily="34" charset="-122"/>
                <a:cs typeface="Open Sans" pitchFamily="34" charset="-120"/>
              </a:rPr>
              <a:t>Privacy Policy</a:t>
            </a:r>
            <a:endParaRPr lang="en-US" sz="1350" dirty="0"/>
          </a:p>
          <a:p>
            <a:pPr marL="342900" indent="-342900" algn="l">
              <a:lnSpc>
                <a:spcPts val="2050"/>
              </a:lnSpc>
              <a:buSzPct val="100000"/>
              <a:buChar char="•"/>
            </a:pPr>
            <a:r>
              <a:rPr lang="en-US" sz="1350" dirty="0">
                <a:solidFill>
                  <a:srgbClr val="000000"/>
                </a:solidFill>
                <a:latin typeface="Open Sans" pitchFamily="34" charset="0"/>
                <a:ea typeface="Open Sans" pitchFamily="34" charset="-122"/>
                <a:cs typeface="Open Sans" pitchFamily="34" charset="-120"/>
              </a:rPr>
              <a:t>Moderation Guidelines</a:t>
            </a:r>
            <a:endParaRPr lang="en-US" sz="1350" dirty="0"/>
          </a:p>
          <a:p>
            <a:pPr marL="342900" indent="-342900" algn="l">
              <a:lnSpc>
                <a:spcPts val="2050"/>
              </a:lnSpc>
              <a:buSzPct val="100000"/>
              <a:buChar char="•"/>
            </a:pPr>
            <a:r>
              <a:rPr lang="en-US" sz="1350" dirty="0">
                <a:solidFill>
                  <a:srgbClr val="000000"/>
                </a:solidFill>
                <a:latin typeface="Open Sans" pitchFamily="34" charset="0"/>
                <a:ea typeface="Open Sans" pitchFamily="34" charset="-122"/>
                <a:cs typeface="Open Sans" pitchFamily="34" charset="-120"/>
              </a:rPr>
              <a:t>Cookie Policy</a:t>
            </a:r>
            <a:endParaRPr lang="en-US" sz="1350" dirty="0"/>
          </a:p>
          <a:p>
            <a:pPr marL="342900" indent="-342900" algn="l">
              <a:lnSpc>
                <a:spcPts val="2050"/>
              </a:lnSpc>
              <a:buSzPct val="100000"/>
              <a:buChar char="•"/>
            </a:pPr>
            <a:r>
              <a:rPr lang="en-US" sz="1350" dirty="0">
                <a:solidFill>
                  <a:srgbClr val="000000"/>
                </a:solidFill>
                <a:latin typeface="Open Sans" pitchFamily="34" charset="0"/>
                <a:ea typeface="Open Sans" pitchFamily="34" charset="-122"/>
                <a:cs typeface="Open Sans" pitchFamily="34" charset="-120"/>
              </a:rPr>
              <a:t>Terms &amp; Conditions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402080"/>
            <a:ext cx="7311747"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Let's Connect &amp; Innovate Together</a:t>
            </a:r>
            <a:endParaRPr lang="en-US" sz="3900" dirty="0"/>
          </a:p>
        </p:txBody>
      </p:sp>
      <p:sp>
        <p:nvSpPr>
          <p:cNvPr id="3" name="Text 1"/>
          <p:cNvSpPr/>
          <p:nvPr/>
        </p:nvSpPr>
        <p:spPr>
          <a:xfrm>
            <a:off x="793790" y="241899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Every great breakthrough starts with a conversation. Whether you have a question, a bold idea, a piece of feedback, or simply want to say hello — this is the place. We're here, we're listening, and we're genuinely excited to hear from you.</a:t>
            </a:r>
            <a:endParaRPr lang="en-US" sz="1550" dirty="0"/>
          </a:p>
        </p:txBody>
      </p:sp>
      <p:sp>
        <p:nvSpPr>
          <p:cNvPr id="4" name="Text 2"/>
          <p:cNvSpPr/>
          <p:nvPr/>
        </p:nvSpPr>
        <p:spPr>
          <a:xfrm>
            <a:off x="1091446" y="3500557"/>
            <a:ext cx="12745164" cy="317540"/>
          </a:xfrm>
          <a:prstGeom prst="rect">
            <a:avLst/>
          </a:prstGeom>
          <a:noFill/>
          <a:ln/>
        </p:spPr>
        <p:txBody>
          <a:bodyPr wrap="none" lIns="0" tIns="0" rIns="0" bIns="0" rtlCol="0" anchor="t"/>
          <a:lstStyle/>
          <a:p>
            <a:pPr marL="0" indent="0" algn="l">
              <a:lnSpc>
                <a:spcPts val="2500"/>
              </a:lnSpc>
              <a:buNone/>
            </a:pPr>
            <a:r>
              <a:rPr lang="en-US" sz="1550" i="1" dirty="0">
                <a:solidFill>
                  <a:srgbClr val="443728"/>
                </a:solidFill>
                <a:latin typeface="Open Sans" pitchFamily="34" charset="0"/>
                <a:ea typeface="Open Sans" pitchFamily="34" charset="-122"/>
                <a:cs typeface="Open Sans" pitchFamily="34" charset="-120"/>
              </a:rPr>
              <a:t>"Your ideas inspire us. Every message, every thought, every moment of feedback shapes what Breaking Mental Models becomes next."</a:t>
            </a:r>
            <a:endParaRPr lang="en-US" sz="1550" dirty="0"/>
          </a:p>
        </p:txBody>
      </p:sp>
      <p:sp>
        <p:nvSpPr>
          <p:cNvPr id="5" name="Shape 3"/>
          <p:cNvSpPr/>
          <p:nvPr/>
        </p:nvSpPr>
        <p:spPr>
          <a:xfrm>
            <a:off x="793790" y="3277314"/>
            <a:ext cx="22860" cy="764024"/>
          </a:xfrm>
          <a:prstGeom prst="rect">
            <a:avLst/>
          </a:prstGeom>
          <a:solidFill>
            <a:srgbClr val="835E54"/>
          </a:solidFill>
          <a:ln/>
        </p:spPr>
        <p:txBody>
          <a:bodyPr/>
          <a:lstStyle/>
          <a:p>
            <a:endParaRPr lang="en-AU"/>
          </a:p>
        </p:txBody>
      </p:sp>
      <p:sp>
        <p:nvSpPr>
          <p:cNvPr id="6" name="Shape 4"/>
          <p:cNvSpPr/>
          <p:nvPr/>
        </p:nvSpPr>
        <p:spPr>
          <a:xfrm>
            <a:off x="793790" y="4264581"/>
            <a:ext cx="4215289" cy="1793796"/>
          </a:xfrm>
          <a:prstGeom prst="roundRect">
            <a:avLst>
              <a:gd name="adj" fmla="val 4647"/>
            </a:avLst>
          </a:prstGeom>
          <a:solidFill>
            <a:srgbClr val="EBE2E0"/>
          </a:solidFill>
          <a:ln w="7620">
            <a:solidFill>
              <a:srgbClr val="D1C8C6"/>
            </a:solidFill>
            <a:prstDash val="solid"/>
          </a:ln>
        </p:spPr>
        <p:txBody>
          <a:bodyPr/>
          <a:lstStyle/>
          <a:p>
            <a:endParaRPr lang="en-AU"/>
          </a:p>
        </p:txBody>
      </p:sp>
      <p:sp>
        <p:nvSpPr>
          <p:cNvPr id="7" name="Text 5"/>
          <p:cNvSpPr/>
          <p:nvPr/>
        </p:nvSpPr>
        <p:spPr>
          <a:xfrm>
            <a:off x="999768" y="447055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Crimson Pro Bold" pitchFamily="34" charset="0"/>
                <a:ea typeface="Crimson Pro Bold" pitchFamily="34" charset="-122"/>
                <a:cs typeface="Crimson Pro Bold" pitchFamily="34" charset="-120"/>
              </a:rPr>
              <a:t>💡</a:t>
            </a:r>
            <a:r>
              <a:rPr lang="en-US" sz="1950" b="1" dirty="0">
                <a:solidFill>
                  <a:srgbClr val="443728"/>
                </a:solidFill>
                <a:latin typeface="Crimson Pro Bold" pitchFamily="34" charset="0"/>
                <a:ea typeface="Crimson Pro Bold" pitchFamily="34" charset="-122"/>
                <a:cs typeface="Crimson Pro Bold" pitchFamily="34" charset="-120"/>
              </a:rPr>
              <a:t> Share an Idea</a:t>
            </a:r>
            <a:endParaRPr lang="en-US" sz="1950" dirty="0"/>
          </a:p>
        </p:txBody>
      </p:sp>
      <p:sp>
        <p:nvSpPr>
          <p:cNvPr id="8" name="Text 6"/>
          <p:cNvSpPr/>
          <p:nvPr/>
        </p:nvSpPr>
        <p:spPr>
          <a:xfrm>
            <a:off x="999768" y="4899779"/>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Got a concept that challenges the status quo? We want to hear it — no idea is too bold or too unconventional.</a:t>
            </a:r>
            <a:endParaRPr lang="en-US" sz="1550" dirty="0"/>
          </a:p>
        </p:txBody>
      </p:sp>
      <p:sp>
        <p:nvSpPr>
          <p:cNvPr id="9" name="Shape 7"/>
          <p:cNvSpPr/>
          <p:nvPr/>
        </p:nvSpPr>
        <p:spPr>
          <a:xfrm>
            <a:off x="5207437" y="4264581"/>
            <a:ext cx="4215408" cy="1793796"/>
          </a:xfrm>
          <a:prstGeom prst="roundRect">
            <a:avLst>
              <a:gd name="adj" fmla="val 4647"/>
            </a:avLst>
          </a:prstGeom>
          <a:solidFill>
            <a:srgbClr val="EBE2E0"/>
          </a:solidFill>
          <a:ln w="7620">
            <a:solidFill>
              <a:srgbClr val="D1C8C6"/>
            </a:solidFill>
            <a:prstDash val="solid"/>
          </a:ln>
        </p:spPr>
        <p:txBody>
          <a:bodyPr/>
          <a:lstStyle/>
          <a:p>
            <a:endParaRPr lang="en-AU"/>
          </a:p>
        </p:txBody>
      </p:sp>
      <p:sp>
        <p:nvSpPr>
          <p:cNvPr id="10" name="Text 8"/>
          <p:cNvSpPr/>
          <p:nvPr/>
        </p:nvSpPr>
        <p:spPr>
          <a:xfrm>
            <a:off x="5413415" y="447055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Crimson Pro Bold" pitchFamily="34" charset="0"/>
                <a:ea typeface="Crimson Pro Bold" pitchFamily="34" charset="-122"/>
                <a:cs typeface="Crimson Pro Bold" pitchFamily="34" charset="-120"/>
              </a:rPr>
              <a:t>🤝</a:t>
            </a:r>
            <a:r>
              <a:rPr lang="en-US" sz="1950" b="1" dirty="0">
                <a:solidFill>
                  <a:srgbClr val="443728"/>
                </a:solidFill>
                <a:latin typeface="Crimson Pro Bold" pitchFamily="34" charset="0"/>
                <a:ea typeface="Crimson Pro Bold" pitchFamily="34" charset="-122"/>
                <a:cs typeface="Crimson Pro Bold" pitchFamily="34" charset="-120"/>
              </a:rPr>
              <a:t> Collaborate With Us</a:t>
            </a:r>
            <a:endParaRPr lang="en-US" sz="1950" dirty="0"/>
          </a:p>
        </p:txBody>
      </p:sp>
      <p:sp>
        <p:nvSpPr>
          <p:cNvPr id="11" name="Text 9"/>
          <p:cNvSpPr/>
          <p:nvPr/>
        </p:nvSpPr>
        <p:spPr>
          <a:xfrm>
            <a:off x="5413415" y="4899779"/>
            <a:ext cx="3803452"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Are you a creator, thinker, or innovator? Let's explore what we can build together by breaking new ground.</a:t>
            </a:r>
            <a:endParaRPr lang="en-US" sz="1550" dirty="0"/>
          </a:p>
        </p:txBody>
      </p:sp>
      <p:sp>
        <p:nvSpPr>
          <p:cNvPr id="12" name="Shape 10"/>
          <p:cNvSpPr/>
          <p:nvPr/>
        </p:nvSpPr>
        <p:spPr>
          <a:xfrm>
            <a:off x="9621203" y="4264581"/>
            <a:ext cx="4215289" cy="1793796"/>
          </a:xfrm>
          <a:prstGeom prst="roundRect">
            <a:avLst>
              <a:gd name="adj" fmla="val 4647"/>
            </a:avLst>
          </a:prstGeom>
          <a:solidFill>
            <a:srgbClr val="EBE2E0"/>
          </a:solidFill>
          <a:ln w="7620">
            <a:solidFill>
              <a:srgbClr val="D1C8C6"/>
            </a:solidFill>
            <a:prstDash val="solid"/>
          </a:ln>
        </p:spPr>
        <p:txBody>
          <a:bodyPr/>
          <a:lstStyle/>
          <a:p>
            <a:endParaRPr lang="en-AU"/>
          </a:p>
        </p:txBody>
      </p:sp>
      <p:sp>
        <p:nvSpPr>
          <p:cNvPr id="13" name="Text 11"/>
          <p:cNvSpPr/>
          <p:nvPr/>
        </p:nvSpPr>
        <p:spPr>
          <a:xfrm>
            <a:off x="9827181" y="4470559"/>
            <a:ext cx="2722840"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Crimson Pro Bold" pitchFamily="34" charset="0"/>
                <a:ea typeface="Crimson Pro Bold" pitchFamily="34" charset="-122"/>
                <a:cs typeface="Crimson Pro Bold" pitchFamily="34" charset="-120"/>
              </a:rPr>
              <a:t>📣</a:t>
            </a:r>
            <a:r>
              <a:rPr lang="en-US" sz="1950" b="1" dirty="0">
                <a:solidFill>
                  <a:srgbClr val="443728"/>
                </a:solidFill>
                <a:latin typeface="Crimson Pro Bold" pitchFamily="34" charset="0"/>
                <a:ea typeface="Crimson Pro Bold" pitchFamily="34" charset="-122"/>
                <a:cs typeface="Crimson Pro Bold" pitchFamily="34" charset="-120"/>
              </a:rPr>
              <a:t> Start the Conversation</a:t>
            </a:r>
            <a:endParaRPr lang="en-US" sz="1950" dirty="0"/>
          </a:p>
        </p:txBody>
      </p:sp>
      <p:sp>
        <p:nvSpPr>
          <p:cNvPr id="14" name="Text 12"/>
          <p:cNvSpPr/>
          <p:nvPr/>
        </p:nvSpPr>
        <p:spPr>
          <a:xfrm>
            <a:off x="9827181" y="4899779"/>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Use any channel that feels right to you — email, phone, chat, or social. We'll always respond with enthusiasm and care.</a:t>
            </a:r>
            <a:endParaRPr lang="en-US" sz="1550" dirty="0"/>
          </a:p>
        </p:txBody>
      </p:sp>
      <p:pic>
        <p:nvPicPr>
          <p:cNvPr id="15" name="Image 0" descr="A rectangular button with rounded corners features the text &quot;Start the Conversatio&quot; in bold white font on a brown background. The text appears to be cut off, suggesting it is part of a user interface element prompting initiation of a conversation.&#10;&#10;AI-generated content may be incorrect.">
            <a:hlinkClick r:id="rId3"/>
          </p:cNvPr>
          <p:cNvPicPr>
            <a:picLocks noChangeAspect="1"/>
          </p:cNvPicPr>
          <p:nvPr/>
        </p:nvPicPr>
        <p:blipFill>
          <a:blip r:embed="rId4"/>
          <a:stretch>
            <a:fillRect/>
          </a:stretch>
        </p:blipFill>
        <p:spPr>
          <a:xfrm>
            <a:off x="793790" y="6281618"/>
            <a:ext cx="2556391" cy="545783"/>
          </a:xfrm>
          <a:prstGeom prst="rect">
            <a:avLst/>
          </a:prstGeom>
        </p:spPr>
      </p:pic>
      <p:pic>
        <p:nvPicPr>
          <p:cNvPr id="16" name="Image 1" descr="preencoded.png">
            <a:hlinkClick r:id="" action="ppaction://noaction"/>
          </p:cNvPr>
          <p:cNvPicPr>
            <a:picLocks noChangeAspect="1"/>
          </p:cNvPicPr>
          <p:nvPr/>
        </p:nvPicPr>
        <p:blipFill>
          <a:blip r:embed="rId5"/>
          <a:stretch>
            <a:fillRect/>
          </a:stretch>
        </p:blipFill>
        <p:spPr>
          <a:xfrm>
            <a:off x="3449360" y="6281618"/>
            <a:ext cx="1964055" cy="54578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2247</Words>
  <Application>Microsoft Office PowerPoint</Application>
  <PresentationFormat>Custom</PresentationFormat>
  <Paragraphs>172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Crimson Pro Bold</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Ankit Agarwal</dc:creator>
  <cp:lastModifiedBy>Ankit Agarwal</cp:lastModifiedBy>
  <cp:revision>2</cp:revision>
  <dcterms:created xsi:type="dcterms:W3CDTF">2026-04-06T09:25:55Z</dcterms:created>
  <dcterms:modified xsi:type="dcterms:W3CDTF">2026-04-06T09:27:38Z</dcterms:modified>
</cp:coreProperties>
</file>